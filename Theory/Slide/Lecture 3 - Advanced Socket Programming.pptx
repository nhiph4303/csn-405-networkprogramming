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68" r:id="rId4"/>
    <p:sldId id="269" r:id="rId5"/>
    <p:sldId id="271" r:id="rId6"/>
    <p:sldId id="270" r:id="rId7"/>
    <p:sldId id="272" r:id="rId8"/>
    <p:sldId id="273" r:id="rId9"/>
    <p:sldId id="274" r:id="rId10"/>
    <p:sldId id="275" r:id="rId11"/>
    <p:sldId id="277" r:id="rId12"/>
    <p:sldId id="276" r:id="rId13"/>
    <p:sldId id="257" r:id="rId14"/>
    <p:sldId id="278" r:id="rId15"/>
    <p:sldId id="279" r:id="rId16"/>
    <p:sldId id="280" r:id="rId17"/>
    <p:sldId id="281" r:id="rId18"/>
    <p:sldId id="282" r:id="rId19"/>
    <p:sldId id="283" r:id="rId20"/>
    <p:sldId id="260" r:id="rId21"/>
    <p:sldId id="296" r:id="rId22"/>
    <p:sldId id="293" r:id="rId23"/>
    <p:sldId id="306" r:id="rId24"/>
    <p:sldId id="307" r:id="rId25"/>
    <p:sldId id="308" r:id="rId26"/>
    <p:sldId id="309" r:id="rId27"/>
    <p:sldId id="304" r:id="rId28"/>
    <p:sldId id="305" r:id="rId29"/>
    <p:sldId id="294" r:id="rId30"/>
    <p:sldId id="264" r:id="rId31"/>
    <p:sldId id="261" r:id="rId32"/>
    <p:sldId id="263" r:id="rId33"/>
    <p:sldId id="310" r:id="rId34"/>
    <p:sldId id="266" r:id="rId35"/>
    <p:sldId id="265" r:id="rId36"/>
    <p:sldId id="311" r:id="rId37"/>
    <p:sldId id="312" r:id="rId38"/>
    <p:sldId id="313" r:id="rId39"/>
    <p:sldId id="299" r:id="rId40"/>
    <p:sldId id="258" r:id="rId41"/>
    <p:sldId id="300" r:id="rId42"/>
    <p:sldId id="301" r:id="rId43"/>
    <p:sldId id="302" r:id="rId44"/>
    <p:sldId id="297" r:id="rId45"/>
    <p:sldId id="298" r:id="rId46"/>
    <p:sldId id="285" r:id="rId47"/>
    <p:sldId id="286" r:id="rId48"/>
    <p:sldId id="287" r:id="rId49"/>
    <p:sldId id="288" r:id="rId50"/>
    <p:sldId id="284" r:id="rId51"/>
    <p:sldId id="289" r:id="rId52"/>
    <p:sldId id="290" r:id="rId53"/>
    <p:sldId id="291" r:id="rId54"/>
    <p:sldId id="292" r:id="rId55"/>
    <p:sldId id="314" r:id="rId56"/>
    <p:sldId id="315" r:id="rId57"/>
    <p:sldId id="316" r:id="rId58"/>
    <p:sldId id="317" r:id="rId59"/>
    <p:sldId id="318" r:id="rId60"/>
    <p:sldId id="319" r:id="rId61"/>
    <p:sldId id="320" r:id="rId62"/>
    <p:sldId id="321" r:id="rId63"/>
    <p:sldId id="322" r:id="rId64"/>
    <p:sldId id="323"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9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CCBC6-ECC0-6DFD-90A7-D467262C85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09E102-24A5-435C-79A1-ADAC7106C5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87ADE3-D27A-5F4D-FDBF-09E96436477B}"/>
              </a:ext>
            </a:extLst>
          </p:cNvPr>
          <p:cNvSpPr>
            <a:spLocks noGrp="1"/>
          </p:cNvSpPr>
          <p:nvPr>
            <p:ph type="dt" sz="half" idx="10"/>
          </p:nvPr>
        </p:nvSpPr>
        <p:spPr/>
        <p:txBody>
          <a:bodyPr/>
          <a:lstStyle/>
          <a:p>
            <a:fld id="{09CA132B-A01A-4571-85FF-63142A3C1931}" type="datetimeFigureOut">
              <a:rPr lang="en-US" smtClean="0"/>
              <a:t>1/26/2026</a:t>
            </a:fld>
            <a:endParaRPr lang="en-US"/>
          </a:p>
        </p:txBody>
      </p:sp>
      <p:sp>
        <p:nvSpPr>
          <p:cNvPr id="5" name="Footer Placeholder 4">
            <a:extLst>
              <a:ext uri="{FF2B5EF4-FFF2-40B4-BE49-F238E27FC236}">
                <a16:creationId xmlns:a16="http://schemas.microsoft.com/office/drawing/2014/main" id="{C85E9F03-9F3B-B91D-F753-1D013D1A48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D7CF89-FAE4-4C63-0AB4-2A0482129766}"/>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2427051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B8BEF-97A7-BCA9-E9AC-5B79113A98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F94EAC-1F54-21B2-50E4-EAC5BA14E8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F7C9D4-2834-766D-41D1-5BFE4D6DCCCE}"/>
              </a:ext>
            </a:extLst>
          </p:cNvPr>
          <p:cNvSpPr>
            <a:spLocks noGrp="1"/>
          </p:cNvSpPr>
          <p:nvPr>
            <p:ph type="dt" sz="half" idx="10"/>
          </p:nvPr>
        </p:nvSpPr>
        <p:spPr/>
        <p:txBody>
          <a:bodyPr/>
          <a:lstStyle/>
          <a:p>
            <a:fld id="{09CA132B-A01A-4571-85FF-63142A3C1931}" type="datetimeFigureOut">
              <a:rPr lang="en-US" smtClean="0"/>
              <a:t>1/26/2026</a:t>
            </a:fld>
            <a:endParaRPr lang="en-US"/>
          </a:p>
        </p:txBody>
      </p:sp>
      <p:sp>
        <p:nvSpPr>
          <p:cNvPr id="5" name="Footer Placeholder 4">
            <a:extLst>
              <a:ext uri="{FF2B5EF4-FFF2-40B4-BE49-F238E27FC236}">
                <a16:creationId xmlns:a16="http://schemas.microsoft.com/office/drawing/2014/main" id="{ED908B1D-9ACD-BAD2-BCB0-3A4041126A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4A05D6-5758-7B25-4729-FD4C8F243937}"/>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3824841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F3B3F-A272-24AC-FE0B-0E50FF9BD1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BDD888-DD76-1C6B-E781-4A692E3EE6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65F482-89B5-0D02-2AE0-07F6D757FB0E}"/>
              </a:ext>
            </a:extLst>
          </p:cNvPr>
          <p:cNvSpPr>
            <a:spLocks noGrp="1"/>
          </p:cNvSpPr>
          <p:nvPr>
            <p:ph type="dt" sz="half" idx="10"/>
          </p:nvPr>
        </p:nvSpPr>
        <p:spPr/>
        <p:txBody>
          <a:bodyPr/>
          <a:lstStyle/>
          <a:p>
            <a:fld id="{09CA132B-A01A-4571-85FF-63142A3C1931}" type="datetimeFigureOut">
              <a:rPr lang="en-US" smtClean="0"/>
              <a:t>1/26/2026</a:t>
            </a:fld>
            <a:endParaRPr lang="en-US"/>
          </a:p>
        </p:txBody>
      </p:sp>
      <p:sp>
        <p:nvSpPr>
          <p:cNvPr id="5" name="Footer Placeholder 4">
            <a:extLst>
              <a:ext uri="{FF2B5EF4-FFF2-40B4-BE49-F238E27FC236}">
                <a16:creationId xmlns:a16="http://schemas.microsoft.com/office/drawing/2014/main" id="{E23F3065-E6C2-8CAA-FEB8-33E0C99B77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5CD24C-DBED-8FB8-D868-BA67B01C43F2}"/>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611265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D51BD-7B71-DCEB-3370-EC123F20D6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7AC324-9CA4-5A70-E606-776434A69B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F06D57-C8DC-45BE-1331-29190E2315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0BA1E3-B5B5-B2E4-9DE6-A2EAF8257001}"/>
              </a:ext>
            </a:extLst>
          </p:cNvPr>
          <p:cNvSpPr>
            <a:spLocks noGrp="1"/>
          </p:cNvSpPr>
          <p:nvPr>
            <p:ph type="dt" sz="half" idx="10"/>
          </p:nvPr>
        </p:nvSpPr>
        <p:spPr/>
        <p:txBody>
          <a:bodyPr/>
          <a:lstStyle/>
          <a:p>
            <a:fld id="{09CA132B-A01A-4571-85FF-63142A3C1931}" type="datetimeFigureOut">
              <a:rPr lang="en-US" smtClean="0"/>
              <a:t>1/26/2026</a:t>
            </a:fld>
            <a:endParaRPr lang="en-US"/>
          </a:p>
        </p:txBody>
      </p:sp>
      <p:sp>
        <p:nvSpPr>
          <p:cNvPr id="6" name="Footer Placeholder 5">
            <a:extLst>
              <a:ext uri="{FF2B5EF4-FFF2-40B4-BE49-F238E27FC236}">
                <a16:creationId xmlns:a16="http://schemas.microsoft.com/office/drawing/2014/main" id="{7DC0A2AB-2414-E379-8777-0DE16ADE3B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1C4895-F97F-FFC4-764F-760651011093}"/>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1563716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C95D3-C021-D813-68B5-A97A447EAB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5309DF-86DD-6CC7-3EF9-18580E8CE6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59B8EB-3263-3E35-BF73-623B39D70A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D428FA-87D7-109E-A6C3-FD3EFBC993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729FDB-DAEC-4CEF-4826-1828B00F77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B06FF4-7B1D-B149-DBB4-7354A14EE318}"/>
              </a:ext>
            </a:extLst>
          </p:cNvPr>
          <p:cNvSpPr>
            <a:spLocks noGrp="1"/>
          </p:cNvSpPr>
          <p:nvPr>
            <p:ph type="dt" sz="half" idx="10"/>
          </p:nvPr>
        </p:nvSpPr>
        <p:spPr/>
        <p:txBody>
          <a:bodyPr/>
          <a:lstStyle/>
          <a:p>
            <a:fld id="{09CA132B-A01A-4571-85FF-63142A3C1931}" type="datetimeFigureOut">
              <a:rPr lang="en-US" smtClean="0"/>
              <a:t>1/26/2026</a:t>
            </a:fld>
            <a:endParaRPr lang="en-US"/>
          </a:p>
        </p:txBody>
      </p:sp>
      <p:sp>
        <p:nvSpPr>
          <p:cNvPr id="8" name="Footer Placeholder 7">
            <a:extLst>
              <a:ext uri="{FF2B5EF4-FFF2-40B4-BE49-F238E27FC236}">
                <a16:creationId xmlns:a16="http://schemas.microsoft.com/office/drawing/2014/main" id="{E01F1CBA-0BF1-BA9B-1D48-93B540E58D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782E97-A28E-C8DA-E034-EEAB951CB5AF}"/>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918532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DBF26-64AD-5592-5FF4-2898915D6A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736B2F-0ACE-6794-0428-CAAF626BF021}"/>
              </a:ext>
            </a:extLst>
          </p:cNvPr>
          <p:cNvSpPr>
            <a:spLocks noGrp="1"/>
          </p:cNvSpPr>
          <p:nvPr>
            <p:ph type="dt" sz="half" idx="10"/>
          </p:nvPr>
        </p:nvSpPr>
        <p:spPr/>
        <p:txBody>
          <a:bodyPr/>
          <a:lstStyle/>
          <a:p>
            <a:fld id="{09CA132B-A01A-4571-85FF-63142A3C1931}" type="datetimeFigureOut">
              <a:rPr lang="en-US" smtClean="0"/>
              <a:t>1/26/2026</a:t>
            </a:fld>
            <a:endParaRPr lang="en-US"/>
          </a:p>
        </p:txBody>
      </p:sp>
      <p:sp>
        <p:nvSpPr>
          <p:cNvPr id="4" name="Footer Placeholder 3">
            <a:extLst>
              <a:ext uri="{FF2B5EF4-FFF2-40B4-BE49-F238E27FC236}">
                <a16:creationId xmlns:a16="http://schemas.microsoft.com/office/drawing/2014/main" id="{496551C3-A677-069E-E5EE-D91F5A197B3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0C0EC8-4ACC-C0DE-9CDA-0A90ECBAD44E}"/>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2742031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C1AE38-C63E-60BC-8E52-BF09769A9537}"/>
              </a:ext>
            </a:extLst>
          </p:cNvPr>
          <p:cNvSpPr>
            <a:spLocks noGrp="1"/>
          </p:cNvSpPr>
          <p:nvPr>
            <p:ph type="dt" sz="half" idx="10"/>
          </p:nvPr>
        </p:nvSpPr>
        <p:spPr/>
        <p:txBody>
          <a:bodyPr/>
          <a:lstStyle/>
          <a:p>
            <a:fld id="{09CA132B-A01A-4571-85FF-63142A3C1931}" type="datetimeFigureOut">
              <a:rPr lang="en-US" smtClean="0"/>
              <a:t>1/26/2026</a:t>
            </a:fld>
            <a:endParaRPr lang="en-US"/>
          </a:p>
        </p:txBody>
      </p:sp>
      <p:sp>
        <p:nvSpPr>
          <p:cNvPr id="3" name="Footer Placeholder 2">
            <a:extLst>
              <a:ext uri="{FF2B5EF4-FFF2-40B4-BE49-F238E27FC236}">
                <a16:creationId xmlns:a16="http://schemas.microsoft.com/office/drawing/2014/main" id="{65717CF6-F04C-4939-0581-14939C4A6E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0EBF33-6A43-4A11-E6B0-A1FEBF3099DE}"/>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760403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EB6C4-0C98-107C-2A7C-BDB384C526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B5FBEC-0D17-23E8-F9BB-DDA276C54C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B6DD97-1D52-04B5-E93E-0E1F786DB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2700A4-61DD-8577-944B-6159939CAB0A}"/>
              </a:ext>
            </a:extLst>
          </p:cNvPr>
          <p:cNvSpPr>
            <a:spLocks noGrp="1"/>
          </p:cNvSpPr>
          <p:nvPr>
            <p:ph type="dt" sz="half" idx="10"/>
          </p:nvPr>
        </p:nvSpPr>
        <p:spPr/>
        <p:txBody>
          <a:bodyPr/>
          <a:lstStyle/>
          <a:p>
            <a:fld id="{09CA132B-A01A-4571-85FF-63142A3C1931}" type="datetimeFigureOut">
              <a:rPr lang="en-US" smtClean="0"/>
              <a:t>1/26/2026</a:t>
            </a:fld>
            <a:endParaRPr lang="en-US"/>
          </a:p>
        </p:txBody>
      </p:sp>
      <p:sp>
        <p:nvSpPr>
          <p:cNvPr id="6" name="Footer Placeholder 5">
            <a:extLst>
              <a:ext uri="{FF2B5EF4-FFF2-40B4-BE49-F238E27FC236}">
                <a16:creationId xmlns:a16="http://schemas.microsoft.com/office/drawing/2014/main" id="{B247ED9C-298D-83C3-2924-01B4373401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1AAC1E-67E3-F745-F1EC-0582C326AFC0}"/>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3590489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D8449-BA22-0D5E-2E8E-4090270B13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9BEA3C-4EC6-EAF8-7DD7-17B3170BDB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8ED67A-FB11-0248-813E-A8402BD22E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612EA4-4075-E8FC-B2C5-199986A65280}"/>
              </a:ext>
            </a:extLst>
          </p:cNvPr>
          <p:cNvSpPr>
            <a:spLocks noGrp="1"/>
          </p:cNvSpPr>
          <p:nvPr>
            <p:ph type="dt" sz="half" idx="10"/>
          </p:nvPr>
        </p:nvSpPr>
        <p:spPr/>
        <p:txBody>
          <a:bodyPr/>
          <a:lstStyle/>
          <a:p>
            <a:fld id="{09CA132B-A01A-4571-85FF-63142A3C1931}" type="datetimeFigureOut">
              <a:rPr lang="en-US" smtClean="0"/>
              <a:t>1/26/2026</a:t>
            </a:fld>
            <a:endParaRPr lang="en-US"/>
          </a:p>
        </p:txBody>
      </p:sp>
      <p:sp>
        <p:nvSpPr>
          <p:cNvPr id="6" name="Footer Placeholder 5">
            <a:extLst>
              <a:ext uri="{FF2B5EF4-FFF2-40B4-BE49-F238E27FC236}">
                <a16:creationId xmlns:a16="http://schemas.microsoft.com/office/drawing/2014/main" id="{46851681-DD7E-5F0E-CEE8-24B4516859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20DD5C-C1D8-F7E9-FF12-45886A56BCD1}"/>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2244922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88503-7AC7-09A6-6688-6D8E1020D0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A9F44E-EB74-8CF9-42C5-E54704F07B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58ED38-0B6B-923B-AC1D-DE3E723C7B2B}"/>
              </a:ext>
            </a:extLst>
          </p:cNvPr>
          <p:cNvSpPr>
            <a:spLocks noGrp="1"/>
          </p:cNvSpPr>
          <p:nvPr>
            <p:ph type="dt" sz="half" idx="10"/>
          </p:nvPr>
        </p:nvSpPr>
        <p:spPr/>
        <p:txBody>
          <a:bodyPr/>
          <a:lstStyle/>
          <a:p>
            <a:fld id="{09CA132B-A01A-4571-85FF-63142A3C1931}" type="datetimeFigureOut">
              <a:rPr lang="en-US" smtClean="0"/>
              <a:t>1/26/2026</a:t>
            </a:fld>
            <a:endParaRPr lang="en-US"/>
          </a:p>
        </p:txBody>
      </p:sp>
      <p:sp>
        <p:nvSpPr>
          <p:cNvPr id="5" name="Footer Placeholder 4">
            <a:extLst>
              <a:ext uri="{FF2B5EF4-FFF2-40B4-BE49-F238E27FC236}">
                <a16:creationId xmlns:a16="http://schemas.microsoft.com/office/drawing/2014/main" id="{BA1D83B0-2113-EFBF-A24B-8C34016218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EAAE96-733C-8922-8D6B-9C977498711A}"/>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1975093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185517-6227-F9BA-1D38-2DCF91DF8A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A1D91C-0A7C-A01C-6644-211CF14CCC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5C1AD2-561D-4146-8992-B732EC667A0A}"/>
              </a:ext>
            </a:extLst>
          </p:cNvPr>
          <p:cNvSpPr>
            <a:spLocks noGrp="1"/>
          </p:cNvSpPr>
          <p:nvPr>
            <p:ph type="dt" sz="half" idx="10"/>
          </p:nvPr>
        </p:nvSpPr>
        <p:spPr/>
        <p:txBody>
          <a:bodyPr/>
          <a:lstStyle/>
          <a:p>
            <a:fld id="{09CA132B-A01A-4571-85FF-63142A3C1931}" type="datetimeFigureOut">
              <a:rPr lang="en-US" smtClean="0"/>
              <a:t>1/26/2026</a:t>
            </a:fld>
            <a:endParaRPr lang="en-US"/>
          </a:p>
        </p:txBody>
      </p:sp>
      <p:sp>
        <p:nvSpPr>
          <p:cNvPr id="5" name="Footer Placeholder 4">
            <a:extLst>
              <a:ext uri="{FF2B5EF4-FFF2-40B4-BE49-F238E27FC236}">
                <a16:creationId xmlns:a16="http://schemas.microsoft.com/office/drawing/2014/main" id="{B1514C64-A0D6-A026-A154-80BD4E86BD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48CDD-5F79-9DF1-47CF-355A702FB352}"/>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1178740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78440A-7D2E-0A5B-103A-FA4E822D9E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A197D2-7950-7DB6-7370-5356062342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894062-51B9-E07C-54E2-4C29E4C459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CA132B-A01A-4571-85FF-63142A3C1931}" type="datetimeFigureOut">
              <a:rPr lang="en-US" smtClean="0"/>
              <a:t>1/26/2026</a:t>
            </a:fld>
            <a:endParaRPr lang="en-US"/>
          </a:p>
        </p:txBody>
      </p:sp>
      <p:sp>
        <p:nvSpPr>
          <p:cNvPr id="5" name="Footer Placeholder 4">
            <a:extLst>
              <a:ext uri="{FF2B5EF4-FFF2-40B4-BE49-F238E27FC236}">
                <a16:creationId xmlns:a16="http://schemas.microsoft.com/office/drawing/2014/main" id="{4795D83D-46A5-CCD2-AF15-418E3E4C62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591790F-A4F1-B38C-A767-EB65BDEAF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FAAD06-867C-47C4-B24F-C51897FAA276}" type="slidenum">
              <a:rPr lang="en-US" smtClean="0"/>
              <a:t>‹#›</a:t>
            </a:fld>
            <a:endParaRPr lang="en-US"/>
          </a:p>
        </p:txBody>
      </p:sp>
    </p:spTree>
    <p:extLst>
      <p:ext uri="{BB962C8B-B14F-4D97-AF65-F5344CB8AC3E}">
        <p14:creationId xmlns:p14="http://schemas.microsoft.com/office/powerpoint/2010/main" val="745158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655D7-D1B5-EF03-1493-20761A183EA9}"/>
              </a:ext>
            </a:extLst>
          </p:cNvPr>
          <p:cNvSpPr>
            <a:spLocks noGrp="1"/>
          </p:cNvSpPr>
          <p:nvPr>
            <p:ph type="ctrTitle"/>
          </p:nvPr>
        </p:nvSpPr>
        <p:spPr/>
        <p:txBody>
          <a:bodyPr/>
          <a:lstStyle/>
          <a:p>
            <a:r>
              <a:rPr lang="en-US" dirty="0"/>
              <a:t>Advanced Socket Programming</a:t>
            </a:r>
          </a:p>
        </p:txBody>
      </p:sp>
      <p:sp>
        <p:nvSpPr>
          <p:cNvPr id="3" name="Subtitle 2">
            <a:extLst>
              <a:ext uri="{FF2B5EF4-FFF2-40B4-BE49-F238E27FC236}">
                <a16:creationId xmlns:a16="http://schemas.microsoft.com/office/drawing/2014/main" id="{CB850A65-DFCD-5F98-6A0F-C4F060EEB6B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88777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33957-016B-6E93-93B8-DBFBE7F94BAA}"/>
              </a:ext>
            </a:extLst>
          </p:cNvPr>
          <p:cNvSpPr>
            <a:spLocks noGrp="1"/>
          </p:cNvSpPr>
          <p:nvPr>
            <p:ph type="title"/>
          </p:nvPr>
        </p:nvSpPr>
        <p:spPr/>
        <p:txBody>
          <a:bodyPr/>
          <a:lstStyle/>
          <a:p>
            <a:r>
              <a:rPr lang="en-US" dirty="0"/>
              <a:t>Blocking I/O</a:t>
            </a:r>
          </a:p>
        </p:txBody>
      </p:sp>
      <p:sp>
        <p:nvSpPr>
          <p:cNvPr id="3" name="Content Placeholder 2">
            <a:extLst>
              <a:ext uri="{FF2B5EF4-FFF2-40B4-BE49-F238E27FC236}">
                <a16:creationId xmlns:a16="http://schemas.microsoft.com/office/drawing/2014/main" id="{3A659D2D-10EB-593B-4916-15670A3518D8}"/>
              </a:ext>
            </a:extLst>
          </p:cNvPr>
          <p:cNvSpPr>
            <a:spLocks noGrp="1"/>
          </p:cNvSpPr>
          <p:nvPr>
            <p:ph idx="1"/>
          </p:nvPr>
        </p:nvSpPr>
        <p:spPr/>
        <p:txBody>
          <a:bodyPr/>
          <a:lstStyle/>
          <a:p>
            <a:r>
              <a:rPr lang="en-US" dirty="0"/>
              <a:t>In </a:t>
            </a:r>
            <a:r>
              <a:rPr lang="en-US" b="1" dirty="0"/>
              <a:t>blocking I/O</a:t>
            </a:r>
            <a:r>
              <a:rPr lang="en-US" dirty="0"/>
              <a:t>, operations like reading from or writing to a socket </a:t>
            </a:r>
            <a:r>
              <a:rPr lang="en-US" b="1" dirty="0"/>
              <a:t>block the execution of the program</a:t>
            </a:r>
            <a:r>
              <a:rPr lang="en-US" dirty="0"/>
              <a:t> until the operation completes.</a:t>
            </a:r>
            <a:endParaRPr lang="vi-VN" dirty="0"/>
          </a:p>
          <a:p>
            <a:r>
              <a:rPr lang="en-US" dirty="0"/>
              <a:t>This means that the program waits for the I/O operation to finish before proceeding to the next step.</a:t>
            </a:r>
            <a:endParaRPr lang="vi-VN" dirty="0"/>
          </a:p>
          <a:p>
            <a:r>
              <a:rPr lang="en-US" dirty="0"/>
              <a:t>For example, when a program calls </a:t>
            </a:r>
            <a:r>
              <a:rPr lang="en-US" i="1" dirty="0" err="1"/>
              <a:t>recv</a:t>
            </a:r>
            <a:r>
              <a:rPr lang="en-US" i="1" dirty="0"/>
              <a:t>() </a:t>
            </a:r>
            <a:r>
              <a:rPr lang="en-US" dirty="0"/>
              <a:t>to read data from a socket, it will stop execution until data is available.</a:t>
            </a:r>
            <a:r>
              <a:rPr lang="vi-VN" dirty="0"/>
              <a:t> </a:t>
            </a:r>
            <a:r>
              <a:rPr lang="en-US" dirty="0"/>
              <a:t>Similarly, when it calls send(), it waits for the data to be sent before moving on.</a:t>
            </a:r>
          </a:p>
        </p:txBody>
      </p:sp>
    </p:spTree>
    <p:extLst>
      <p:ext uri="{BB962C8B-B14F-4D97-AF65-F5344CB8AC3E}">
        <p14:creationId xmlns:p14="http://schemas.microsoft.com/office/powerpoint/2010/main" val="2509905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7E13B-3A9D-D6FE-E504-A10538522379}"/>
              </a:ext>
            </a:extLst>
          </p:cNvPr>
          <p:cNvSpPr>
            <a:spLocks noGrp="1"/>
          </p:cNvSpPr>
          <p:nvPr>
            <p:ph type="title"/>
          </p:nvPr>
        </p:nvSpPr>
        <p:spPr/>
        <p:txBody>
          <a:bodyPr/>
          <a:lstStyle/>
          <a:p>
            <a:r>
              <a:rPr lang="en-US" dirty="0"/>
              <a:t>How Blocking I/O Works</a:t>
            </a:r>
          </a:p>
        </p:txBody>
      </p:sp>
      <p:sp>
        <p:nvSpPr>
          <p:cNvPr id="3" name="Content Placeholder 2">
            <a:extLst>
              <a:ext uri="{FF2B5EF4-FFF2-40B4-BE49-F238E27FC236}">
                <a16:creationId xmlns:a16="http://schemas.microsoft.com/office/drawing/2014/main" id="{276484F6-AE28-29AC-0450-8209EE86A086}"/>
              </a:ext>
            </a:extLst>
          </p:cNvPr>
          <p:cNvSpPr>
            <a:spLocks noGrp="1"/>
          </p:cNvSpPr>
          <p:nvPr>
            <p:ph idx="1"/>
          </p:nvPr>
        </p:nvSpPr>
        <p:spPr/>
        <p:txBody>
          <a:bodyPr/>
          <a:lstStyle/>
          <a:p>
            <a:r>
              <a:rPr lang="en-US" dirty="0"/>
              <a:t>In </a:t>
            </a:r>
            <a:r>
              <a:rPr lang="en-US" b="1" dirty="0"/>
              <a:t>blocking I/O</a:t>
            </a:r>
            <a:r>
              <a:rPr lang="en-US" dirty="0"/>
              <a:t>, the socket function call will not return until the requested operation has been completed, meaning that the program will </a:t>
            </a:r>
            <a:r>
              <a:rPr lang="en-US" b="1" dirty="0"/>
              <a:t>wait</a:t>
            </a:r>
            <a:r>
              <a:rPr lang="en-US" dirty="0"/>
              <a:t> </a:t>
            </a:r>
            <a:r>
              <a:rPr lang="vi-VN" dirty="0" err="1"/>
              <a:t>for</a:t>
            </a:r>
            <a:r>
              <a:rPr lang="vi-VN" dirty="0"/>
              <a:t>:</a:t>
            </a:r>
          </a:p>
          <a:p>
            <a:pPr marL="914400" lvl="1" indent="-457200">
              <a:buFont typeface="+mj-lt"/>
              <a:buAutoNum type="arabicPeriod"/>
            </a:pPr>
            <a:r>
              <a:rPr lang="en-US" b="1" dirty="0"/>
              <a:t>Data to arrive</a:t>
            </a:r>
            <a:r>
              <a:rPr lang="en-US" dirty="0"/>
              <a:t> when reading from the socket.</a:t>
            </a:r>
            <a:endParaRPr lang="vi-VN" dirty="0"/>
          </a:p>
          <a:p>
            <a:pPr marL="914400" lvl="1" indent="-457200">
              <a:buFont typeface="+mj-lt"/>
              <a:buAutoNum type="arabicPeriod"/>
            </a:pPr>
            <a:r>
              <a:rPr lang="en-US" b="1" dirty="0"/>
              <a:t>Confirmation of successful transmission</a:t>
            </a:r>
            <a:r>
              <a:rPr lang="en-US" dirty="0"/>
              <a:t> when writing to the socket.</a:t>
            </a:r>
            <a:endParaRPr lang="vi-VN" dirty="0"/>
          </a:p>
          <a:p>
            <a:r>
              <a:rPr lang="en-US" dirty="0"/>
              <a:t>This can be inefficient in situations where multiple operations need to happen concurrently, especially when dealing with multiple client connections.</a:t>
            </a:r>
          </a:p>
        </p:txBody>
      </p:sp>
    </p:spTree>
    <p:extLst>
      <p:ext uri="{BB962C8B-B14F-4D97-AF65-F5344CB8AC3E}">
        <p14:creationId xmlns:p14="http://schemas.microsoft.com/office/powerpoint/2010/main" val="904389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19FFF-4888-0060-53F1-22871CD4A4C3}"/>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b="1" kern="1200" dirty="0">
                <a:solidFill>
                  <a:srgbClr val="FFFFFF"/>
                </a:solidFill>
                <a:latin typeface="+mj-lt"/>
                <a:ea typeface="+mj-ea"/>
                <a:cs typeface="+mj-cs"/>
              </a:rPr>
              <a:t>Example: Blocking I/O Socket Server</a:t>
            </a:r>
            <a:br>
              <a:rPr lang="en-US" sz="3300" b="1" kern="1200" dirty="0">
                <a:solidFill>
                  <a:srgbClr val="FFFFFF"/>
                </a:solidFill>
                <a:latin typeface="+mj-lt"/>
                <a:ea typeface="+mj-ea"/>
                <a:cs typeface="+mj-cs"/>
              </a:rPr>
            </a:br>
            <a:endParaRPr lang="en-US" sz="3300" kern="1200" dirty="0">
              <a:solidFill>
                <a:srgbClr val="FFFFFF"/>
              </a:solidFill>
              <a:latin typeface="+mj-lt"/>
              <a:ea typeface="+mj-ea"/>
              <a:cs typeface="+mj-cs"/>
            </a:endParaRPr>
          </a:p>
        </p:txBody>
      </p:sp>
      <p:pic>
        <p:nvPicPr>
          <p:cNvPr id="7" name="Content Placeholder 6">
            <a:extLst>
              <a:ext uri="{FF2B5EF4-FFF2-40B4-BE49-F238E27FC236}">
                <a16:creationId xmlns:a16="http://schemas.microsoft.com/office/drawing/2014/main" id="{1578F42C-CE59-6897-C204-E0F2F11BBD41}"/>
              </a:ext>
            </a:extLst>
          </p:cNvPr>
          <p:cNvPicPr>
            <a:picLocks noGrp="1" noChangeAspect="1"/>
          </p:cNvPicPr>
          <p:nvPr>
            <p:ph idx="1"/>
          </p:nvPr>
        </p:nvPicPr>
        <p:blipFill>
          <a:blip r:embed="rId2"/>
          <a:stretch>
            <a:fillRect/>
          </a:stretch>
        </p:blipFill>
        <p:spPr>
          <a:xfrm>
            <a:off x="4777316" y="918977"/>
            <a:ext cx="6780700" cy="5017717"/>
          </a:xfrm>
          <a:prstGeom prst="rect">
            <a:avLst/>
          </a:prstGeom>
        </p:spPr>
      </p:pic>
    </p:spTree>
    <p:extLst>
      <p:ext uri="{BB962C8B-B14F-4D97-AF65-F5344CB8AC3E}">
        <p14:creationId xmlns:p14="http://schemas.microsoft.com/office/powerpoint/2010/main" val="444774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B57CA-C75C-9BD1-E59B-DC25AC61BD3A}"/>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Example: Blocking I/O Socket Client</a:t>
            </a:r>
          </a:p>
        </p:txBody>
      </p:sp>
      <p:pic>
        <p:nvPicPr>
          <p:cNvPr id="5" name="Content Placeholder 4">
            <a:extLst>
              <a:ext uri="{FF2B5EF4-FFF2-40B4-BE49-F238E27FC236}">
                <a16:creationId xmlns:a16="http://schemas.microsoft.com/office/drawing/2014/main" id="{FBA93E2D-5037-4C9F-84B9-138B1C3E6925}"/>
              </a:ext>
            </a:extLst>
          </p:cNvPr>
          <p:cNvPicPr>
            <a:picLocks noGrp="1" noChangeAspect="1"/>
          </p:cNvPicPr>
          <p:nvPr>
            <p:ph idx="1"/>
          </p:nvPr>
        </p:nvPicPr>
        <p:blipFill>
          <a:blip r:embed="rId2"/>
          <a:stretch>
            <a:fillRect/>
          </a:stretch>
        </p:blipFill>
        <p:spPr>
          <a:xfrm>
            <a:off x="4852941" y="643466"/>
            <a:ext cx="6629450" cy="5568739"/>
          </a:xfrm>
          <a:prstGeom prst="rect">
            <a:avLst/>
          </a:prstGeom>
        </p:spPr>
      </p:pic>
    </p:spTree>
    <p:extLst>
      <p:ext uri="{BB962C8B-B14F-4D97-AF65-F5344CB8AC3E}">
        <p14:creationId xmlns:p14="http://schemas.microsoft.com/office/powerpoint/2010/main" val="2168782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0C21A-9293-2B99-FF83-DA05C6EC74FD}"/>
              </a:ext>
            </a:extLst>
          </p:cNvPr>
          <p:cNvSpPr>
            <a:spLocks noGrp="1"/>
          </p:cNvSpPr>
          <p:nvPr>
            <p:ph type="title"/>
          </p:nvPr>
        </p:nvSpPr>
        <p:spPr/>
        <p:txBody>
          <a:bodyPr/>
          <a:lstStyle/>
          <a:p>
            <a:r>
              <a:rPr lang="en-US" dirty="0"/>
              <a:t>Characteristics of Blocking I/O</a:t>
            </a:r>
          </a:p>
        </p:txBody>
      </p:sp>
      <p:sp>
        <p:nvSpPr>
          <p:cNvPr id="3" name="Content Placeholder 2">
            <a:extLst>
              <a:ext uri="{FF2B5EF4-FFF2-40B4-BE49-F238E27FC236}">
                <a16:creationId xmlns:a16="http://schemas.microsoft.com/office/drawing/2014/main" id="{2DDF90F6-3457-7BA3-9B18-6964D511E409}"/>
              </a:ext>
            </a:extLst>
          </p:cNvPr>
          <p:cNvSpPr>
            <a:spLocks noGrp="1"/>
          </p:cNvSpPr>
          <p:nvPr>
            <p:ph idx="1"/>
          </p:nvPr>
        </p:nvSpPr>
        <p:spPr/>
        <p:txBody>
          <a:bodyPr/>
          <a:lstStyle/>
          <a:p>
            <a:r>
              <a:rPr lang="en-US" dirty="0"/>
              <a:t>Simplicity: Blocking I/O is simple to implement, as you don't need to manage concurrency or deal with complex event loops. The code follows a linear flow.</a:t>
            </a:r>
          </a:p>
          <a:p>
            <a:r>
              <a:rPr lang="en-US" dirty="0"/>
              <a:t>Sequential Execution: Each I/O operation is performed one after another. The program waits for one operation (like reading from a socket) to finish before starting the next operation (like writing to a socket)</a:t>
            </a:r>
          </a:p>
          <a:p>
            <a:pPr marL="0" indent="0">
              <a:buNone/>
            </a:pPr>
            <a:endParaRPr lang="en-US" dirty="0"/>
          </a:p>
        </p:txBody>
      </p:sp>
    </p:spTree>
    <p:extLst>
      <p:ext uri="{BB962C8B-B14F-4D97-AF65-F5344CB8AC3E}">
        <p14:creationId xmlns:p14="http://schemas.microsoft.com/office/powerpoint/2010/main" val="2120072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4349F-9288-50D1-D9A3-03E52C95CCCA}"/>
              </a:ext>
            </a:extLst>
          </p:cNvPr>
          <p:cNvSpPr>
            <a:spLocks noGrp="1"/>
          </p:cNvSpPr>
          <p:nvPr>
            <p:ph type="title"/>
          </p:nvPr>
        </p:nvSpPr>
        <p:spPr/>
        <p:txBody>
          <a:bodyPr/>
          <a:lstStyle/>
          <a:p>
            <a:r>
              <a:rPr lang="en-US" dirty="0"/>
              <a:t>Characteristics of Blocking I/O</a:t>
            </a:r>
          </a:p>
        </p:txBody>
      </p:sp>
      <p:sp>
        <p:nvSpPr>
          <p:cNvPr id="3" name="Content Placeholder 2">
            <a:extLst>
              <a:ext uri="{FF2B5EF4-FFF2-40B4-BE49-F238E27FC236}">
                <a16:creationId xmlns:a16="http://schemas.microsoft.com/office/drawing/2014/main" id="{C5E62D74-27AA-A4F3-F630-38CCD29E9104}"/>
              </a:ext>
            </a:extLst>
          </p:cNvPr>
          <p:cNvSpPr>
            <a:spLocks noGrp="1"/>
          </p:cNvSpPr>
          <p:nvPr>
            <p:ph idx="1"/>
          </p:nvPr>
        </p:nvSpPr>
        <p:spPr/>
        <p:txBody>
          <a:bodyPr/>
          <a:lstStyle/>
          <a:p>
            <a:r>
              <a:rPr lang="en-US" dirty="0"/>
              <a:t>No Need for Polling: Since the program halts at each blocking operation, there’s no need to continuously check (poll) the socket to see if it’s ready for reading or writing.</a:t>
            </a:r>
          </a:p>
          <a:p>
            <a:r>
              <a:rPr lang="en-US" dirty="0"/>
              <a:t>Inefficiency in Concurrency: When handling multiple clients or doing I/O-bound tasks, blocking I/O can lead to inefficiencies because the program spends a lot of time waiting for I/O operations to complete.</a:t>
            </a:r>
          </a:p>
        </p:txBody>
      </p:sp>
    </p:spTree>
    <p:extLst>
      <p:ext uri="{BB962C8B-B14F-4D97-AF65-F5344CB8AC3E}">
        <p14:creationId xmlns:p14="http://schemas.microsoft.com/office/powerpoint/2010/main" val="1481318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8C9DF-989C-4D41-0BE8-3C4F8118EB30}"/>
              </a:ext>
            </a:extLst>
          </p:cNvPr>
          <p:cNvSpPr>
            <a:spLocks noGrp="1"/>
          </p:cNvSpPr>
          <p:nvPr>
            <p:ph type="title"/>
          </p:nvPr>
        </p:nvSpPr>
        <p:spPr/>
        <p:txBody>
          <a:bodyPr/>
          <a:lstStyle/>
          <a:p>
            <a:r>
              <a:rPr lang="en-US" dirty="0"/>
              <a:t>Advantages of Blocking I/O</a:t>
            </a:r>
          </a:p>
        </p:txBody>
      </p:sp>
      <p:sp>
        <p:nvSpPr>
          <p:cNvPr id="3" name="Content Placeholder 2">
            <a:extLst>
              <a:ext uri="{FF2B5EF4-FFF2-40B4-BE49-F238E27FC236}">
                <a16:creationId xmlns:a16="http://schemas.microsoft.com/office/drawing/2014/main" id="{68C8A824-EE8B-E3B3-70AC-59781A659BF1}"/>
              </a:ext>
            </a:extLst>
          </p:cNvPr>
          <p:cNvSpPr>
            <a:spLocks noGrp="1"/>
          </p:cNvSpPr>
          <p:nvPr>
            <p:ph idx="1"/>
          </p:nvPr>
        </p:nvSpPr>
        <p:spPr/>
        <p:txBody>
          <a:bodyPr/>
          <a:lstStyle/>
          <a:p>
            <a:r>
              <a:rPr lang="en-US" dirty="0"/>
              <a:t>Simplicity: Blocking I/O is often easier to write and reason about. The program flow is sequential, so it’s easier to understand than more complex non-blocking or asynchronous models.</a:t>
            </a:r>
          </a:p>
          <a:p>
            <a:r>
              <a:rPr lang="en-US" dirty="0"/>
              <a:t>Fewer Threads/Processes: For small, simple applications, blocking I/O does not require managing multiple threads or processes. It can be the simplest choice for applications that are not expected to handle many concurrent connections.</a:t>
            </a:r>
          </a:p>
          <a:p>
            <a:r>
              <a:rPr lang="en-US" dirty="0"/>
              <a:t>Easier Debugging: Since the program execution is linear, it’s easier to debug issues compared to more complex, concurrent programming models.</a:t>
            </a:r>
          </a:p>
        </p:txBody>
      </p:sp>
    </p:spTree>
    <p:extLst>
      <p:ext uri="{BB962C8B-B14F-4D97-AF65-F5344CB8AC3E}">
        <p14:creationId xmlns:p14="http://schemas.microsoft.com/office/powerpoint/2010/main" val="715670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E6FCA-23C1-2FD9-922A-D24FF801B731}"/>
              </a:ext>
            </a:extLst>
          </p:cNvPr>
          <p:cNvSpPr>
            <a:spLocks noGrp="1"/>
          </p:cNvSpPr>
          <p:nvPr>
            <p:ph type="title"/>
          </p:nvPr>
        </p:nvSpPr>
        <p:spPr/>
        <p:txBody>
          <a:bodyPr/>
          <a:lstStyle/>
          <a:p>
            <a:r>
              <a:rPr lang="en-US" dirty="0"/>
              <a:t>Disadvantages of Blocking I/O</a:t>
            </a:r>
          </a:p>
        </p:txBody>
      </p:sp>
      <p:sp>
        <p:nvSpPr>
          <p:cNvPr id="3" name="Content Placeholder 2">
            <a:extLst>
              <a:ext uri="{FF2B5EF4-FFF2-40B4-BE49-F238E27FC236}">
                <a16:creationId xmlns:a16="http://schemas.microsoft.com/office/drawing/2014/main" id="{C73E2A0A-64FF-3AE2-6A0E-991DCE665FED}"/>
              </a:ext>
            </a:extLst>
          </p:cNvPr>
          <p:cNvSpPr>
            <a:spLocks noGrp="1"/>
          </p:cNvSpPr>
          <p:nvPr>
            <p:ph idx="1"/>
          </p:nvPr>
        </p:nvSpPr>
        <p:spPr/>
        <p:txBody>
          <a:bodyPr/>
          <a:lstStyle/>
          <a:p>
            <a:r>
              <a:rPr lang="en-US" dirty="0"/>
              <a:t>Inefficiency in Handling Multiple Connections: When handling multiple clients (e.g., in a web server), blocking I/O can be inefficient because the server must wait for each client's I/O operation to complete before moving on to the next client. This results in </a:t>
            </a:r>
            <a:r>
              <a:rPr lang="en-US" b="1" dirty="0"/>
              <a:t>idle time</a:t>
            </a:r>
            <a:r>
              <a:rPr lang="en-US" dirty="0"/>
              <a:t> and limited scalability.</a:t>
            </a:r>
          </a:p>
          <a:p>
            <a:r>
              <a:rPr lang="en-US" dirty="0"/>
              <a:t>Poor Responsiveness: The program can become unresponsive if it's waiting on I/O operations. For example, while waiting for data to be received from a client, the server cannot perform other tasks like accepting new connections.</a:t>
            </a:r>
          </a:p>
        </p:txBody>
      </p:sp>
    </p:spTree>
    <p:extLst>
      <p:ext uri="{BB962C8B-B14F-4D97-AF65-F5344CB8AC3E}">
        <p14:creationId xmlns:p14="http://schemas.microsoft.com/office/powerpoint/2010/main" val="982474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FE348-CDF0-5940-6B3F-F6BB6C89F761}"/>
              </a:ext>
            </a:extLst>
          </p:cNvPr>
          <p:cNvSpPr>
            <a:spLocks noGrp="1"/>
          </p:cNvSpPr>
          <p:nvPr>
            <p:ph type="title"/>
          </p:nvPr>
        </p:nvSpPr>
        <p:spPr/>
        <p:txBody>
          <a:bodyPr/>
          <a:lstStyle/>
          <a:p>
            <a:r>
              <a:rPr lang="en-US" dirty="0"/>
              <a:t>Disadvantages of Blocking I/O</a:t>
            </a:r>
          </a:p>
        </p:txBody>
      </p:sp>
      <p:sp>
        <p:nvSpPr>
          <p:cNvPr id="3" name="Content Placeholder 2">
            <a:extLst>
              <a:ext uri="{FF2B5EF4-FFF2-40B4-BE49-F238E27FC236}">
                <a16:creationId xmlns:a16="http://schemas.microsoft.com/office/drawing/2014/main" id="{90278982-16E5-61CC-22CE-C65A72267FFD}"/>
              </a:ext>
            </a:extLst>
          </p:cNvPr>
          <p:cNvSpPr>
            <a:spLocks noGrp="1"/>
          </p:cNvSpPr>
          <p:nvPr>
            <p:ph idx="1"/>
          </p:nvPr>
        </p:nvSpPr>
        <p:spPr/>
        <p:txBody>
          <a:bodyPr/>
          <a:lstStyle/>
          <a:p>
            <a:r>
              <a:rPr lang="en-US" dirty="0"/>
              <a:t>Scalability Problems: A blocking I/O server would need one thread per client or would use multiplexing techniques (like select) to handle multiple clients. But this still involves waiting (blocking) and is not as efficient as an asynchronous or non-blocking approach.</a:t>
            </a:r>
          </a:p>
        </p:txBody>
      </p:sp>
    </p:spTree>
    <p:extLst>
      <p:ext uri="{BB962C8B-B14F-4D97-AF65-F5344CB8AC3E}">
        <p14:creationId xmlns:p14="http://schemas.microsoft.com/office/powerpoint/2010/main" val="1874181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1A089-44BF-2C34-F72D-14FE40B028DD}"/>
              </a:ext>
            </a:extLst>
          </p:cNvPr>
          <p:cNvSpPr>
            <a:spLocks noGrp="1"/>
          </p:cNvSpPr>
          <p:nvPr>
            <p:ph type="title"/>
          </p:nvPr>
        </p:nvSpPr>
        <p:spPr/>
        <p:txBody>
          <a:bodyPr/>
          <a:lstStyle/>
          <a:p>
            <a:r>
              <a:rPr lang="en-US" dirty="0"/>
              <a:t>When to Use Blocking I/O</a:t>
            </a:r>
          </a:p>
        </p:txBody>
      </p:sp>
      <p:sp>
        <p:nvSpPr>
          <p:cNvPr id="3" name="Content Placeholder 2">
            <a:extLst>
              <a:ext uri="{FF2B5EF4-FFF2-40B4-BE49-F238E27FC236}">
                <a16:creationId xmlns:a16="http://schemas.microsoft.com/office/drawing/2014/main" id="{040A943E-3580-7C26-4D94-C623F9FBBCA5}"/>
              </a:ext>
            </a:extLst>
          </p:cNvPr>
          <p:cNvSpPr>
            <a:spLocks noGrp="1"/>
          </p:cNvSpPr>
          <p:nvPr>
            <p:ph idx="1"/>
          </p:nvPr>
        </p:nvSpPr>
        <p:spPr/>
        <p:txBody>
          <a:bodyPr/>
          <a:lstStyle/>
          <a:p>
            <a:r>
              <a:rPr lang="en-US" b="1" dirty="0"/>
              <a:t>Blocking I/O</a:t>
            </a:r>
            <a:r>
              <a:rPr lang="en-US" dirty="0"/>
              <a:t> can be a suitable approach in situations like:</a:t>
            </a:r>
          </a:p>
          <a:p>
            <a:pPr marL="914400" lvl="1" indent="-457200">
              <a:buFont typeface="+mj-lt"/>
              <a:buAutoNum type="arabicPeriod"/>
            </a:pPr>
            <a:r>
              <a:rPr lang="en-US" b="1" dirty="0"/>
              <a:t>Simple Applications</a:t>
            </a:r>
            <a:r>
              <a:rPr lang="en-US" dirty="0"/>
              <a:t>: Where you don't need to handle many clients concurrently or the application is not I/O-bound (e.g., command-line tools, simple client-server programs).</a:t>
            </a:r>
          </a:p>
          <a:p>
            <a:pPr marL="914400" lvl="1" indent="-457200">
              <a:buFont typeface="+mj-lt"/>
              <a:buAutoNum type="arabicPeriod"/>
            </a:pPr>
            <a:r>
              <a:rPr lang="en-US" b="1" dirty="0"/>
              <a:t>Real-Time Applications</a:t>
            </a:r>
            <a:r>
              <a:rPr lang="en-US" dirty="0"/>
              <a:t>: For certain real-time applications where responses are required quickly and there’s no need to wait for multiple concurrent I/O operations.</a:t>
            </a:r>
          </a:p>
          <a:p>
            <a:pPr marL="914400" lvl="1" indent="-457200">
              <a:buFont typeface="+mj-lt"/>
              <a:buAutoNum type="arabicPeriod"/>
            </a:pPr>
            <a:r>
              <a:rPr lang="en-US" b="1" dirty="0"/>
              <a:t>Single-Threaded Systems</a:t>
            </a:r>
            <a:r>
              <a:rPr lang="en-US" dirty="0"/>
              <a:t>: Where you can afford the overhead of waiting for each operation to finish, or the number of concurrent operations is small enough to not cause performance issues.</a:t>
            </a:r>
          </a:p>
          <a:p>
            <a:pPr marL="457200" lvl="1" indent="0">
              <a:buNone/>
            </a:pPr>
            <a:endParaRPr lang="en-US" dirty="0"/>
          </a:p>
        </p:txBody>
      </p:sp>
    </p:spTree>
    <p:extLst>
      <p:ext uri="{BB962C8B-B14F-4D97-AF65-F5344CB8AC3E}">
        <p14:creationId xmlns:p14="http://schemas.microsoft.com/office/powerpoint/2010/main" val="1855014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C3687-75A1-422A-4495-AA1B1C1E69F5}"/>
              </a:ext>
            </a:extLst>
          </p:cNvPr>
          <p:cNvSpPr>
            <a:spLocks noGrp="1"/>
          </p:cNvSpPr>
          <p:nvPr>
            <p:ph type="title"/>
          </p:nvPr>
        </p:nvSpPr>
        <p:spPr/>
        <p:txBody>
          <a:bodyPr/>
          <a:lstStyle/>
          <a:p>
            <a:r>
              <a:rPr lang="en-US" dirty="0"/>
              <a:t>How to Handle Multiple Clients with Blocking I/O</a:t>
            </a:r>
          </a:p>
        </p:txBody>
      </p:sp>
      <p:sp>
        <p:nvSpPr>
          <p:cNvPr id="3" name="Content Placeholder 2">
            <a:extLst>
              <a:ext uri="{FF2B5EF4-FFF2-40B4-BE49-F238E27FC236}">
                <a16:creationId xmlns:a16="http://schemas.microsoft.com/office/drawing/2014/main" id="{D5A9AC9C-BF66-4ACA-E036-97F170CD2DFE}"/>
              </a:ext>
            </a:extLst>
          </p:cNvPr>
          <p:cNvSpPr>
            <a:spLocks noGrp="1"/>
          </p:cNvSpPr>
          <p:nvPr>
            <p:ph idx="1"/>
          </p:nvPr>
        </p:nvSpPr>
        <p:spPr/>
        <p:txBody>
          <a:bodyPr/>
          <a:lstStyle/>
          <a:p>
            <a:r>
              <a:rPr lang="en-US" dirty="0"/>
              <a:t>With blocking I/O, handling multiple clients often requires using multiple </a:t>
            </a:r>
            <a:r>
              <a:rPr lang="en-US" b="1" dirty="0"/>
              <a:t>threads</a:t>
            </a:r>
            <a:r>
              <a:rPr lang="en-US" dirty="0"/>
              <a:t> or </a:t>
            </a:r>
            <a:r>
              <a:rPr lang="en-US" b="1" dirty="0"/>
              <a:t>processes</a:t>
            </a:r>
            <a:r>
              <a:rPr lang="en-US" dirty="0"/>
              <a:t> so that each client can have its own independent execution flow.</a:t>
            </a:r>
          </a:p>
        </p:txBody>
      </p:sp>
    </p:spTree>
    <p:extLst>
      <p:ext uri="{BB962C8B-B14F-4D97-AF65-F5344CB8AC3E}">
        <p14:creationId xmlns:p14="http://schemas.microsoft.com/office/powerpoint/2010/main" val="144357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E57E6-F1BE-5743-5CFF-EE771B67B427}"/>
              </a:ext>
            </a:extLst>
          </p:cNvPr>
          <p:cNvSpPr>
            <a:spLocks noGrp="1"/>
          </p:cNvSpPr>
          <p:nvPr>
            <p:ph type="title"/>
          </p:nvPr>
        </p:nvSpPr>
        <p:spPr/>
        <p:txBody>
          <a:bodyPr/>
          <a:lstStyle/>
          <a:p>
            <a:r>
              <a:rPr lang="en-US" dirty="0"/>
              <a:t>Nonblocking I/O</a:t>
            </a:r>
          </a:p>
        </p:txBody>
      </p:sp>
      <p:sp>
        <p:nvSpPr>
          <p:cNvPr id="3" name="Content Placeholder 2">
            <a:extLst>
              <a:ext uri="{FF2B5EF4-FFF2-40B4-BE49-F238E27FC236}">
                <a16:creationId xmlns:a16="http://schemas.microsoft.com/office/drawing/2014/main" id="{2AA4D2D3-A8B3-EFE7-D802-BEA9009EF4A0}"/>
              </a:ext>
            </a:extLst>
          </p:cNvPr>
          <p:cNvSpPr>
            <a:spLocks noGrp="1"/>
          </p:cNvSpPr>
          <p:nvPr>
            <p:ph idx="1"/>
          </p:nvPr>
        </p:nvSpPr>
        <p:spPr/>
        <p:txBody>
          <a:bodyPr/>
          <a:lstStyle/>
          <a:p>
            <a:r>
              <a:rPr lang="en-US" dirty="0"/>
              <a:t>In </a:t>
            </a:r>
            <a:r>
              <a:rPr lang="en-US" b="1" dirty="0"/>
              <a:t>non-blocking I/O</a:t>
            </a:r>
            <a:r>
              <a:rPr lang="en-US" dirty="0"/>
              <a:t>, operations like reading from or writing to a socket </a:t>
            </a:r>
            <a:r>
              <a:rPr lang="en-US" b="1" dirty="0"/>
              <a:t>do not wait</a:t>
            </a:r>
            <a:r>
              <a:rPr lang="en-US" dirty="0"/>
              <a:t> for the operation to complete.</a:t>
            </a:r>
          </a:p>
          <a:p>
            <a:r>
              <a:rPr lang="en-US" dirty="0"/>
              <a:t>Instead, the program can continue executing other tasks while waiting for the I/O operation to complete.</a:t>
            </a:r>
          </a:p>
          <a:p>
            <a:r>
              <a:rPr lang="en-US" dirty="0"/>
              <a:t>This contrasts with </a:t>
            </a:r>
            <a:r>
              <a:rPr lang="en-US" b="1" dirty="0"/>
              <a:t>blocking I/O</a:t>
            </a:r>
            <a:r>
              <a:rPr lang="en-US" dirty="0"/>
              <a:t>, where a program stops and waits until the operation finishes.</a:t>
            </a:r>
          </a:p>
          <a:p>
            <a:r>
              <a:rPr lang="en-US" dirty="0"/>
              <a:t>Non-blocking I/O is a critical concept for building scalable network applications, especially when managing many simultaneous client connections.</a:t>
            </a:r>
          </a:p>
        </p:txBody>
      </p:sp>
    </p:spTree>
    <p:extLst>
      <p:ext uri="{BB962C8B-B14F-4D97-AF65-F5344CB8AC3E}">
        <p14:creationId xmlns:p14="http://schemas.microsoft.com/office/powerpoint/2010/main" val="2789718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B7898-A7F9-7932-B647-B86DFA8E19E6}"/>
              </a:ext>
            </a:extLst>
          </p:cNvPr>
          <p:cNvSpPr>
            <a:spLocks noGrp="1"/>
          </p:cNvSpPr>
          <p:nvPr>
            <p:ph type="title"/>
          </p:nvPr>
        </p:nvSpPr>
        <p:spPr/>
        <p:txBody>
          <a:bodyPr/>
          <a:lstStyle/>
          <a:p>
            <a:r>
              <a:rPr lang="en-US" dirty="0"/>
              <a:t>How Non-Blocking I/O Works</a:t>
            </a:r>
          </a:p>
        </p:txBody>
      </p:sp>
      <p:sp>
        <p:nvSpPr>
          <p:cNvPr id="3" name="Content Placeholder 2">
            <a:extLst>
              <a:ext uri="{FF2B5EF4-FFF2-40B4-BE49-F238E27FC236}">
                <a16:creationId xmlns:a16="http://schemas.microsoft.com/office/drawing/2014/main" id="{A63E27F7-D934-18BE-7159-9DDE53395741}"/>
              </a:ext>
            </a:extLst>
          </p:cNvPr>
          <p:cNvSpPr>
            <a:spLocks noGrp="1"/>
          </p:cNvSpPr>
          <p:nvPr>
            <p:ph idx="1"/>
          </p:nvPr>
        </p:nvSpPr>
        <p:spPr/>
        <p:txBody>
          <a:bodyPr/>
          <a:lstStyle/>
          <a:p>
            <a:r>
              <a:rPr lang="en-US" dirty="0"/>
              <a:t>Traditional Blocking I/O: In blocking mode (default for sockets), functions like </a:t>
            </a:r>
            <a:r>
              <a:rPr lang="en-US" i="1" dirty="0" err="1"/>
              <a:t>recv</a:t>
            </a:r>
            <a:r>
              <a:rPr lang="en-US" i="1" dirty="0"/>
              <a:t>() </a:t>
            </a:r>
            <a:r>
              <a:rPr lang="en-US" dirty="0"/>
              <a:t>or </a:t>
            </a:r>
            <a:r>
              <a:rPr lang="en-US" i="1" dirty="0"/>
              <a:t>send() </a:t>
            </a:r>
            <a:r>
              <a:rPr lang="en-US" dirty="0"/>
              <a:t>halt the program until data is available or the operation is complete. </a:t>
            </a:r>
          </a:p>
          <a:p>
            <a:r>
              <a:rPr lang="en-US" dirty="0"/>
              <a:t>This approach can lead to inefficiencies, especially when handling multiple connections, as the program might spend time idly waiting for data.</a:t>
            </a:r>
          </a:p>
        </p:txBody>
      </p:sp>
      <p:pic>
        <p:nvPicPr>
          <p:cNvPr id="6" name="Picture 5">
            <a:extLst>
              <a:ext uri="{FF2B5EF4-FFF2-40B4-BE49-F238E27FC236}">
                <a16:creationId xmlns:a16="http://schemas.microsoft.com/office/drawing/2014/main" id="{EACAA7F6-1541-9DCD-D187-DB96DCC6504D}"/>
              </a:ext>
            </a:extLst>
          </p:cNvPr>
          <p:cNvPicPr>
            <a:picLocks noChangeAspect="1"/>
          </p:cNvPicPr>
          <p:nvPr/>
        </p:nvPicPr>
        <p:blipFill>
          <a:blip r:embed="rId2"/>
          <a:stretch>
            <a:fillRect/>
          </a:stretch>
        </p:blipFill>
        <p:spPr>
          <a:xfrm>
            <a:off x="3269614" y="4726423"/>
            <a:ext cx="5220152" cy="533446"/>
          </a:xfrm>
          <a:prstGeom prst="rect">
            <a:avLst/>
          </a:prstGeom>
        </p:spPr>
      </p:pic>
    </p:spTree>
    <p:extLst>
      <p:ext uri="{BB962C8B-B14F-4D97-AF65-F5344CB8AC3E}">
        <p14:creationId xmlns:p14="http://schemas.microsoft.com/office/powerpoint/2010/main" val="228213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46818-6AED-E7AD-0269-D7769405AFF0}"/>
              </a:ext>
            </a:extLst>
          </p:cNvPr>
          <p:cNvSpPr>
            <a:spLocks noGrp="1"/>
          </p:cNvSpPr>
          <p:nvPr>
            <p:ph type="title"/>
          </p:nvPr>
        </p:nvSpPr>
        <p:spPr/>
        <p:txBody>
          <a:bodyPr/>
          <a:lstStyle/>
          <a:p>
            <a:r>
              <a:rPr lang="en-US" dirty="0"/>
              <a:t>How Non-Blocking I/O Works</a:t>
            </a:r>
          </a:p>
        </p:txBody>
      </p:sp>
      <p:sp>
        <p:nvSpPr>
          <p:cNvPr id="3" name="Content Placeholder 2">
            <a:extLst>
              <a:ext uri="{FF2B5EF4-FFF2-40B4-BE49-F238E27FC236}">
                <a16:creationId xmlns:a16="http://schemas.microsoft.com/office/drawing/2014/main" id="{008AB1E1-6485-B2DD-B364-7A05194AC41A}"/>
              </a:ext>
            </a:extLst>
          </p:cNvPr>
          <p:cNvSpPr>
            <a:spLocks noGrp="1"/>
          </p:cNvSpPr>
          <p:nvPr>
            <p:ph idx="1"/>
          </p:nvPr>
        </p:nvSpPr>
        <p:spPr/>
        <p:txBody>
          <a:bodyPr/>
          <a:lstStyle/>
          <a:p>
            <a:r>
              <a:rPr lang="en-US" dirty="0"/>
              <a:t>In non-blocking mode, I/O operations </a:t>
            </a:r>
            <a:r>
              <a:rPr lang="en-US" b="1" dirty="0"/>
              <a:t>return immediately</a:t>
            </a:r>
            <a:r>
              <a:rPr lang="en-US" dirty="0"/>
              <a:t> if no data is available or if the operation cannot proceed.</a:t>
            </a:r>
          </a:p>
          <a:p>
            <a:r>
              <a:rPr lang="en-US" dirty="0"/>
              <a:t>The program can check back later or use mechanisms like </a:t>
            </a:r>
            <a:r>
              <a:rPr lang="en-US" b="1" dirty="0"/>
              <a:t>polling</a:t>
            </a:r>
            <a:r>
              <a:rPr lang="en-US" dirty="0"/>
              <a:t> or </a:t>
            </a:r>
            <a:r>
              <a:rPr lang="en-US" b="1" dirty="0"/>
              <a:t>event loops</a:t>
            </a:r>
            <a:r>
              <a:rPr lang="en-US" dirty="0"/>
              <a:t> to handle data when it becomes available.</a:t>
            </a:r>
          </a:p>
        </p:txBody>
      </p:sp>
      <p:pic>
        <p:nvPicPr>
          <p:cNvPr id="5" name="Picture 4">
            <a:extLst>
              <a:ext uri="{FF2B5EF4-FFF2-40B4-BE49-F238E27FC236}">
                <a16:creationId xmlns:a16="http://schemas.microsoft.com/office/drawing/2014/main" id="{7443481F-87CF-D076-F776-C9731351144E}"/>
              </a:ext>
            </a:extLst>
          </p:cNvPr>
          <p:cNvPicPr>
            <a:picLocks noChangeAspect="1"/>
          </p:cNvPicPr>
          <p:nvPr/>
        </p:nvPicPr>
        <p:blipFill>
          <a:blip r:embed="rId2"/>
          <a:stretch>
            <a:fillRect/>
          </a:stretch>
        </p:blipFill>
        <p:spPr>
          <a:xfrm>
            <a:off x="2749704" y="4001294"/>
            <a:ext cx="5906012" cy="1318374"/>
          </a:xfrm>
          <a:prstGeom prst="rect">
            <a:avLst/>
          </a:prstGeom>
        </p:spPr>
      </p:pic>
    </p:spTree>
    <p:extLst>
      <p:ext uri="{BB962C8B-B14F-4D97-AF65-F5344CB8AC3E}">
        <p14:creationId xmlns:p14="http://schemas.microsoft.com/office/powerpoint/2010/main" val="3630572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9C9DE-5402-C34E-F5BF-B50C77C941F3}"/>
              </a:ext>
            </a:extLst>
          </p:cNvPr>
          <p:cNvSpPr>
            <a:spLocks noGrp="1"/>
          </p:cNvSpPr>
          <p:nvPr>
            <p:ph type="title"/>
          </p:nvPr>
        </p:nvSpPr>
        <p:spPr/>
        <p:txBody>
          <a:bodyPr/>
          <a:lstStyle/>
          <a:p>
            <a:r>
              <a:rPr lang="en-US" dirty="0"/>
              <a:t>Benefits of Non-Blocking I/O</a:t>
            </a:r>
          </a:p>
        </p:txBody>
      </p:sp>
      <p:sp>
        <p:nvSpPr>
          <p:cNvPr id="3" name="Content Placeholder 2">
            <a:extLst>
              <a:ext uri="{FF2B5EF4-FFF2-40B4-BE49-F238E27FC236}">
                <a16:creationId xmlns:a16="http://schemas.microsoft.com/office/drawing/2014/main" id="{D3B34B3E-727C-463A-3B01-EC04375B04F6}"/>
              </a:ext>
            </a:extLst>
          </p:cNvPr>
          <p:cNvSpPr>
            <a:spLocks noGrp="1"/>
          </p:cNvSpPr>
          <p:nvPr>
            <p:ph idx="1"/>
          </p:nvPr>
        </p:nvSpPr>
        <p:spPr/>
        <p:txBody>
          <a:bodyPr/>
          <a:lstStyle/>
          <a:p>
            <a:r>
              <a:rPr lang="en-US" b="1" dirty="0"/>
              <a:t>Efficiency</a:t>
            </a:r>
            <a:r>
              <a:rPr lang="en-US" dirty="0"/>
              <a:t>: The program isn't stuck waiting for I/O operations to complete and can perform other tasks in the meantime.</a:t>
            </a:r>
          </a:p>
          <a:p>
            <a:r>
              <a:rPr lang="en-US" b="1" dirty="0"/>
              <a:t>Scalability</a:t>
            </a:r>
            <a:r>
              <a:rPr lang="en-US" dirty="0"/>
              <a:t>: Handles many connections with fewer system resources compared to threading or multiprocessing.</a:t>
            </a:r>
          </a:p>
          <a:p>
            <a:r>
              <a:rPr lang="en-US" b="1" dirty="0"/>
              <a:t>Responsiveness</a:t>
            </a:r>
            <a:r>
              <a:rPr lang="en-US" dirty="0"/>
              <a:t>: Suitable for interactive applications where immediate feedback is essential.</a:t>
            </a:r>
          </a:p>
          <a:p>
            <a:endParaRPr lang="en-US" dirty="0"/>
          </a:p>
        </p:txBody>
      </p:sp>
    </p:spTree>
    <p:extLst>
      <p:ext uri="{BB962C8B-B14F-4D97-AF65-F5344CB8AC3E}">
        <p14:creationId xmlns:p14="http://schemas.microsoft.com/office/powerpoint/2010/main" val="2502377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AF648-E410-EABA-9CC2-1FBBC7248712}"/>
              </a:ext>
            </a:extLst>
          </p:cNvPr>
          <p:cNvSpPr>
            <a:spLocks noGrp="1"/>
          </p:cNvSpPr>
          <p:nvPr>
            <p:ph type="title"/>
          </p:nvPr>
        </p:nvSpPr>
        <p:spPr/>
        <p:txBody>
          <a:bodyPr/>
          <a:lstStyle/>
          <a:p>
            <a:r>
              <a:rPr lang="en-US" dirty="0"/>
              <a:t>Key Concepts in Non-Blocking I/O</a:t>
            </a:r>
          </a:p>
        </p:txBody>
      </p:sp>
      <p:sp>
        <p:nvSpPr>
          <p:cNvPr id="3" name="Content Placeholder 2">
            <a:extLst>
              <a:ext uri="{FF2B5EF4-FFF2-40B4-BE49-F238E27FC236}">
                <a16:creationId xmlns:a16="http://schemas.microsoft.com/office/drawing/2014/main" id="{DE2692E2-7EFF-084F-3F75-19D3896CBCD7}"/>
              </a:ext>
            </a:extLst>
          </p:cNvPr>
          <p:cNvSpPr>
            <a:spLocks noGrp="1"/>
          </p:cNvSpPr>
          <p:nvPr>
            <p:ph idx="1"/>
          </p:nvPr>
        </p:nvSpPr>
        <p:spPr/>
        <p:txBody>
          <a:bodyPr/>
          <a:lstStyle/>
          <a:p>
            <a:pPr marL="514350" indent="-514350">
              <a:buFont typeface="+mj-lt"/>
              <a:buAutoNum type="arabicPeriod"/>
            </a:pPr>
            <a:r>
              <a:rPr lang="en-US" dirty="0"/>
              <a:t>Polling:</a:t>
            </a:r>
          </a:p>
          <a:p>
            <a:pPr lvl="1"/>
            <a:r>
              <a:rPr lang="en-US" dirty="0"/>
              <a:t>The program repeatedly checks the status of a socket to see if it is ready for reading or writing.</a:t>
            </a:r>
          </a:p>
          <a:p>
            <a:pPr lvl="1"/>
            <a:r>
              <a:rPr lang="en-US" dirty="0"/>
              <a:t>Inefficient for high-performance applications because it wastes CPU cycles.</a:t>
            </a:r>
          </a:p>
          <a:p>
            <a:pPr marL="514350" indent="-514350">
              <a:buFont typeface="+mj-lt"/>
              <a:buAutoNum type="arabicPeriod"/>
            </a:pPr>
            <a:r>
              <a:rPr lang="en-US" dirty="0"/>
              <a:t>Event Loops:</a:t>
            </a:r>
          </a:p>
          <a:p>
            <a:pPr lvl="1"/>
            <a:r>
              <a:rPr lang="en-US" dirty="0"/>
              <a:t>A more efficient alternative, where the program registers sockets with an event loop.</a:t>
            </a:r>
          </a:p>
          <a:p>
            <a:pPr lvl="1"/>
            <a:r>
              <a:rPr lang="en-US" dirty="0"/>
              <a:t>The loop notifies the program when a socket is ready for I/O operations.</a:t>
            </a:r>
          </a:p>
          <a:p>
            <a:pPr lvl="1"/>
            <a:r>
              <a:rPr lang="en-US" dirty="0"/>
              <a:t>Libraries like select, poll, </a:t>
            </a:r>
            <a:r>
              <a:rPr lang="en-US" dirty="0" err="1"/>
              <a:t>epoll</a:t>
            </a:r>
            <a:r>
              <a:rPr lang="en-US" dirty="0"/>
              <a:t>, and </a:t>
            </a:r>
            <a:r>
              <a:rPr lang="en-US" dirty="0" err="1"/>
              <a:t>asyncio</a:t>
            </a:r>
            <a:r>
              <a:rPr lang="en-US" dirty="0"/>
              <a:t> provide mechanisms for event-driven programming.</a:t>
            </a:r>
          </a:p>
        </p:txBody>
      </p:sp>
    </p:spTree>
    <p:extLst>
      <p:ext uri="{BB962C8B-B14F-4D97-AF65-F5344CB8AC3E}">
        <p14:creationId xmlns:p14="http://schemas.microsoft.com/office/powerpoint/2010/main" val="1682438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9865C-F5FC-43BA-3A25-9A9AC6073FF7}"/>
              </a:ext>
            </a:extLst>
          </p:cNvPr>
          <p:cNvSpPr>
            <a:spLocks noGrp="1"/>
          </p:cNvSpPr>
          <p:nvPr>
            <p:ph type="title"/>
          </p:nvPr>
        </p:nvSpPr>
        <p:spPr/>
        <p:txBody>
          <a:bodyPr/>
          <a:lstStyle/>
          <a:p>
            <a:r>
              <a:rPr lang="en-US" dirty="0"/>
              <a:t>Key Concepts in Non-Blocking I/O</a:t>
            </a:r>
          </a:p>
        </p:txBody>
      </p:sp>
      <p:sp>
        <p:nvSpPr>
          <p:cNvPr id="3" name="Content Placeholder 2">
            <a:extLst>
              <a:ext uri="{FF2B5EF4-FFF2-40B4-BE49-F238E27FC236}">
                <a16:creationId xmlns:a16="http://schemas.microsoft.com/office/drawing/2014/main" id="{499BD7BA-4271-6879-421D-1C7503BEBC89}"/>
              </a:ext>
            </a:extLst>
          </p:cNvPr>
          <p:cNvSpPr>
            <a:spLocks noGrp="1"/>
          </p:cNvSpPr>
          <p:nvPr>
            <p:ph idx="1"/>
          </p:nvPr>
        </p:nvSpPr>
        <p:spPr/>
        <p:txBody>
          <a:bodyPr/>
          <a:lstStyle/>
          <a:p>
            <a:pPr marL="514350" indent="-514350">
              <a:buFont typeface="+mj-lt"/>
              <a:buAutoNum type="arabicPeriod" startAt="3"/>
            </a:pPr>
            <a:r>
              <a:rPr lang="en-US" dirty="0"/>
              <a:t>Callbacks</a:t>
            </a:r>
          </a:p>
          <a:p>
            <a:pPr lvl="1"/>
            <a:r>
              <a:rPr lang="en-US" dirty="0"/>
              <a:t>Some frameworks use callbacks to handle I/O events, executing specific functions when data is available.</a:t>
            </a:r>
          </a:p>
        </p:txBody>
      </p:sp>
    </p:spTree>
    <p:extLst>
      <p:ext uri="{BB962C8B-B14F-4D97-AF65-F5344CB8AC3E}">
        <p14:creationId xmlns:p14="http://schemas.microsoft.com/office/powerpoint/2010/main" val="1358397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944E9-CD8C-B3F2-CCA7-CC972EABAB47}"/>
              </a:ext>
            </a:extLst>
          </p:cNvPr>
          <p:cNvSpPr>
            <a:spLocks noGrp="1"/>
          </p:cNvSpPr>
          <p:nvPr>
            <p:ph type="title"/>
          </p:nvPr>
        </p:nvSpPr>
        <p:spPr/>
        <p:txBody>
          <a:bodyPr/>
          <a:lstStyle/>
          <a:p>
            <a:r>
              <a:rPr lang="en-US" dirty="0"/>
              <a:t>Example: Non-Blocking Socket in Python</a:t>
            </a:r>
          </a:p>
        </p:txBody>
      </p:sp>
      <p:sp>
        <p:nvSpPr>
          <p:cNvPr id="3" name="Content Placeholder 2">
            <a:extLst>
              <a:ext uri="{FF2B5EF4-FFF2-40B4-BE49-F238E27FC236}">
                <a16:creationId xmlns:a16="http://schemas.microsoft.com/office/drawing/2014/main" id="{CA4AE3FD-C59F-7A55-19C1-FD1757F686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04164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40717-7135-2FB6-32F9-5BE1850060F3}"/>
              </a:ext>
            </a:extLst>
          </p:cNvPr>
          <p:cNvSpPr>
            <a:spLocks noGrp="1"/>
          </p:cNvSpPr>
          <p:nvPr>
            <p:ph type="title"/>
          </p:nvPr>
        </p:nvSpPr>
        <p:spPr/>
        <p:txBody>
          <a:bodyPr/>
          <a:lstStyle/>
          <a:p>
            <a:r>
              <a:rPr lang="en-US" dirty="0"/>
              <a:t>Advanced socket concepts</a:t>
            </a:r>
          </a:p>
        </p:txBody>
      </p:sp>
      <p:sp>
        <p:nvSpPr>
          <p:cNvPr id="3" name="Content Placeholder 2">
            <a:extLst>
              <a:ext uri="{FF2B5EF4-FFF2-40B4-BE49-F238E27FC236}">
                <a16:creationId xmlns:a16="http://schemas.microsoft.com/office/drawing/2014/main" id="{8911261D-1E3E-E24F-2D54-F1F0B73C71A0}"/>
              </a:ext>
            </a:extLst>
          </p:cNvPr>
          <p:cNvSpPr>
            <a:spLocks noGrp="1"/>
          </p:cNvSpPr>
          <p:nvPr>
            <p:ph idx="1"/>
          </p:nvPr>
        </p:nvSpPr>
        <p:spPr/>
        <p:txBody>
          <a:bodyPr/>
          <a:lstStyle/>
          <a:p>
            <a:r>
              <a:rPr lang="en-US" dirty="0"/>
              <a:t>Advanced socket concepts go beyond a general discussion of what sockets are and how they work. </a:t>
            </a:r>
            <a:endParaRPr lang="vi-VN" dirty="0"/>
          </a:p>
          <a:p>
            <a:r>
              <a:rPr lang="en-US" dirty="0"/>
              <a:t>These concepts provide ways to design socket applications for larger and more complex networks.</a:t>
            </a:r>
          </a:p>
          <a:p>
            <a:r>
              <a:rPr lang="en-US" dirty="0"/>
              <a:t>We will learn concurrent and parallelism techniques </a:t>
            </a:r>
          </a:p>
        </p:txBody>
      </p:sp>
    </p:spTree>
    <p:extLst>
      <p:ext uri="{BB962C8B-B14F-4D97-AF65-F5344CB8AC3E}">
        <p14:creationId xmlns:p14="http://schemas.microsoft.com/office/powerpoint/2010/main" val="1026070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Concurrency versus parallelism">
            <a:extLst>
              <a:ext uri="{FF2B5EF4-FFF2-40B4-BE49-F238E27FC236}">
                <a16:creationId xmlns:a16="http://schemas.microsoft.com/office/drawing/2014/main" id="{A1026B38-9407-A166-68DB-44C274A888E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678167" y="643466"/>
            <a:ext cx="6835665"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8747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7AC66-A64F-4FE5-327C-9661506203F3}"/>
              </a:ext>
            </a:extLst>
          </p:cNvPr>
          <p:cNvSpPr>
            <a:spLocks noGrp="1"/>
          </p:cNvSpPr>
          <p:nvPr>
            <p:ph type="title"/>
          </p:nvPr>
        </p:nvSpPr>
        <p:spPr/>
        <p:txBody>
          <a:bodyPr/>
          <a:lstStyle/>
          <a:p>
            <a:r>
              <a:rPr lang="en-US" dirty="0"/>
              <a:t>Parallelism </a:t>
            </a:r>
          </a:p>
        </p:txBody>
      </p:sp>
      <p:sp>
        <p:nvSpPr>
          <p:cNvPr id="3" name="Content Placeholder 2">
            <a:extLst>
              <a:ext uri="{FF2B5EF4-FFF2-40B4-BE49-F238E27FC236}">
                <a16:creationId xmlns:a16="http://schemas.microsoft.com/office/drawing/2014/main" id="{BD28787E-E974-E8A6-2053-9C96FF7FFA45}"/>
              </a:ext>
            </a:extLst>
          </p:cNvPr>
          <p:cNvSpPr>
            <a:spLocks noGrp="1"/>
          </p:cNvSpPr>
          <p:nvPr>
            <p:ph idx="1"/>
          </p:nvPr>
        </p:nvSpPr>
        <p:spPr/>
        <p:txBody>
          <a:bodyPr/>
          <a:lstStyle/>
          <a:p>
            <a:r>
              <a:rPr lang="en-US" dirty="0"/>
              <a:t>Parallelism consists of performing multiple operations at the same time. </a:t>
            </a:r>
            <a:endParaRPr lang="vi-VN" dirty="0"/>
          </a:p>
          <a:p>
            <a:r>
              <a:rPr lang="en-US" i="1" dirty="0"/>
              <a:t>Multiprocessing</a:t>
            </a:r>
            <a:r>
              <a:rPr lang="en-US" dirty="0"/>
              <a:t> is a means to effect parallelism, and it entails spreading tasks over a computer’s central processing units (CPUs, or cores). </a:t>
            </a:r>
            <a:endParaRPr lang="vi-VN" dirty="0"/>
          </a:p>
          <a:p>
            <a:r>
              <a:rPr lang="en-US" i="1" dirty="0"/>
              <a:t>Multiprocessing</a:t>
            </a:r>
            <a:r>
              <a:rPr lang="en-US" dirty="0"/>
              <a:t> is well-suited for CPU-bound tasks: tightly bound for loops and mathematical computations usually fall into this category.</a:t>
            </a:r>
          </a:p>
        </p:txBody>
      </p:sp>
    </p:spTree>
    <p:extLst>
      <p:ext uri="{BB962C8B-B14F-4D97-AF65-F5344CB8AC3E}">
        <p14:creationId xmlns:p14="http://schemas.microsoft.com/office/powerpoint/2010/main" val="122800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BF37A-2E26-C869-E1A4-FB1E3C2E7201}"/>
              </a:ext>
            </a:extLst>
          </p:cNvPr>
          <p:cNvSpPr>
            <a:spLocks noGrp="1"/>
          </p:cNvSpPr>
          <p:nvPr>
            <p:ph type="title"/>
          </p:nvPr>
        </p:nvSpPr>
        <p:spPr/>
        <p:txBody>
          <a:bodyPr/>
          <a:lstStyle/>
          <a:p>
            <a:r>
              <a:rPr lang="en-US" dirty="0"/>
              <a:t>Multiprocessing</a:t>
            </a:r>
          </a:p>
        </p:txBody>
      </p:sp>
      <p:sp>
        <p:nvSpPr>
          <p:cNvPr id="3" name="Content Placeholder 2">
            <a:extLst>
              <a:ext uri="{FF2B5EF4-FFF2-40B4-BE49-F238E27FC236}">
                <a16:creationId xmlns:a16="http://schemas.microsoft.com/office/drawing/2014/main" id="{F85B54CD-9FD7-F198-F23A-E9C4F39D6910}"/>
              </a:ext>
            </a:extLst>
          </p:cNvPr>
          <p:cNvSpPr>
            <a:spLocks noGrp="1"/>
          </p:cNvSpPr>
          <p:nvPr>
            <p:ph idx="1"/>
          </p:nvPr>
        </p:nvSpPr>
        <p:spPr/>
        <p:txBody>
          <a:bodyPr/>
          <a:lstStyle/>
          <a:p>
            <a:r>
              <a:rPr lang="en-US" dirty="0"/>
              <a:t>Multiprocessing uses multiple processes, each with its own memory space, to execute tasks in parallel.</a:t>
            </a:r>
          </a:p>
          <a:p>
            <a:r>
              <a:rPr lang="en-US" dirty="0"/>
              <a:t>Each client is handled in a separate process, providing better isolation compared to threads.</a:t>
            </a:r>
          </a:p>
          <a:p>
            <a:r>
              <a:rPr lang="en-US" dirty="0"/>
              <a:t>Python's Global Interpreter Lock (GIL) affects threads but not processes, making multiprocessing better suited for CPU-bound tasks.</a:t>
            </a:r>
          </a:p>
          <a:p>
            <a:r>
              <a:rPr lang="en-US" dirty="0"/>
              <a:t>Multiprocessing uses more memory and system resources compared to threading.</a:t>
            </a:r>
          </a:p>
          <a:p>
            <a:endParaRPr lang="en-US" dirty="0"/>
          </a:p>
        </p:txBody>
      </p:sp>
    </p:spTree>
    <p:extLst>
      <p:ext uri="{BB962C8B-B14F-4D97-AF65-F5344CB8AC3E}">
        <p14:creationId xmlns:p14="http://schemas.microsoft.com/office/powerpoint/2010/main" val="2566851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70FF0-68A7-74C0-F4AD-209E298DCDE5}"/>
              </a:ext>
            </a:extLst>
          </p:cNvPr>
          <p:cNvSpPr>
            <a:spLocks noGrp="1"/>
          </p:cNvSpPr>
          <p:nvPr>
            <p:ph type="title"/>
          </p:nvPr>
        </p:nvSpPr>
        <p:spPr/>
        <p:txBody>
          <a:bodyPr/>
          <a:lstStyle/>
          <a:p>
            <a:r>
              <a:rPr lang="en-US" dirty="0"/>
              <a:t>Key Features</a:t>
            </a:r>
          </a:p>
        </p:txBody>
      </p:sp>
      <p:sp>
        <p:nvSpPr>
          <p:cNvPr id="3" name="Content Placeholder 2">
            <a:extLst>
              <a:ext uri="{FF2B5EF4-FFF2-40B4-BE49-F238E27FC236}">
                <a16:creationId xmlns:a16="http://schemas.microsoft.com/office/drawing/2014/main" id="{D6C0878F-FD62-F1A6-9E35-48DC7BCEF159}"/>
              </a:ext>
            </a:extLst>
          </p:cNvPr>
          <p:cNvSpPr>
            <a:spLocks noGrp="1"/>
          </p:cNvSpPr>
          <p:nvPr>
            <p:ph idx="1"/>
          </p:nvPr>
        </p:nvSpPr>
        <p:spPr/>
        <p:txBody>
          <a:bodyPr/>
          <a:lstStyle/>
          <a:p>
            <a:r>
              <a:rPr lang="en-US" b="1" dirty="0"/>
              <a:t>Bypasses the GIL</a:t>
            </a:r>
            <a:r>
              <a:rPr lang="en-US" dirty="0"/>
              <a:t>: Python's Global Interpreter Lock (GIL) does not apply to multiprocessing because each process runs independently in its own memory space.</a:t>
            </a:r>
          </a:p>
          <a:p>
            <a:r>
              <a:rPr lang="en-US" b="1" dirty="0"/>
              <a:t>Better for CPU-bound tasks</a:t>
            </a:r>
            <a:r>
              <a:rPr lang="en-US" dirty="0"/>
              <a:t>: Ideal for tasks that require heavy computation, such as numerical calculations or data processing.</a:t>
            </a:r>
          </a:p>
          <a:p>
            <a:r>
              <a:rPr lang="en-US" dirty="0"/>
              <a:t>Inter-process Communication (IPC): Requires mechanisms like Queue, Pipe, or Manager for processes to share data.</a:t>
            </a:r>
          </a:p>
        </p:txBody>
      </p:sp>
    </p:spTree>
    <p:extLst>
      <p:ext uri="{BB962C8B-B14F-4D97-AF65-F5344CB8AC3E}">
        <p14:creationId xmlns:p14="http://schemas.microsoft.com/office/powerpoint/2010/main" val="8787224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86FBB-D84C-CCA7-A092-1BFFB0E9DDD3}"/>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F5890A45-B70B-C6DA-3339-A3C69ABB1678}"/>
              </a:ext>
            </a:extLst>
          </p:cNvPr>
          <p:cNvSpPr>
            <a:spLocks noGrp="1"/>
          </p:cNvSpPr>
          <p:nvPr>
            <p:ph idx="1"/>
          </p:nvPr>
        </p:nvSpPr>
        <p:spPr/>
        <p:txBody>
          <a:bodyPr/>
          <a:lstStyle/>
          <a:p>
            <a:r>
              <a:rPr lang="fr-FR" dirty="0"/>
              <a:t>Exploits multiple CPU </a:t>
            </a:r>
            <a:r>
              <a:rPr lang="fr-FR" dirty="0" err="1"/>
              <a:t>cores</a:t>
            </a:r>
            <a:r>
              <a:rPr lang="fr-FR" dirty="0"/>
              <a:t> </a:t>
            </a:r>
            <a:r>
              <a:rPr lang="fr-FR" dirty="0" err="1"/>
              <a:t>effectively</a:t>
            </a:r>
            <a:r>
              <a:rPr lang="fr-FR" dirty="0"/>
              <a:t>.</a:t>
            </a:r>
          </a:p>
          <a:p>
            <a:r>
              <a:rPr lang="en-US" dirty="0"/>
              <a:t>Independent processes mean one process crashing won't affect others.</a:t>
            </a:r>
            <a:endParaRPr lang="fr-FR" dirty="0"/>
          </a:p>
          <a:p>
            <a:r>
              <a:rPr lang="en-US" dirty="0"/>
              <a:t>Avoids Python's GIL, enabling true parallelism.</a:t>
            </a:r>
          </a:p>
        </p:txBody>
      </p:sp>
    </p:spTree>
    <p:extLst>
      <p:ext uri="{BB962C8B-B14F-4D97-AF65-F5344CB8AC3E}">
        <p14:creationId xmlns:p14="http://schemas.microsoft.com/office/powerpoint/2010/main" val="573482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C6592-7BA1-3D29-6719-74EEEE67E0CF}"/>
              </a:ext>
            </a:extLst>
          </p:cNvPr>
          <p:cNvSpPr>
            <a:spLocks noGrp="1"/>
          </p:cNvSpPr>
          <p:nvPr>
            <p:ph type="title"/>
          </p:nvPr>
        </p:nvSpPr>
        <p:spPr/>
        <p:txBody>
          <a:bodyPr/>
          <a:lstStyle/>
          <a:p>
            <a:r>
              <a:rPr lang="en-US" dirty="0"/>
              <a:t>Disadvantages</a:t>
            </a:r>
          </a:p>
        </p:txBody>
      </p:sp>
      <p:sp>
        <p:nvSpPr>
          <p:cNvPr id="3" name="Content Placeholder 2">
            <a:extLst>
              <a:ext uri="{FF2B5EF4-FFF2-40B4-BE49-F238E27FC236}">
                <a16:creationId xmlns:a16="http://schemas.microsoft.com/office/drawing/2014/main" id="{A1EB3579-2C51-06C9-D18B-1D641C3F7668}"/>
              </a:ext>
            </a:extLst>
          </p:cNvPr>
          <p:cNvSpPr>
            <a:spLocks noGrp="1"/>
          </p:cNvSpPr>
          <p:nvPr>
            <p:ph idx="1"/>
          </p:nvPr>
        </p:nvSpPr>
        <p:spPr/>
        <p:txBody>
          <a:bodyPr/>
          <a:lstStyle/>
          <a:p>
            <a:r>
              <a:rPr lang="en-US" dirty="0"/>
              <a:t>Higher memory overhead due to separate memory spaces for each process.</a:t>
            </a:r>
          </a:p>
          <a:p>
            <a:r>
              <a:rPr lang="en-US" dirty="0"/>
              <a:t>Slower communication between processes (compared to threads) because of the need for IPC mechanisms.</a:t>
            </a:r>
          </a:p>
          <a:p>
            <a:r>
              <a:rPr lang="en-US" dirty="0"/>
              <a:t>Creating and managing processes is generally slower than threads.</a:t>
            </a:r>
          </a:p>
        </p:txBody>
      </p:sp>
    </p:spTree>
    <p:extLst>
      <p:ext uri="{BB962C8B-B14F-4D97-AF65-F5344CB8AC3E}">
        <p14:creationId xmlns:p14="http://schemas.microsoft.com/office/powerpoint/2010/main" val="862743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13594-BE42-4B80-B6D0-EACCCC7E2E52}"/>
              </a:ext>
            </a:extLst>
          </p:cNvPr>
          <p:cNvSpPr>
            <a:spLocks noGrp="1"/>
          </p:cNvSpPr>
          <p:nvPr>
            <p:ph type="title"/>
          </p:nvPr>
        </p:nvSpPr>
        <p:spPr/>
        <p:txBody>
          <a:bodyPr/>
          <a:lstStyle/>
          <a:p>
            <a:r>
              <a:rPr lang="en-US" dirty="0"/>
              <a:t>Example: Multiprocessing Server</a:t>
            </a:r>
          </a:p>
        </p:txBody>
      </p:sp>
      <p:sp>
        <p:nvSpPr>
          <p:cNvPr id="3" name="Content Placeholder 2">
            <a:extLst>
              <a:ext uri="{FF2B5EF4-FFF2-40B4-BE49-F238E27FC236}">
                <a16:creationId xmlns:a16="http://schemas.microsoft.com/office/drawing/2014/main" id="{34BFD76E-D38B-8585-89CB-1A40952B1498}"/>
              </a:ext>
            </a:extLst>
          </p:cNvPr>
          <p:cNvSpPr>
            <a:spLocks noGrp="1"/>
          </p:cNvSpPr>
          <p:nvPr>
            <p:ph idx="1"/>
          </p:nvPr>
        </p:nvSpPr>
        <p:spPr/>
        <p:txBody>
          <a:bodyPr/>
          <a:lstStyle/>
          <a:p>
            <a:r>
              <a:rPr lang="en-US" dirty="0"/>
              <a:t>Manager for Shared State: The Manager is used to create a shared list (</a:t>
            </a:r>
            <a:r>
              <a:rPr lang="en-US" dirty="0" err="1"/>
              <a:t>client_sockets</a:t>
            </a:r>
            <a:r>
              <a:rPr lang="en-US" dirty="0"/>
              <a:t>) that allows processes to share state safely.</a:t>
            </a:r>
          </a:p>
          <a:p>
            <a:r>
              <a:rPr lang="en-US" dirty="0"/>
              <a:t>Separate Processes for Clients: Each client connection is handled by a separate process created using the Process class.</a:t>
            </a:r>
          </a:p>
          <a:p>
            <a:r>
              <a:rPr lang="en-US" dirty="0"/>
              <a:t>Broadcasting Messages: The broadcast function iterates over the shared </a:t>
            </a:r>
            <a:r>
              <a:rPr lang="en-US" dirty="0" err="1"/>
              <a:t>client_sockets</a:t>
            </a:r>
            <a:r>
              <a:rPr lang="en-US" dirty="0"/>
              <a:t> list to send a message to all clients.</a:t>
            </a:r>
          </a:p>
          <a:p>
            <a:r>
              <a:rPr lang="en-US" dirty="0"/>
              <a:t>Graceful Client Removal: If a client disconnects or an error occurs, the client socket is removed from the shared list, and the process handling that client terminates.</a:t>
            </a:r>
          </a:p>
        </p:txBody>
      </p:sp>
    </p:spTree>
    <p:extLst>
      <p:ext uri="{BB962C8B-B14F-4D97-AF65-F5344CB8AC3E}">
        <p14:creationId xmlns:p14="http://schemas.microsoft.com/office/powerpoint/2010/main" val="2557915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F1AF9-645A-69C8-65AD-5D3F4283BDFF}"/>
              </a:ext>
            </a:extLst>
          </p:cNvPr>
          <p:cNvSpPr>
            <a:spLocks noGrp="1"/>
          </p:cNvSpPr>
          <p:nvPr>
            <p:ph type="title"/>
          </p:nvPr>
        </p:nvSpPr>
        <p:spPr/>
        <p:txBody>
          <a:bodyPr/>
          <a:lstStyle/>
          <a:p>
            <a:r>
              <a:rPr lang="en-US" dirty="0"/>
              <a:t>Multiprocessing Client</a:t>
            </a:r>
          </a:p>
        </p:txBody>
      </p:sp>
      <p:sp>
        <p:nvSpPr>
          <p:cNvPr id="3" name="Content Placeholder 2">
            <a:extLst>
              <a:ext uri="{FF2B5EF4-FFF2-40B4-BE49-F238E27FC236}">
                <a16:creationId xmlns:a16="http://schemas.microsoft.com/office/drawing/2014/main" id="{3274F085-F686-5369-C709-15F9040F5635}"/>
              </a:ext>
            </a:extLst>
          </p:cNvPr>
          <p:cNvSpPr>
            <a:spLocks noGrp="1"/>
          </p:cNvSpPr>
          <p:nvPr>
            <p:ph idx="1"/>
          </p:nvPr>
        </p:nvSpPr>
        <p:spPr/>
        <p:txBody>
          <a:bodyPr/>
          <a:lstStyle/>
          <a:p>
            <a:r>
              <a:rPr lang="en-US" dirty="0"/>
              <a:t>Multiprocessing for Receiving Messages: The </a:t>
            </a:r>
            <a:r>
              <a:rPr lang="en-US" dirty="0" err="1"/>
              <a:t>receive_messages</a:t>
            </a:r>
            <a:r>
              <a:rPr lang="en-US" dirty="0"/>
              <a:t> function runs in a separate process, created using </a:t>
            </a:r>
            <a:r>
              <a:rPr lang="en-US" dirty="0" err="1"/>
              <a:t>multiprocessing.Process</a:t>
            </a:r>
            <a:r>
              <a:rPr lang="en-US" dirty="0"/>
              <a:t>.</a:t>
            </a:r>
          </a:p>
          <a:p>
            <a:r>
              <a:rPr lang="en-US" dirty="0"/>
              <a:t>Main Process for Sending Messages: The main process handles user input and sends messages to the server.</a:t>
            </a:r>
          </a:p>
          <a:p>
            <a:r>
              <a:rPr lang="en-US" dirty="0"/>
              <a:t>Graceful Shutdown: A </a:t>
            </a:r>
            <a:r>
              <a:rPr lang="en-US" dirty="0" err="1"/>
              <a:t>KeyboardInterrupt</a:t>
            </a:r>
            <a:r>
              <a:rPr lang="en-US" dirty="0"/>
              <a:t> (</a:t>
            </a:r>
            <a:r>
              <a:rPr lang="en-US" dirty="0" err="1"/>
              <a:t>Ctrl+C</a:t>
            </a:r>
            <a:r>
              <a:rPr lang="en-US" dirty="0"/>
              <a:t>) is captured to close the socket and terminate the receiving process cleanly.</a:t>
            </a:r>
          </a:p>
        </p:txBody>
      </p:sp>
    </p:spTree>
    <p:extLst>
      <p:ext uri="{BB962C8B-B14F-4D97-AF65-F5344CB8AC3E}">
        <p14:creationId xmlns:p14="http://schemas.microsoft.com/office/powerpoint/2010/main" val="37104634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6B92E-EB40-E339-5D46-C2EEA186C6A7}"/>
              </a:ext>
            </a:extLst>
          </p:cNvPr>
          <p:cNvSpPr>
            <a:spLocks noGrp="1"/>
          </p:cNvSpPr>
          <p:nvPr>
            <p:ph type="title"/>
          </p:nvPr>
        </p:nvSpPr>
        <p:spPr/>
        <p:txBody>
          <a:bodyPr/>
          <a:lstStyle/>
          <a:p>
            <a:r>
              <a:rPr lang="en-US" dirty="0"/>
              <a:t>Concurrency</a:t>
            </a:r>
          </a:p>
        </p:txBody>
      </p:sp>
      <p:sp>
        <p:nvSpPr>
          <p:cNvPr id="3" name="Content Placeholder 2">
            <a:extLst>
              <a:ext uri="{FF2B5EF4-FFF2-40B4-BE49-F238E27FC236}">
                <a16:creationId xmlns:a16="http://schemas.microsoft.com/office/drawing/2014/main" id="{836563C9-37E1-F652-31DA-DFCAFCC28AB2}"/>
              </a:ext>
            </a:extLst>
          </p:cNvPr>
          <p:cNvSpPr>
            <a:spLocks noGrp="1"/>
          </p:cNvSpPr>
          <p:nvPr>
            <p:ph idx="1"/>
          </p:nvPr>
        </p:nvSpPr>
        <p:spPr/>
        <p:txBody>
          <a:bodyPr/>
          <a:lstStyle/>
          <a:p>
            <a:r>
              <a:rPr lang="en-US" dirty="0"/>
              <a:t>Concurrency is a slightly broader term than parallelism. It suggests that multiple tasks have the ability to run in an overlapping manner. </a:t>
            </a:r>
          </a:p>
          <a:p>
            <a:r>
              <a:rPr lang="en-US" dirty="0"/>
              <a:t>Asynchronous I/O is a style of concurrent programming.</a:t>
            </a:r>
          </a:p>
          <a:p>
            <a:r>
              <a:rPr lang="en-US" dirty="0"/>
              <a:t>Multithreading in Python is concurrent, not parallel, for most tasks. Threads take turns executing, giving the illusion of simultaneity.</a:t>
            </a:r>
          </a:p>
        </p:txBody>
      </p:sp>
    </p:spTree>
    <p:extLst>
      <p:ext uri="{BB962C8B-B14F-4D97-AF65-F5344CB8AC3E}">
        <p14:creationId xmlns:p14="http://schemas.microsoft.com/office/powerpoint/2010/main" val="3437405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BC92D-FC85-8B5B-BAAA-1606AD12ECD4}"/>
              </a:ext>
            </a:extLst>
          </p:cNvPr>
          <p:cNvSpPr>
            <a:spLocks noGrp="1"/>
          </p:cNvSpPr>
          <p:nvPr>
            <p:ph type="title"/>
          </p:nvPr>
        </p:nvSpPr>
        <p:spPr/>
        <p:txBody>
          <a:bodyPr/>
          <a:lstStyle/>
          <a:p>
            <a:r>
              <a:rPr lang="en-US" dirty="0"/>
              <a:t>Threads</a:t>
            </a:r>
          </a:p>
        </p:txBody>
      </p:sp>
      <p:sp>
        <p:nvSpPr>
          <p:cNvPr id="3" name="Content Placeholder 2">
            <a:extLst>
              <a:ext uri="{FF2B5EF4-FFF2-40B4-BE49-F238E27FC236}">
                <a16:creationId xmlns:a16="http://schemas.microsoft.com/office/drawing/2014/main" id="{F5512283-25F2-E845-6A5E-35D65F96D704}"/>
              </a:ext>
            </a:extLst>
          </p:cNvPr>
          <p:cNvSpPr>
            <a:spLocks noGrp="1"/>
          </p:cNvSpPr>
          <p:nvPr>
            <p:ph idx="1"/>
          </p:nvPr>
        </p:nvSpPr>
        <p:spPr/>
        <p:txBody>
          <a:bodyPr/>
          <a:lstStyle/>
          <a:p>
            <a:r>
              <a:rPr lang="en-US" b="0" i="0" dirty="0">
                <a:solidFill>
                  <a:srgbClr val="000000"/>
                </a:solidFill>
                <a:effectLst/>
                <a:latin typeface="-apple-system"/>
              </a:rPr>
              <a:t>Threads are similar to processes in that they allow for parallelization of work. However, each thread is owned by a single process. </a:t>
            </a:r>
            <a:endParaRPr lang="vi-VN" b="0" i="0" dirty="0">
              <a:solidFill>
                <a:srgbClr val="000000"/>
              </a:solidFill>
              <a:effectLst/>
              <a:latin typeface="-apple-system"/>
            </a:endParaRPr>
          </a:p>
          <a:p>
            <a:r>
              <a:rPr lang="en-US" b="0" i="0" dirty="0">
                <a:solidFill>
                  <a:srgbClr val="000000"/>
                </a:solidFill>
                <a:effectLst/>
                <a:latin typeface="-apple-system"/>
              </a:rPr>
              <a:t>Unlike processes, threads can share the same memory space and can access each other’s data. </a:t>
            </a:r>
            <a:endParaRPr lang="vi-VN" dirty="0">
              <a:solidFill>
                <a:srgbClr val="000000"/>
              </a:solidFill>
              <a:latin typeface="-apple-system"/>
            </a:endParaRPr>
          </a:p>
          <a:p>
            <a:r>
              <a:rPr lang="en-US" b="0" i="0" dirty="0">
                <a:solidFill>
                  <a:srgbClr val="000000"/>
                </a:solidFill>
                <a:effectLst/>
                <a:latin typeface="-apple-system"/>
              </a:rPr>
              <a:t>Threads are owned and created by a single process, and are only alive as long as the parent process is alive.</a:t>
            </a:r>
            <a:endParaRPr lang="vi-VN" b="0" i="0" dirty="0">
              <a:solidFill>
                <a:srgbClr val="000000"/>
              </a:solidFill>
              <a:effectLst/>
              <a:latin typeface="-apple-system"/>
            </a:endParaRPr>
          </a:p>
          <a:p>
            <a:r>
              <a:rPr lang="en-US" b="0" i="0" dirty="0">
                <a:solidFill>
                  <a:srgbClr val="000000"/>
                </a:solidFill>
                <a:effectLst/>
                <a:latin typeface="-apple-system"/>
              </a:rPr>
              <a:t>As soon as a process starts, all work is done in the main thread created by default, but you can add new threads at runtime.</a:t>
            </a:r>
            <a:endParaRPr lang="en-US" dirty="0"/>
          </a:p>
        </p:txBody>
      </p:sp>
    </p:spTree>
    <p:extLst>
      <p:ext uri="{BB962C8B-B14F-4D97-AF65-F5344CB8AC3E}">
        <p14:creationId xmlns:p14="http://schemas.microsoft.com/office/powerpoint/2010/main" val="31421197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007C2-9353-C727-8980-FA529BAECB87}"/>
              </a:ext>
            </a:extLst>
          </p:cNvPr>
          <p:cNvSpPr>
            <a:spLocks noGrp="1"/>
          </p:cNvSpPr>
          <p:nvPr>
            <p:ph type="title"/>
          </p:nvPr>
        </p:nvSpPr>
        <p:spPr/>
        <p:txBody>
          <a:bodyPr/>
          <a:lstStyle/>
          <a:p>
            <a:r>
              <a:rPr lang="en-US" dirty="0"/>
              <a:t>Socket Programming with Multi-threading </a:t>
            </a:r>
          </a:p>
        </p:txBody>
      </p:sp>
      <p:sp>
        <p:nvSpPr>
          <p:cNvPr id="3" name="Content Placeholder 2">
            <a:extLst>
              <a:ext uri="{FF2B5EF4-FFF2-40B4-BE49-F238E27FC236}">
                <a16:creationId xmlns:a16="http://schemas.microsoft.com/office/drawing/2014/main" id="{316820BB-92BB-7E0C-9547-1A1399FEB4D0}"/>
              </a:ext>
            </a:extLst>
          </p:cNvPr>
          <p:cNvSpPr>
            <a:spLocks noGrp="1"/>
          </p:cNvSpPr>
          <p:nvPr>
            <p:ph idx="1"/>
          </p:nvPr>
        </p:nvSpPr>
        <p:spPr/>
        <p:txBody>
          <a:bodyPr/>
          <a:lstStyle/>
          <a:p>
            <a:r>
              <a:rPr lang="en-US" dirty="0"/>
              <a:t>Multiple clients can connect and interact with the server simultaneously.</a:t>
            </a:r>
          </a:p>
          <a:p>
            <a:r>
              <a:rPr lang="en-US" dirty="0"/>
              <a:t>The server doesn't block waiting for one client's interaction to complete.</a:t>
            </a:r>
          </a:p>
        </p:txBody>
      </p:sp>
    </p:spTree>
    <p:extLst>
      <p:ext uri="{BB962C8B-B14F-4D97-AF65-F5344CB8AC3E}">
        <p14:creationId xmlns:p14="http://schemas.microsoft.com/office/powerpoint/2010/main" val="32148509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F0923-F7CC-C166-42DF-CF1DA38A42AE}"/>
              </a:ext>
            </a:extLst>
          </p:cNvPr>
          <p:cNvSpPr>
            <a:spLocks noGrp="1"/>
          </p:cNvSpPr>
          <p:nvPr>
            <p:ph type="title"/>
          </p:nvPr>
        </p:nvSpPr>
        <p:spPr/>
        <p:txBody>
          <a:bodyPr/>
          <a:lstStyle/>
          <a:p>
            <a:r>
              <a:rPr lang="en-US" dirty="0"/>
              <a:t>Threads and Sockets in Python</a:t>
            </a:r>
          </a:p>
        </p:txBody>
      </p:sp>
      <p:sp>
        <p:nvSpPr>
          <p:cNvPr id="3" name="Content Placeholder 2">
            <a:extLst>
              <a:ext uri="{FF2B5EF4-FFF2-40B4-BE49-F238E27FC236}">
                <a16:creationId xmlns:a16="http://schemas.microsoft.com/office/drawing/2014/main" id="{707CB095-985F-E077-F805-A44DF3C17A08}"/>
              </a:ext>
            </a:extLst>
          </p:cNvPr>
          <p:cNvSpPr>
            <a:spLocks noGrp="1"/>
          </p:cNvSpPr>
          <p:nvPr>
            <p:ph idx="1"/>
          </p:nvPr>
        </p:nvSpPr>
        <p:spPr/>
        <p:txBody>
          <a:bodyPr/>
          <a:lstStyle/>
          <a:p>
            <a:r>
              <a:rPr lang="en-US" b="0" i="0" dirty="0">
                <a:solidFill>
                  <a:srgbClr val="000000"/>
                </a:solidFill>
                <a:effectLst/>
                <a:latin typeface="-apple-system"/>
              </a:rPr>
              <a:t>A process is an executing program with a dedicated memory space. </a:t>
            </a:r>
            <a:endParaRPr lang="vi-VN" b="0" i="0" dirty="0">
              <a:solidFill>
                <a:srgbClr val="000000"/>
              </a:solidFill>
              <a:effectLst/>
              <a:latin typeface="-apple-system"/>
            </a:endParaRPr>
          </a:p>
          <a:p>
            <a:r>
              <a:rPr lang="en-US" b="0" i="0" dirty="0">
                <a:solidFill>
                  <a:srgbClr val="000000"/>
                </a:solidFill>
                <a:effectLst/>
                <a:latin typeface="-apple-system"/>
              </a:rPr>
              <a:t>Many processes run at the same time on a computer.</a:t>
            </a:r>
            <a:endParaRPr lang="vi-VN" dirty="0">
              <a:solidFill>
                <a:srgbClr val="000000"/>
              </a:solidFill>
              <a:latin typeface="-apple-system"/>
            </a:endParaRPr>
          </a:p>
          <a:p>
            <a:r>
              <a:rPr lang="en-US" dirty="0"/>
              <a:t>When you execute a script (like </a:t>
            </a:r>
            <a:r>
              <a:rPr lang="en-US" i="1" dirty="0"/>
              <a:t>python3 </a:t>
            </a:r>
            <a:r>
              <a:rPr lang="vi-VN" i="1" dirty="0" err="1"/>
              <a:t>tcp_server</a:t>
            </a:r>
            <a:r>
              <a:rPr lang="en-US" i="1" dirty="0"/>
              <a:t>.py</a:t>
            </a:r>
            <a:r>
              <a:rPr lang="en-US" dirty="0"/>
              <a:t>), your code runs in a new process.</a:t>
            </a:r>
            <a:endParaRPr lang="vi-VN" dirty="0"/>
          </a:p>
          <a:p>
            <a:r>
              <a:rPr lang="en-US" b="0" i="0" dirty="0">
                <a:solidFill>
                  <a:srgbClr val="000000"/>
                </a:solidFill>
                <a:effectLst/>
                <a:latin typeface="-apple-system"/>
              </a:rPr>
              <a:t> The biggest thing to note is that processes have isolated memory spaces, so one process cannot access the data of another process.</a:t>
            </a:r>
            <a:endParaRPr lang="en-US" dirty="0"/>
          </a:p>
        </p:txBody>
      </p:sp>
    </p:spTree>
    <p:extLst>
      <p:ext uri="{BB962C8B-B14F-4D97-AF65-F5344CB8AC3E}">
        <p14:creationId xmlns:p14="http://schemas.microsoft.com/office/powerpoint/2010/main" val="17245290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A1D21-9D2E-0473-E26B-486C3D2D9BFC}"/>
              </a:ext>
            </a:extLst>
          </p:cNvPr>
          <p:cNvSpPr>
            <a:spLocks noGrp="1"/>
          </p:cNvSpPr>
          <p:nvPr>
            <p:ph type="title"/>
          </p:nvPr>
        </p:nvSpPr>
        <p:spPr/>
        <p:txBody>
          <a:bodyPr/>
          <a:lstStyle/>
          <a:p>
            <a:r>
              <a:rPr lang="en-US" dirty="0"/>
              <a:t>Multithreading</a:t>
            </a:r>
          </a:p>
        </p:txBody>
      </p:sp>
      <p:sp>
        <p:nvSpPr>
          <p:cNvPr id="3" name="Content Placeholder 2">
            <a:extLst>
              <a:ext uri="{FF2B5EF4-FFF2-40B4-BE49-F238E27FC236}">
                <a16:creationId xmlns:a16="http://schemas.microsoft.com/office/drawing/2014/main" id="{4360560C-5810-0DF8-9E29-2E51274E6252}"/>
              </a:ext>
            </a:extLst>
          </p:cNvPr>
          <p:cNvSpPr>
            <a:spLocks noGrp="1"/>
          </p:cNvSpPr>
          <p:nvPr>
            <p:ph idx="1"/>
          </p:nvPr>
        </p:nvSpPr>
        <p:spPr/>
        <p:txBody>
          <a:bodyPr/>
          <a:lstStyle/>
          <a:p>
            <a:r>
              <a:rPr lang="en-US" dirty="0"/>
              <a:t>Multithreading uses multiple threads within the same process to execute tasks concurrently.</a:t>
            </a:r>
          </a:p>
        </p:txBody>
      </p:sp>
    </p:spTree>
    <p:extLst>
      <p:ext uri="{BB962C8B-B14F-4D97-AF65-F5344CB8AC3E}">
        <p14:creationId xmlns:p14="http://schemas.microsoft.com/office/powerpoint/2010/main" val="287000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11878-12D8-31E1-FD21-EFA67A406340}"/>
              </a:ext>
            </a:extLst>
          </p:cNvPr>
          <p:cNvSpPr>
            <a:spLocks noGrp="1"/>
          </p:cNvSpPr>
          <p:nvPr>
            <p:ph type="title"/>
          </p:nvPr>
        </p:nvSpPr>
        <p:spPr/>
        <p:txBody>
          <a:bodyPr/>
          <a:lstStyle/>
          <a:p>
            <a:r>
              <a:rPr lang="en-US" dirty="0"/>
              <a:t>Python </a:t>
            </a:r>
            <a:r>
              <a:rPr lang="en-US" i="1" dirty="0"/>
              <a:t>threading</a:t>
            </a:r>
            <a:r>
              <a:rPr lang="en-US" dirty="0"/>
              <a:t> library</a:t>
            </a:r>
          </a:p>
        </p:txBody>
      </p:sp>
      <p:sp>
        <p:nvSpPr>
          <p:cNvPr id="3" name="Content Placeholder 2">
            <a:extLst>
              <a:ext uri="{FF2B5EF4-FFF2-40B4-BE49-F238E27FC236}">
                <a16:creationId xmlns:a16="http://schemas.microsoft.com/office/drawing/2014/main" id="{A2FF9D79-E807-BE18-1C71-5B0C2659D62B}"/>
              </a:ext>
            </a:extLst>
          </p:cNvPr>
          <p:cNvSpPr>
            <a:spLocks noGrp="1"/>
          </p:cNvSpPr>
          <p:nvPr>
            <p:ph idx="1"/>
          </p:nvPr>
        </p:nvSpPr>
        <p:spPr/>
        <p:txBody>
          <a:bodyPr/>
          <a:lstStyle/>
          <a:p>
            <a:r>
              <a:rPr lang="en-US" dirty="0"/>
              <a:t>The Python threading library facilitates running functions in separate threads.</a:t>
            </a:r>
          </a:p>
          <a:p>
            <a:r>
              <a:rPr lang="en-US" dirty="0"/>
              <a:t>The </a:t>
            </a:r>
            <a:r>
              <a:rPr lang="en-US" i="1" dirty="0"/>
              <a:t>main() </a:t>
            </a:r>
            <a:r>
              <a:rPr lang="en-US" dirty="0"/>
              <a:t>function runs concurrently with the worker() function after </a:t>
            </a:r>
            <a:r>
              <a:rPr lang="en-US" i="1" dirty="0" err="1"/>
              <a:t>thread.start</a:t>
            </a:r>
            <a:r>
              <a:rPr lang="en-US" i="1" dirty="0"/>
              <a:t>(). </a:t>
            </a:r>
            <a:r>
              <a:rPr lang="en-US" dirty="0"/>
              <a:t>When the Main thread runs </a:t>
            </a:r>
            <a:r>
              <a:rPr lang="en-US" i="1" dirty="0" err="1"/>
              <a:t>thread.join</a:t>
            </a:r>
            <a:r>
              <a:rPr lang="en-US" i="1" dirty="0"/>
              <a:t>()</a:t>
            </a:r>
            <a:r>
              <a:rPr lang="en-US" dirty="0"/>
              <a:t>, it will wait until the second thread finishes before running any more code.</a:t>
            </a:r>
          </a:p>
        </p:txBody>
      </p:sp>
    </p:spTree>
    <p:extLst>
      <p:ext uri="{BB962C8B-B14F-4D97-AF65-F5344CB8AC3E}">
        <p14:creationId xmlns:p14="http://schemas.microsoft.com/office/powerpoint/2010/main" val="26765582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B8A7B55-2C8E-7AC7-8514-8E1BD9ACFA31}"/>
              </a:ext>
            </a:extLst>
          </p:cNvPr>
          <p:cNvPicPr>
            <a:picLocks noGrp="1" noChangeAspect="1"/>
          </p:cNvPicPr>
          <p:nvPr>
            <p:ph idx="1"/>
          </p:nvPr>
        </p:nvPicPr>
        <p:blipFill>
          <a:blip r:embed="rId2"/>
          <a:srcRect t="6755" b="10249"/>
          <a:stretch/>
        </p:blipFill>
        <p:spPr>
          <a:xfrm>
            <a:off x="457200" y="457200"/>
            <a:ext cx="11277600" cy="5943600"/>
          </a:xfrm>
          <a:prstGeom prst="rect">
            <a:avLst/>
          </a:prstGeom>
        </p:spPr>
      </p:pic>
    </p:spTree>
    <p:extLst>
      <p:ext uri="{BB962C8B-B14F-4D97-AF65-F5344CB8AC3E}">
        <p14:creationId xmlns:p14="http://schemas.microsoft.com/office/powerpoint/2010/main" val="2404200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B5B6F-3CD7-A9B0-49E8-2BBA67DCD5CB}"/>
              </a:ext>
            </a:extLst>
          </p:cNvPr>
          <p:cNvSpPr>
            <a:spLocks noGrp="1"/>
          </p:cNvSpPr>
          <p:nvPr>
            <p:ph type="title"/>
          </p:nvPr>
        </p:nvSpPr>
        <p:spPr/>
        <p:txBody>
          <a:bodyPr/>
          <a:lstStyle/>
          <a:p>
            <a:r>
              <a:rPr lang="en-US" dirty="0"/>
              <a:t>Key Features</a:t>
            </a:r>
          </a:p>
        </p:txBody>
      </p:sp>
      <p:sp>
        <p:nvSpPr>
          <p:cNvPr id="3" name="Content Placeholder 2">
            <a:extLst>
              <a:ext uri="{FF2B5EF4-FFF2-40B4-BE49-F238E27FC236}">
                <a16:creationId xmlns:a16="http://schemas.microsoft.com/office/drawing/2014/main" id="{03E43933-B0A9-4D56-F464-9CD9EF2FF1E8}"/>
              </a:ext>
            </a:extLst>
          </p:cNvPr>
          <p:cNvSpPr>
            <a:spLocks noGrp="1"/>
          </p:cNvSpPr>
          <p:nvPr>
            <p:ph idx="1"/>
          </p:nvPr>
        </p:nvSpPr>
        <p:spPr/>
        <p:txBody>
          <a:bodyPr/>
          <a:lstStyle/>
          <a:p>
            <a:r>
              <a:rPr lang="en-US" b="1" dirty="0"/>
              <a:t>GIL Constraint</a:t>
            </a:r>
            <a:r>
              <a:rPr lang="en-US" dirty="0"/>
              <a:t>: In Python (especially </a:t>
            </a:r>
            <a:r>
              <a:rPr lang="en-US" dirty="0" err="1"/>
              <a:t>CPython</a:t>
            </a:r>
            <a:r>
              <a:rPr lang="en-US" dirty="0"/>
              <a:t>), the GIL ensures that only one thread runs Python bytecode at a time, even on multicore systems.</a:t>
            </a:r>
          </a:p>
          <a:p>
            <a:r>
              <a:rPr lang="en-US" b="1" dirty="0"/>
              <a:t>Better for I/O-bound tasks</a:t>
            </a:r>
            <a:r>
              <a:rPr lang="en-US" dirty="0"/>
              <a:t>: Useful for tasks like file operations, network communication, or database queries, where the program spends time waiting for external resources.</a:t>
            </a:r>
          </a:p>
          <a:p>
            <a:r>
              <a:rPr lang="en-US" b="1" dirty="0"/>
              <a:t>Shared Memory</a:t>
            </a:r>
            <a:r>
              <a:rPr lang="en-US" dirty="0"/>
              <a:t>: Threads share the same memory space, making communication simpler.</a:t>
            </a:r>
          </a:p>
        </p:txBody>
      </p:sp>
    </p:spTree>
    <p:extLst>
      <p:ext uri="{BB962C8B-B14F-4D97-AF65-F5344CB8AC3E}">
        <p14:creationId xmlns:p14="http://schemas.microsoft.com/office/powerpoint/2010/main" val="38532971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FC84F-3B63-5C63-8A9B-D18A348568A8}"/>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A5F43021-C366-11D5-1EA6-FBF5B88FAB97}"/>
              </a:ext>
            </a:extLst>
          </p:cNvPr>
          <p:cNvSpPr>
            <a:spLocks noGrp="1"/>
          </p:cNvSpPr>
          <p:nvPr>
            <p:ph idx="1"/>
          </p:nvPr>
        </p:nvSpPr>
        <p:spPr/>
        <p:txBody>
          <a:bodyPr/>
          <a:lstStyle/>
          <a:p>
            <a:r>
              <a:rPr lang="en-US" dirty="0"/>
              <a:t>Lightweight compared to processes, leading to lower memory overhead.</a:t>
            </a:r>
          </a:p>
          <a:p>
            <a:r>
              <a:rPr lang="en-US" dirty="0"/>
              <a:t>Faster thread creation and context switching.</a:t>
            </a:r>
          </a:p>
          <a:p>
            <a:r>
              <a:rPr lang="en-US" dirty="0"/>
              <a:t>Easier to share data between threads since they share the same memory space.</a:t>
            </a:r>
          </a:p>
        </p:txBody>
      </p:sp>
    </p:spTree>
    <p:extLst>
      <p:ext uri="{BB962C8B-B14F-4D97-AF65-F5344CB8AC3E}">
        <p14:creationId xmlns:p14="http://schemas.microsoft.com/office/powerpoint/2010/main" val="29579411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354C2-FDB3-CB82-BEBB-D14A9BD800B0}"/>
              </a:ext>
            </a:extLst>
          </p:cNvPr>
          <p:cNvSpPr>
            <a:spLocks noGrp="1"/>
          </p:cNvSpPr>
          <p:nvPr>
            <p:ph type="title"/>
          </p:nvPr>
        </p:nvSpPr>
        <p:spPr/>
        <p:txBody>
          <a:bodyPr/>
          <a:lstStyle/>
          <a:p>
            <a:r>
              <a:rPr lang="en-US" dirty="0"/>
              <a:t>Disadvantages</a:t>
            </a:r>
          </a:p>
        </p:txBody>
      </p:sp>
      <p:sp>
        <p:nvSpPr>
          <p:cNvPr id="3" name="Content Placeholder 2">
            <a:extLst>
              <a:ext uri="{FF2B5EF4-FFF2-40B4-BE49-F238E27FC236}">
                <a16:creationId xmlns:a16="http://schemas.microsoft.com/office/drawing/2014/main" id="{039491FA-0A1E-17FE-D2C8-DA5FA0583CEC}"/>
              </a:ext>
            </a:extLst>
          </p:cNvPr>
          <p:cNvSpPr>
            <a:spLocks noGrp="1"/>
          </p:cNvSpPr>
          <p:nvPr>
            <p:ph idx="1"/>
          </p:nvPr>
        </p:nvSpPr>
        <p:spPr/>
        <p:txBody>
          <a:bodyPr/>
          <a:lstStyle/>
          <a:p>
            <a:r>
              <a:rPr lang="en-US" dirty="0"/>
              <a:t>Affected by the GIL in Python, limiting parallel execution for CPU-bound tasks.</a:t>
            </a:r>
          </a:p>
          <a:p>
            <a:r>
              <a:rPr lang="en-US" dirty="0"/>
              <a:t>Shared memory requires careful synchronization (e.g., using locks) to avoid race conditions and data corruption.</a:t>
            </a:r>
          </a:p>
          <a:p>
            <a:r>
              <a:rPr lang="en-US" dirty="0"/>
              <a:t>A crash in one thread can affect the entire process.</a:t>
            </a:r>
          </a:p>
        </p:txBody>
      </p:sp>
    </p:spTree>
    <p:extLst>
      <p:ext uri="{BB962C8B-B14F-4D97-AF65-F5344CB8AC3E}">
        <p14:creationId xmlns:p14="http://schemas.microsoft.com/office/powerpoint/2010/main" val="8761377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0C5A0-056E-61B1-01D6-54E05FB271CB}"/>
              </a:ext>
            </a:extLst>
          </p:cNvPr>
          <p:cNvSpPr>
            <a:spLocks noGrp="1"/>
          </p:cNvSpPr>
          <p:nvPr>
            <p:ph type="title"/>
          </p:nvPr>
        </p:nvSpPr>
        <p:spPr/>
        <p:txBody>
          <a:bodyPr/>
          <a:lstStyle/>
          <a:p>
            <a:r>
              <a:rPr lang="en-US" dirty="0"/>
              <a:t>Asynchronous</a:t>
            </a:r>
          </a:p>
        </p:txBody>
      </p:sp>
      <p:sp>
        <p:nvSpPr>
          <p:cNvPr id="3" name="Content Placeholder 2">
            <a:extLst>
              <a:ext uri="{FF2B5EF4-FFF2-40B4-BE49-F238E27FC236}">
                <a16:creationId xmlns:a16="http://schemas.microsoft.com/office/drawing/2014/main" id="{0A7253CD-8212-DFAA-0D79-25F8F0B78C3A}"/>
              </a:ext>
            </a:extLst>
          </p:cNvPr>
          <p:cNvSpPr>
            <a:spLocks noGrp="1"/>
          </p:cNvSpPr>
          <p:nvPr>
            <p:ph idx="1"/>
          </p:nvPr>
        </p:nvSpPr>
        <p:spPr/>
        <p:txBody>
          <a:bodyPr/>
          <a:lstStyle/>
          <a:p>
            <a:r>
              <a:rPr lang="en-US" dirty="0"/>
              <a:t>Asynchronous routines are able to “pause” while waiting on their ultimate result and let other routines run in the meantime.</a:t>
            </a:r>
          </a:p>
          <a:p>
            <a:r>
              <a:rPr lang="en-US" dirty="0"/>
              <a:t>Asynchronous code, through the mechanism above, facilitates concurrent execution. To put it differently, asynchronous code gives the look and feel of concurrency.</a:t>
            </a:r>
          </a:p>
        </p:txBody>
      </p:sp>
    </p:spTree>
    <p:extLst>
      <p:ext uri="{BB962C8B-B14F-4D97-AF65-F5344CB8AC3E}">
        <p14:creationId xmlns:p14="http://schemas.microsoft.com/office/powerpoint/2010/main" val="3520424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D9B95-C9A6-68A1-5D3F-76D6585D8FF3}"/>
              </a:ext>
            </a:extLst>
          </p:cNvPr>
          <p:cNvSpPr>
            <a:spLocks noGrp="1"/>
          </p:cNvSpPr>
          <p:nvPr>
            <p:ph type="title"/>
          </p:nvPr>
        </p:nvSpPr>
        <p:spPr/>
        <p:txBody>
          <a:bodyPr/>
          <a:lstStyle/>
          <a:p>
            <a:r>
              <a:rPr lang="en-US" dirty="0"/>
              <a:t>Asynchronous I/O</a:t>
            </a:r>
          </a:p>
        </p:txBody>
      </p:sp>
      <p:sp>
        <p:nvSpPr>
          <p:cNvPr id="3" name="Content Placeholder 2">
            <a:extLst>
              <a:ext uri="{FF2B5EF4-FFF2-40B4-BE49-F238E27FC236}">
                <a16:creationId xmlns:a16="http://schemas.microsoft.com/office/drawing/2014/main" id="{B6BF09ED-2CD5-113F-9F01-F0AC6DCF652C}"/>
              </a:ext>
            </a:extLst>
          </p:cNvPr>
          <p:cNvSpPr>
            <a:spLocks noGrp="1"/>
          </p:cNvSpPr>
          <p:nvPr>
            <p:ph idx="1"/>
          </p:nvPr>
        </p:nvSpPr>
        <p:spPr/>
        <p:txBody>
          <a:bodyPr/>
          <a:lstStyle/>
          <a:p>
            <a:endParaRPr lang="vi-VN" dirty="0"/>
          </a:p>
          <a:p>
            <a:r>
              <a:rPr lang="en-US" dirty="0"/>
              <a:t>Asynchronous I/O APIs provide a method for threaded client/server models to perform highly concurrent and memory-efficient I/O.</a:t>
            </a:r>
          </a:p>
          <a:p>
            <a:r>
              <a:rPr lang="en-US" dirty="0"/>
              <a:t>async IO is a single-threaded, single-process design:</a:t>
            </a:r>
          </a:p>
          <a:p>
            <a:pPr lvl="1"/>
            <a:r>
              <a:rPr lang="en-US" dirty="0"/>
              <a:t>it uses cooperative multitasking</a:t>
            </a:r>
          </a:p>
          <a:p>
            <a:pPr lvl="1"/>
            <a:r>
              <a:rPr lang="en-US" dirty="0"/>
              <a:t>async IO gives a feeling of concurrency despite using a single thread in a single process.</a:t>
            </a:r>
          </a:p>
          <a:p>
            <a:pPr lvl="1"/>
            <a:r>
              <a:rPr lang="en-US" b="0" i="0" dirty="0">
                <a:solidFill>
                  <a:srgbClr val="222222"/>
                </a:solidFill>
                <a:effectLst/>
                <a:latin typeface="Source Sans Pro" panose="020B0503030403020204" pitchFamily="34" charset="0"/>
              </a:rPr>
              <a:t>Coroutines (a central feature of async IO) can be scheduled concurrently, but they are not inherently concurrent.</a:t>
            </a:r>
            <a:endParaRPr lang="en-US" dirty="0"/>
          </a:p>
        </p:txBody>
      </p:sp>
    </p:spTree>
    <p:extLst>
      <p:ext uri="{BB962C8B-B14F-4D97-AF65-F5344CB8AC3E}">
        <p14:creationId xmlns:p14="http://schemas.microsoft.com/office/powerpoint/2010/main" val="5936793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B4D14-F5ED-C1A2-D4D4-500528FC33BD}"/>
              </a:ext>
            </a:extLst>
          </p:cNvPr>
          <p:cNvSpPr>
            <a:spLocks noGrp="1"/>
          </p:cNvSpPr>
          <p:nvPr>
            <p:ph type="title"/>
          </p:nvPr>
        </p:nvSpPr>
        <p:spPr/>
        <p:txBody>
          <a:bodyPr/>
          <a:lstStyle/>
          <a:p>
            <a:r>
              <a:rPr lang="en-US" dirty="0"/>
              <a:t>Async IO Explained</a:t>
            </a:r>
          </a:p>
        </p:txBody>
      </p:sp>
      <p:sp>
        <p:nvSpPr>
          <p:cNvPr id="3" name="Content Placeholder 2">
            <a:extLst>
              <a:ext uri="{FF2B5EF4-FFF2-40B4-BE49-F238E27FC236}">
                <a16:creationId xmlns:a16="http://schemas.microsoft.com/office/drawing/2014/main" id="{E3DF45E8-535F-7A59-A648-5A4D76EBC867}"/>
              </a:ext>
            </a:extLst>
          </p:cNvPr>
          <p:cNvSpPr>
            <a:spLocks noGrp="1"/>
          </p:cNvSpPr>
          <p:nvPr>
            <p:ph idx="1"/>
          </p:nvPr>
        </p:nvSpPr>
        <p:spPr/>
        <p:txBody>
          <a:bodyPr/>
          <a:lstStyle/>
          <a:p>
            <a:r>
              <a:rPr lang="en-US" b="0" i="0" dirty="0">
                <a:solidFill>
                  <a:srgbClr val="6F6F6F"/>
                </a:solidFill>
                <a:effectLst/>
                <a:latin typeface="Source Sans Pro" panose="020B0503030403020204" pitchFamily="34" charset="0"/>
              </a:rPr>
              <a:t>Chess master Judit </a:t>
            </a:r>
            <a:r>
              <a:rPr lang="en-US" b="0" i="0" dirty="0" err="1">
                <a:solidFill>
                  <a:srgbClr val="6F6F6F"/>
                </a:solidFill>
                <a:effectLst/>
                <a:latin typeface="Source Sans Pro" panose="020B0503030403020204" pitchFamily="34" charset="0"/>
              </a:rPr>
              <a:t>Polgár</a:t>
            </a:r>
            <a:r>
              <a:rPr lang="en-US" b="0" i="0" dirty="0">
                <a:solidFill>
                  <a:srgbClr val="6F6F6F"/>
                </a:solidFill>
                <a:effectLst/>
                <a:latin typeface="Source Sans Pro" panose="020B0503030403020204" pitchFamily="34" charset="0"/>
              </a:rPr>
              <a:t> hosts a chess exhibition in which she plays multiple amateur players. She has two ways of conducting the exhibition: synchronously and asynchronously.</a:t>
            </a:r>
          </a:p>
          <a:p>
            <a:r>
              <a:rPr lang="en-US" b="0" i="0" dirty="0">
                <a:solidFill>
                  <a:srgbClr val="6F6F6F"/>
                </a:solidFill>
                <a:effectLst/>
                <a:latin typeface="Source Sans Pro" panose="020B0503030403020204" pitchFamily="34" charset="0"/>
              </a:rPr>
              <a:t>Assumptions:</a:t>
            </a:r>
            <a:endParaRPr lang="en-US" dirty="0">
              <a:solidFill>
                <a:srgbClr val="6F6F6F"/>
              </a:solidFill>
              <a:latin typeface="Source Sans Pro" panose="020B0503030403020204" pitchFamily="34" charset="0"/>
            </a:endParaRPr>
          </a:p>
          <a:p>
            <a:pPr lvl="1"/>
            <a:r>
              <a:rPr lang="en-US" b="0" i="0" dirty="0">
                <a:solidFill>
                  <a:srgbClr val="6F6F6F"/>
                </a:solidFill>
                <a:effectLst/>
                <a:latin typeface="Source Sans Pro" panose="020B0503030403020204" pitchFamily="34" charset="0"/>
              </a:rPr>
              <a:t>24 opponents</a:t>
            </a:r>
          </a:p>
          <a:p>
            <a:pPr lvl="1"/>
            <a:r>
              <a:rPr lang="en-US" b="0" i="0" dirty="0">
                <a:solidFill>
                  <a:srgbClr val="6F6F6F"/>
                </a:solidFill>
                <a:effectLst/>
                <a:latin typeface="Source Sans Pro" panose="020B0503030403020204" pitchFamily="34" charset="0"/>
              </a:rPr>
              <a:t>Judit makes each chess move in 5 seconds</a:t>
            </a:r>
          </a:p>
          <a:p>
            <a:pPr lvl="1"/>
            <a:r>
              <a:rPr lang="en-US" b="0" i="0" dirty="0">
                <a:solidFill>
                  <a:srgbClr val="6F6F6F"/>
                </a:solidFill>
                <a:effectLst/>
                <a:latin typeface="Source Sans Pro" panose="020B0503030403020204" pitchFamily="34" charset="0"/>
              </a:rPr>
              <a:t>Opponents each take 55 seconds to make a move</a:t>
            </a:r>
          </a:p>
          <a:p>
            <a:pPr lvl="1"/>
            <a:r>
              <a:rPr lang="en-US" b="0" i="0" dirty="0">
                <a:solidFill>
                  <a:srgbClr val="6F6F6F"/>
                </a:solidFill>
                <a:effectLst/>
                <a:latin typeface="Source Sans Pro" panose="020B0503030403020204" pitchFamily="34" charset="0"/>
              </a:rPr>
              <a:t>Games average 30 pair-moves (60 moves total)</a:t>
            </a:r>
          </a:p>
          <a:p>
            <a:pPr marL="457200" lvl="1" indent="0">
              <a:buNone/>
            </a:pPr>
            <a:endParaRPr lang="en-US" dirty="0"/>
          </a:p>
        </p:txBody>
      </p:sp>
    </p:spTree>
    <p:extLst>
      <p:ext uri="{BB962C8B-B14F-4D97-AF65-F5344CB8AC3E}">
        <p14:creationId xmlns:p14="http://schemas.microsoft.com/office/powerpoint/2010/main" val="37293547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64DDB-BB13-3E4F-26C3-E0D6CF2002DD}"/>
              </a:ext>
            </a:extLst>
          </p:cNvPr>
          <p:cNvSpPr>
            <a:spLocks noGrp="1"/>
          </p:cNvSpPr>
          <p:nvPr>
            <p:ph type="title"/>
          </p:nvPr>
        </p:nvSpPr>
        <p:spPr/>
        <p:txBody>
          <a:bodyPr/>
          <a:lstStyle/>
          <a:p>
            <a:r>
              <a:rPr lang="en-US" dirty="0"/>
              <a:t>Synchronous version</a:t>
            </a:r>
          </a:p>
        </p:txBody>
      </p:sp>
      <p:sp>
        <p:nvSpPr>
          <p:cNvPr id="3" name="Content Placeholder 2">
            <a:extLst>
              <a:ext uri="{FF2B5EF4-FFF2-40B4-BE49-F238E27FC236}">
                <a16:creationId xmlns:a16="http://schemas.microsoft.com/office/drawing/2014/main" id="{AF86E73F-AB1B-41A5-DE89-875A98868B00}"/>
              </a:ext>
            </a:extLst>
          </p:cNvPr>
          <p:cNvSpPr>
            <a:spLocks noGrp="1"/>
          </p:cNvSpPr>
          <p:nvPr>
            <p:ph idx="1"/>
          </p:nvPr>
        </p:nvSpPr>
        <p:spPr/>
        <p:txBody>
          <a:bodyPr/>
          <a:lstStyle/>
          <a:p>
            <a:r>
              <a:rPr lang="en-US" dirty="0"/>
              <a:t>Judit plays one game at a time, never two at the same time, until the game is complete. Each game takes (55 + 5) * 30 == 1800 seconds, or 30 minutes. The entire exhibition takes 24 * 30 == 720 minutes, or 12 hours.</a:t>
            </a:r>
          </a:p>
        </p:txBody>
      </p:sp>
    </p:spTree>
    <p:extLst>
      <p:ext uri="{BB962C8B-B14F-4D97-AF65-F5344CB8AC3E}">
        <p14:creationId xmlns:p14="http://schemas.microsoft.com/office/powerpoint/2010/main" val="35150547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95E90-48D0-2E33-2BB5-642B368481ED}"/>
              </a:ext>
            </a:extLst>
          </p:cNvPr>
          <p:cNvSpPr>
            <a:spLocks noGrp="1"/>
          </p:cNvSpPr>
          <p:nvPr>
            <p:ph type="title"/>
          </p:nvPr>
        </p:nvSpPr>
        <p:spPr/>
        <p:txBody>
          <a:bodyPr/>
          <a:lstStyle/>
          <a:p>
            <a:r>
              <a:rPr lang="en-US" dirty="0"/>
              <a:t>Asynchronous version</a:t>
            </a:r>
          </a:p>
        </p:txBody>
      </p:sp>
      <p:sp>
        <p:nvSpPr>
          <p:cNvPr id="3" name="Content Placeholder 2">
            <a:extLst>
              <a:ext uri="{FF2B5EF4-FFF2-40B4-BE49-F238E27FC236}">
                <a16:creationId xmlns:a16="http://schemas.microsoft.com/office/drawing/2014/main" id="{8B86F21B-15D9-B9E1-B06B-EA1F98FE9813}"/>
              </a:ext>
            </a:extLst>
          </p:cNvPr>
          <p:cNvSpPr>
            <a:spLocks noGrp="1"/>
          </p:cNvSpPr>
          <p:nvPr>
            <p:ph idx="1"/>
          </p:nvPr>
        </p:nvSpPr>
        <p:spPr/>
        <p:txBody>
          <a:bodyPr/>
          <a:lstStyle/>
          <a:p>
            <a:r>
              <a:rPr lang="en-US" b="0" i="0" dirty="0">
                <a:solidFill>
                  <a:srgbClr val="6F6F6F"/>
                </a:solidFill>
                <a:effectLst/>
                <a:latin typeface="Source Sans Pro" panose="020B0503030403020204" pitchFamily="34" charset="0"/>
              </a:rPr>
              <a:t>Judit moves from table to table, making one move at each table. She leaves the table and lets the opponent make their next move during the wait time. One move on all 24 games takes Judit </a:t>
            </a:r>
            <a:r>
              <a:rPr lang="en-US" b="0" i="1" dirty="0">
                <a:solidFill>
                  <a:srgbClr val="6F6F6F"/>
                </a:solidFill>
                <a:effectLst/>
                <a:latin typeface="Source Sans Pro" panose="020B0503030403020204" pitchFamily="34" charset="0"/>
              </a:rPr>
              <a:t>24 * 5 == 120</a:t>
            </a:r>
            <a:r>
              <a:rPr lang="en-US" b="0" i="0" dirty="0">
                <a:solidFill>
                  <a:srgbClr val="6F6F6F"/>
                </a:solidFill>
                <a:effectLst/>
                <a:latin typeface="Source Sans Pro" panose="020B0503030403020204" pitchFamily="34" charset="0"/>
              </a:rPr>
              <a:t> seconds, or 2 minutes. The entire exhibition is now cut down to </a:t>
            </a:r>
            <a:r>
              <a:rPr lang="en-US" b="0" i="1" dirty="0">
                <a:solidFill>
                  <a:srgbClr val="6F6F6F"/>
                </a:solidFill>
                <a:effectLst/>
                <a:latin typeface="Source Sans Pro" panose="020B0503030403020204" pitchFamily="34" charset="0"/>
              </a:rPr>
              <a:t>120 * 30 == 3600</a:t>
            </a:r>
            <a:r>
              <a:rPr lang="en-US" b="0" i="0" dirty="0">
                <a:solidFill>
                  <a:srgbClr val="6F6F6F"/>
                </a:solidFill>
                <a:effectLst/>
                <a:latin typeface="Source Sans Pro" panose="020B0503030403020204" pitchFamily="34" charset="0"/>
              </a:rPr>
              <a:t> seconds, or just </a:t>
            </a:r>
            <a:r>
              <a:rPr lang="en-US" b="1" i="0" dirty="0">
                <a:solidFill>
                  <a:srgbClr val="6F6F6F"/>
                </a:solidFill>
                <a:effectLst/>
                <a:latin typeface="Source Sans Pro" panose="020B0503030403020204" pitchFamily="34" charset="0"/>
              </a:rPr>
              <a:t>1 hour</a:t>
            </a:r>
            <a:r>
              <a:rPr lang="en-US" b="0" i="0" dirty="0">
                <a:solidFill>
                  <a:srgbClr val="6F6F6F"/>
                </a:solidFill>
                <a:effectLst/>
                <a:latin typeface="Source Sans Pro" panose="020B0503030403020204" pitchFamily="34" charset="0"/>
              </a:rPr>
              <a:t>.</a:t>
            </a:r>
            <a:endParaRPr lang="en-US" dirty="0"/>
          </a:p>
        </p:txBody>
      </p:sp>
    </p:spTree>
    <p:extLst>
      <p:ext uri="{BB962C8B-B14F-4D97-AF65-F5344CB8AC3E}">
        <p14:creationId xmlns:p14="http://schemas.microsoft.com/office/powerpoint/2010/main" val="24854381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1AEDD-6933-E0DE-312F-73B3FA3DF353}"/>
              </a:ext>
            </a:extLst>
          </p:cNvPr>
          <p:cNvSpPr>
            <a:spLocks noGrp="1"/>
          </p:cNvSpPr>
          <p:nvPr>
            <p:ph type="title"/>
          </p:nvPr>
        </p:nvSpPr>
        <p:spPr/>
        <p:txBody>
          <a:bodyPr/>
          <a:lstStyle/>
          <a:p>
            <a:r>
              <a:rPr lang="vi-VN" dirty="0" err="1"/>
              <a:t>Recap</a:t>
            </a:r>
            <a:endParaRPr lang="en-US" dirty="0"/>
          </a:p>
        </p:txBody>
      </p:sp>
      <p:sp>
        <p:nvSpPr>
          <p:cNvPr id="3" name="Content Placeholder 2">
            <a:extLst>
              <a:ext uri="{FF2B5EF4-FFF2-40B4-BE49-F238E27FC236}">
                <a16:creationId xmlns:a16="http://schemas.microsoft.com/office/drawing/2014/main" id="{469FB9B1-CFF6-E047-C588-10648CD1B676}"/>
              </a:ext>
            </a:extLst>
          </p:cNvPr>
          <p:cNvSpPr>
            <a:spLocks noGrp="1"/>
          </p:cNvSpPr>
          <p:nvPr>
            <p:ph idx="1"/>
          </p:nvPr>
        </p:nvSpPr>
        <p:spPr/>
        <p:txBody>
          <a:bodyPr/>
          <a:lstStyle/>
          <a:p>
            <a:r>
              <a:rPr lang="en-US" dirty="0"/>
              <a:t>Concurrency encompasses both multiprocessing (ideal for CPU-bound tasks) and threading (suited for IO-bound tasks).</a:t>
            </a:r>
          </a:p>
          <a:p>
            <a:r>
              <a:rPr lang="en-US" dirty="0"/>
              <a:t>Multiprocessing is a form of parallelism, with parallelism being a specific type (subset) of concurrency.</a:t>
            </a:r>
          </a:p>
        </p:txBody>
      </p:sp>
    </p:spTree>
    <p:extLst>
      <p:ext uri="{BB962C8B-B14F-4D97-AF65-F5344CB8AC3E}">
        <p14:creationId xmlns:p14="http://schemas.microsoft.com/office/powerpoint/2010/main" val="34891426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6C7C1-50C0-D679-8663-96673C3EA80C}"/>
              </a:ext>
            </a:extLst>
          </p:cNvPr>
          <p:cNvSpPr>
            <a:spLocks noGrp="1"/>
          </p:cNvSpPr>
          <p:nvPr>
            <p:ph type="title"/>
          </p:nvPr>
        </p:nvSpPr>
        <p:spPr/>
        <p:txBody>
          <a:bodyPr/>
          <a:lstStyle/>
          <a:p>
            <a:r>
              <a:rPr lang="en-US" dirty="0"/>
              <a:t>Asynchronous I/O is a style of concurrent programming</a:t>
            </a:r>
          </a:p>
        </p:txBody>
      </p:sp>
      <p:sp>
        <p:nvSpPr>
          <p:cNvPr id="3" name="Content Placeholder 2">
            <a:extLst>
              <a:ext uri="{FF2B5EF4-FFF2-40B4-BE49-F238E27FC236}">
                <a16:creationId xmlns:a16="http://schemas.microsoft.com/office/drawing/2014/main" id="{BFE888EF-DE3E-47F9-8150-F30A2803AA7F}"/>
              </a:ext>
            </a:extLst>
          </p:cNvPr>
          <p:cNvSpPr>
            <a:spLocks noGrp="1"/>
          </p:cNvSpPr>
          <p:nvPr>
            <p:ph idx="1"/>
          </p:nvPr>
        </p:nvSpPr>
        <p:spPr/>
        <p:txBody>
          <a:bodyPr/>
          <a:lstStyle/>
          <a:p>
            <a:r>
              <a:rPr lang="en-US" dirty="0"/>
              <a:t> async IO is a style of concurrent programming, but it is not parallelism.</a:t>
            </a:r>
          </a:p>
        </p:txBody>
      </p:sp>
    </p:spTree>
    <p:extLst>
      <p:ext uri="{BB962C8B-B14F-4D97-AF65-F5344CB8AC3E}">
        <p14:creationId xmlns:p14="http://schemas.microsoft.com/office/powerpoint/2010/main" val="12703623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D22FF-ACFE-9889-0D90-50112F460147}"/>
              </a:ext>
            </a:extLst>
          </p:cNvPr>
          <p:cNvSpPr>
            <a:spLocks noGrp="1"/>
          </p:cNvSpPr>
          <p:nvPr>
            <p:ph type="title"/>
          </p:nvPr>
        </p:nvSpPr>
        <p:spPr/>
        <p:txBody>
          <a:bodyPr/>
          <a:lstStyle/>
          <a:p>
            <a:r>
              <a:rPr lang="en-US" dirty="0"/>
              <a:t>Asynchronous programming</a:t>
            </a:r>
          </a:p>
        </p:txBody>
      </p:sp>
      <p:sp>
        <p:nvSpPr>
          <p:cNvPr id="3" name="Content Placeholder 2">
            <a:extLst>
              <a:ext uri="{FF2B5EF4-FFF2-40B4-BE49-F238E27FC236}">
                <a16:creationId xmlns:a16="http://schemas.microsoft.com/office/drawing/2014/main" id="{EB1E807F-8557-F311-6FB3-5D5E8DEDEE7B}"/>
              </a:ext>
            </a:extLst>
          </p:cNvPr>
          <p:cNvSpPr>
            <a:spLocks noGrp="1"/>
          </p:cNvSpPr>
          <p:nvPr>
            <p:ph idx="1"/>
          </p:nvPr>
        </p:nvSpPr>
        <p:spPr/>
        <p:txBody>
          <a:bodyPr/>
          <a:lstStyle/>
          <a:p>
            <a:r>
              <a:rPr lang="en-US" dirty="0"/>
              <a:t>Asynchronous programming is a programming paradigm that enables tasks to run independently of the main program flow, allowing the program to perform other operations while waiting for a task to complete.</a:t>
            </a:r>
          </a:p>
          <a:p>
            <a:r>
              <a:rPr lang="en-US" dirty="0"/>
              <a:t>It’s particularly useful for I/O-bound or event-driven tasks where operations like reading from a file, making network requests, or querying a database may take an unpredictable amount of time.</a:t>
            </a:r>
          </a:p>
        </p:txBody>
      </p:sp>
    </p:spTree>
    <p:extLst>
      <p:ext uri="{BB962C8B-B14F-4D97-AF65-F5344CB8AC3E}">
        <p14:creationId xmlns:p14="http://schemas.microsoft.com/office/powerpoint/2010/main" val="41975141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54B93-8BD1-875E-89B6-9FF1358D2B21}"/>
              </a:ext>
            </a:extLst>
          </p:cNvPr>
          <p:cNvSpPr>
            <a:spLocks noGrp="1"/>
          </p:cNvSpPr>
          <p:nvPr>
            <p:ph type="title"/>
          </p:nvPr>
        </p:nvSpPr>
        <p:spPr/>
        <p:txBody>
          <a:bodyPr/>
          <a:lstStyle/>
          <a:p>
            <a:r>
              <a:rPr lang="en-US" dirty="0"/>
              <a:t>Key Concepts in Asynchronous Programming</a:t>
            </a:r>
          </a:p>
        </p:txBody>
      </p:sp>
      <p:sp>
        <p:nvSpPr>
          <p:cNvPr id="3" name="Content Placeholder 2">
            <a:extLst>
              <a:ext uri="{FF2B5EF4-FFF2-40B4-BE49-F238E27FC236}">
                <a16:creationId xmlns:a16="http://schemas.microsoft.com/office/drawing/2014/main" id="{45FF05AB-D720-074B-CB0F-3B0810887C7B}"/>
              </a:ext>
            </a:extLst>
          </p:cNvPr>
          <p:cNvSpPr>
            <a:spLocks noGrp="1"/>
          </p:cNvSpPr>
          <p:nvPr>
            <p:ph idx="1"/>
          </p:nvPr>
        </p:nvSpPr>
        <p:spPr/>
        <p:txBody>
          <a:bodyPr/>
          <a:lstStyle/>
          <a:p>
            <a:r>
              <a:rPr lang="en-US" dirty="0"/>
              <a:t>Concurrency: Asynchronous programming allows multiple tasks to progress at the same time without blocking each other.</a:t>
            </a:r>
          </a:p>
          <a:p>
            <a:r>
              <a:rPr lang="en-US" dirty="0"/>
              <a:t>Non-Blocking I/O: Instead of waiting for an I/O operation (like reading a file or fetching data from a server) to complete, the program continues executing other tasks.</a:t>
            </a:r>
          </a:p>
          <a:p>
            <a:r>
              <a:rPr lang="en-US" dirty="0"/>
              <a:t>Event Loop: Central to asynchronous programming, the event loop is responsible for managing and scheduling tasks. It continuously checks for completed operations and executes associated callbacks or resumes suspended coroutines.</a:t>
            </a:r>
          </a:p>
        </p:txBody>
      </p:sp>
    </p:spTree>
    <p:extLst>
      <p:ext uri="{BB962C8B-B14F-4D97-AF65-F5344CB8AC3E}">
        <p14:creationId xmlns:p14="http://schemas.microsoft.com/office/powerpoint/2010/main" val="25896142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7C983-74B5-834E-1FDC-B310886BD870}"/>
              </a:ext>
            </a:extLst>
          </p:cNvPr>
          <p:cNvSpPr>
            <a:spLocks noGrp="1"/>
          </p:cNvSpPr>
          <p:nvPr>
            <p:ph type="title"/>
          </p:nvPr>
        </p:nvSpPr>
        <p:spPr/>
        <p:txBody>
          <a:bodyPr/>
          <a:lstStyle/>
          <a:p>
            <a:r>
              <a:rPr lang="en-US" dirty="0"/>
              <a:t>Key Concepts in Asynchronous Programming</a:t>
            </a:r>
          </a:p>
        </p:txBody>
      </p:sp>
      <p:sp>
        <p:nvSpPr>
          <p:cNvPr id="3" name="Content Placeholder 2">
            <a:extLst>
              <a:ext uri="{FF2B5EF4-FFF2-40B4-BE49-F238E27FC236}">
                <a16:creationId xmlns:a16="http://schemas.microsoft.com/office/drawing/2014/main" id="{DE2581A0-E6CE-D8B5-4068-D17F45395DA3}"/>
              </a:ext>
            </a:extLst>
          </p:cNvPr>
          <p:cNvSpPr>
            <a:spLocks noGrp="1"/>
          </p:cNvSpPr>
          <p:nvPr>
            <p:ph idx="1"/>
          </p:nvPr>
        </p:nvSpPr>
        <p:spPr/>
        <p:txBody>
          <a:bodyPr/>
          <a:lstStyle/>
          <a:p>
            <a:r>
              <a:rPr lang="en-US" dirty="0"/>
              <a:t>Callbacks: Functions or routines executed when an asynchronous operation completes. They are used to handle the result of the operation.</a:t>
            </a:r>
          </a:p>
          <a:p>
            <a:r>
              <a:rPr lang="en-US" dirty="0"/>
              <a:t>Promises/Futures: Represent a placeholder for a value that will be available at some point in the future. They are commonly used in asynchronous APIs.</a:t>
            </a:r>
          </a:p>
          <a:p>
            <a:r>
              <a:rPr lang="en-US" dirty="0"/>
              <a:t>Coroutines: Specialized functions that can pause execution (await) and resume later. They form the backbone of asynchronous programming in many modern languages like Python, JavaScript, and Kotlin.</a:t>
            </a:r>
          </a:p>
        </p:txBody>
      </p:sp>
    </p:spTree>
    <p:extLst>
      <p:ext uri="{BB962C8B-B14F-4D97-AF65-F5344CB8AC3E}">
        <p14:creationId xmlns:p14="http://schemas.microsoft.com/office/powerpoint/2010/main" val="39673178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0EA9F-4A7C-1666-F1C5-41A7C83839E1}"/>
              </a:ext>
            </a:extLst>
          </p:cNvPr>
          <p:cNvSpPr>
            <a:spLocks noGrp="1"/>
          </p:cNvSpPr>
          <p:nvPr>
            <p:ph type="title"/>
          </p:nvPr>
        </p:nvSpPr>
        <p:spPr/>
        <p:txBody>
          <a:bodyPr/>
          <a:lstStyle/>
          <a:p>
            <a:r>
              <a:rPr lang="en-US" dirty="0"/>
              <a:t>Example: Asynchronous Programming in Python with </a:t>
            </a:r>
            <a:r>
              <a:rPr lang="en-US" i="1" dirty="0" err="1"/>
              <a:t>asyncio</a:t>
            </a:r>
            <a:endParaRPr lang="en-US" i="1" dirty="0"/>
          </a:p>
        </p:txBody>
      </p:sp>
      <p:sp>
        <p:nvSpPr>
          <p:cNvPr id="3" name="Content Placeholder 2">
            <a:extLst>
              <a:ext uri="{FF2B5EF4-FFF2-40B4-BE49-F238E27FC236}">
                <a16:creationId xmlns:a16="http://schemas.microsoft.com/office/drawing/2014/main" id="{27CF5AD0-9F9B-7318-A76D-2F4DA6AEFBB8}"/>
              </a:ext>
            </a:extLst>
          </p:cNvPr>
          <p:cNvSpPr>
            <a:spLocks noGrp="1"/>
          </p:cNvSpPr>
          <p:nvPr>
            <p:ph idx="1"/>
          </p:nvPr>
        </p:nvSpPr>
        <p:spPr>
          <a:xfrm>
            <a:off x="838200" y="1855122"/>
            <a:ext cx="10515600" cy="4351338"/>
          </a:xfrm>
        </p:spPr>
        <p:txBody>
          <a:bodyPr/>
          <a:lstStyle/>
          <a:p>
            <a:r>
              <a:rPr lang="en-US" dirty="0"/>
              <a:t>Sequential (Synchronous) Code: Each task waits for the previous one to finish</a:t>
            </a:r>
          </a:p>
          <a:p>
            <a:r>
              <a:rPr lang="en-US" dirty="0"/>
              <a:t>Asynchronous Code: All tasks start concurrently and finish</a:t>
            </a:r>
          </a:p>
        </p:txBody>
      </p:sp>
    </p:spTree>
    <p:extLst>
      <p:ext uri="{BB962C8B-B14F-4D97-AF65-F5344CB8AC3E}">
        <p14:creationId xmlns:p14="http://schemas.microsoft.com/office/powerpoint/2010/main" val="34893984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B8E7C-9D43-0A5A-1D77-CA12E0661CF5}"/>
              </a:ext>
            </a:extLst>
          </p:cNvPr>
          <p:cNvSpPr>
            <a:spLocks noGrp="1"/>
          </p:cNvSpPr>
          <p:nvPr>
            <p:ph type="title"/>
          </p:nvPr>
        </p:nvSpPr>
        <p:spPr/>
        <p:txBody>
          <a:bodyPr/>
          <a:lstStyle/>
          <a:p>
            <a:r>
              <a:rPr lang="en-US" dirty="0"/>
              <a:t>Non-Blocking I/O with </a:t>
            </a:r>
            <a:r>
              <a:rPr lang="en-US" dirty="0" err="1"/>
              <a:t>Asyncio</a:t>
            </a:r>
            <a:endParaRPr lang="en-US" dirty="0"/>
          </a:p>
        </p:txBody>
      </p:sp>
      <p:sp>
        <p:nvSpPr>
          <p:cNvPr id="3" name="Content Placeholder 2">
            <a:extLst>
              <a:ext uri="{FF2B5EF4-FFF2-40B4-BE49-F238E27FC236}">
                <a16:creationId xmlns:a16="http://schemas.microsoft.com/office/drawing/2014/main" id="{9552BD3D-C770-1192-7259-C833EEF17F7A}"/>
              </a:ext>
            </a:extLst>
          </p:cNvPr>
          <p:cNvSpPr>
            <a:spLocks noGrp="1"/>
          </p:cNvSpPr>
          <p:nvPr>
            <p:ph idx="1"/>
          </p:nvPr>
        </p:nvSpPr>
        <p:spPr/>
        <p:txBody>
          <a:bodyPr/>
          <a:lstStyle/>
          <a:p>
            <a:r>
              <a:rPr lang="en-US" dirty="0"/>
              <a:t>The </a:t>
            </a:r>
            <a:r>
              <a:rPr lang="en-US" dirty="0" err="1"/>
              <a:t>asyncio</a:t>
            </a:r>
            <a:r>
              <a:rPr lang="en-US" dirty="0"/>
              <a:t> library uses non-blocking I/O under the hood. It avoids the need for manual polling or error handling like </a:t>
            </a:r>
            <a:r>
              <a:rPr lang="en-US" dirty="0" err="1"/>
              <a:t>BlockingIOError</a:t>
            </a:r>
            <a:r>
              <a:rPr lang="en-US" dirty="0"/>
              <a:t>.</a:t>
            </a:r>
          </a:p>
          <a:p>
            <a:r>
              <a:rPr lang="en-US" dirty="0" err="1"/>
              <a:t>asyncio</a:t>
            </a:r>
            <a:r>
              <a:rPr lang="en-US" dirty="0"/>
              <a:t> is a Python library that provides support for asynchronous programming. It simplifies handling multiple I/O operations, such as working with sockets, without blocking the program's execution. This is particularly useful in socket programming when you want to manage multiple client connections efficiently.</a:t>
            </a:r>
          </a:p>
        </p:txBody>
      </p:sp>
    </p:spTree>
    <p:extLst>
      <p:ext uri="{BB962C8B-B14F-4D97-AF65-F5344CB8AC3E}">
        <p14:creationId xmlns:p14="http://schemas.microsoft.com/office/powerpoint/2010/main" val="17187165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07277-ACC8-35C3-5F99-22964AB89DD6}"/>
              </a:ext>
            </a:extLst>
          </p:cNvPr>
          <p:cNvSpPr>
            <a:spLocks noGrp="1"/>
          </p:cNvSpPr>
          <p:nvPr>
            <p:ph type="title"/>
          </p:nvPr>
        </p:nvSpPr>
        <p:spPr/>
        <p:txBody>
          <a:bodyPr/>
          <a:lstStyle/>
          <a:p>
            <a:r>
              <a:rPr lang="en-US" dirty="0"/>
              <a:t>Key Features of </a:t>
            </a:r>
            <a:r>
              <a:rPr lang="en-US" i="1" dirty="0" err="1"/>
              <a:t>asyncio</a:t>
            </a:r>
            <a:r>
              <a:rPr lang="en-US" dirty="0"/>
              <a:t> in Socket Programming</a:t>
            </a:r>
          </a:p>
        </p:txBody>
      </p:sp>
      <p:sp>
        <p:nvSpPr>
          <p:cNvPr id="3" name="Content Placeholder 2">
            <a:extLst>
              <a:ext uri="{FF2B5EF4-FFF2-40B4-BE49-F238E27FC236}">
                <a16:creationId xmlns:a16="http://schemas.microsoft.com/office/drawing/2014/main" id="{A7B7F68F-E2C3-C321-0190-DA20A84486ED}"/>
              </a:ext>
            </a:extLst>
          </p:cNvPr>
          <p:cNvSpPr>
            <a:spLocks noGrp="1"/>
          </p:cNvSpPr>
          <p:nvPr>
            <p:ph idx="1"/>
          </p:nvPr>
        </p:nvSpPr>
        <p:spPr/>
        <p:txBody>
          <a:bodyPr/>
          <a:lstStyle/>
          <a:p>
            <a:r>
              <a:rPr lang="en-US" dirty="0"/>
              <a:t>Event Loop:</a:t>
            </a:r>
          </a:p>
          <a:p>
            <a:pPr lvl="1"/>
            <a:r>
              <a:rPr lang="en-US" dirty="0"/>
              <a:t>The core of </a:t>
            </a:r>
            <a:r>
              <a:rPr lang="en-US" i="1" dirty="0" err="1"/>
              <a:t>asyncio</a:t>
            </a:r>
            <a:r>
              <a:rPr lang="en-US" dirty="0"/>
              <a:t> is its event loop, which manages tasks, I/O events, and coroutines.</a:t>
            </a:r>
          </a:p>
          <a:p>
            <a:pPr lvl="1"/>
            <a:r>
              <a:rPr lang="en-US" dirty="0"/>
              <a:t>It enables you to perform multiple socket operations concurrently without using threads or processes.</a:t>
            </a:r>
          </a:p>
          <a:p>
            <a:r>
              <a:rPr lang="en-US" dirty="0"/>
              <a:t>Coroutines:</a:t>
            </a:r>
          </a:p>
          <a:p>
            <a:pPr lvl="1"/>
            <a:r>
              <a:rPr lang="en-US" dirty="0"/>
              <a:t>Functions defined with </a:t>
            </a:r>
            <a:r>
              <a:rPr lang="en-US" i="1" dirty="0"/>
              <a:t>async def </a:t>
            </a:r>
            <a:r>
              <a:rPr lang="en-US" dirty="0"/>
              <a:t>that allow you to pause execution using </a:t>
            </a:r>
            <a:r>
              <a:rPr lang="en-US" i="1" dirty="0"/>
              <a:t>await</a:t>
            </a:r>
          </a:p>
          <a:p>
            <a:pPr lvl="1"/>
            <a:r>
              <a:rPr lang="en-US" dirty="0"/>
              <a:t>This pause lets the event loop perform other tasks while waiting for I/O operations to complete.</a:t>
            </a:r>
            <a:endParaRPr lang="en-US" i="1" dirty="0"/>
          </a:p>
        </p:txBody>
      </p:sp>
    </p:spTree>
    <p:extLst>
      <p:ext uri="{BB962C8B-B14F-4D97-AF65-F5344CB8AC3E}">
        <p14:creationId xmlns:p14="http://schemas.microsoft.com/office/powerpoint/2010/main" val="8299184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F3053-3909-CCC5-360B-573D5374AB3F}"/>
              </a:ext>
            </a:extLst>
          </p:cNvPr>
          <p:cNvSpPr>
            <a:spLocks noGrp="1"/>
          </p:cNvSpPr>
          <p:nvPr>
            <p:ph type="title"/>
          </p:nvPr>
        </p:nvSpPr>
        <p:spPr/>
        <p:txBody>
          <a:bodyPr/>
          <a:lstStyle/>
          <a:p>
            <a:r>
              <a:rPr lang="en-US" dirty="0"/>
              <a:t>Key Features of </a:t>
            </a:r>
            <a:r>
              <a:rPr lang="en-US" i="1" dirty="0" err="1"/>
              <a:t>asyncio</a:t>
            </a:r>
            <a:r>
              <a:rPr lang="en-US" dirty="0"/>
              <a:t> in Socket Programming</a:t>
            </a:r>
          </a:p>
        </p:txBody>
      </p:sp>
      <p:sp>
        <p:nvSpPr>
          <p:cNvPr id="3" name="Content Placeholder 2">
            <a:extLst>
              <a:ext uri="{FF2B5EF4-FFF2-40B4-BE49-F238E27FC236}">
                <a16:creationId xmlns:a16="http://schemas.microsoft.com/office/drawing/2014/main" id="{A1F58AB5-71AD-BA9C-0DA8-4E660C231372}"/>
              </a:ext>
            </a:extLst>
          </p:cNvPr>
          <p:cNvSpPr>
            <a:spLocks noGrp="1"/>
          </p:cNvSpPr>
          <p:nvPr>
            <p:ph idx="1"/>
          </p:nvPr>
        </p:nvSpPr>
        <p:spPr/>
        <p:txBody>
          <a:bodyPr/>
          <a:lstStyle/>
          <a:p>
            <a:r>
              <a:rPr lang="en-US" dirty="0"/>
              <a:t>Streams API: </a:t>
            </a:r>
          </a:p>
          <a:p>
            <a:pPr lvl="1"/>
            <a:r>
              <a:rPr lang="en-US" i="1" dirty="0" err="1"/>
              <a:t>asyncio</a:t>
            </a:r>
            <a:r>
              <a:rPr lang="en-US" dirty="0"/>
              <a:t> provides </a:t>
            </a:r>
            <a:r>
              <a:rPr lang="en-US" i="1" dirty="0" err="1"/>
              <a:t>StreamReader</a:t>
            </a:r>
            <a:r>
              <a:rPr lang="en-US" dirty="0"/>
              <a:t> and </a:t>
            </a:r>
            <a:r>
              <a:rPr lang="en-US" i="1" dirty="0" err="1"/>
              <a:t>StreamWriter</a:t>
            </a:r>
            <a:r>
              <a:rPr lang="en-US" dirty="0"/>
              <a:t> for working with sockets. These abstractions simplify reading from and writing to sockets.</a:t>
            </a:r>
          </a:p>
          <a:p>
            <a:r>
              <a:rPr lang="en-US" dirty="0"/>
              <a:t>Concurrency:</a:t>
            </a:r>
          </a:p>
          <a:p>
            <a:pPr lvl="1"/>
            <a:r>
              <a:rPr lang="en-US" i="1" dirty="0" err="1"/>
              <a:t>asyncio</a:t>
            </a:r>
            <a:r>
              <a:rPr lang="en-US" dirty="0"/>
              <a:t> handles multiple clients concurrently by running their tasks in a single-threaded event loop, avoiding the overhead of threads or processes.</a:t>
            </a:r>
          </a:p>
        </p:txBody>
      </p:sp>
    </p:spTree>
    <p:extLst>
      <p:ext uri="{BB962C8B-B14F-4D97-AF65-F5344CB8AC3E}">
        <p14:creationId xmlns:p14="http://schemas.microsoft.com/office/powerpoint/2010/main" val="24574395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7F298-D597-34D4-241B-B771891322E9}"/>
              </a:ext>
            </a:extLst>
          </p:cNvPr>
          <p:cNvSpPr>
            <a:spLocks noGrp="1"/>
          </p:cNvSpPr>
          <p:nvPr>
            <p:ph type="title"/>
          </p:nvPr>
        </p:nvSpPr>
        <p:spPr/>
        <p:txBody>
          <a:bodyPr/>
          <a:lstStyle/>
          <a:p>
            <a:r>
              <a:rPr lang="en-US" dirty="0"/>
              <a:t>How </a:t>
            </a:r>
            <a:r>
              <a:rPr lang="en-US" dirty="0" err="1"/>
              <a:t>asyncio</a:t>
            </a:r>
            <a:r>
              <a:rPr lang="en-US" dirty="0"/>
              <a:t> Works in Socket Programming</a:t>
            </a:r>
          </a:p>
        </p:txBody>
      </p:sp>
      <p:sp>
        <p:nvSpPr>
          <p:cNvPr id="3" name="Content Placeholder 2">
            <a:extLst>
              <a:ext uri="{FF2B5EF4-FFF2-40B4-BE49-F238E27FC236}">
                <a16:creationId xmlns:a16="http://schemas.microsoft.com/office/drawing/2014/main" id="{24D5DE7D-29CB-EC8C-4C59-4A72CEEF3D01}"/>
              </a:ext>
            </a:extLst>
          </p:cNvPr>
          <p:cNvSpPr>
            <a:spLocks noGrp="1"/>
          </p:cNvSpPr>
          <p:nvPr>
            <p:ph idx="1"/>
          </p:nvPr>
        </p:nvSpPr>
        <p:spPr/>
        <p:txBody>
          <a:bodyPr/>
          <a:lstStyle/>
          <a:p>
            <a:r>
              <a:rPr lang="en-US" dirty="0" err="1"/>
              <a:t>asyncio</a:t>
            </a:r>
            <a:r>
              <a:rPr lang="en-US" dirty="0"/>
              <a:t> simplifies managing non-blocking I/O by allowing you to work with await and async syntax to schedule socket operations without blocking the main thread.</a:t>
            </a:r>
          </a:p>
          <a:p>
            <a:pPr marL="514350" indent="-514350">
              <a:buFont typeface="+mj-lt"/>
              <a:buAutoNum type="arabicPeriod"/>
            </a:pPr>
            <a:r>
              <a:rPr lang="en-US" dirty="0"/>
              <a:t>Server: Use </a:t>
            </a:r>
            <a:r>
              <a:rPr lang="en-US" i="1" dirty="0" err="1"/>
              <a:t>asyncio.start_server</a:t>
            </a:r>
            <a:r>
              <a:rPr lang="en-US" i="1" dirty="0"/>
              <a:t>() </a:t>
            </a:r>
            <a:r>
              <a:rPr lang="en-US" dirty="0"/>
              <a:t>to create a server that listens for connections and spawns a coroutine (</a:t>
            </a:r>
            <a:r>
              <a:rPr lang="en-US" i="1" dirty="0" err="1"/>
              <a:t>handle_client</a:t>
            </a:r>
            <a:r>
              <a:rPr lang="en-US" dirty="0"/>
              <a:t>) for each client.</a:t>
            </a:r>
          </a:p>
          <a:p>
            <a:pPr marL="514350" indent="-514350">
              <a:buFont typeface="+mj-lt"/>
              <a:buAutoNum type="arabicPeriod"/>
            </a:pPr>
            <a:r>
              <a:rPr lang="en-US" dirty="0"/>
              <a:t>Use </a:t>
            </a:r>
            <a:r>
              <a:rPr lang="en-US" i="1" dirty="0" err="1"/>
              <a:t>asyncio.open_connection</a:t>
            </a:r>
            <a:r>
              <a:rPr lang="en-US" i="1" dirty="0"/>
              <a:t>() </a:t>
            </a:r>
            <a:r>
              <a:rPr lang="en-US" dirty="0"/>
              <a:t>to establish a connection to the server and communicate using the </a:t>
            </a:r>
            <a:r>
              <a:rPr lang="en-US" i="1" dirty="0" err="1"/>
              <a:t>StreamReader</a:t>
            </a:r>
            <a:r>
              <a:rPr lang="en-US" dirty="0"/>
              <a:t> and </a:t>
            </a:r>
            <a:r>
              <a:rPr lang="en-US" i="1" dirty="0" err="1"/>
              <a:t>StreamWriter</a:t>
            </a:r>
            <a:r>
              <a:rPr lang="en-US" dirty="0"/>
              <a:t> objects.</a:t>
            </a:r>
          </a:p>
        </p:txBody>
      </p:sp>
    </p:spTree>
    <p:extLst>
      <p:ext uri="{BB962C8B-B14F-4D97-AF65-F5344CB8AC3E}">
        <p14:creationId xmlns:p14="http://schemas.microsoft.com/office/powerpoint/2010/main" val="12989780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3CA9B-E28A-DAA6-B384-5A251F6E1027}"/>
              </a:ext>
            </a:extLst>
          </p:cNvPr>
          <p:cNvSpPr>
            <a:spLocks noGrp="1"/>
          </p:cNvSpPr>
          <p:nvPr>
            <p:ph type="title"/>
          </p:nvPr>
        </p:nvSpPr>
        <p:spPr/>
        <p:txBody>
          <a:bodyPr/>
          <a:lstStyle/>
          <a:p>
            <a:r>
              <a:rPr lang="en-US" dirty="0"/>
              <a:t>Challenges of Asynchronous Programming</a:t>
            </a:r>
          </a:p>
        </p:txBody>
      </p:sp>
      <p:sp>
        <p:nvSpPr>
          <p:cNvPr id="3" name="Content Placeholder 2">
            <a:extLst>
              <a:ext uri="{FF2B5EF4-FFF2-40B4-BE49-F238E27FC236}">
                <a16:creationId xmlns:a16="http://schemas.microsoft.com/office/drawing/2014/main" id="{E753F794-BB14-83FD-2B10-D5F99B8E23A5}"/>
              </a:ext>
            </a:extLst>
          </p:cNvPr>
          <p:cNvSpPr>
            <a:spLocks noGrp="1"/>
          </p:cNvSpPr>
          <p:nvPr>
            <p:ph idx="1"/>
          </p:nvPr>
        </p:nvSpPr>
        <p:spPr/>
        <p:txBody>
          <a:bodyPr/>
          <a:lstStyle/>
          <a:p>
            <a:r>
              <a:rPr lang="vi-VN" dirty="0" err="1"/>
              <a:t>Complexity</a:t>
            </a:r>
            <a:r>
              <a:rPr lang="vi-VN" dirty="0"/>
              <a:t>: </a:t>
            </a:r>
            <a:r>
              <a:rPr lang="en-US" dirty="0"/>
              <a:t>Code can become harder to understand and debug, especially with nested callbacks or dependencies.</a:t>
            </a:r>
            <a:endParaRPr lang="vi-VN" dirty="0"/>
          </a:p>
          <a:p>
            <a:r>
              <a:rPr lang="vi-VN" dirty="0" err="1"/>
              <a:t>Debugging</a:t>
            </a:r>
            <a:r>
              <a:rPr lang="vi-VN" dirty="0"/>
              <a:t>: </a:t>
            </a:r>
            <a:r>
              <a:rPr lang="en-US" dirty="0"/>
              <a:t>Asynchronous stack traces can be harder to follow compared to synchronous code.</a:t>
            </a:r>
            <a:endParaRPr lang="vi-VN" dirty="0"/>
          </a:p>
          <a:p>
            <a:r>
              <a:rPr lang="en-US" dirty="0"/>
              <a:t>Error </a:t>
            </a:r>
            <a:r>
              <a:rPr lang="vi-VN" dirty="0" err="1"/>
              <a:t>Handling</a:t>
            </a:r>
            <a:r>
              <a:rPr lang="vi-VN" dirty="0"/>
              <a:t>: </a:t>
            </a:r>
            <a:r>
              <a:rPr lang="en-US" dirty="0"/>
              <a:t>Requires careful handling of exceptions across asynchronous boundaries.</a:t>
            </a:r>
            <a:endParaRPr lang="vi-VN" dirty="0"/>
          </a:p>
          <a:p>
            <a:r>
              <a:rPr lang="en-US" dirty="0"/>
              <a:t>Com</a:t>
            </a:r>
            <a:r>
              <a:rPr lang="vi-VN" dirty="0" err="1"/>
              <a:t>patibility</a:t>
            </a:r>
            <a:r>
              <a:rPr lang="vi-VN" dirty="0"/>
              <a:t>: </a:t>
            </a:r>
            <a:r>
              <a:rPr lang="en-US" dirty="0"/>
              <a:t>Not all libraries or frameworks are designed to work in an asynchronous context.</a:t>
            </a:r>
          </a:p>
        </p:txBody>
      </p:sp>
    </p:spTree>
    <p:extLst>
      <p:ext uri="{BB962C8B-B14F-4D97-AF65-F5344CB8AC3E}">
        <p14:creationId xmlns:p14="http://schemas.microsoft.com/office/powerpoint/2010/main" val="11658464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A89D9-B03D-09BD-5A01-C1DF53DCD8FA}"/>
              </a:ext>
            </a:extLst>
          </p:cNvPr>
          <p:cNvSpPr>
            <a:spLocks noGrp="1"/>
          </p:cNvSpPr>
          <p:nvPr>
            <p:ph type="title"/>
          </p:nvPr>
        </p:nvSpPr>
        <p:spPr/>
        <p:txBody>
          <a:bodyPr/>
          <a:lstStyle/>
          <a:p>
            <a:r>
              <a:rPr lang="en-US" dirty="0"/>
              <a:t>Event Loops</a:t>
            </a:r>
          </a:p>
        </p:txBody>
      </p:sp>
      <p:sp>
        <p:nvSpPr>
          <p:cNvPr id="3" name="Content Placeholder 2">
            <a:extLst>
              <a:ext uri="{FF2B5EF4-FFF2-40B4-BE49-F238E27FC236}">
                <a16:creationId xmlns:a16="http://schemas.microsoft.com/office/drawing/2014/main" id="{C5CF0EBE-52B3-C7FA-AA36-D47299BAF748}"/>
              </a:ext>
            </a:extLst>
          </p:cNvPr>
          <p:cNvSpPr>
            <a:spLocks noGrp="1"/>
          </p:cNvSpPr>
          <p:nvPr>
            <p:ph idx="1"/>
          </p:nvPr>
        </p:nvSpPr>
        <p:spPr/>
        <p:txBody>
          <a:bodyPr/>
          <a:lstStyle/>
          <a:p>
            <a:r>
              <a:rPr lang="en-US" dirty="0"/>
              <a:t>An event loop is a programming construct that continuously monitors events and dispatches them to event handlers. </a:t>
            </a:r>
          </a:p>
          <a:p>
            <a:r>
              <a:rPr lang="en-US" dirty="0"/>
              <a:t>In the context of asynchronous programming, an event loop manages the execution of asynchronous tasks and ensures that they are executed concurrently</a:t>
            </a:r>
          </a:p>
        </p:txBody>
      </p:sp>
    </p:spTree>
    <p:extLst>
      <p:ext uri="{BB962C8B-B14F-4D97-AF65-F5344CB8AC3E}">
        <p14:creationId xmlns:p14="http://schemas.microsoft.com/office/powerpoint/2010/main" val="31909500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629C1B-FFE5-0D39-7A53-E1493512E31D}"/>
              </a:ext>
            </a:extLst>
          </p:cNvPr>
          <p:cNvSpPr>
            <a:spLocks noGrp="1"/>
          </p:cNvSpPr>
          <p:nvPr>
            <p:ph type="title"/>
          </p:nvPr>
        </p:nvSpPr>
        <p:spPr>
          <a:xfrm>
            <a:off x="572493" y="238539"/>
            <a:ext cx="11018520" cy="1434415"/>
          </a:xfrm>
        </p:spPr>
        <p:txBody>
          <a:bodyPr anchor="b">
            <a:normAutofit/>
          </a:bodyPr>
          <a:lstStyle/>
          <a:p>
            <a:r>
              <a:rPr lang="en-US" sz="5400"/>
              <a:t>Example</a:t>
            </a:r>
          </a:p>
        </p:txBody>
      </p:sp>
      <p:sp>
        <p:nvSpPr>
          <p:cNvPr id="1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F4705B-489B-C7F0-E374-4B173A71FBD8}"/>
              </a:ext>
            </a:extLst>
          </p:cNvPr>
          <p:cNvSpPr>
            <a:spLocks noGrp="1"/>
          </p:cNvSpPr>
          <p:nvPr>
            <p:ph idx="1"/>
          </p:nvPr>
        </p:nvSpPr>
        <p:spPr>
          <a:xfrm>
            <a:off x="572493" y="2071316"/>
            <a:ext cx="6713552" cy="4119172"/>
          </a:xfrm>
        </p:spPr>
        <p:txBody>
          <a:bodyPr anchor="t">
            <a:normAutofit/>
          </a:bodyPr>
          <a:lstStyle/>
          <a:p>
            <a:r>
              <a:rPr lang="en-US" sz="2000"/>
              <a:t>In this example, the asyncio.run() function creates and runs an event loop, executing the main() coroutine.</a:t>
            </a:r>
          </a:p>
          <a:p>
            <a:r>
              <a:rPr lang="en-US" sz="2000"/>
              <a:t>The event loop manages the execution of asynchronous tasks, such as asyncio.sleep(), and ensures that they are executed in the correct order.</a:t>
            </a:r>
          </a:p>
          <a:p>
            <a:r>
              <a:rPr lang="en-US" sz="2000"/>
              <a:t>Event loops are particularly useful in I/O-bound applications, where tasks spend a significant amount of time waiting for I/O operations to complete. </a:t>
            </a:r>
          </a:p>
          <a:p>
            <a:r>
              <a:rPr lang="en-US" sz="2000"/>
              <a:t>By using event loops, programs can handle multiple concurrent tasks efficiently and improve the overall performance.  </a:t>
            </a:r>
          </a:p>
        </p:txBody>
      </p:sp>
      <p:pic>
        <p:nvPicPr>
          <p:cNvPr id="7" name="Picture 6">
            <a:extLst>
              <a:ext uri="{FF2B5EF4-FFF2-40B4-BE49-F238E27FC236}">
                <a16:creationId xmlns:a16="http://schemas.microsoft.com/office/drawing/2014/main" id="{6D89505C-6489-B919-BA28-38C420223875}"/>
              </a:ext>
            </a:extLst>
          </p:cNvPr>
          <p:cNvPicPr>
            <a:picLocks noChangeAspect="1"/>
          </p:cNvPicPr>
          <p:nvPr/>
        </p:nvPicPr>
        <p:blipFill>
          <a:blip r:embed="rId2"/>
          <a:srcRect r="25920"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3525280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39E23-A94B-B545-05F3-28BFAEE0B0BE}"/>
              </a:ext>
            </a:extLst>
          </p:cNvPr>
          <p:cNvSpPr>
            <a:spLocks noGrp="1"/>
          </p:cNvSpPr>
          <p:nvPr>
            <p:ph type="title"/>
          </p:nvPr>
        </p:nvSpPr>
        <p:spPr/>
        <p:txBody>
          <a:bodyPr/>
          <a:lstStyle/>
          <a:p>
            <a:r>
              <a:rPr lang="en-US" dirty="0"/>
              <a:t>Tasks</a:t>
            </a:r>
          </a:p>
        </p:txBody>
      </p:sp>
      <p:sp>
        <p:nvSpPr>
          <p:cNvPr id="3" name="Content Placeholder 2">
            <a:extLst>
              <a:ext uri="{FF2B5EF4-FFF2-40B4-BE49-F238E27FC236}">
                <a16:creationId xmlns:a16="http://schemas.microsoft.com/office/drawing/2014/main" id="{8FC542F3-BEDD-30B8-E25D-240C1DF7EF2E}"/>
              </a:ext>
            </a:extLst>
          </p:cNvPr>
          <p:cNvSpPr>
            <a:spLocks noGrp="1"/>
          </p:cNvSpPr>
          <p:nvPr>
            <p:ph idx="1"/>
          </p:nvPr>
        </p:nvSpPr>
        <p:spPr/>
        <p:txBody>
          <a:bodyPr/>
          <a:lstStyle/>
          <a:p>
            <a:r>
              <a:rPr lang="en-US" dirty="0"/>
              <a:t>A task is a high-level abstraction in </a:t>
            </a:r>
            <a:r>
              <a:rPr lang="en-US" dirty="0" err="1"/>
              <a:t>asyncio</a:t>
            </a:r>
            <a:r>
              <a:rPr lang="en-US" dirty="0"/>
              <a:t> that represents an individual unit of work or an asynchronous operation. Tasks are created from coroutines and can be scheduled to run on the event loop concurrently. </a:t>
            </a:r>
          </a:p>
          <a:p>
            <a:pPr marL="0" indent="0">
              <a:buNone/>
            </a:pPr>
            <a:endParaRPr lang="en-US" dirty="0"/>
          </a:p>
        </p:txBody>
      </p:sp>
    </p:spTree>
    <p:extLst>
      <p:ext uri="{BB962C8B-B14F-4D97-AF65-F5344CB8AC3E}">
        <p14:creationId xmlns:p14="http://schemas.microsoft.com/office/powerpoint/2010/main" val="14364887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101B80-E134-0095-9BFE-814EAA03204F}"/>
              </a:ext>
            </a:extLst>
          </p:cNvPr>
          <p:cNvSpPr>
            <a:spLocks noGrp="1"/>
          </p:cNvSpPr>
          <p:nvPr>
            <p:ph type="title"/>
          </p:nvPr>
        </p:nvSpPr>
        <p:spPr>
          <a:xfrm>
            <a:off x="645064" y="525982"/>
            <a:ext cx="4282983" cy="1200361"/>
          </a:xfrm>
        </p:spPr>
        <p:txBody>
          <a:bodyPr anchor="b">
            <a:normAutofit/>
          </a:bodyPr>
          <a:lstStyle/>
          <a:p>
            <a:r>
              <a:rPr lang="en-US" sz="3600"/>
              <a:t>Example</a:t>
            </a: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0BDF24D-9756-12D2-8CEA-2B578C4D3F16}"/>
              </a:ext>
            </a:extLst>
          </p:cNvPr>
          <p:cNvSpPr>
            <a:spLocks noGrp="1"/>
          </p:cNvSpPr>
          <p:nvPr>
            <p:ph idx="1"/>
          </p:nvPr>
        </p:nvSpPr>
        <p:spPr>
          <a:xfrm>
            <a:off x="645066" y="2031101"/>
            <a:ext cx="4282984" cy="3511943"/>
          </a:xfrm>
        </p:spPr>
        <p:txBody>
          <a:bodyPr anchor="ctr">
            <a:normAutofit/>
          </a:bodyPr>
          <a:lstStyle/>
          <a:p>
            <a:r>
              <a:rPr lang="en-US" sz="1800"/>
              <a:t>In this example, we define two coroutines (task1 and task2) that represents asynchronous tasks.</a:t>
            </a:r>
          </a:p>
          <a:p>
            <a:r>
              <a:rPr lang="en-US" sz="1800"/>
              <a:t>We then use the asyncio.gather() function to run these tasks concurrently on the event loop. This allows both tasks to execute asynchronously and their ouputs to be interleaved. </a:t>
            </a:r>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F0E8139-C09D-C756-3274-769B80C9CD43}"/>
              </a:ext>
            </a:extLst>
          </p:cNvPr>
          <p:cNvPicPr>
            <a:picLocks noChangeAspect="1"/>
          </p:cNvPicPr>
          <p:nvPr/>
        </p:nvPicPr>
        <p:blipFill>
          <a:blip r:embed="rId2"/>
          <a:stretch>
            <a:fillRect/>
          </a:stretch>
        </p:blipFill>
        <p:spPr>
          <a:xfrm>
            <a:off x="5987738" y="751817"/>
            <a:ext cx="5628018" cy="5121495"/>
          </a:xfrm>
          <a:prstGeom prst="rect">
            <a:avLst/>
          </a:prstGeom>
        </p:spPr>
      </p:pic>
    </p:spTree>
    <p:extLst>
      <p:ext uri="{BB962C8B-B14F-4D97-AF65-F5344CB8AC3E}">
        <p14:creationId xmlns:p14="http://schemas.microsoft.com/office/powerpoint/2010/main" val="4348780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2D2FB-2D43-EED9-B2B7-D8142FE76D0C}"/>
              </a:ext>
            </a:extLst>
          </p:cNvPr>
          <p:cNvSpPr>
            <a:spLocks noGrp="1"/>
          </p:cNvSpPr>
          <p:nvPr>
            <p:ph type="title"/>
          </p:nvPr>
        </p:nvSpPr>
        <p:spPr/>
        <p:txBody>
          <a:bodyPr/>
          <a:lstStyle/>
          <a:p>
            <a:r>
              <a:rPr lang="en-US" dirty="0"/>
              <a:t>Async/Await keywords</a:t>
            </a:r>
          </a:p>
        </p:txBody>
      </p:sp>
      <p:sp>
        <p:nvSpPr>
          <p:cNvPr id="3" name="Content Placeholder 2">
            <a:extLst>
              <a:ext uri="{FF2B5EF4-FFF2-40B4-BE49-F238E27FC236}">
                <a16:creationId xmlns:a16="http://schemas.microsoft.com/office/drawing/2014/main" id="{2BE53FA5-7410-7A4B-16BD-53D3806345AF}"/>
              </a:ext>
            </a:extLst>
          </p:cNvPr>
          <p:cNvSpPr>
            <a:spLocks noGrp="1"/>
          </p:cNvSpPr>
          <p:nvPr>
            <p:ph idx="1"/>
          </p:nvPr>
        </p:nvSpPr>
        <p:spPr/>
        <p:txBody>
          <a:bodyPr/>
          <a:lstStyle/>
          <a:p>
            <a:r>
              <a:rPr lang="en-US" dirty="0"/>
              <a:t>Async/Await keywords are used in Python to define coroutines and manage asynchronous operations and enable non-blocking execution of code</a:t>
            </a:r>
          </a:p>
          <a:p>
            <a:pPr lvl="1"/>
            <a:r>
              <a:rPr lang="en-US" b="1" dirty="0"/>
              <a:t>Async: </a:t>
            </a:r>
            <a:r>
              <a:rPr lang="en-US" dirty="0"/>
              <a:t>The async keyword is used to define a coroutine function. It marks the function as asynchronous, allowing to use the await keyword and be scheduled for the execution on the event loop</a:t>
            </a:r>
          </a:p>
          <a:p>
            <a:pPr lvl="1"/>
            <a:r>
              <a:rPr lang="en-US" b="1" dirty="0"/>
              <a:t>Await: </a:t>
            </a:r>
            <a:r>
              <a:rPr lang="en-US" dirty="0"/>
              <a:t>The await keyword is used to pause the execution of a coroutine until an asynchronous operation completes. It allows the coroutine to wait for the result of the operation without blocking the event loop.</a:t>
            </a:r>
          </a:p>
          <a:p>
            <a:r>
              <a:rPr lang="en-US" b="1" dirty="0"/>
              <a:t>Async/Await </a:t>
            </a:r>
            <a:r>
              <a:rPr lang="en-US" dirty="0"/>
              <a:t>syntax allows for chaining asynchronous calls, making it easy to compose complex asynchronous operations </a:t>
            </a:r>
            <a:endParaRPr lang="en-US" b="1" dirty="0"/>
          </a:p>
        </p:txBody>
      </p:sp>
    </p:spTree>
    <p:extLst>
      <p:ext uri="{BB962C8B-B14F-4D97-AF65-F5344CB8AC3E}">
        <p14:creationId xmlns:p14="http://schemas.microsoft.com/office/powerpoint/2010/main" val="4517435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5513B4-EF55-8691-2C21-0F8F40AE7F74}"/>
              </a:ext>
            </a:extLst>
          </p:cNvPr>
          <p:cNvSpPr>
            <a:spLocks noGrp="1"/>
          </p:cNvSpPr>
          <p:nvPr>
            <p:ph type="title"/>
          </p:nvPr>
        </p:nvSpPr>
        <p:spPr>
          <a:xfrm>
            <a:off x="793662" y="386930"/>
            <a:ext cx="10066122" cy="1298448"/>
          </a:xfrm>
        </p:spPr>
        <p:txBody>
          <a:bodyPr anchor="b">
            <a:normAutofit/>
          </a:bodyPr>
          <a:lstStyle/>
          <a:p>
            <a:r>
              <a:rPr lang="en-US" sz="4800"/>
              <a:t>Example</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ABCBFC1-1F28-146E-DDAA-0E9A2A59ABBE}"/>
              </a:ext>
            </a:extLst>
          </p:cNvPr>
          <p:cNvSpPr>
            <a:spLocks noGrp="1"/>
          </p:cNvSpPr>
          <p:nvPr>
            <p:ph idx="1"/>
          </p:nvPr>
        </p:nvSpPr>
        <p:spPr>
          <a:xfrm>
            <a:off x="793661" y="2599509"/>
            <a:ext cx="4530898" cy="3639450"/>
          </a:xfrm>
        </p:spPr>
        <p:txBody>
          <a:bodyPr anchor="ctr">
            <a:normAutofit/>
          </a:bodyPr>
          <a:lstStyle/>
          <a:p>
            <a:r>
              <a:rPr lang="en-US" sz="2000"/>
              <a:t>In this example, the main coroutine calls get_data() to retrieve data asynchronously, then calls process_data() to process the data asynchronously. </a:t>
            </a:r>
          </a:p>
          <a:p>
            <a:r>
              <a:rPr lang="en-US" sz="2000"/>
              <a:t>The await keyword is used to wait for each operation to complete before proceeding to the next. </a:t>
            </a:r>
          </a:p>
        </p:txBody>
      </p:sp>
      <p:pic>
        <p:nvPicPr>
          <p:cNvPr id="5" name="Picture 4">
            <a:extLst>
              <a:ext uri="{FF2B5EF4-FFF2-40B4-BE49-F238E27FC236}">
                <a16:creationId xmlns:a16="http://schemas.microsoft.com/office/drawing/2014/main" id="{F1CBC8D1-6B56-84F1-3C9C-10E405CC4E4B}"/>
              </a:ext>
            </a:extLst>
          </p:cNvPr>
          <p:cNvPicPr>
            <a:picLocks noChangeAspect="1"/>
          </p:cNvPicPr>
          <p:nvPr/>
        </p:nvPicPr>
        <p:blipFill>
          <a:blip r:embed="rId2"/>
          <a:stretch>
            <a:fillRect/>
          </a:stretch>
        </p:blipFill>
        <p:spPr>
          <a:xfrm>
            <a:off x="5951350" y="2484255"/>
            <a:ext cx="5070641"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31122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FF7CB-45CB-DD82-D31E-418510B868C8}"/>
              </a:ext>
            </a:extLst>
          </p:cNvPr>
          <p:cNvSpPr>
            <a:spLocks noGrp="1"/>
          </p:cNvSpPr>
          <p:nvPr>
            <p:ph type="title"/>
          </p:nvPr>
        </p:nvSpPr>
        <p:spPr/>
        <p:txBody>
          <a:bodyPr/>
          <a:lstStyle/>
          <a:p>
            <a:r>
              <a:rPr lang="en-US" dirty="0"/>
              <a:t>Writing Asynchronous Functions with async/await</a:t>
            </a:r>
          </a:p>
        </p:txBody>
      </p:sp>
      <p:sp>
        <p:nvSpPr>
          <p:cNvPr id="3" name="Content Placeholder 2">
            <a:extLst>
              <a:ext uri="{FF2B5EF4-FFF2-40B4-BE49-F238E27FC236}">
                <a16:creationId xmlns:a16="http://schemas.microsoft.com/office/drawing/2014/main" id="{81D0B2FA-6989-8F5B-3BB1-1AD271DCB5A8}"/>
              </a:ext>
            </a:extLst>
          </p:cNvPr>
          <p:cNvSpPr>
            <a:spLocks noGrp="1"/>
          </p:cNvSpPr>
          <p:nvPr>
            <p:ph idx="1"/>
          </p:nvPr>
        </p:nvSpPr>
        <p:spPr/>
        <p:txBody>
          <a:bodyPr/>
          <a:lstStyle/>
          <a:p>
            <a:pPr marL="514350" indent="-514350">
              <a:buFont typeface="+mj-lt"/>
              <a:buAutoNum type="arabicPeriod"/>
            </a:pPr>
            <a:r>
              <a:rPr lang="en-US" dirty="0"/>
              <a:t>Defining Asynchronous Functions</a:t>
            </a:r>
          </a:p>
          <a:p>
            <a:pPr marL="514350" indent="-514350">
              <a:buFont typeface="+mj-lt"/>
              <a:buAutoNum type="arabicPeriod"/>
            </a:pPr>
            <a:r>
              <a:rPr lang="en-US" dirty="0"/>
              <a:t>Using Asynchronous Functions</a:t>
            </a:r>
          </a:p>
          <a:p>
            <a:pPr marL="514350" indent="-514350">
              <a:buFont typeface="+mj-lt"/>
              <a:buAutoNum type="arabicPeriod"/>
            </a:pPr>
            <a:r>
              <a:rPr lang="en-US" dirty="0"/>
              <a:t>Error Handling in Asynchronous functions</a:t>
            </a:r>
          </a:p>
        </p:txBody>
      </p:sp>
    </p:spTree>
    <p:extLst>
      <p:ext uri="{BB962C8B-B14F-4D97-AF65-F5344CB8AC3E}">
        <p14:creationId xmlns:p14="http://schemas.microsoft.com/office/powerpoint/2010/main" val="28766786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D9BE03-FFC4-460A-0BD6-5DBF7F980AF5}"/>
              </a:ext>
            </a:extLst>
          </p:cNvPr>
          <p:cNvSpPr>
            <a:spLocks noGrp="1"/>
          </p:cNvSpPr>
          <p:nvPr>
            <p:ph type="title"/>
          </p:nvPr>
        </p:nvSpPr>
        <p:spPr>
          <a:xfrm>
            <a:off x="793662" y="386930"/>
            <a:ext cx="10066122" cy="1298448"/>
          </a:xfrm>
        </p:spPr>
        <p:txBody>
          <a:bodyPr anchor="b">
            <a:normAutofit/>
          </a:bodyPr>
          <a:lstStyle/>
          <a:p>
            <a:r>
              <a:rPr lang="en-US" sz="4800"/>
              <a:t>Defining Asynchronous Functions</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A8FD2BE-845D-BB74-4BCE-8D3C536E1698}"/>
              </a:ext>
            </a:extLst>
          </p:cNvPr>
          <p:cNvSpPr>
            <a:spLocks noGrp="1"/>
          </p:cNvSpPr>
          <p:nvPr>
            <p:ph idx="1"/>
          </p:nvPr>
        </p:nvSpPr>
        <p:spPr>
          <a:xfrm>
            <a:off x="793661" y="2599509"/>
            <a:ext cx="4530898" cy="3639450"/>
          </a:xfrm>
        </p:spPr>
        <p:txBody>
          <a:bodyPr anchor="ctr">
            <a:normAutofit lnSpcReduction="10000"/>
          </a:bodyPr>
          <a:lstStyle/>
          <a:p>
            <a:r>
              <a:rPr lang="en-US" sz="2000" dirty="0"/>
              <a:t>In Python, asynchronous functions are defined using the async keyword, which marks the function as a coroutine. Coroutines can be suspended and resumed, allowing for non-blocking execution of code</a:t>
            </a:r>
          </a:p>
          <a:p>
            <a:r>
              <a:rPr lang="en-US" sz="2000" dirty="0"/>
              <a:t>In this example, </a:t>
            </a:r>
            <a:r>
              <a:rPr lang="en-US" sz="2000" dirty="0" err="1"/>
              <a:t>async_function</a:t>
            </a:r>
            <a:r>
              <a:rPr lang="en-US" sz="2000" dirty="0"/>
              <a:t> is defined as an asynchronous function using the </a:t>
            </a:r>
            <a:r>
              <a:rPr lang="en-US" sz="2000" dirty="0" err="1"/>
              <a:t>asyn</a:t>
            </a:r>
            <a:r>
              <a:rPr lang="en-US" sz="2000" dirty="0"/>
              <a:t> keyword. Inside the function, the await keyword is used to pause execution for one second using </a:t>
            </a:r>
            <a:r>
              <a:rPr lang="en-US" sz="2000" dirty="0" err="1"/>
              <a:t>asyncio.sleep</a:t>
            </a:r>
            <a:r>
              <a:rPr lang="en-US" sz="2000" dirty="0"/>
              <a:t>() before completing the function</a:t>
            </a:r>
          </a:p>
        </p:txBody>
      </p:sp>
      <p:pic>
        <p:nvPicPr>
          <p:cNvPr id="5" name="Picture 4">
            <a:extLst>
              <a:ext uri="{FF2B5EF4-FFF2-40B4-BE49-F238E27FC236}">
                <a16:creationId xmlns:a16="http://schemas.microsoft.com/office/drawing/2014/main" id="{018C35B8-17A6-7790-153E-B3B9A05F7012}"/>
              </a:ext>
            </a:extLst>
          </p:cNvPr>
          <p:cNvPicPr>
            <a:picLocks noChangeAspect="1"/>
          </p:cNvPicPr>
          <p:nvPr/>
        </p:nvPicPr>
        <p:blipFill>
          <a:blip r:embed="rId2"/>
          <a:stretch>
            <a:fillRect/>
          </a:stretch>
        </p:blipFill>
        <p:spPr>
          <a:xfrm>
            <a:off x="5911532" y="3085997"/>
            <a:ext cx="5150277" cy="2510760"/>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70623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6714C6-AA12-EBA9-9396-FFC96536535B}"/>
              </a:ext>
            </a:extLst>
          </p:cNvPr>
          <p:cNvSpPr>
            <a:spLocks noGrp="1"/>
          </p:cNvSpPr>
          <p:nvPr>
            <p:ph type="title"/>
          </p:nvPr>
        </p:nvSpPr>
        <p:spPr>
          <a:xfrm>
            <a:off x="793662" y="386930"/>
            <a:ext cx="10066122" cy="1298448"/>
          </a:xfrm>
        </p:spPr>
        <p:txBody>
          <a:bodyPr anchor="b">
            <a:normAutofit/>
          </a:bodyPr>
          <a:lstStyle/>
          <a:p>
            <a:r>
              <a:rPr lang="en-US" sz="4800"/>
              <a:t>Using asynchronous functions</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BD9FEC1-04EA-631C-C30B-78C6820B95F2}"/>
              </a:ext>
            </a:extLst>
          </p:cNvPr>
          <p:cNvSpPr>
            <a:spLocks noGrp="1"/>
          </p:cNvSpPr>
          <p:nvPr>
            <p:ph idx="1"/>
          </p:nvPr>
        </p:nvSpPr>
        <p:spPr>
          <a:xfrm>
            <a:off x="793661" y="2599509"/>
            <a:ext cx="4530898" cy="3639450"/>
          </a:xfrm>
        </p:spPr>
        <p:txBody>
          <a:bodyPr anchor="ctr">
            <a:normAutofit/>
          </a:bodyPr>
          <a:lstStyle/>
          <a:p>
            <a:r>
              <a:rPr lang="en-US" sz="2000" dirty="0"/>
              <a:t>Asynchronous functions can be used in various scenarios where non-blocking execution is desired, such as I/O-bound operations or network requests. </a:t>
            </a:r>
          </a:p>
          <a:p>
            <a:r>
              <a:rPr lang="en-US" sz="2000" dirty="0"/>
              <a:t>In this example, the </a:t>
            </a:r>
            <a:r>
              <a:rPr lang="en-US" sz="2000" dirty="0" err="1"/>
              <a:t>fetch_data</a:t>
            </a:r>
            <a:r>
              <a:rPr lang="en-US" sz="2000" dirty="0"/>
              <a:t> function fetches data from a URL asynchronously using </a:t>
            </a:r>
            <a:r>
              <a:rPr lang="en-US" sz="2000" dirty="0" err="1"/>
              <a:t>asyncio.sleep</a:t>
            </a:r>
            <a:r>
              <a:rPr lang="en-US" sz="2000" dirty="0"/>
              <a:t>() to simulate network latency. The main coroutine calls </a:t>
            </a:r>
            <a:r>
              <a:rPr lang="en-US" sz="2000" dirty="0" err="1"/>
              <a:t>fetch_data</a:t>
            </a:r>
            <a:r>
              <a:rPr lang="en-US" sz="2000" dirty="0"/>
              <a:t> and awaits the result before printing the received data</a:t>
            </a:r>
          </a:p>
        </p:txBody>
      </p:sp>
      <p:pic>
        <p:nvPicPr>
          <p:cNvPr id="5" name="Picture 4">
            <a:extLst>
              <a:ext uri="{FF2B5EF4-FFF2-40B4-BE49-F238E27FC236}">
                <a16:creationId xmlns:a16="http://schemas.microsoft.com/office/drawing/2014/main" id="{5911A504-5C8F-2408-77F3-8CD07B7406B9}"/>
              </a:ext>
            </a:extLst>
          </p:cNvPr>
          <p:cNvPicPr>
            <a:picLocks noChangeAspect="1"/>
          </p:cNvPicPr>
          <p:nvPr/>
        </p:nvPicPr>
        <p:blipFill>
          <a:blip r:embed="rId2"/>
          <a:stretch>
            <a:fillRect/>
          </a:stretch>
        </p:blipFill>
        <p:spPr>
          <a:xfrm>
            <a:off x="5911532" y="2719040"/>
            <a:ext cx="5150277" cy="3244673"/>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56671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97AF3F-B9B4-C5D6-99DB-20E546A170EB}"/>
              </a:ext>
            </a:extLst>
          </p:cNvPr>
          <p:cNvSpPr>
            <a:spLocks noGrp="1"/>
          </p:cNvSpPr>
          <p:nvPr>
            <p:ph type="title"/>
          </p:nvPr>
        </p:nvSpPr>
        <p:spPr>
          <a:xfrm>
            <a:off x="793662" y="386930"/>
            <a:ext cx="10066122" cy="1298448"/>
          </a:xfrm>
        </p:spPr>
        <p:txBody>
          <a:bodyPr anchor="b">
            <a:normAutofit/>
          </a:bodyPr>
          <a:lstStyle/>
          <a:p>
            <a:r>
              <a:rPr lang="en-US" dirty="0"/>
              <a:t>Error Handling in Asynchronous Functions</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DE1803-394C-0018-7C8F-688CD5C886F2}"/>
              </a:ext>
            </a:extLst>
          </p:cNvPr>
          <p:cNvSpPr>
            <a:spLocks noGrp="1"/>
          </p:cNvSpPr>
          <p:nvPr>
            <p:ph idx="1"/>
          </p:nvPr>
        </p:nvSpPr>
        <p:spPr>
          <a:xfrm>
            <a:off x="793661" y="2599509"/>
            <a:ext cx="4530898" cy="3639450"/>
          </a:xfrm>
        </p:spPr>
        <p:txBody>
          <a:bodyPr anchor="ctr">
            <a:normAutofit/>
          </a:bodyPr>
          <a:lstStyle/>
          <a:p>
            <a:r>
              <a:rPr lang="en-US" sz="2000"/>
              <a:t>Error handling in asynchronous functions is straightforward and can be done using try and except blocks as in synchronous code. </a:t>
            </a:r>
          </a:p>
        </p:txBody>
      </p:sp>
      <p:pic>
        <p:nvPicPr>
          <p:cNvPr id="5" name="Picture 4">
            <a:extLst>
              <a:ext uri="{FF2B5EF4-FFF2-40B4-BE49-F238E27FC236}">
                <a16:creationId xmlns:a16="http://schemas.microsoft.com/office/drawing/2014/main" id="{C577B375-513A-A55E-61F7-498D9156395B}"/>
              </a:ext>
            </a:extLst>
          </p:cNvPr>
          <p:cNvPicPr>
            <a:picLocks noChangeAspect="1"/>
          </p:cNvPicPr>
          <p:nvPr/>
        </p:nvPicPr>
        <p:blipFill>
          <a:blip r:embed="rId2"/>
          <a:stretch>
            <a:fillRect/>
          </a:stretch>
        </p:blipFill>
        <p:spPr>
          <a:xfrm>
            <a:off x="5911532" y="2706164"/>
            <a:ext cx="5150277" cy="3270426"/>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59601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1264</TotalTime>
  <Words>3718</Words>
  <Application>Microsoft Office PowerPoint</Application>
  <PresentationFormat>Widescreen</PresentationFormat>
  <Paragraphs>226</Paragraphs>
  <Slides>64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-apple-system</vt:lpstr>
      <vt:lpstr>Aptos</vt:lpstr>
      <vt:lpstr>Aptos Display</vt:lpstr>
      <vt:lpstr>Arial</vt:lpstr>
      <vt:lpstr>Source Sans Pro</vt:lpstr>
      <vt:lpstr>Office Theme</vt:lpstr>
      <vt:lpstr>Advanced Socket Programming</vt:lpstr>
      <vt:lpstr>Blocking I/O</vt:lpstr>
      <vt:lpstr>How Blocking I/O Works</vt:lpstr>
      <vt:lpstr>Example: Blocking I/O Socket Server </vt:lpstr>
      <vt:lpstr>Example: Blocking I/O Socket Client</vt:lpstr>
      <vt:lpstr>Characteristics of Blocking I/O</vt:lpstr>
      <vt:lpstr>Characteristics of Blocking I/O</vt:lpstr>
      <vt:lpstr>Advantages of Blocking I/O</vt:lpstr>
      <vt:lpstr>Disadvantages of Blocking I/O</vt:lpstr>
      <vt:lpstr>Disadvantages of Blocking I/O</vt:lpstr>
      <vt:lpstr>When to Use Blocking I/O</vt:lpstr>
      <vt:lpstr>How to Handle Multiple Clients with Blocking I/O</vt:lpstr>
      <vt:lpstr>Nonblocking I/O</vt:lpstr>
      <vt:lpstr>How Non-Blocking I/O Works</vt:lpstr>
      <vt:lpstr>How Non-Blocking I/O Works</vt:lpstr>
      <vt:lpstr>Benefits of Non-Blocking I/O</vt:lpstr>
      <vt:lpstr>Key Concepts in Non-Blocking I/O</vt:lpstr>
      <vt:lpstr>Key Concepts in Non-Blocking I/O</vt:lpstr>
      <vt:lpstr>Example: Non-Blocking Socket in Python</vt:lpstr>
      <vt:lpstr>Advanced socket concepts</vt:lpstr>
      <vt:lpstr>PowerPoint Presentation</vt:lpstr>
      <vt:lpstr>Parallelism </vt:lpstr>
      <vt:lpstr>Multiprocessing</vt:lpstr>
      <vt:lpstr>Key Features</vt:lpstr>
      <vt:lpstr>Advantages</vt:lpstr>
      <vt:lpstr>Disadvantages</vt:lpstr>
      <vt:lpstr>Example: Multiprocessing Server</vt:lpstr>
      <vt:lpstr>Multiprocessing Client</vt:lpstr>
      <vt:lpstr>Concurrency</vt:lpstr>
      <vt:lpstr>Threads</vt:lpstr>
      <vt:lpstr>Socket Programming with Multi-threading </vt:lpstr>
      <vt:lpstr>Threads and Sockets in Python</vt:lpstr>
      <vt:lpstr>Multithreading</vt:lpstr>
      <vt:lpstr>Python threading library</vt:lpstr>
      <vt:lpstr>PowerPoint Presentation</vt:lpstr>
      <vt:lpstr>Key Features</vt:lpstr>
      <vt:lpstr>Advantages</vt:lpstr>
      <vt:lpstr>Disadvantages</vt:lpstr>
      <vt:lpstr>Asynchronous</vt:lpstr>
      <vt:lpstr>Asynchronous I/O</vt:lpstr>
      <vt:lpstr>Async IO Explained</vt:lpstr>
      <vt:lpstr>Synchronous version</vt:lpstr>
      <vt:lpstr>Asynchronous version</vt:lpstr>
      <vt:lpstr>Recap</vt:lpstr>
      <vt:lpstr>Asynchronous I/O is a style of concurrent programming</vt:lpstr>
      <vt:lpstr>Asynchronous programming</vt:lpstr>
      <vt:lpstr>Key Concepts in Asynchronous Programming</vt:lpstr>
      <vt:lpstr>Key Concepts in Asynchronous Programming</vt:lpstr>
      <vt:lpstr>Example: Asynchronous Programming in Python with asyncio</vt:lpstr>
      <vt:lpstr>Non-Blocking I/O with Asyncio</vt:lpstr>
      <vt:lpstr>Key Features of asyncio in Socket Programming</vt:lpstr>
      <vt:lpstr>Key Features of asyncio in Socket Programming</vt:lpstr>
      <vt:lpstr>How asyncio Works in Socket Programming</vt:lpstr>
      <vt:lpstr>Challenges of Asynchronous Programming</vt:lpstr>
      <vt:lpstr>Event Loops</vt:lpstr>
      <vt:lpstr>Example</vt:lpstr>
      <vt:lpstr>Tasks</vt:lpstr>
      <vt:lpstr>Example</vt:lpstr>
      <vt:lpstr>Async/Await keywords</vt:lpstr>
      <vt:lpstr>Example</vt:lpstr>
      <vt:lpstr>Writing Asynchronous Functions with async/await</vt:lpstr>
      <vt:lpstr>Defining Asynchronous Functions</vt:lpstr>
      <vt:lpstr>Using asynchronous functions</vt:lpstr>
      <vt:lpstr>Error Handling in Asynchronous Functions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Ly Vu</dc:creator>
  <cp:lastModifiedBy>Ly Vu</cp:lastModifiedBy>
  <cp:revision>13</cp:revision>
  <dcterms:created xsi:type="dcterms:W3CDTF">2025-01-07T02:28:44Z</dcterms:created>
  <dcterms:modified xsi:type="dcterms:W3CDTF">2026-01-26T07:19:08Z</dcterms:modified>
</cp:coreProperties>
</file>