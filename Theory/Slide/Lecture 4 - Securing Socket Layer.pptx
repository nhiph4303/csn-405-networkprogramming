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12192000"/>
  <p:notesSz cx="6858000" cy="9144000"/>
  <p:embeddedFontLst>
    <p:embeddedFont>
      <p:font typeface="Arimo"/>
      <p:regular r:id="rId54"/>
      <p:bold r:id="rId55"/>
      <p:italic r:id="rId56"/>
      <p:boldItalic r:id="rId57"/>
    </p:embeddedFont>
    <p:embeddedFont>
      <p:font typeface="Gill Sans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A4A3A4"/>
          </p15:clr>
        </p15:guide>
        <p15:guide id="2" orient="horz" pos="1224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j+Q4XoZTZgzzCib6s8YkD4WQpi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12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Arimo-bold.fntdata"/><Relationship Id="rId10" Type="http://schemas.openxmlformats.org/officeDocument/2006/relationships/slide" Target="slides/slide5.xml"/><Relationship Id="rId54" Type="http://schemas.openxmlformats.org/officeDocument/2006/relationships/font" Target="fonts/Arimo-regular.fntdata"/><Relationship Id="rId13" Type="http://schemas.openxmlformats.org/officeDocument/2006/relationships/slide" Target="slides/slide8.xml"/><Relationship Id="rId57" Type="http://schemas.openxmlformats.org/officeDocument/2006/relationships/font" Target="fonts/Arimo-boldItalic.fntdata"/><Relationship Id="rId12" Type="http://schemas.openxmlformats.org/officeDocument/2006/relationships/slide" Target="slides/slide7.xml"/><Relationship Id="rId56" Type="http://schemas.openxmlformats.org/officeDocument/2006/relationships/font" Target="fonts/Arimo-italic.fntdata"/><Relationship Id="rId15" Type="http://schemas.openxmlformats.org/officeDocument/2006/relationships/slide" Target="slides/slide10.xml"/><Relationship Id="rId59" Type="http://schemas.openxmlformats.org/officeDocument/2006/relationships/font" Target="fonts/GillSans-bold.fntdata"/><Relationship Id="rId14" Type="http://schemas.openxmlformats.org/officeDocument/2006/relationships/slide" Target="slides/slide9.xml"/><Relationship Id="rId58" Type="http://schemas.openxmlformats.org/officeDocument/2006/relationships/font" Target="fonts/Gill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5" name="Google Shape;117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3" name="Google Shape;129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0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/>
              <a:t>Secure Network Programming</a:t>
            </a:r>
            <a:endParaRPr/>
          </a:p>
        </p:txBody>
      </p:sp>
      <p:sp>
        <p:nvSpPr>
          <p:cNvPr id="34" name="Google Shape;3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Security: overview</a:t>
            </a:r>
            <a:endParaRPr sz="4400"/>
          </a:p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867032" y="1295400"/>
            <a:ext cx="83216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Chapter goals: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principles of network security: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and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beyond “confidentiality”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practice: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firewalls and intrusion detection systems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application, transport, network, link layers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Security in Networks?</a:t>
            </a:r>
            <a:endParaRPr sz="4400"/>
          </a:p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sender, intended receiver should “understand” message contents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encrypts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decrypts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confirm identity of each other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ensure message not altered (in transit, or afterwards) without detection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and availability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must be accessible and available to users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4"/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58" name="Google Shape;58;p4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990600" y="1341783"/>
            <a:ext cx="8142288" cy="161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well-known in network security world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Bob, Alice (lovers!) want to communicate “securely”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(intruder) may intercept, delete, add messages</a:t>
            </a:r>
            <a:endParaRPr/>
          </a:p>
        </p:txBody>
      </p:sp>
      <p:pic>
        <p:nvPicPr>
          <p:cNvPr descr="Alice"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6" name="Google Shape;6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7" name="Google Shape;6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71" name="Google Shape;71;p4"/>
            <p:cNvSpPr/>
            <p:nvPr/>
          </p:nvSpPr>
          <p:spPr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 txBox="1"/>
            <p:nvPr/>
          </p:nvSpPr>
          <p:spPr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secure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/>
            </a:p>
          </p:txBody>
        </p:sp>
      </p:grpSp>
      <p:sp>
        <p:nvSpPr>
          <p:cNvPr id="73" name="Google Shape;73;p4"/>
          <p:cNvSpPr txBox="1"/>
          <p:nvPr/>
        </p:nvSpPr>
        <p:spPr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/>
          </a:p>
        </p:txBody>
      </p:sp>
      <p:cxnSp>
        <p:nvCxnSpPr>
          <p:cNvPr id="74" name="Google Shape;74;p4"/>
          <p:cNvCxnSpPr/>
          <p:nvPr/>
        </p:nvCxnSpPr>
        <p:spPr>
          <a:xfrm>
            <a:off x="4431334" y="3933825"/>
            <a:ext cx="238125" cy="449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4"/>
          <p:cNvCxnSpPr/>
          <p:nvPr/>
        </p:nvCxnSpPr>
        <p:spPr>
          <a:xfrm>
            <a:off x="4037634" y="4667250"/>
            <a:ext cx="24606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6" name="Google Shape;76;p4"/>
          <p:cNvSpPr txBox="1"/>
          <p:nvPr/>
        </p:nvSpPr>
        <p:spPr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control messages</a:t>
            </a:r>
            <a:endParaRPr/>
          </a:p>
        </p:txBody>
      </p:sp>
      <p:cxnSp>
        <p:nvCxnSpPr>
          <p:cNvPr id="77" name="Google Shape;77;p4"/>
          <p:cNvCxnSpPr/>
          <p:nvPr/>
        </p:nvCxnSpPr>
        <p:spPr>
          <a:xfrm>
            <a:off x="5709272" y="4086225"/>
            <a:ext cx="223837" cy="517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4"/>
          <p:cNvSpPr/>
          <p:nvPr/>
        </p:nvSpPr>
        <p:spPr>
          <a:xfrm>
            <a:off x="4517059" y="4765930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 flipH="1">
            <a:off x="5191747" y="4779090"/>
            <a:ext cx="573087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4"/>
          <p:cNvCxnSpPr/>
          <p:nvPr/>
        </p:nvCxnSpPr>
        <p:spPr>
          <a:xfrm>
            <a:off x="1824147" y="4644462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4"/>
          <p:cNvSpPr txBox="1"/>
          <p:nvPr/>
        </p:nvSpPr>
        <p:spPr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82" name="Google Shape;82;p4"/>
          <p:cNvCxnSpPr/>
          <p:nvPr/>
        </p:nvCxnSpPr>
        <p:spPr>
          <a:xfrm>
            <a:off x="7852447" y="4673293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4"/>
          <p:cNvSpPr txBox="1"/>
          <p:nvPr/>
        </p:nvSpPr>
        <p:spPr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Trudy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93" name="Google Shape;93;p5"/>
          <p:cNvSpPr txBox="1"/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might Bob and Alice be?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well,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Bobs and Alices!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browser/server for electronic transactions (e.g., on-line purchases)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banking client/server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servers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routers exchanging routing table updates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examples?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There are bad guys (and girls) out there!</a:t>
            </a:r>
            <a:endParaRPr sz="4400"/>
          </a:p>
        </p:txBody>
      </p:sp>
      <p:sp>
        <p:nvSpPr>
          <p:cNvPr id="100" name="Google Shape;100;p6"/>
          <p:cNvSpPr txBox="1"/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“bad guy” do?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lot! (recall section 1.6)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eavesdrop: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actively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messages into connection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impersonation: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fake (spoof) source address in packet (or any field in packet)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hijacking: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“take over” ongoing connection by removing sender or receiver, inserting himself in place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service from being used by others (e.g.,  by overloading resources)</a:t>
            </a:r>
            <a:endParaRPr/>
          </a:p>
          <a:p>
            <a:pPr indent="-730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language of cryptography</a:t>
            </a:r>
            <a:endParaRPr sz="4400"/>
          </a:p>
        </p:txBody>
      </p:sp>
      <p:sp>
        <p:nvSpPr>
          <p:cNvPr id="107" name="Google Shape;107;p7"/>
          <p:cNvSpPr txBox="1"/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ciphertext, encrypted with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 = 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(m))</a:t>
            </a:r>
            <a:endParaRPr baseline="-25000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585013" y="2641910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8469521" y="2644056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4834627" y="2648985"/>
            <a:ext cx="1455738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grpSp>
        <p:nvGrpSpPr>
          <p:cNvPr id="111" name="Google Shape;111;p7"/>
          <p:cNvGrpSpPr/>
          <p:nvPr/>
        </p:nvGrpSpPr>
        <p:grpSpPr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112" name="Google Shape;112;p7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pic>
        <p:nvPicPr>
          <p:cNvPr descr="Alice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933606" y="3156641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 flipH="1">
            <a:off x="5608294" y="3155054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3674719" y="1529453"/>
            <a:ext cx="1824038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7327556" y="1597716"/>
            <a:ext cx="1657350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pic>
        <p:nvPicPr>
          <p:cNvPr descr="Bob" id="124" name="Google Shape;1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7"/>
          <p:cNvGrpSpPr/>
          <p:nvPr/>
        </p:nvGrpSpPr>
        <p:grpSpPr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126" name="Google Shape;126;p7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27" name="Google Shape;127;p7"/>
            <p:cNvSpPr txBox="1"/>
            <p:nvPr/>
          </p:nvSpPr>
          <p:spPr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pic>
        <p:nvPicPr>
          <p:cNvPr descr="BS00768_[1]" id="128" name="Google Shape;12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29" name="Google Shape;1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7"/>
          <p:cNvCxnSpPr/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7"/>
          <p:cNvCxnSpPr/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7"/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7"/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7"/>
          <p:cNvCxnSpPr/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" name="Google Shape;1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cryptography</a:t>
            </a:r>
            <a:endParaRPr sz="4400"/>
          </a:p>
        </p:txBody>
      </p:sp>
      <p:sp>
        <p:nvSpPr>
          <p:cNvPr id="142" name="Google Shape;142;p8"/>
          <p:cNvSpPr txBox="1"/>
          <p:nvPr/>
        </p:nvSpPr>
        <p:spPr>
          <a:xfrm>
            <a:off x="1585013" y="2469633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469521" y="2471779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145" name="Google Shape;145;p8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Alice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pic>
        <p:nvPicPr>
          <p:cNvPr descr="Bob"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8"/>
          <p:cNvGrpSpPr/>
          <p:nvPr/>
        </p:nvGrpSpPr>
        <p:grpSpPr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154" name="Google Shape;154;p8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55" name="Google Shape;155;p8"/>
            <p:cNvSpPr txBox="1"/>
            <p:nvPr/>
          </p:nvSpPr>
          <p:spPr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BS00768_[1]" id="156" name="Google Shape;15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57" name="Google Shape;15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8"/>
          <p:cNvCxnSpPr/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" name="Google Shape;159;p8"/>
          <p:cNvCxnSpPr/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" name="Google Shape;160;p8"/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" name="Google Shape;161;p8"/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3" name="Google Shape;163;p8"/>
          <p:cNvSpPr txBox="1"/>
          <p:nvPr/>
        </p:nvSpPr>
        <p:spPr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  (m)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Bob and Alice share same (symmetric) key: 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is knowing substitution pattern in mono alphabetic substitution cipher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Bob and Alice agree on key value?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Simple encryption scheme</a:t>
            </a:r>
            <a:endParaRPr sz="4400"/>
          </a:p>
        </p:txBody>
      </p:sp>
      <p:sp>
        <p:nvSpPr>
          <p:cNvPr id="174" name="Google Shape;174;p9"/>
          <p:cNvSpPr txBox="1"/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substitution cipher: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substituting one thing for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monoalphabetic cipher: substitute one letter for another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 abcdefghijklmnopqrstuvwxyz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 mnbvcxzasdfghjklpoiuytrewq</a:t>
            </a:r>
            <a:endParaRPr/>
          </a:p>
        </p:txBody>
      </p:sp>
      <p:cxnSp>
        <p:nvCxnSpPr>
          <p:cNvPr id="177" name="Google Shape;177;p9"/>
          <p:cNvCxnSpPr/>
          <p:nvPr/>
        </p:nvCxnSpPr>
        <p:spPr>
          <a:xfrm>
            <a:off x="4133298" y="2872755"/>
            <a:ext cx="0" cy="4937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9"/>
          <p:cNvCxnSpPr/>
          <p:nvPr/>
        </p:nvCxnSpPr>
        <p:spPr>
          <a:xfrm>
            <a:off x="8706886" y="2836242"/>
            <a:ext cx="0" cy="4937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9"/>
          <p:cNvSpPr/>
          <p:nvPr/>
        </p:nvSpPr>
        <p:spPr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bob. i love you. alice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nkn. s gktc wky. mgsbc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e.g.: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from set of 26 letters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to set of 26 letters</a:t>
            </a:r>
            <a:endParaRPr/>
          </a:p>
        </p:txBody>
      </p:sp>
      <p:pic>
        <p:nvPicPr>
          <p:cNvPr descr="BS00768_[1]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crypto: DES</a:t>
            </a:r>
            <a:endParaRPr sz="4400"/>
          </a:p>
        </p:txBody>
      </p:sp>
      <p:sp>
        <p:nvSpPr>
          <p:cNvPr id="191" name="Google Shape;191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DES: Data Encryption Standard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encryption standard [NIST 1993]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56-bit symmetric key, 64-bit plaintext input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cipher with cipher block chaining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secure is DES?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Challenge: 56-bit-key-encrypted phrase  decrypted (brute force) in less than a day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known good analytic attack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DES more secure: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3DES: encrypt 3 times with 3 different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AES: Advanced Encryption Standard</a:t>
            </a:r>
            <a:endParaRPr sz="4400"/>
          </a:p>
        </p:txBody>
      </p:sp>
      <p:sp>
        <p:nvSpPr>
          <p:cNvPr id="199" name="Google Shape;199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symmetric-key NIST standard, replaced DES (Nov 2001)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in 128 bit blocks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128, 192, or 256 bit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decryption (try each key) taking 1 sec on DES, takes 149 trillion years for AES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07" name="Google Shape;207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889070" y="1614418"/>
            <a:ext cx="44913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sender, receiver know shared secret key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how to agree on key in first place (particularly if never “met”)?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9" name="Google Shape;209;p12"/>
          <p:cNvGrpSpPr/>
          <p:nvPr/>
        </p:nvGrpSpPr>
        <p:grpSpPr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210" name="Google Shape;210;p12"/>
            <p:cNvSpPr/>
            <p:nvPr/>
          </p:nvSpPr>
          <p:spPr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public key crypto</a:t>
              </a:r>
              <a:endParaRPr/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8125" lvl="0" marL="4095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radically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different approach [Diffie-Hellman76, RSA78]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sender, receiver do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share secret key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 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known to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decryption key known only to receiver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 up of a logo&#10;&#10;Description automatically generated" id="214" name="Google Shape;2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644" y="0"/>
            <a:ext cx="4744730" cy="417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223" name="Google Shape;2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3"/>
          <p:cNvGrpSpPr/>
          <p:nvPr/>
        </p:nvGrpSpPr>
        <p:grpSpPr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225" name="Google Shape;225;p13"/>
            <p:cNvSpPr txBox="1"/>
            <p:nvPr/>
          </p:nvSpPr>
          <p:spPr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 = K  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 (m)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27" name="Google Shape;227;p13"/>
            <p:cNvSpPr txBox="1"/>
            <p:nvPr/>
          </p:nvSpPr>
          <p:spPr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28" name="Google Shape;228;p13"/>
            <p:cNvSpPr txBox="1"/>
            <p:nvPr/>
          </p:nvSpPr>
          <p:spPr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230" name="Google Shape;230;p13"/>
          <p:cNvSpPr txBox="1"/>
          <p:nvPr/>
        </p:nvSpPr>
        <p:spPr>
          <a:xfrm>
            <a:off x="8602043" y="3584964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cxnSp>
        <p:nvCxnSpPr>
          <p:cNvPr id="235" name="Google Shape;235;p13"/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13"/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7" name="Google Shape;237;p13"/>
          <p:cNvCxnSpPr/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38" name="Google Shape;238;p13"/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239" name="Google Shape;239;p13"/>
            <p:cNvGrpSpPr/>
            <p:nvPr/>
          </p:nvGrpSpPr>
          <p:grpSpPr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240" name="Google Shape;240;p13"/>
              <p:cNvSpPr txBox="1"/>
              <p:nvPr/>
            </p:nvSpPr>
            <p:spPr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 (m)</a:t>
                </a:r>
                <a:endParaRPr/>
              </a:p>
            </p:txBody>
          </p:sp>
          <p:sp>
            <p:nvSpPr>
              <p:cNvPr id="241" name="Google Shape;241;p13"/>
              <p:cNvSpPr txBox="1"/>
              <p:nvPr/>
            </p:nvSpPr>
            <p:spPr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42" name="Google Shape;242;p13"/>
              <p:cNvSpPr txBox="1"/>
              <p:nvPr/>
            </p:nvSpPr>
            <p:spPr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sp>
          <p:nvSpPr>
            <p:cNvPr id="243" name="Google Shape;243;p13"/>
            <p:cNvSpPr txBox="1"/>
            <p:nvPr/>
          </p:nvSpPr>
          <p:spPr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ciphertext</a:t>
              </a:r>
              <a:endParaRPr/>
            </a:p>
          </p:txBody>
        </p:sp>
      </p:grpSp>
      <p:sp>
        <p:nvSpPr>
          <p:cNvPr id="244" name="Google Shape;244;p13"/>
          <p:cNvSpPr txBox="1"/>
          <p:nvPr/>
        </p:nvSpPr>
        <p:spPr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message, m</a:t>
            </a:r>
            <a:endParaRPr/>
          </a:p>
        </p:txBody>
      </p:sp>
      <p:grpSp>
        <p:nvGrpSpPr>
          <p:cNvPr id="245" name="Google Shape;245;p13"/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descr="BS00768_[1]" id="246" name="Google Shape;24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3"/>
            <p:cNvSpPr txBox="1"/>
            <p:nvPr/>
          </p:nvSpPr>
          <p:spPr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48" name="Google Shape;248;p13"/>
            <p:cNvSpPr txBox="1"/>
            <p:nvPr/>
          </p:nvSpPr>
          <p:spPr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grpSp>
          <p:nvGrpSpPr>
            <p:cNvPr id="250" name="Google Shape;250;p13"/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251" name="Google Shape;251;p13"/>
              <p:cNvSpPr txBox="1"/>
              <p:nvPr/>
            </p:nvSpPr>
            <p:spPr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Bob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 </a:t>
                </a:r>
                <a:r>
                  <a:rPr b="0" i="1" lang="en-US" sz="2400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key </a:t>
                </a:r>
                <a:endParaRPr/>
              </a:p>
            </p:txBody>
          </p:sp>
          <p:cxnSp>
            <p:nvCxnSpPr>
              <p:cNvPr id="252" name="Google Shape;252;p13"/>
              <p:cNvCxnSpPr/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53" name="Google Shape;253;p13"/>
              <p:cNvCxnSpPr/>
              <p:nvPr/>
            </p:nvCxnSpPr>
            <p:spPr>
              <a:xfrm rot="10800000">
                <a:off x="4104379" y="1804781"/>
                <a:ext cx="265423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54" name="Google Shape;254;p13"/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255" name="Google Shape;255;p13"/>
            <p:cNvSpPr txBox="1"/>
            <p:nvPr/>
          </p:nvSpPr>
          <p:spPr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r>
                <a:rPr b="0" i="1" lang="en-US" sz="24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key </a:t>
              </a:r>
              <a:endParaRPr/>
            </a:p>
          </p:txBody>
        </p:sp>
        <p:pic>
          <p:nvPicPr>
            <p:cNvPr descr="BS00768_[1]" id="256" name="Google Shape;256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3"/>
            <p:cNvSpPr txBox="1"/>
            <p:nvPr/>
          </p:nvSpPr>
          <p:spPr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58" name="Google Shape;258;p13"/>
            <p:cNvSpPr txBox="1"/>
            <p:nvPr/>
          </p:nvSpPr>
          <p:spPr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cxnSp>
          <p:nvCxnSpPr>
            <p:cNvPr id="260" name="Google Shape;260;p13"/>
            <p:cNvCxnSpPr/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61" name="Google Shape;261;p13"/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public key cryptography revolutionized 2000-year-old (previously only symmetric key) cryptography!</a:t>
            </a:r>
            <a:endParaRPr/>
          </a:p>
          <a:p>
            <a:pPr indent="-2190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ideas emerged at roughly same time, independently in US and UK (classified)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encryption algorithms</a:t>
            </a:r>
            <a:endParaRPr sz="4400"/>
          </a:p>
        </p:txBody>
      </p:sp>
      <p:sp>
        <p:nvSpPr>
          <p:cNvPr id="268" name="Google Shape;268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RSA: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Rivest, Shamir, Adelson algorithm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14"/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272" name="Google Shape;272;p14"/>
            <p:cNvSpPr/>
            <p:nvPr/>
          </p:nvSpPr>
          <p:spPr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cap="flat" cmpd="sng" w="34925">
              <a:solidFill>
                <a:srgbClr val="0012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4" name="Google Shape;274;p14"/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275" name="Google Shape;275;p14"/>
              <p:cNvSpPr txBox="1"/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-222250" lvl="0" marL="352425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3200"/>
                  <a:buFont typeface="Noto Sans Symbols"/>
                  <a:buNone/>
                </a:pPr>
                <a:r>
                  <a:rPr lang="en-US"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need K  ( ) and K  ( ) such that</a:t>
                </a:r>
                <a:endParaRPr/>
              </a:p>
            </p:txBody>
          </p:sp>
          <p:sp>
            <p:nvSpPr>
              <p:cNvPr id="276" name="Google Shape;276;p14"/>
              <p:cNvSpPr txBox="1"/>
              <p:nvPr/>
            </p:nvSpPr>
            <p:spPr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277" name="Google Shape;277;p14"/>
              <p:cNvSpPr txBox="1"/>
              <p:nvPr/>
            </p:nvSpPr>
            <p:spPr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278" name="Google Shape;278;p14"/>
              <p:cNvSpPr txBox="1"/>
              <p:nvPr/>
            </p:nvSpPr>
            <p:spPr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4"/>
              <p:cNvSpPr txBox="1"/>
              <p:nvPr/>
            </p:nvSpPr>
            <p:spPr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4"/>
              <p:cNvSpPr txBox="1"/>
              <p:nvPr/>
            </p:nvSpPr>
            <p:spPr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281" name="Google Shape;281;p14"/>
              <p:cNvSpPr txBox="1"/>
              <p:nvPr/>
            </p:nvSpPr>
            <p:spPr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grpSp>
            <p:nvGrpSpPr>
              <p:cNvPr id="282" name="Google Shape;282;p14"/>
              <p:cNvGrpSpPr/>
              <p:nvPr/>
            </p:nvGrpSpPr>
            <p:grpSpPr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283" name="Google Shape;283;p14"/>
                <p:cNvGrpSpPr/>
                <p:nvPr/>
              </p:nvGrpSpPr>
              <p:grpSpPr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284" name="Google Shape;284;p14"/>
                  <p:cNvSpPr txBox="1"/>
                  <p:nvPr/>
                </p:nvSpPr>
                <p:spPr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32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  (K   (m))  =  m </a:t>
                    </a:r>
                    <a:endParaRPr/>
                  </a:p>
                </p:txBody>
              </p:sp>
              <p:sp>
                <p:nvSpPr>
                  <p:cNvPr id="285" name="Google Shape;285;p14"/>
                  <p:cNvSpPr txBox="1"/>
                  <p:nvPr/>
                </p:nvSpPr>
                <p:spPr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4"/>
                  <p:cNvSpPr txBox="1"/>
                  <p:nvPr/>
                </p:nvSpPr>
                <p:spPr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7" name="Google Shape;287;p14"/>
                <p:cNvSpPr txBox="1"/>
                <p:nvPr/>
              </p:nvSpPr>
              <p:spPr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  <p:sp>
              <p:nvSpPr>
                <p:cNvPr id="288" name="Google Shape;288;p14"/>
                <p:cNvSpPr txBox="1"/>
                <p:nvPr/>
              </p:nvSpPr>
              <p:spPr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</p:grpSp>
      </p:grpSp>
      <p:grpSp>
        <p:nvGrpSpPr>
          <p:cNvPr id="289" name="Google Shape;289;p14"/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290" name="Google Shape;290;p14"/>
            <p:cNvSpPr/>
            <p:nvPr/>
          </p:nvSpPr>
          <p:spPr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given public key K  , it should be impossible to compute private key K  </a:t>
              </a:r>
              <a:endParaRPr/>
            </a:p>
          </p:txBody>
        </p:sp>
        <p:sp>
          <p:nvSpPr>
            <p:cNvPr id="291" name="Google Shape;291;p14"/>
            <p:cNvSpPr txBox="1"/>
            <p:nvPr/>
          </p:nvSpPr>
          <p:spPr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293" name="Google Shape;293;p14"/>
            <p:cNvGrpSpPr/>
            <p:nvPr/>
          </p:nvGrpSpPr>
          <p:grpSpPr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294" name="Google Shape;294;p14"/>
              <p:cNvSpPr/>
              <p:nvPr/>
            </p:nvSpPr>
            <p:spPr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cap="flat" cmpd="sng" w="34925">
                <a:solidFill>
                  <a:srgbClr val="0000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4"/>
              <p:cNvSpPr txBox="1"/>
              <p:nvPr/>
            </p:nvSpPr>
            <p:spPr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" name="Google Shape;296;p14"/>
            <p:cNvSpPr txBox="1"/>
            <p:nvPr/>
          </p:nvSpPr>
          <p:spPr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297" name="Google Shape;297;p14"/>
            <p:cNvSpPr txBox="1"/>
            <p:nvPr/>
          </p:nvSpPr>
          <p:spPr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Prerequisite: modular arithmetic</a:t>
            </a:r>
            <a:endParaRPr sz="4400"/>
          </a:p>
        </p:txBody>
      </p:sp>
      <p:sp>
        <p:nvSpPr>
          <p:cNvPr id="304" name="Google Shape;304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957470" y="1414670"/>
            <a:ext cx="7924800" cy="499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mod n = remainder of x when divide by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+ (b mod n)] mod n = (a+b)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- (b mod n)] mod n = (a-b)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* (b mod n)] mod n = (a*b) mod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(a mod n)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 = a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x=14, n=10, d=2: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(x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= 6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196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 = 6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RSA: getting ready</a:t>
            </a:r>
            <a:endParaRPr sz="4400"/>
          </a:p>
        </p:txBody>
      </p:sp>
      <p:sp>
        <p:nvSpPr>
          <p:cNvPr id="312" name="Google Shape;312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just a bit pattern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can be uniquely represented by an integer number 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encrypting a message is equivalent to encrypting a number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10010001. This message is uniquely represented by the decimal number 145. 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encrypt m, we encrypt the corresponding number, which gives a new number (the ciphertext).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Creating public/private key pair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two large prime numbers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q.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(e.g., 1024 bits each)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pq,  z = (p-1)(q-1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2425" lvl="0" marL="3524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e&lt;n)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no common factors  with z 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“relatively prime”).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2113" lvl="0" marL="4048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 exactly divisible by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(in other words: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 = 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327" name="Google Shape;327;p17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29" name="Google Shape;329;p17"/>
            <p:cNvSpPr txBox="1"/>
            <p:nvPr/>
          </p:nvSpPr>
          <p:spPr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330" name="Google Shape;330;p17"/>
          <p:cNvGrpSpPr/>
          <p:nvPr/>
        </p:nvGrpSpPr>
        <p:grpSpPr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331" name="Google Shape;331;p17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33" name="Google Shape;333;p17"/>
            <p:cNvSpPr txBox="1"/>
            <p:nvPr/>
          </p:nvSpPr>
          <p:spPr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334" name="Google Shape;334;p17"/>
          <p:cNvSpPr/>
          <p:nvPr/>
        </p:nvSpPr>
        <p:spPr>
          <a:xfrm rot="5400000">
            <a:off x="3569087" y="5227389"/>
            <a:ext cx="165100" cy="788588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 rot="5400000">
            <a:off x="6348800" y="5197226"/>
            <a:ext cx="165100" cy="788589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encryption, decryption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given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as computed above</a:t>
            </a:r>
            <a:endParaRPr/>
          </a:p>
        </p:txBody>
      </p:sp>
      <p:grpSp>
        <p:nvGrpSpPr>
          <p:cNvPr id="344" name="Google Shape;344;p18"/>
          <p:cNvGrpSpPr/>
          <p:nvPr/>
        </p:nvGrpSpPr>
        <p:grpSpPr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345" name="Google Shape;345;p18"/>
            <p:cNvSpPr txBox="1"/>
            <p:nvPr/>
          </p:nvSpPr>
          <p:spPr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encrypt message </a:t>
              </a:r>
              <a:r>
                <a:rPr i="1"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(&lt;n)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compute</a:t>
              </a:r>
              <a:endParaRPr/>
            </a:p>
          </p:txBody>
        </p:sp>
        <p:grpSp>
          <p:nvGrpSpPr>
            <p:cNvPr id="346" name="Google Shape;346;p18"/>
            <p:cNvGrpSpPr/>
            <p:nvPr/>
          </p:nvGrpSpPr>
          <p:grpSpPr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347" name="Google Shape;347;p18"/>
              <p:cNvSpPr txBox="1"/>
              <p:nvPr/>
            </p:nvSpPr>
            <p:spPr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 = m   </a:t>
                </a:r>
                <a:r>
                  <a:rPr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</a:t>
                </a: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n</a:t>
                </a:r>
                <a:endParaRPr/>
              </a:p>
            </p:txBody>
          </p:sp>
          <p:sp>
            <p:nvSpPr>
              <p:cNvPr id="348" name="Google Shape;348;p18"/>
              <p:cNvSpPr txBox="1"/>
              <p:nvPr/>
            </p:nvSpPr>
            <p:spPr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grpSp>
          <p:nvGrpSpPr>
            <p:cNvPr id="349" name="Google Shape;349;p18"/>
            <p:cNvGrpSpPr/>
            <p:nvPr/>
          </p:nvGrpSpPr>
          <p:grpSpPr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350" name="Google Shape;350;p18"/>
              <p:cNvSpPr txBox="1"/>
              <p:nvPr/>
            </p:nvSpPr>
            <p:spPr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8"/>
              <p:cNvSpPr txBox="1"/>
              <p:nvPr/>
            </p:nvSpPr>
            <p:spPr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18"/>
          <p:cNvSpPr txBox="1"/>
          <p:nvPr/>
        </p:nvSpPr>
        <p:spPr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decrypt received bit pattern, </a:t>
            </a:r>
            <a:r>
              <a:rPr i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compute</a:t>
            </a:r>
            <a:endParaRPr/>
          </a:p>
        </p:txBody>
      </p:sp>
      <p:grpSp>
        <p:nvGrpSpPr>
          <p:cNvPr id="353" name="Google Shape;353;p18"/>
          <p:cNvGrpSpPr/>
          <p:nvPr/>
        </p:nvGrpSpPr>
        <p:grpSpPr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354" name="Google Shape;354;p18"/>
            <p:cNvSpPr txBox="1"/>
            <p:nvPr/>
          </p:nvSpPr>
          <p:spPr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 = c   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55" name="Google Shape;355;p18"/>
            <p:cNvSpPr txBox="1"/>
            <p:nvPr/>
          </p:nvSpPr>
          <p:spPr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56" name="Google Shape;356;p18"/>
          <p:cNvGrpSpPr/>
          <p:nvPr/>
        </p:nvGrpSpPr>
        <p:grpSpPr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357" name="Google Shape;357;p18"/>
            <p:cNvSpPr txBox="1"/>
            <p:nvPr/>
          </p:nvSpPr>
          <p:spPr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 =  (m  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n)</a:t>
              </a:r>
              <a:endParaRPr/>
            </a:p>
          </p:txBody>
        </p:sp>
        <p:sp>
          <p:nvSpPr>
            <p:cNvPr id="358" name="Google Shape;358;p18"/>
            <p:cNvSpPr txBox="1"/>
            <p:nvPr/>
          </p:nvSpPr>
          <p:spPr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59" name="Google Shape;359;p18"/>
            <p:cNvSpPr txBox="1"/>
            <p:nvPr/>
          </p:nvSpPr>
          <p:spPr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60" name="Google Shape;360;p18"/>
            <p:cNvSpPr txBox="1"/>
            <p:nvPr/>
          </p:nvSpPr>
          <p:spPr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361" name="Google Shape;361;p18"/>
          <p:cNvSpPr txBox="1"/>
          <p:nvPr/>
        </p:nvSpPr>
        <p:spPr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magic happens!</a:t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2245486" y="4916556"/>
            <a:ext cx="7667141" cy="1099931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 rot="-5400000">
            <a:off x="7193343" y="4984092"/>
            <a:ext cx="139700" cy="1223963"/>
          </a:xfrm>
          <a:prstGeom prst="leftBrace">
            <a:avLst>
              <a:gd fmla="val 73011" name="adj1"/>
              <a:gd fmla="val 52954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example: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chooses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p=5, q=7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Then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n=35, z=24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e=5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relatively prime).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d=29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exactly divisible by z).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74" name="Google Shape;374;p19"/>
          <p:cNvSpPr txBox="1"/>
          <p:nvPr/>
        </p:nvSpPr>
        <p:spPr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grpSp>
        <p:nvGrpSpPr>
          <p:cNvPr id="378" name="Google Shape;378;p19"/>
          <p:cNvGrpSpPr/>
          <p:nvPr/>
        </p:nvGrpSpPr>
        <p:grpSpPr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379" name="Google Shape;379;p19"/>
            <p:cNvSpPr txBox="1"/>
            <p:nvPr/>
          </p:nvSpPr>
          <p:spPr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 = m  mod  n</a:t>
              </a:r>
              <a:endParaRPr/>
            </a:p>
          </p:txBody>
        </p:sp>
        <p:sp>
          <p:nvSpPr>
            <p:cNvPr id="380" name="Google Shape;380;p19"/>
            <p:cNvSpPr txBox="1"/>
            <p:nvPr/>
          </p:nvSpPr>
          <p:spPr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381" name="Google Shape;381;p19"/>
          <p:cNvSpPr txBox="1"/>
          <p:nvPr/>
        </p:nvSpPr>
        <p:spPr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0000l000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24832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encrypt:</a:t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encrypting 8-bit messages.</a:t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 rot="5400000">
            <a:off x="4202733" y="3216828"/>
            <a:ext cx="180975" cy="1403350"/>
          </a:xfrm>
          <a:prstGeom prst="rightBrace">
            <a:avLst>
              <a:gd fmla="val 8257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 rot="5400000">
            <a:off x="5525120" y="3689903"/>
            <a:ext cx="169863" cy="468312"/>
          </a:xfrm>
          <a:prstGeom prst="rightBrace">
            <a:avLst>
              <a:gd fmla="val 828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 rot="5400000">
            <a:off x="6772102" y="3695458"/>
            <a:ext cx="168275" cy="468313"/>
          </a:xfrm>
          <a:prstGeom prst="rightBrace">
            <a:avLst>
              <a:gd fmla="val 8362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 rot="5400000">
            <a:off x="9314483" y="2905677"/>
            <a:ext cx="179388" cy="2046288"/>
          </a:xfrm>
          <a:prstGeom prst="rightBrace">
            <a:avLst>
              <a:gd fmla="val 834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19"/>
          <p:cNvGrpSpPr/>
          <p:nvPr/>
        </p:nvGrpSpPr>
        <p:grpSpPr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392" name="Google Shape;392;p19"/>
            <p:cNvSpPr txBox="1"/>
            <p:nvPr/>
          </p:nvSpPr>
          <p:spPr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393" name="Google Shape;393;p19"/>
            <p:cNvGrpSpPr/>
            <p:nvPr/>
          </p:nvGrpSpPr>
          <p:grpSpPr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394" name="Google Shape;394;p19"/>
              <p:cNvSpPr txBox="1"/>
              <p:nvPr/>
            </p:nvSpPr>
            <p:spPr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c  mod  n</a:t>
                </a:r>
                <a:endParaRPr/>
              </a:p>
            </p:txBody>
          </p:sp>
          <p:sp>
            <p:nvSpPr>
              <p:cNvPr id="395" name="Google Shape;395;p19"/>
              <p:cNvSpPr txBox="1"/>
              <p:nvPr/>
            </p:nvSpPr>
            <p:spPr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396" name="Google Shape;396;p19"/>
            <p:cNvSpPr txBox="1"/>
            <p:nvPr/>
          </p:nvSpPr>
          <p:spPr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481968572106750915091411825223071697</a:t>
              </a:r>
              <a:endParaRPr/>
            </a:p>
          </p:txBody>
        </p:sp>
        <p:sp>
          <p:nvSpPr>
            <p:cNvPr id="398" name="Google Shape;398;p19"/>
            <p:cNvSpPr txBox="1"/>
            <p:nvPr/>
          </p:nvSpPr>
          <p:spPr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grpSp>
          <p:nvGrpSpPr>
            <p:cNvPr id="399" name="Google Shape;399;p19"/>
            <p:cNvGrpSpPr/>
            <p:nvPr/>
          </p:nvGrpSpPr>
          <p:grpSpPr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400" name="Google Shape;400;p19"/>
              <p:cNvSpPr txBox="1"/>
              <p:nvPr/>
            </p:nvSpPr>
            <p:spPr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01" name="Google Shape;401;p19"/>
              <p:cNvSpPr txBox="1"/>
              <p:nvPr/>
            </p:nvSpPr>
            <p:spPr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02" name="Google Shape;402;p19"/>
            <p:cNvSpPr txBox="1"/>
            <p:nvPr/>
          </p:nvSpPr>
          <p:spPr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decrypt:</a:t>
              </a:r>
              <a:endParaRPr/>
            </a:p>
          </p:txBody>
        </p:sp>
        <p:sp>
          <p:nvSpPr>
            <p:cNvPr id="403" name="Google Shape;403;p19"/>
            <p:cNvSpPr/>
            <p:nvPr/>
          </p:nvSpPr>
          <p:spPr>
            <a:xfrm rot="5400000">
              <a:off x="2446575" y="5102686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9"/>
            <p:cNvSpPr/>
            <p:nvPr/>
          </p:nvSpPr>
          <p:spPr>
            <a:xfrm rot="5400000">
              <a:off x="3605907" y="5108131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9"/>
            <p:cNvSpPr/>
            <p:nvPr/>
          </p:nvSpPr>
          <p:spPr>
            <a:xfrm rot="5400000">
              <a:off x="6964140" y="4340683"/>
              <a:ext cx="179612" cy="2046514"/>
            </a:xfrm>
            <a:prstGeom prst="rightBrace">
              <a:avLst>
                <a:gd fmla="val 8335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9"/>
          <p:cNvSpPr/>
          <p:nvPr/>
        </p:nvSpPr>
        <p:spPr>
          <a:xfrm rot="1604466">
            <a:off x="5690221" y="4840840"/>
            <a:ext cx="2944812" cy="246062"/>
          </a:xfrm>
          <a:prstGeom prst="leftRightArrow">
            <a:avLst>
              <a:gd fmla="val 50000" name="adj1"/>
              <a:gd fmla="val 50032" name="adj2"/>
            </a:avLst>
          </a:prstGeom>
          <a:solidFill>
            <a:srgbClr val="333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does RSA work?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show that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m,  where c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for any x and y: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n= pq and z = (p-1)(q-1)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(ed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endParaRPr/>
          </a:p>
        </p:txBody>
      </p:sp>
      <p:grpSp>
        <p:nvGrpSpPr>
          <p:cNvPr id="415" name="Google Shape;415;p20"/>
          <p:cNvGrpSpPr/>
          <p:nvPr/>
        </p:nvGrpSpPr>
        <p:grpSpPr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6" name="Google Shape;416;p20"/>
            <p:cNvSpPr/>
            <p:nvPr/>
          </p:nvSpPr>
          <p:spPr>
            <a:xfrm>
              <a:off x="2507" y="1402"/>
              <a:ext cx="3119" cy="481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306" y="1889"/>
              <a:ext cx="740" cy="1236"/>
            </a:xfrm>
            <a:custGeom>
              <a:rect b="b" l="l" r="r" t="t"/>
              <a:pathLst>
                <a:path extrusionOk="0" h="847" w="1260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another important property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property will be </a:t>
            </a:r>
            <a:r>
              <a:rPr i="1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later: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" name="Google Shape;426;p21"/>
          <p:cNvGrpSpPr/>
          <p:nvPr/>
        </p:nvGrpSpPr>
        <p:grpSpPr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427" name="Google Shape;427;p21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28" name="Google Shape;428;p21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29" name="Google Shape;429;p21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30" name="Google Shape;430;p21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21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2" name="Google Shape;432;p21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33" name="Google Shape;433;p21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34" name="Google Shape;434;p21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35" name="Google Shape;435;p21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1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1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38" name="Google Shape;438;p21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39" name="Google Shape;439;p21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40" name="Google Shape;440;p21"/>
          <p:cNvSpPr txBox="1"/>
          <p:nvPr/>
        </p:nvSpPr>
        <p:spPr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first, followed by private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private key first, followed by public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 rot="5400000">
            <a:off x="3581193" y="2445763"/>
            <a:ext cx="138112" cy="1509712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 rot="5400000">
            <a:off x="6853030" y="2437825"/>
            <a:ext cx="138113" cy="1509713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 is the same!</a:t>
            </a: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22"/>
          <p:cNvSpPr txBox="1"/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follows directly from modular arithmetic: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pSp>
        <p:nvGrpSpPr>
          <p:cNvPr id="454" name="Google Shape;454;p22"/>
          <p:cNvGrpSpPr/>
          <p:nvPr/>
        </p:nvGrpSpPr>
        <p:grpSpPr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55" name="Google Shape;455;p22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56" name="Google Shape;456;p22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57" name="Google Shape;457;p22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58" name="Google Shape;458;p22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22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0" name="Google Shape;460;p22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61" name="Google Shape;461;p22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62" name="Google Shape;462;p22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66" name="Google Shape;466;p22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67" name="Google Shape;467;p22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23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pic>
        <p:nvPicPr>
          <p:cNvPr descr="Alice" id="478" name="Google Shape;4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479" name="Google Shape;4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80" name="Google Shape;48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23"/>
          <p:cNvCxnSpPr/>
          <p:nvPr/>
        </p:nvCxnSpPr>
        <p:spPr>
          <a:xfrm>
            <a:off x="2060506" y="4075872"/>
            <a:ext cx="187007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23"/>
          <p:cNvSpPr txBox="1"/>
          <p:nvPr/>
        </p:nvSpPr>
        <p:spPr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492" name="Google Shape;4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493" name="Google Shape;49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94" name="Google Shape;49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4"/>
          <p:cNvSpPr txBox="1"/>
          <p:nvPr/>
        </p:nvSpPr>
        <p:spPr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network, Bob can not “see” Alice, so Trudy simply declares herself to be Alice</a:t>
            </a:r>
            <a:endParaRPr/>
          </a:p>
        </p:txBody>
      </p:sp>
      <p:cxnSp>
        <p:nvCxnSpPr>
          <p:cNvPr id="496" name="Google Shape;496;p24"/>
          <p:cNvCxnSpPr/>
          <p:nvPr/>
        </p:nvCxnSpPr>
        <p:spPr>
          <a:xfrm flipH="1" rot="10800000">
            <a:off x="3460336" y="4301297"/>
            <a:ext cx="773113" cy="10271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24"/>
          <p:cNvSpPr txBox="1"/>
          <p:nvPr/>
        </p:nvSpPr>
        <p:spPr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8" name="Google Shape;4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0482" y="2548273"/>
            <a:ext cx="32560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07" name="Google Shape;5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08" name="Google Shape;5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09" name="Google Shape;5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5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11" name="Google Shape;511;p25"/>
          <p:cNvCxnSpPr/>
          <p:nvPr/>
        </p:nvCxnSpPr>
        <p:spPr>
          <a:xfrm>
            <a:off x="1967119" y="4434716"/>
            <a:ext cx="379888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12" name="Google Shape;512;p25"/>
          <p:cNvGrpSpPr/>
          <p:nvPr/>
        </p:nvGrpSpPr>
        <p:grpSpPr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513" name="Google Shape;513;p25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5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5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16" name="Google Shape;516;p25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7" name="Google Shape;517;p25"/>
          <p:cNvSpPr txBox="1"/>
          <p:nvPr/>
        </p:nvSpPr>
        <p:spPr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5" name="Google Shape;525;p26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26" name="Google Shape;5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27" name="Google Shape;5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28" name="Google Shape;5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6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30" name="Google Shape;530;p26"/>
          <p:cNvCxnSpPr/>
          <p:nvPr/>
        </p:nvCxnSpPr>
        <p:spPr>
          <a:xfrm flipH="1" rot="10800000">
            <a:off x="3631094" y="4572000"/>
            <a:ext cx="2267433" cy="102518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31" name="Google Shape;531;p26"/>
          <p:cNvGrpSpPr/>
          <p:nvPr/>
        </p:nvGrpSpPr>
        <p:grpSpPr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532" name="Google Shape;532;p26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6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6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35" name="Google Shape;535;p26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6" name="Google Shape;536;p26"/>
          <p:cNvSpPr txBox="1"/>
          <p:nvPr/>
        </p:nvSpPr>
        <p:spPr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create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packet “spoofing”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4" name="Google Shape;544;p27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45" name="Google Shape;5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46" name="Google Shape;5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47" name="Google Shape;54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7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27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50" name="Google Shape;550;p27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551" name="Google Shape;551;p27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552" name="Google Shape;552;p27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7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7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555" name="Google Shape;555;p27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27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7" name="Google Shape;557;p27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558" name="Google Shape;558;p27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559" name="Google Shape;559;p27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560" name="Google Shape;560;p27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61" name="Google Shape;561;p27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7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563" name="Google Shape;563;p27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4" name="Google Shape;564;p27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565" name="Google Shape;565;p27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74" name="Google Shape;5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75" name="Google Shape;5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76" name="Google Shape;57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8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28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9" name="Google Shape;579;p28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580" name="Google Shape;580;p28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581" name="Google Shape;581;p28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8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8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584" name="Google Shape;584;p28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6" name="Google Shape;586;p28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587" name="Google Shape;587;p28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588" name="Google Shape;588;p28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589" name="Google Shape;589;p28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590" name="Google Shape;590;p28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8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592" name="Google Shape;592;p28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3" name="Google Shape;593;p28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594" name="Google Shape;594;p28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595" name="Google Shape;595;p28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6" name="Google Shape;596;p28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28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8" name="Google Shape;598;p28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599" name="Google Shape;599;p28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00" name="Google Shape;600;p28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8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8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03" name="Google Shape;603;p28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5" name="Google Shape;605;p28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06" name="Google Shape;606;p28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07" name="Google Shape;607;p28"/>
          <p:cNvSpPr txBox="1"/>
          <p:nvPr/>
        </p:nvSpPr>
        <p:spPr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5" name="Google Shape;615;p29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16" name="Google Shape;6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17" name="Google Shape;61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18" name="Google Shape;61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9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29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21" name="Google Shape;621;p29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22" name="Google Shape;622;p29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23" name="Google Shape;623;p29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9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9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26" name="Google Shape;626;p29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29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8" name="Google Shape;628;p29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29" name="Google Shape;629;p29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30" name="Google Shape;630;p29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31" name="Google Shape;631;p29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32" name="Google Shape;632;p29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9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34" name="Google Shape;634;p29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" name="Google Shape;635;p29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636" name="Google Shape;636;p29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30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45" name="Google Shape;6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46" name="Google Shape;6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47" name="Google Shape;64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30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30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50" name="Google Shape;650;p30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51" name="Google Shape;651;p3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52" name="Google Shape;652;p3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55" name="Google Shape;655;p3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3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" name="Google Shape;657;p30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58" name="Google Shape;658;p30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9" name="Google Shape;659;p30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660" name="Google Shape;660;p30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661" name="Google Shape;661;p30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3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63" name="Google Shape;663;p3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4" name="Google Shape;664;p30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665" name="Google Shape;665;p30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666" name="Google Shape;666;p30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7" name="Google Shape;667;p30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30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9" name="Google Shape;669;p30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670" name="Google Shape;670;p3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71" name="Google Shape;671;p3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3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3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74" name="Google Shape;674;p3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3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6" name="Google Shape;676;p30"/>
              <p:cNvSpPr txBox="1"/>
              <p:nvPr/>
            </p:nvSpPr>
            <p:spPr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77" name="Google Shape;677;p30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78" name="Google Shape;678;p30"/>
          <p:cNvSpPr txBox="1"/>
          <p:nvPr/>
        </p:nvSpPr>
        <p:spPr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 still works: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 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fourth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6" name="Google Shape;686;p31"/>
          <p:cNvSpPr txBox="1"/>
          <p:nvPr/>
        </p:nvSpPr>
        <p:spPr>
          <a:xfrm>
            <a:off x="732182" y="1255643"/>
            <a:ext cx="9684027" cy="61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playback attack</a:t>
            </a:r>
            <a:endParaRPr/>
          </a:p>
        </p:txBody>
      </p:sp>
      <p:sp>
        <p:nvSpPr>
          <p:cNvPr id="687" name="Google Shape;687;p31"/>
          <p:cNvSpPr txBox="1"/>
          <p:nvPr/>
        </p:nvSpPr>
        <p:spPr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ap4.0: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prove Alice “live”, Bob sends Alice nonce, R </a:t>
            </a:r>
            <a:endParaRPr/>
          </a:p>
          <a:p>
            <a:pPr indent="-3397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must return R, encrypted with shared secret key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nonce: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(R) used only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once-in-a-lifetime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Failures, drawbacks?</a:t>
            </a:r>
            <a:endParaRPr/>
          </a:p>
        </p:txBody>
      </p:sp>
      <p:pic>
        <p:nvPicPr>
          <p:cNvPr descr="Alice" id="690" name="Google Shape;6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91" name="Google Shape;69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p31"/>
          <p:cNvGrpSpPr/>
          <p:nvPr/>
        </p:nvGrpSpPr>
        <p:grpSpPr>
          <a:xfrm>
            <a:off x="3966128" y="3573117"/>
            <a:ext cx="3697288" cy="614363"/>
            <a:chOff x="2733675" y="3467100"/>
            <a:chExt cx="3697288" cy="614363"/>
          </a:xfrm>
        </p:grpSpPr>
        <p:cxnSp>
          <p:nvCxnSpPr>
            <p:cNvPr id="693" name="Google Shape;693;p31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4" name="Google Shape;694;p31"/>
            <p:cNvSpPr txBox="1"/>
            <p:nvPr/>
          </p:nvSpPr>
          <p:spPr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695" name="Google Shape;695;p31"/>
          <p:cNvGrpSpPr/>
          <p:nvPr/>
        </p:nvGrpSpPr>
        <p:grpSpPr>
          <a:xfrm>
            <a:off x="3959778" y="4247805"/>
            <a:ext cx="3697288" cy="557212"/>
            <a:chOff x="2727325" y="4141788"/>
            <a:chExt cx="3697288" cy="557212"/>
          </a:xfrm>
        </p:grpSpPr>
        <p:cxnSp>
          <p:nvCxnSpPr>
            <p:cNvPr id="696" name="Google Shape;696;p31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7" name="Google Shape;697;p31"/>
            <p:cNvSpPr txBox="1"/>
            <p:nvPr/>
          </p:nvSpPr>
          <p:spPr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698" name="Google Shape;698;p31"/>
          <p:cNvGrpSpPr/>
          <p:nvPr/>
        </p:nvGrpSpPr>
        <p:grpSpPr>
          <a:xfrm>
            <a:off x="3967716" y="4806605"/>
            <a:ext cx="7442403" cy="1421928"/>
            <a:chOff x="2735263" y="4700588"/>
            <a:chExt cx="7442403" cy="1421928"/>
          </a:xfrm>
        </p:grpSpPr>
        <p:cxnSp>
          <p:nvCxnSpPr>
            <p:cNvPr id="699" name="Google Shape;699;p31"/>
            <p:cNvCxnSpPr/>
            <p:nvPr/>
          </p:nvCxnSpPr>
          <p:spPr>
            <a:xfrm>
              <a:off x="2735263" y="5097463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00" name="Google Shape;700;p31"/>
            <p:cNvGrpSpPr/>
            <p:nvPr/>
          </p:nvGrpSpPr>
          <p:grpSpPr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701" name="Google Shape;701;p31"/>
              <p:cNvSpPr txBox="1"/>
              <p:nvPr/>
            </p:nvSpPr>
            <p:spPr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 (R)</a:t>
                </a:r>
                <a:endParaRPr/>
              </a:p>
            </p:txBody>
          </p:sp>
          <p:sp>
            <p:nvSpPr>
              <p:cNvPr id="702" name="Google Shape;702;p31"/>
              <p:cNvSpPr txBox="1"/>
              <p:nvPr/>
            </p:nvSpPr>
            <p:spPr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A-B</a:t>
                </a:r>
                <a:endParaRPr/>
              </a:p>
            </p:txBody>
          </p:sp>
        </p:grpSp>
        <p:sp>
          <p:nvSpPr>
            <p:cNvPr id="703" name="Google Shape;703;p31"/>
            <p:cNvSpPr txBox="1"/>
            <p:nvPr/>
          </p:nvSpPr>
          <p:spPr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know Alice is live, and only Alice knows key to encrypt nonce, so it must be Alice!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" name="Google Shape;711;p32"/>
          <p:cNvSpPr txBox="1"/>
          <p:nvPr/>
        </p:nvSpPr>
        <p:spPr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ap4.0 requires shared symmetric key  - can we authenticate using public key techniques?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ap5.0: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nonce, public key cryptography</a:t>
            </a:r>
            <a:endParaRPr/>
          </a:p>
        </p:txBody>
      </p:sp>
      <p:pic>
        <p:nvPicPr>
          <p:cNvPr descr="Alice" id="712" name="Google Shape;7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3" name="Google Shape;71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4" name="Google Shape;714;p32"/>
          <p:cNvGrpSpPr/>
          <p:nvPr/>
        </p:nvGrpSpPr>
        <p:grpSpPr>
          <a:xfrm>
            <a:off x="3064980" y="3241813"/>
            <a:ext cx="3697288" cy="461665"/>
            <a:chOff x="2733675" y="3718892"/>
            <a:chExt cx="3697288" cy="461665"/>
          </a:xfrm>
        </p:grpSpPr>
        <p:cxnSp>
          <p:nvCxnSpPr>
            <p:cNvPr id="715" name="Google Shape;715;p32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6" name="Google Shape;716;p32"/>
            <p:cNvSpPr txBox="1"/>
            <p:nvPr/>
          </p:nvSpPr>
          <p:spPr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17" name="Google Shape;717;p32"/>
          <p:cNvGrpSpPr/>
          <p:nvPr/>
        </p:nvGrpSpPr>
        <p:grpSpPr>
          <a:xfrm>
            <a:off x="3058630" y="3757474"/>
            <a:ext cx="3697288" cy="523220"/>
            <a:chOff x="2727325" y="4234553"/>
            <a:chExt cx="3697288" cy="523220"/>
          </a:xfrm>
        </p:grpSpPr>
        <p:cxnSp>
          <p:nvCxnSpPr>
            <p:cNvPr id="718" name="Google Shape;718;p32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9" name="Google Shape;719;p32"/>
            <p:cNvSpPr txBox="1"/>
            <p:nvPr/>
          </p:nvSpPr>
          <p:spPr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20" name="Google Shape;720;p32"/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cxnSp>
          <p:nvCxnSpPr>
            <p:cNvPr id="721" name="Google Shape;721;p32"/>
            <p:cNvCxnSpPr/>
            <p:nvPr/>
          </p:nvCxnSpPr>
          <p:spPr>
            <a:xfrm>
              <a:off x="3086100" y="4408349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22" name="Google Shape;722;p32"/>
            <p:cNvGrpSpPr/>
            <p:nvPr/>
          </p:nvGrpSpPr>
          <p:grpSpPr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723" name="Google Shape;723;p32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24" name="Google Shape;724;p32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25" name="Google Shape;725;p32"/>
              <p:cNvSpPr txBox="1"/>
              <p:nvPr/>
            </p:nvSpPr>
            <p:spPr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26" name="Google Shape;726;p32"/>
          <p:cNvGrpSpPr/>
          <p:nvPr/>
        </p:nvGrpSpPr>
        <p:grpSpPr>
          <a:xfrm>
            <a:off x="2985743" y="5009805"/>
            <a:ext cx="3697288" cy="369332"/>
            <a:chOff x="2727325" y="4380327"/>
            <a:chExt cx="3697288" cy="369332"/>
          </a:xfrm>
        </p:grpSpPr>
        <p:cxnSp>
          <p:nvCxnSpPr>
            <p:cNvPr id="727" name="Google Shape;727;p32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8" name="Google Shape;728;p32"/>
            <p:cNvSpPr txBox="1"/>
            <p:nvPr/>
          </p:nvSpPr>
          <p:spPr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29" name="Google Shape;729;p32"/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cxnSp>
          <p:nvCxnSpPr>
            <p:cNvPr id="730" name="Google Shape;730;p32"/>
            <p:cNvCxnSpPr/>
            <p:nvPr/>
          </p:nvCxnSpPr>
          <p:spPr>
            <a:xfrm>
              <a:off x="3072848" y="5647428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31" name="Google Shape;731;p32"/>
            <p:cNvGrpSpPr/>
            <p:nvPr/>
          </p:nvGrpSpPr>
          <p:grpSpPr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732" name="Google Shape;732;p32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33" name="Google Shape;733;p32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34" name="Google Shape;734;p32"/>
              <p:cNvSpPr txBox="1"/>
              <p:nvPr/>
            </p:nvSpPr>
            <p:spPr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735" name="Google Shape;735;p32"/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736" name="Google Shape;736;p32"/>
            <p:cNvSpPr txBox="1"/>
            <p:nvPr/>
          </p:nvSpPr>
          <p:spPr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737" name="Google Shape;737;p32"/>
            <p:cNvSpPr txBox="1"/>
            <p:nvPr/>
          </p:nvSpPr>
          <p:spPr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knows only Alice could have the private key, that encrypted R such that</a:t>
              </a:r>
              <a:endParaRPr/>
            </a:p>
          </p:txBody>
        </p:sp>
        <p:grpSp>
          <p:nvGrpSpPr>
            <p:cNvPr id="738" name="Google Shape;738;p32"/>
            <p:cNvGrpSpPr/>
            <p:nvPr/>
          </p:nvGrpSpPr>
          <p:grpSpPr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739" name="Google Shape;739;p32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740" name="Google Shape;740;p32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41" name="Google Shape;741;p32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742" name="Google Shape;742;p32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743" name="Google Shape;743;p32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44" name="Google Shape;744;p32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grpSp>
          <p:nvGrpSpPr>
            <p:cNvPr id="745" name="Google Shape;745;p32"/>
            <p:cNvGrpSpPr/>
            <p:nvPr/>
          </p:nvGrpSpPr>
          <p:grpSpPr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746" name="Google Shape;746;p32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747" name="Google Shape;747;p32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48" name="Google Shape;748;p32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749" name="Google Shape;749;p32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750" name="Google Shape;750;p32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51" name="Google Shape;751;p32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cxnSp>
          <p:nvCxnSpPr>
            <p:cNvPr id="752" name="Google Shape;752;p32"/>
            <p:cNvCxnSpPr/>
            <p:nvPr/>
          </p:nvCxnSpPr>
          <p:spPr>
            <a:xfrm>
              <a:off x="8375374" y="3806822"/>
              <a:ext cx="0" cy="2487961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3" name="Google Shape;753;p32"/>
            <p:cNvCxnSpPr/>
            <p:nvPr/>
          </p:nvCxnSpPr>
          <p:spPr>
            <a:xfrm>
              <a:off x="6970643" y="5917096"/>
              <a:ext cx="1398105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there’s still a flaw!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33"/>
          <p:cNvSpPr txBox="1"/>
          <p:nvPr/>
        </p:nvSpPr>
        <p:spPr>
          <a:xfrm>
            <a:off x="533400" y="1137272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 (or woman) in the middle attack: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762" name="Google Shape;7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63" name="Google Shape;7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764" name="Google Shape;7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5" name="Google Shape;765;p33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766" name="Google Shape;766;p33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7" name="Google Shape;767;p33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768" name="Google Shape;768;p33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769" name="Google Shape;769;p33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0" name="Google Shape;770;p33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771" name="Google Shape;771;p33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772" name="Google Shape;772;p33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3" name="Google Shape;773;p33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74" name="Google Shape;774;p33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775" name="Google Shape;775;p33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6" name="Google Shape;776;p33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77" name="Google Shape;777;p33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778" name="Google Shape;778;p33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779" name="Google Shape;779;p33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780" name="Google Shape;780;p3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781" name="Google Shape;781;p3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782" name="Google Shape;782;p33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783" name="Google Shape;783;p33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784" name="Google Shape;784;p33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785" name="Google Shape;785;p33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786" name="Google Shape;786;p33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787" name="Google Shape;787;p33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88" name="Google Shape;788;p33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789" name="Google Shape;789;p3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791" name="Google Shape;791;p33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92" name="Google Shape;792;p33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93" name="Google Shape;793;p33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794" name="Google Shape;794;p33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95" name="Google Shape;795;p33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796" name="Google Shape;796;p33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3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798" name="Google Shape;798;p33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799" name="Google Shape;799;p33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00" name="Google Shape;800;p33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801" name="Google Shape;801;p3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03" name="Google Shape;803;p33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04" name="Google Shape;804;p33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05" name="Google Shape;805;p33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806" name="Google Shape;806;p33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7" name="Google Shape;807;p33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808" name="Google Shape;808;p33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809" name="Google Shape;809;p33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33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11" name="Google Shape;811;p33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812" name="Google Shape;812;p33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813" name="Google Shape;813;p33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814" name="Google Shape;814;p33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815" name="Google Shape;815;p33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16" name="Google Shape;816;p33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817" name="Google Shape;817;p33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18" name="Google Shape;818;p33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819" name="Google Shape;819;p33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0" name="Google Shape;820;p33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821" name="Google Shape;821;p33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2" name="Google Shape;822;p33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23" name="Google Shape;823;p33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824" name="Google Shape;824;p33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25" name="Google Shape;825;p33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826" name="Google Shape;826;p33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3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28" name="Google Shape;828;p33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29" name="Google Shape;829;p33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30" name="Google Shape;830;p33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831" name="Google Shape;831;p33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32" name="Google Shape;832;p33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833" name="Google Shape;833;p33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3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35" name="Google Shape;835;p33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36" name="Google Shape;836;p33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837" name="Google Shape;837;p33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8" name="Google Shape;838;p33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839" name="Google Shape;839;p33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40" name="Google Shape;840;p33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841" name="Google Shape;841;p33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842" name="Google Shape;842;p33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43" name="Google Shape;843;p33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844" name="Google Shape;844;p33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845" name="Google Shape;845;p33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846" name="Google Shape;846;p33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7" name="Google Shape;847;p33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8" name="Google Shape;848;p33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849" name="Google Shape;849;p33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3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851" name="Google Shape;851;p33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52" name="Google Shape;852;p33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853" name="Google Shape;853;p33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854" name="Google Shape;854;p33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5" name="Google Shape;855;p3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856" name="Google Shape;856;p3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57" name="Google Shape;857;p33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8" name="Google Shape;858;p33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859" name="Google Shape;859;p33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860" name="Google Shape;860;p33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861" name="Google Shape;861;p33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862" name="Google Shape;862;p33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863" name="Google Shape;863;p33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cryptographic technique analogous to hand-written signatures: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(Bob) digitally signs document: he is document owner/creator.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verifiable, nonforgeable: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recipient (Alice) can prove to someone that Bob, and no one else (including Alice), must have signed document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simple digital signature for message m: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signs m by encrypting with his private key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“signed” message,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 txBox="1"/>
          <p:nvPr/>
        </p:nvSpPr>
        <p:spPr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Bob’s message, m</a:t>
            </a:r>
            <a:endParaRPr/>
          </a:p>
        </p:txBody>
      </p:sp>
      <p:sp>
        <p:nvSpPr>
          <p:cNvPr id="873" name="Google Shape;873;p34"/>
          <p:cNvSpPr/>
          <p:nvPr/>
        </p:nvSpPr>
        <p:spPr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4"/>
          <p:cNvSpPr txBox="1"/>
          <p:nvPr/>
        </p:nvSpPr>
        <p:spPr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cxnSp>
        <p:nvCxnSpPr>
          <p:cNvPr id="875" name="Google Shape;875;p34"/>
          <p:cNvCxnSpPr/>
          <p:nvPr/>
        </p:nvCxnSpPr>
        <p:spPr>
          <a:xfrm>
            <a:off x="4205080" y="5531541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34"/>
          <p:cNvSpPr txBox="1"/>
          <p:nvPr/>
        </p:nvSpPr>
        <p:spPr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private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</p:txBody>
      </p:sp>
      <p:pic>
        <p:nvPicPr>
          <p:cNvPr descr="BS00768_[1]" id="877" name="Google Shape;8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34"/>
          <p:cNvGrpSpPr/>
          <p:nvPr/>
        </p:nvGrpSpPr>
        <p:grpSpPr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879" name="Google Shape;879;p34"/>
            <p:cNvGrpSpPr/>
            <p:nvPr/>
          </p:nvGrpSpPr>
          <p:grpSpPr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880" name="Google Shape;880;p34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881" name="Google Shape;881;p34"/>
              <p:cNvSpPr txBox="1"/>
              <p:nvPr/>
            </p:nvSpPr>
            <p:spPr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882" name="Google Shape;882;p34"/>
            <p:cNvSpPr txBox="1"/>
            <p:nvPr/>
          </p:nvSpPr>
          <p:spPr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cxnSp>
        <p:nvCxnSpPr>
          <p:cNvPr id="883" name="Google Shape;883;p34"/>
          <p:cNvCxnSpPr/>
          <p:nvPr/>
        </p:nvCxnSpPr>
        <p:spPr>
          <a:xfrm>
            <a:off x="5430354" y="4578489"/>
            <a:ext cx="1588" cy="46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34"/>
          <p:cNvCxnSpPr/>
          <p:nvPr/>
        </p:nvCxnSpPr>
        <p:spPr>
          <a:xfrm>
            <a:off x="6720784" y="5518289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5" name="Google Shape;885;p34"/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886" name="Google Shape;886;p34"/>
            <p:cNvSpPr txBox="1"/>
            <p:nvPr/>
          </p:nvSpPr>
          <p:spPr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m,K </a:t>
              </a:r>
              <a:endParaRPr/>
            </a:p>
          </p:txBody>
        </p:sp>
        <p:grpSp>
          <p:nvGrpSpPr>
            <p:cNvPr id="887" name="Google Shape;887;p34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888" name="Google Shape;888;p34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889" name="Google Shape;889;p34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890" name="Google Shape;890;p34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  <p:grpSp>
        <p:nvGrpSpPr>
          <p:cNvPr id="891" name="Google Shape;891;p34"/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892" name="Google Shape;892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34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894" name="Google Shape;894;p34"/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895" name="Google Shape;895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4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897" name="Google Shape;897;p34"/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898" name="Google Shape;898;p34"/>
            <p:cNvSpPr txBox="1"/>
            <p:nvPr/>
          </p:nvSpPr>
          <p:spPr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grpSp>
          <p:nvGrpSpPr>
            <p:cNvPr id="899" name="Google Shape;899;p34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00" name="Google Shape;900;p34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01" name="Google Shape;901;p34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02" name="Google Shape;902;p34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5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0" name="Google Shape;910;p35"/>
          <p:cNvSpPr txBox="1"/>
          <p:nvPr/>
        </p:nvSpPr>
        <p:spPr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grpSp>
        <p:nvGrpSpPr>
          <p:cNvPr id="911" name="Google Shape;911;p35"/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912" name="Google Shape;912;p35"/>
            <p:cNvSpPr txBox="1"/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381000" lvl="0" marL="381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Alice thus verifies that: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one else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 and not m’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non-repudiation:</a:t>
              </a:r>
              <a:endParaRPr/>
            </a:p>
            <a:p>
              <a:pPr indent="-342900" lvl="1" marL="8001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Noto Sans Symbols"/>
                <a:buChar char="✔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 can take m, and signature K</a:t>
              </a:r>
              <a:r>
                <a:rPr b="0" baseline="-2500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(m) to court and prove that Bob signed m</a:t>
              </a:r>
              <a:endParaRPr/>
            </a:p>
            <a:p>
              <a:pPr indent="-24003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13" name="Google Shape;913;p35"/>
            <p:cNvSpPr txBox="1"/>
            <p:nvPr/>
          </p:nvSpPr>
          <p:spPr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-</a:t>
              </a:r>
              <a:endParaRPr/>
            </a:p>
          </p:txBody>
        </p:sp>
      </p:grpSp>
      <p:sp>
        <p:nvSpPr>
          <p:cNvPr id="914" name="Google Shape;914;p35"/>
          <p:cNvSpPr txBox="1"/>
          <p:nvPr/>
        </p:nvSpPr>
        <p:spPr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receives msg m, with signature: m,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m signed by Bob by applying Bob’s public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then checks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m.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m, whoever signed m must have used Bob’s private key</a:t>
            </a:r>
            <a:endParaRPr/>
          </a:p>
        </p:txBody>
      </p:sp>
      <p:sp>
        <p:nvSpPr>
          <p:cNvPr id="915" name="Google Shape;915;p35"/>
          <p:cNvSpPr txBox="1"/>
          <p:nvPr/>
        </p:nvSpPr>
        <p:spPr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16" name="Google Shape;916;p35"/>
          <p:cNvSpPr txBox="1"/>
          <p:nvPr/>
        </p:nvSpPr>
        <p:spPr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17" name="Google Shape;917;p35"/>
          <p:cNvSpPr txBox="1"/>
          <p:nvPr/>
        </p:nvSpPr>
        <p:spPr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18" name="Google Shape;918;p35"/>
          <p:cNvSpPr txBox="1"/>
          <p:nvPr/>
        </p:nvSpPr>
        <p:spPr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19" name="Google Shape;919;p35"/>
          <p:cNvSpPr txBox="1"/>
          <p:nvPr/>
        </p:nvSpPr>
        <p:spPr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20" name="Google Shape;920;p35"/>
          <p:cNvSpPr txBox="1"/>
          <p:nvPr/>
        </p:nvSpPr>
        <p:spPr>
          <a:xfrm>
            <a:off x="2779367" y="2165626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6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Message digests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8" name="Google Shape;928;p36"/>
          <p:cNvSpPr txBox="1"/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Hash function properties: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many-to-1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fixed-size msg digest (fingerprint)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message digest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computationally infeasible to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H(m)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29" name="Google Shape;929;p36"/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930" name="Google Shape;930;p36"/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931" name="Google Shape;931;p3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2" name="Google Shape;932;p36"/>
              <p:cNvSpPr txBox="1"/>
              <p:nvPr/>
            </p:nvSpPr>
            <p:spPr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/>
              </a:p>
            </p:txBody>
          </p:sp>
        </p:grpSp>
        <p:sp>
          <p:nvSpPr>
            <p:cNvPr id="933" name="Google Shape;933;p36"/>
            <p:cNvSpPr/>
            <p:nvPr/>
          </p:nvSpPr>
          <p:spPr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6"/>
            <p:cNvSpPr txBox="1"/>
            <p:nvPr/>
          </p:nvSpPr>
          <p:spPr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H: Hash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/>
            </a:p>
          </p:txBody>
        </p:sp>
        <p:cxnSp>
          <p:nvCxnSpPr>
            <p:cNvPr id="935" name="Google Shape;935;p36"/>
            <p:cNvCxnSpPr/>
            <p:nvPr/>
          </p:nvCxnSpPr>
          <p:spPr>
            <a:xfrm>
              <a:off x="7842390" y="116177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6" name="Google Shape;936;p36"/>
            <p:cNvSpPr txBox="1"/>
            <p:nvPr/>
          </p:nvSpPr>
          <p:spPr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H(m)</a:t>
              </a:r>
              <a:endParaRPr/>
            </a:p>
          </p:txBody>
        </p:sp>
        <p:cxnSp>
          <p:nvCxnSpPr>
            <p:cNvPr id="937" name="Google Shape;937;p36"/>
            <p:cNvCxnSpPr/>
            <p:nvPr/>
          </p:nvCxnSpPr>
          <p:spPr>
            <a:xfrm>
              <a:off x="9518790" y="119490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38" name="Google Shape;938;p36"/>
          <p:cNvSpPr txBox="1"/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 to public-key-encrypt long messages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fixed-length, easy- to-compute digital “fingerprint”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hash function 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get fixed size message digest,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7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Internet checksum: poor crypto hash function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6" name="Google Shape;946;p37"/>
          <p:cNvSpPr txBox="1"/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checksum has some properties of hash function: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 length digest (16-bit sum) of message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many-to-one</a:t>
            </a:r>
            <a:endParaRPr/>
          </a:p>
        </p:txBody>
      </p:sp>
      <p:sp>
        <p:nvSpPr>
          <p:cNvPr id="947" name="Google Shape;947;p37"/>
          <p:cNvSpPr/>
          <p:nvPr/>
        </p:nvSpPr>
        <p:spPr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given message with given hash value, it is easy to find another message with same hash value: </a:t>
            </a:r>
            <a:endParaRPr/>
          </a:p>
        </p:txBody>
      </p:sp>
      <p:sp>
        <p:nvSpPr>
          <p:cNvPr id="948" name="Google Shape;948;p37"/>
          <p:cNvSpPr txBox="1"/>
          <p:nvPr/>
        </p:nvSpPr>
        <p:spPr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949" name="Google Shape;949;p37"/>
          <p:cNvSpPr txBox="1"/>
          <p:nvPr/>
        </p:nvSpPr>
        <p:spPr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950" name="Google Shape;950;p37"/>
          <p:cNvSpPr txBox="1"/>
          <p:nvPr/>
        </p:nvSpPr>
        <p:spPr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951" name="Google Shape;951;p37"/>
          <p:cNvSpPr txBox="1"/>
          <p:nvPr/>
        </p:nvSpPr>
        <p:spPr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952" name="Google Shape;952;p37"/>
          <p:cNvCxnSpPr/>
          <p:nvPr/>
        </p:nvCxnSpPr>
        <p:spPr>
          <a:xfrm>
            <a:off x="3191841" y="5350565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37"/>
          <p:cNvSpPr txBox="1"/>
          <p:nvPr/>
        </p:nvSpPr>
        <p:spPr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954" name="Google Shape;954;p37"/>
          <p:cNvSpPr txBox="1"/>
          <p:nvPr/>
        </p:nvSpPr>
        <p:spPr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955" name="Google Shape;955;p37"/>
          <p:cNvSpPr txBox="1"/>
          <p:nvPr/>
        </p:nvSpPr>
        <p:spPr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956" name="Google Shape;956;p37"/>
          <p:cNvSpPr txBox="1"/>
          <p:nvPr/>
        </p:nvSpPr>
        <p:spPr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957" name="Google Shape;957;p37"/>
          <p:cNvSpPr txBox="1"/>
          <p:nvPr/>
        </p:nvSpPr>
        <p:spPr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958" name="Google Shape;958;p37"/>
          <p:cNvCxnSpPr/>
          <p:nvPr/>
        </p:nvCxnSpPr>
        <p:spPr>
          <a:xfrm>
            <a:off x="8213104" y="5334690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37"/>
          <p:cNvSpPr txBox="1"/>
          <p:nvPr/>
        </p:nvSpPr>
        <p:spPr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960" name="Google Shape;960;p37"/>
          <p:cNvSpPr txBox="1"/>
          <p:nvPr/>
        </p:nvSpPr>
        <p:spPr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different messages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but identical checksums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961" name="Google Shape;961;p37"/>
          <p:cNvCxnSpPr/>
          <p:nvPr/>
        </p:nvCxnSpPr>
        <p:spPr>
          <a:xfrm rot="10800000">
            <a:off x="4879354" y="5575990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37"/>
          <p:cNvCxnSpPr/>
          <p:nvPr/>
        </p:nvCxnSpPr>
        <p:spPr>
          <a:xfrm flipH="1" rot="10800000">
            <a:off x="7789241" y="5560115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 = signed message digest</a:t>
            </a:r>
            <a:endParaRPr/>
          </a:p>
        </p:txBody>
      </p:sp>
      <p:sp>
        <p:nvSpPr>
          <p:cNvPr id="969" name="Google Shape;969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0" name="Google Shape;970;p38"/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971" name="Google Shape;971;p38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8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973" name="Google Shape;973;p38"/>
          <p:cNvGrpSpPr/>
          <p:nvPr/>
        </p:nvGrpSpPr>
        <p:grpSpPr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974" name="Google Shape;974;p38"/>
            <p:cNvSpPr txBox="1"/>
            <p:nvPr/>
          </p:nvSpPr>
          <p:spPr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1152" y="2924"/>
              <a:ext cx="195" cy="16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6" name="Google Shape;976;p38"/>
          <p:cNvCxnSpPr/>
          <p:nvPr/>
        </p:nvCxnSpPr>
        <p:spPr>
          <a:xfrm>
            <a:off x="1647412" y="3034955"/>
            <a:ext cx="0" cy="198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7" name="Google Shape;977;p38"/>
          <p:cNvCxnSpPr/>
          <p:nvPr/>
        </p:nvCxnSpPr>
        <p:spPr>
          <a:xfrm>
            <a:off x="1620425" y="5328892"/>
            <a:ext cx="3175" cy="30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592_[1]" id="978" name="Google Shape;9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38"/>
          <p:cNvSpPr/>
          <p:nvPr/>
        </p:nvSpPr>
        <p:spPr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sends digitally signed message:</a:t>
            </a:r>
            <a:endParaRPr/>
          </a:p>
        </p:txBody>
      </p:sp>
      <p:grpSp>
        <p:nvGrpSpPr>
          <p:cNvPr id="980" name="Google Shape;980;p38"/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981" name="Google Shape;981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38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Google Shape;983;p38"/>
          <p:cNvSpPr/>
          <p:nvPr/>
        </p:nvSpPr>
        <p:spPr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8"/>
          <p:cNvSpPr txBox="1"/>
          <p:nvPr/>
        </p:nvSpPr>
        <p:spPr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cxnSp>
        <p:nvCxnSpPr>
          <p:cNvPr id="985" name="Google Shape;985;p38"/>
          <p:cNvCxnSpPr/>
          <p:nvPr/>
        </p:nvCxnSpPr>
        <p:spPr>
          <a:xfrm>
            <a:off x="2425148" y="2553252"/>
            <a:ext cx="3710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38"/>
          <p:cNvSpPr txBox="1"/>
          <p:nvPr/>
        </p:nvSpPr>
        <p:spPr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/>
          </a:p>
        </p:txBody>
      </p:sp>
      <p:cxnSp>
        <p:nvCxnSpPr>
          <p:cNvPr id="987" name="Google Shape;987;p38"/>
          <p:cNvCxnSpPr/>
          <p:nvPr/>
        </p:nvCxnSpPr>
        <p:spPr>
          <a:xfrm>
            <a:off x="4072149" y="2599634"/>
            <a:ext cx="38058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38"/>
          <p:cNvCxnSpPr/>
          <p:nvPr/>
        </p:nvCxnSpPr>
        <p:spPr>
          <a:xfrm rot="10800000">
            <a:off x="1815550" y="5155096"/>
            <a:ext cx="20275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9" name="Google Shape;989;p38"/>
          <p:cNvCxnSpPr/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0" name="Google Shape;990;p38"/>
          <p:cNvCxnSpPr/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1" name="Google Shape;991;p38"/>
          <p:cNvSpPr txBox="1"/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signature, integrity of digitally signed message:</a:t>
            </a:r>
            <a:endParaRPr/>
          </a:p>
        </p:txBody>
      </p:sp>
      <p:pic>
        <p:nvPicPr>
          <p:cNvPr descr="BS00592_[1]" id="992" name="Google Shape;9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38"/>
          <p:cNvSpPr txBox="1"/>
          <p:nvPr/>
        </p:nvSpPr>
        <p:spPr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sp>
        <p:nvSpPr>
          <p:cNvPr id="994" name="Google Shape;994;p38"/>
          <p:cNvSpPr txBox="1"/>
          <p:nvPr/>
        </p:nvSpPr>
        <p:spPr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sp>
        <p:nvSpPr>
          <p:cNvPr id="995" name="Google Shape;995;p38"/>
          <p:cNvSpPr txBox="1"/>
          <p:nvPr/>
        </p:nvSpPr>
        <p:spPr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cxnSp>
        <p:nvCxnSpPr>
          <p:cNvPr id="996" name="Google Shape;996;p38"/>
          <p:cNvCxnSpPr/>
          <p:nvPr/>
        </p:nvCxnSpPr>
        <p:spPr>
          <a:xfrm rot="10800000">
            <a:off x="8190534" y="2863020"/>
            <a:ext cx="144938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97" name="Google Shape;997;p38"/>
          <p:cNvCxnSpPr/>
          <p:nvPr/>
        </p:nvCxnSpPr>
        <p:spPr>
          <a:xfrm>
            <a:off x="7868272" y="587292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8" name="Google Shape;998;p38"/>
          <p:cNvCxnSpPr/>
          <p:nvPr/>
        </p:nvCxnSpPr>
        <p:spPr>
          <a:xfrm flipH="1">
            <a:off x="9485934" y="586657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99" name="Google Shape;999;p38"/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000" name="Google Shape;1000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38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38"/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1003" name="Google Shape;1003;p38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04" name="Google Shape;1004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5" name="Google Shape;1005;p38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06" name="Google Shape;1006;p38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07" name="Google Shape;1007;p38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08" name="Google Shape;1008;p38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09" name="Google Shape;1009;p38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010" name="Google Shape;1010;p38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11" name="Google Shape;1011;p38"/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012" name="Google Shape;1012;p38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13" name="Google Shape;1013;p38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14" name="Google Shape;1014;p38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15" name="Google Shape;1015;p38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16" name="Google Shape;1016;p38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7" name="Google Shape;1017;p38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8" name="Google Shape;1018;p38"/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019" name="Google Shape;1019;p38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20" name="Google Shape;1020;p38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21" name="Google Shape;1021;p38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22" name="Google Shape;1022;p38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23" name="Google Shape;1023;p38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4" name="Google Shape;1024;p38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25" name="Google Shape;1025;p38"/>
          <p:cNvCxnSpPr/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6" name="Google Shape;1026;p38"/>
          <p:cNvCxnSpPr/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7" name="Google Shape;1027;p38"/>
          <p:cNvCxnSpPr/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28" name="Google Shape;1028;p38"/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029" name="Google Shape;1029;p38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8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031" name="Google Shape;1031;p38"/>
          <p:cNvCxnSpPr/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2" name="Google Shape;1032;p38"/>
          <p:cNvCxnSpPr/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33" name="Google Shape;1033;p38"/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034" name="Google Shape;1034;p38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35" name="Google Shape;1035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6" name="Google Shape;1036;p38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37" name="Google Shape;1037;p38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38" name="Google Shape;1038;p38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39" name="Google Shape;1039;p38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40" name="Google Shape;1040;p38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041" name="Google Shape;1041;p38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42" name="Google Shape;1042;p38"/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1043" name="Google Shape;1043;p38"/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044" name="Google Shape;1044;p38"/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equal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39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Hash function algorithms</a:t>
            </a:r>
            <a:endParaRPr/>
          </a:p>
        </p:txBody>
      </p:sp>
      <p:sp>
        <p:nvSpPr>
          <p:cNvPr id="1051" name="Google Shape;1051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2" name="Google Shape;1052;p39"/>
          <p:cNvSpPr txBox="1"/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MD5 hash function widely used (RFC 1321)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128-bit message digest in 4-step process.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128-bit string x, appears difficult to construct msg m whose MD5 hash is equal to x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SHA-1 is also used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standard [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NIST, FIPS PUB 180-1]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160-bit message digest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let’s fix it!!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0" name="Google Shape;1060;p40"/>
          <p:cNvSpPr txBox="1"/>
          <p:nvPr/>
        </p:nvSpPr>
        <p:spPr>
          <a:xfrm>
            <a:off x="865909" y="1170523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Recall the problem: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1061" name="Google Shape;10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062" name="Google Shape;10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063" name="Google Shape;106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4" name="Google Shape;1064;p40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1065" name="Google Shape;1065;p40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6" name="Google Shape;1066;p40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067" name="Google Shape;1067;p40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1068" name="Google Shape;1068;p40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9" name="Google Shape;1069;p40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070" name="Google Shape;1070;p40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1071" name="Google Shape;1071;p40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2" name="Google Shape;1072;p40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073" name="Google Shape;1073;p40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1074" name="Google Shape;1074;p40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5" name="Google Shape;1075;p40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076" name="Google Shape;1076;p40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077" name="Google Shape;1077;p40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078" name="Google Shape;1078;p40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079" name="Google Shape;1079;p40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080" name="Google Shape;1080;p40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081" name="Google Shape;1081;p40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082" name="Google Shape;1082;p40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083" name="Google Shape;1083;p40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1084" name="Google Shape;1084;p40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1085" name="Google Shape;1085;p40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1086" name="Google Shape;1086;p40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087" name="Google Shape;1087;p40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1088" name="Google Shape;1088;p40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40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090" name="Google Shape;1090;p40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091" name="Google Shape;1091;p40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092" name="Google Shape;1092;p40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1093" name="Google Shape;1093;p40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094" name="Google Shape;1094;p40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1095" name="Google Shape;1095;p40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0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1097" name="Google Shape;1097;p40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1098" name="Google Shape;1098;p40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099" name="Google Shape;1099;p40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100" name="Google Shape;1100;p40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0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02" name="Google Shape;1102;p40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03" name="Google Shape;1103;p40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04" name="Google Shape;1104;p40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105" name="Google Shape;1105;p40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6" name="Google Shape;1106;p40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107" name="Google Shape;1107;p40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108" name="Google Shape;1108;p40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40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10" name="Google Shape;1110;p40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1111" name="Google Shape;1111;p40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1112" name="Google Shape;1112;p40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1113" name="Google Shape;1113;p40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114" name="Google Shape;1114;p40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15" name="Google Shape;1115;p40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1116" name="Google Shape;1116;p40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1117" name="Google Shape;1117;p40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1118" name="Google Shape;1118;p40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9" name="Google Shape;1119;p40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1120" name="Google Shape;1120;p40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1" name="Google Shape;1121;p40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1122" name="Google Shape;1122;p40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1123" name="Google Shape;1123;p40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24" name="Google Shape;1124;p40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125" name="Google Shape;1125;p40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40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127" name="Google Shape;1127;p40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128" name="Google Shape;1128;p40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129" name="Google Shape;1129;p40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1130" name="Google Shape;1130;p40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31" name="Google Shape;1131;p40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132" name="Google Shape;1132;p40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40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34" name="Google Shape;1134;p40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35" name="Google Shape;1135;p40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1136" name="Google Shape;1136;p40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7" name="Google Shape;1137;p40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1138" name="Google Shape;1138;p40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39" name="Google Shape;1139;p40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40" name="Google Shape;1140;p40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1141" name="Google Shape;1141;p40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42" name="Google Shape;1142;p40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1143" name="Google Shape;1143;p40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1144" name="Google Shape;1144;p40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1145" name="Google Shape;1145;p40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6" name="Google Shape;1146;p40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7" name="Google Shape;1147;p40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148" name="Google Shape;1148;p40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40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1150" name="Google Shape;1150;p40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51" name="Google Shape;1151;p40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152" name="Google Shape;1152;p40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153" name="Google Shape;1153;p40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154" name="Google Shape;1154;p40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155" name="Google Shape;1155;p40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56" name="Google Shape;1156;p40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157" name="Google Shape;1157;p40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158" name="Google Shape;1158;p40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1159" name="Google Shape;1159;p40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1160" name="Google Shape;1160;p40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161" name="Google Shape;1161;p40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162" name="Google Shape;1162;p40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Need for certified public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0" name="Google Shape;1170;p41"/>
          <p:cNvSpPr txBox="1"/>
          <p:nvPr/>
        </p:nvSpPr>
        <p:spPr>
          <a:xfrm>
            <a:off x="533400" y="1490663"/>
            <a:ext cx="7749209" cy="7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Trudy plays pizza prank on Bob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livery Pepperoni Pizza | Taste Test | Serious Eats" id="1171" name="Google Shape;11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2407" y="2252869"/>
            <a:ext cx="3712524" cy="363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1"/>
          <p:cNvSpPr txBox="1"/>
          <p:nvPr/>
        </p:nvSpPr>
        <p:spPr>
          <a:xfrm>
            <a:off x="868681" y="2059478"/>
            <a:ext cx="6812280" cy="434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1" marL="746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creates e-mail order: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Pizza Store, Please deliver to me four pepperoni pizzas. Thank you,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signs order with her private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order to Pizza Store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to Pizza Store her public key, but says it’s Bob’s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Pizza Store verifies signature; then delivers four pepperoni pizzas to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doesn’t even like pepperoni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0" name="Google Shape;1180;p42"/>
          <p:cNvSpPr txBox="1"/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certification authority (CA):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binds public key to particular entity, 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(person, website, router) registers its public key with CE provides “proof of identity” to CA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creates certificate binding identity E to E’s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containing E’s public key digitally signed by CA: CA says “this is E’s public key”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0175664[1]" id="1181" name="Google Shape;11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182" name="Google Shape;11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3" name="Google Shape;1183;p42"/>
          <p:cNvCxnSpPr/>
          <p:nvPr/>
        </p:nvCxnSpPr>
        <p:spPr>
          <a:xfrm>
            <a:off x="3635651" y="4532105"/>
            <a:ext cx="698500" cy="6159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84" name="Google Shape;1184;p42"/>
          <p:cNvSpPr txBox="1"/>
          <p:nvPr/>
        </p:nvSpPr>
        <p:spPr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information </a:t>
            </a:r>
            <a:endParaRPr/>
          </a:p>
        </p:txBody>
      </p:sp>
      <p:cxnSp>
        <p:nvCxnSpPr>
          <p:cNvPr id="1185" name="Google Shape;1185;p42"/>
          <p:cNvCxnSpPr/>
          <p:nvPr/>
        </p:nvCxnSpPr>
        <p:spPr>
          <a:xfrm flipH="1" rot="10800000">
            <a:off x="3599139" y="5314743"/>
            <a:ext cx="741362" cy="3413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186" name="Google Shape;1186;p42"/>
          <p:cNvCxnSpPr/>
          <p:nvPr/>
        </p:nvCxnSpPr>
        <p:spPr>
          <a:xfrm>
            <a:off x="3686451" y="4349543"/>
            <a:ext cx="2222500" cy="63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42"/>
          <p:cNvCxnSpPr/>
          <p:nvPr/>
        </p:nvCxnSpPr>
        <p:spPr>
          <a:xfrm flipH="1" rot="10800000">
            <a:off x="7163076" y="4376530"/>
            <a:ext cx="1133475" cy="95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88" name="Google Shape;1188;p42"/>
          <p:cNvGrpSpPr/>
          <p:nvPr/>
        </p:nvGrpSpPr>
        <p:grpSpPr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descr="SO00109_[1]" id="1189" name="Google Shape;1189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0" name="Google Shape;1190;p42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191" name="Google Shape;1191;p42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192" name="Google Shape;1192;p42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193" name="Google Shape;1193;p42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194" name="Google Shape;1194;p42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195" name="Google Shape;1195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6" name="Google Shape;1196;p42"/>
          <p:cNvSpPr txBox="1"/>
          <p:nvPr/>
        </p:nvSpPr>
        <p:spPr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for Bob’s public key, signed by 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7" name="Google Shape;1197;p42"/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1198" name="Google Shape;1198;p42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199" name="Google Shape;1199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0" name="Google Shape;1200;p42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201" name="Google Shape;1201;p42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02" name="Google Shape;1202;p42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03" name="Google Shape;1203;p42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04" name="Google Shape;1204;p42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05" name="Google Shape;1205;p42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06" name="Google Shape;1206;p42"/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1207" name="Google Shape;1207;p42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2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209" name="Google Shape;1209;p42"/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1210" name="Google Shape;1210;p42"/>
            <p:cNvSpPr txBox="1"/>
            <p:nvPr/>
          </p:nvSpPr>
          <p:spPr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11" name="Google Shape;1211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2" name="Google Shape;1212;p42"/>
            <p:cNvGrpSpPr/>
            <p:nvPr/>
          </p:nvGrpSpPr>
          <p:grpSpPr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1213" name="Google Shape;1213;p42"/>
              <p:cNvGrpSpPr/>
              <p:nvPr/>
            </p:nvGrpSpPr>
            <p:grpSpPr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1214" name="Google Shape;1214;p42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15" name="Google Shape;1215;p42"/>
                <p:cNvSpPr txBox="1"/>
                <p:nvPr/>
              </p:nvSpPr>
              <p:spPr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16" name="Google Shape;1216;p42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217" name="Google Shape;1217;p42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0175664[1]" id="1225" name="Google Shape;12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43"/>
          <p:cNvSpPr txBox="1"/>
          <p:nvPr/>
        </p:nvSpPr>
        <p:spPr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/>
          </a:p>
        </p:txBody>
      </p:sp>
      <p:pic>
        <p:nvPicPr>
          <p:cNvPr descr="BS00768_[1]" id="1227" name="Google Shape;12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8" name="Google Shape;1228;p43"/>
          <p:cNvGrpSpPr/>
          <p:nvPr/>
        </p:nvGrpSpPr>
        <p:grpSpPr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1229" name="Google Shape;1229;p43"/>
            <p:cNvGrpSpPr/>
            <p:nvPr/>
          </p:nvGrpSpPr>
          <p:grpSpPr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1230" name="Google Shape;1230;p43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1231" name="Google Shape;1231;p43"/>
              <p:cNvSpPr txBox="1"/>
              <p:nvPr/>
            </p:nvSpPr>
            <p:spPr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1232" name="Google Shape;1232;p43"/>
            <p:cNvSpPr txBox="1"/>
            <p:nvPr/>
          </p:nvSpPr>
          <p:spPr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233" name="Google Shape;1233;p43"/>
          <p:cNvGrpSpPr/>
          <p:nvPr/>
        </p:nvGrpSpPr>
        <p:grpSpPr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descr="SO00109_[1]" id="1234" name="Google Shape;1234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5" name="Google Shape;1235;p43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236" name="Google Shape;1236;p43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37" name="Google Shape;1237;p43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38" name="Google Shape;1238;p43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39" name="Google Shape;1239;p43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240" name="Google Shape;1240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1" name="Google Shape;1241;p43"/>
          <p:cNvSpPr txBox="1"/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Alice wants Bob’s public key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gets Bob’s certificate (Bob or elsewhere)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CA’s public key to Bob’s certificate, get Bob’s public key</a:t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2" name="Google Shape;1242;p43"/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1243" name="Google Shape;1243;p43"/>
            <p:cNvSpPr txBox="1"/>
            <p:nvPr/>
          </p:nvSpPr>
          <p:spPr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descr="BS00768_[1]" id="1244" name="Google Shape;1244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5" name="Google Shape;1245;p43"/>
            <p:cNvGrpSpPr/>
            <p:nvPr/>
          </p:nvGrpSpPr>
          <p:grpSpPr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1246" name="Google Shape;1246;p43"/>
              <p:cNvGrpSpPr/>
              <p:nvPr/>
            </p:nvGrpSpPr>
            <p:grpSpPr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1247" name="Google Shape;1247;p43"/>
                <p:cNvSpPr txBox="1"/>
                <p:nvPr/>
              </p:nvSpPr>
              <p:spPr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48" name="Google Shape;1248;p43"/>
                <p:cNvSpPr txBox="1"/>
                <p:nvPr/>
              </p:nvSpPr>
              <p:spPr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49" name="Google Shape;1249;p43"/>
              <p:cNvSpPr txBox="1"/>
              <p:nvPr/>
            </p:nvSpPr>
            <p:spPr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50" name="Google Shape;1250;p43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51" name="Google Shape;1251;p43"/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252" name="Google Shape;1252;p43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3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254" name="Google Shape;1254;p43"/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5" name="Google Shape;1255;p43"/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3" name="Google Shape;1263;p44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64" name="Google Shape;1264;p44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265" name="Google Shape;1265;p44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44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267" name="Google Shape;1267;p44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5"/>
          <p:cNvSpPr txBox="1"/>
          <p:nvPr>
            <p:ph type="title"/>
          </p:nvPr>
        </p:nvSpPr>
        <p:spPr>
          <a:xfrm>
            <a:off x="429768" y="411480"/>
            <a:ext cx="112014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SSL/TLS and TCP/IP</a:t>
            </a:r>
            <a:endParaRPr/>
          </a:p>
        </p:txBody>
      </p:sp>
      <p:sp>
        <p:nvSpPr>
          <p:cNvPr id="1274" name="Google Shape;1274;p45"/>
          <p:cNvSpPr/>
          <p:nvPr/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5" name="Google Shape;12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2536591"/>
            <a:ext cx="6702552" cy="28820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45"/>
          <p:cNvSpPr/>
          <p:nvPr/>
        </p:nvSpPr>
        <p:spPr>
          <a:xfrm>
            <a:off x="7543801" y="1721922"/>
            <a:ext cx="4218432" cy="4520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EDED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5"/>
          <p:cNvSpPr txBox="1"/>
          <p:nvPr>
            <p:ph idx="1" type="body"/>
          </p:nvPr>
        </p:nvSpPr>
        <p:spPr>
          <a:xfrm>
            <a:off x="7938752" y="2020824"/>
            <a:ext cx="3455097" cy="39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SSL/TLS provides application programming interface (API) to applications</a:t>
            </a:r>
            <a:endParaRPr/>
          </a:p>
          <a:p>
            <a:pPr indent="-22860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C, Java, Python SSL/TLS libraries/classes readily available</a:t>
            </a:r>
            <a:endParaRPr/>
          </a:p>
        </p:txBody>
      </p:sp>
      <p:sp>
        <p:nvSpPr>
          <p:cNvPr id="1278" name="Google Shape;1278;p45"/>
          <p:cNvSpPr txBox="1"/>
          <p:nvPr>
            <p:ph idx="12" type="sldNum"/>
          </p:nvPr>
        </p:nvSpPr>
        <p:spPr>
          <a:xfrm>
            <a:off x="85953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Security: 8- </a:t>
            </a:r>
            <a:fld id="{00000000-1234-1234-1234-123412341234}" type="slidenum">
              <a:rPr lang="en-US" sz="1200">
                <a:solidFill>
                  <a:srgbClr val="7F7F7F"/>
                </a:solidFill>
              </a:rPr>
              <a:t>‹#›</a:t>
            </a:fld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4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6" name="Google Shape;1286;p46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87" name="Google Shape;1287;p46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288" name="Google Shape;1288;p46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6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290" name="Google Shape;1290;p46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7"/>
          <p:cNvSpPr txBox="1"/>
          <p:nvPr>
            <p:ph type="title"/>
          </p:nvPr>
        </p:nvSpPr>
        <p:spPr>
          <a:xfrm>
            <a:off x="798691" y="289325"/>
            <a:ext cx="1083671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security: what’s needed?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8" name="Google Shape;1298;p47"/>
          <p:cNvSpPr txBox="1"/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handshake: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Alice, Bob use their certificates, private keys to authenticate each other, exchange or create shared secret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Alice, Bob use shared secret to derive set of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transfer: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transfer: data as a series of records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one-time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closure: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messages to securely close connection</a:t>
            </a:r>
            <a:endParaRPr/>
          </a:p>
        </p:txBody>
      </p:sp>
      <p:sp>
        <p:nvSpPr>
          <p:cNvPr id="1299" name="Google Shape;1299;p47"/>
          <p:cNvSpPr txBox="1"/>
          <p:nvPr/>
        </p:nvSpPr>
        <p:spPr>
          <a:xfrm>
            <a:off x="990600" y="1371393"/>
            <a:ext cx="10598426" cy="6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toy TLS protocol,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t-tls,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what’s needed!</a:t>
            </a:r>
            <a:endParaRPr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7"/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6863" lvl="0" marL="29686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we’ve seen the “pieces” already: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08" name="Google Shape;1308;p48"/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309" name="Google Shape;1309;p48"/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48"/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311" name="Google Shape;1311;p48"/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48"/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1313" name="Google Shape;1313;p48"/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8"/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1315" name="Google Shape;1315;p48"/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1316" name="Google Shape;1316;p48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48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1318" name="Google Shape;1318;p48"/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8"/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320" name="Google Shape;1320;p48"/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48"/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1322" name="Google Shape;1322;p48"/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48"/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1324" name="Google Shape;1324;p48"/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8"/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1326" name="Google Shape;1326;p48"/>
            <p:cNvCxnSpPr/>
            <p:nvPr/>
          </p:nvCxnSpPr>
          <p:spPr>
            <a:xfrm>
              <a:off x="2411896" y="4737663"/>
              <a:ext cx="7475083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27" name="Google Shape;1327;p48"/>
            <p:cNvCxnSpPr/>
            <p:nvPr/>
          </p:nvCxnSpPr>
          <p:spPr>
            <a:xfrm>
              <a:off x="2451652" y="4162508"/>
              <a:ext cx="74544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328" name="Google Shape;1328;p48"/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329" name="Google Shape;1329;p48"/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1330" name="Google Shape;1330;p48"/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1331" name="Google Shape;1331;p48"/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1332" name="Google Shape;1332;p48"/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48"/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1334" name="Google Shape;1334;p48"/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(which incorporates TLS)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 UDP</a:t>
              </a:r>
              <a:endParaRPr/>
            </a:p>
          </p:txBody>
        </p:sp>
        <p:sp>
          <p:nvSpPr>
            <p:cNvPr id="1335" name="Google Shape;1335;p48"/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8"/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337" name="Google Shape;1337;p48"/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48"/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grpSp>
          <p:nvGrpSpPr>
            <p:cNvPr id="1339" name="Google Shape;1339;p48"/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1340" name="Google Shape;1340;p48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48"/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</a:t>
                </a: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1.0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2" name="Google Shape;1342;p48"/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</p:grpSp>
      <p:sp>
        <p:nvSpPr>
          <p:cNvPr id="1343" name="Google Shape;1343;p48"/>
          <p:cNvSpPr txBox="1"/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93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4" name="Google Shape;1344;p48"/>
          <p:cNvSpPr txBox="1"/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provides an API that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 can use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HTTP view of TLS: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87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