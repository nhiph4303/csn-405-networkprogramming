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9" r:id="rId1"/>
  </p:sldMasterIdLst>
  <p:notesMasterIdLst>
    <p:notesMasterId r:id="rId41"/>
  </p:notesMasterIdLst>
  <p:sldIdLst>
    <p:sldId id="256" r:id="rId2"/>
    <p:sldId id="350" r:id="rId3"/>
    <p:sldId id="358" r:id="rId4"/>
    <p:sldId id="360" r:id="rId5"/>
    <p:sldId id="361" r:id="rId6"/>
    <p:sldId id="362" r:id="rId7"/>
    <p:sldId id="363" r:id="rId8"/>
    <p:sldId id="364" r:id="rId9"/>
    <p:sldId id="365" r:id="rId10"/>
    <p:sldId id="366" r:id="rId11"/>
    <p:sldId id="367" r:id="rId12"/>
    <p:sldId id="368" r:id="rId13"/>
    <p:sldId id="369" r:id="rId14"/>
    <p:sldId id="371" r:id="rId15"/>
    <p:sldId id="370" r:id="rId16"/>
    <p:sldId id="372" r:id="rId17"/>
    <p:sldId id="373" r:id="rId18"/>
    <p:sldId id="375" r:id="rId19"/>
    <p:sldId id="376" r:id="rId20"/>
    <p:sldId id="374" r:id="rId21"/>
    <p:sldId id="378" r:id="rId22"/>
    <p:sldId id="379" r:id="rId23"/>
    <p:sldId id="377" r:id="rId24"/>
    <p:sldId id="381" r:id="rId25"/>
    <p:sldId id="382" r:id="rId26"/>
    <p:sldId id="383" r:id="rId27"/>
    <p:sldId id="384" r:id="rId28"/>
    <p:sldId id="380" r:id="rId29"/>
    <p:sldId id="386" r:id="rId30"/>
    <p:sldId id="387" r:id="rId31"/>
    <p:sldId id="390" r:id="rId32"/>
    <p:sldId id="391" r:id="rId33"/>
    <p:sldId id="389" r:id="rId34"/>
    <p:sldId id="393" r:id="rId35"/>
    <p:sldId id="401" r:id="rId36"/>
    <p:sldId id="402" r:id="rId37"/>
    <p:sldId id="359" r:id="rId38"/>
    <p:sldId id="289" r:id="rId39"/>
    <p:sldId id="344" r:id="rId40"/>
  </p:sldIdLst>
  <p:sldSz cx="9144000" cy="5143500" type="screen16x9"/>
  <p:notesSz cx="6858000" cy="9144000"/>
  <p:embeddedFontLst>
    <p:embeddedFont>
      <p:font typeface="Arial Black" panose="020B0A04020102020204" pitchFamily="3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2213A8-D43E-405C-8154-DC7EB8AA765A}">
  <a:tblStyle styleId="{032213A8-D43E-405C-8154-DC7EB8AA765A}"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B54F701-EF2D-4048-8CCD-890C0CC40767}"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84" autoAdjust="0"/>
  </p:normalViewPr>
  <p:slideViewPr>
    <p:cSldViewPr snapToGrid="0">
      <p:cViewPr>
        <p:scale>
          <a:sx n="75" d="100"/>
          <a:sy n="75" d="100"/>
        </p:scale>
        <p:origin x="1594" y="14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It is very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powerful</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and uses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simple programming language</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It can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solve complex text processing tasks </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with a few lines of code.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lvl="0" indent="0" algn="l" rtl="0">
              <a:spcBef>
                <a:spcPts val="0"/>
              </a:spcBef>
              <a:spcAft>
                <a:spcPts val="0"/>
              </a:spcAft>
              <a:buNone/>
            </a:pPr>
            <a:endParaRPr/>
          </a:p>
        </p:txBody>
      </p:sp>
      <p:sp>
        <p:nvSpPr>
          <p:cNvPr id="146" name="Google Shape;14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0190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Its name is derived from the family names of its authors − Alfred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Aho</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Peter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Weinberger</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and Brian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Kernighan</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mn-cs"/>
            </a:endParaRPr>
          </a:p>
          <a:p>
            <a:pPr marL="139700" indent="0">
              <a:buNone/>
            </a:pPr>
            <a:endParaRPr lang="en-US"/>
          </a:p>
        </p:txBody>
      </p:sp>
    </p:spTree>
    <p:extLst>
      <p:ext uri="{BB962C8B-B14F-4D97-AF65-F5344CB8AC3E}">
        <p14:creationId xmlns:p14="http://schemas.microsoft.com/office/powerpoint/2010/main" val="2289565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3159311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Myriad: vô số</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The gawk program’s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report-generating capabilities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are often used for</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 extracting data elements from large bulky text files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and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formatting</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them into a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readable report.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The perfect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example</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of this is formatting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log files</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Trying to pore through lines of errors in a log file can be difficult.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The gawk program allows you to filter just the data elements you want to view from the log file, and then you can format them in a manner that makes reading the important data easier.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mn-cs"/>
            </a:endParaRPr>
          </a:p>
          <a:p>
            <a:pPr marL="139700" indent="0">
              <a:buNone/>
            </a:pPr>
            <a:endParaRPr lang="en-US"/>
          </a:p>
        </p:txBody>
      </p:sp>
    </p:spTree>
    <p:extLst>
      <p:ext uri="{BB962C8B-B14F-4D97-AF65-F5344CB8AC3E}">
        <p14:creationId xmlns:p14="http://schemas.microsoft.com/office/powerpoint/2010/main" val="2149726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 case you don’t have AWK, then install it on Debian based GNU/Linux using Advance Package Tool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(APT)</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package manager as follows.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/usr/bin/awk</a:t>
            </a:r>
          </a:p>
          <a:p>
            <a:pPr marL="139700" indent="0">
              <a:buNone/>
            </a:pPr>
            <a:endParaRPr lang="en-US"/>
          </a:p>
        </p:txBody>
      </p:sp>
    </p:spTree>
    <p:extLst>
      <p:ext uri="{BB962C8B-B14F-4D97-AF65-F5344CB8AC3E}">
        <p14:creationId xmlns:p14="http://schemas.microsoft.com/office/powerpoint/2010/main" val="408545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a:t>To become an expert AWK programmer, you need to know its internals (nội hàm).</a:t>
            </a:r>
          </a:p>
          <a:p>
            <a:pPr marL="139700" indent="0">
              <a:buNone/>
            </a:pPr>
            <a:endParaRPr lang="en-US"/>
          </a:p>
        </p:txBody>
      </p:sp>
    </p:spTree>
    <p:extLst>
      <p:ext uri="{BB962C8B-B14F-4D97-AF65-F5344CB8AC3E}">
        <p14:creationId xmlns:p14="http://schemas.microsoft.com/office/powerpoint/2010/main" val="3592842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241409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27763680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960456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541873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At the start, AWK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prints</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the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header</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from the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BEGIN block</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Then in the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body block</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it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reads a line </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from a file and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executes AWK's print command </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which just prints the contents on the standard output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This process repeats</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until file reaches the end.</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139700" indent="0">
              <a:buNone/>
            </a:pPr>
            <a:endParaRPr lang="en-US"/>
          </a:p>
        </p:txBody>
      </p:sp>
    </p:spTree>
    <p:extLst>
      <p:ext uri="{BB962C8B-B14F-4D97-AF65-F5344CB8AC3E}">
        <p14:creationId xmlns:p14="http://schemas.microsoft.com/office/powerpoint/2010/main" val="3545836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460189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mn-cs"/>
              </a:rPr>
              <a:t>AWK Program File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First, create a text file command.awk containing the AWK command: {print}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Now we can </a:t>
            </a: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instruct the AWK to read commands from the text file </a:t>
            </a: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and perform the action.</a:t>
            </a:r>
          </a:p>
          <a:p>
            <a:pPr marL="139700" indent="0">
              <a:buNone/>
            </a:pPr>
            <a:endParaRPr lang="en-US"/>
          </a:p>
        </p:txBody>
      </p:sp>
    </p:spTree>
    <p:extLst>
      <p:ext uri="{BB962C8B-B14F-4D97-AF65-F5344CB8AC3E}">
        <p14:creationId xmlns:p14="http://schemas.microsoft.com/office/powerpoint/2010/main" val="3655824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a:t>AWK supports the following standard options which can be provided from the command line.</a:t>
            </a:r>
          </a:p>
          <a:p>
            <a:pPr marL="139700" indent="0">
              <a:buNone/>
            </a:pPr>
            <a:endParaRPr lang="en-US"/>
          </a:p>
        </p:txBody>
      </p:sp>
    </p:spTree>
    <p:extLst>
      <p:ext uri="{BB962C8B-B14F-4D97-AF65-F5344CB8AC3E}">
        <p14:creationId xmlns:p14="http://schemas.microsoft.com/office/powerpoint/2010/main" val="1039499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3871414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a:t>This section describes several useful AWK commands and their appropriate examples.</a:t>
            </a:r>
          </a:p>
          <a:p>
            <a:pPr marL="139700" indent="0">
              <a:buNone/>
            </a:pPr>
            <a:endParaRPr lang="en-US"/>
          </a:p>
        </p:txBody>
      </p:sp>
    </p:spTree>
    <p:extLst>
      <p:ext uri="{BB962C8B-B14F-4D97-AF65-F5344CB8AC3E}">
        <p14:creationId xmlns:p14="http://schemas.microsoft.com/office/powerpoint/2010/main" val="375462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b="1"/>
              <a:t>Printing Columns by Pattern</a:t>
            </a:r>
          </a:p>
          <a:p>
            <a:pPr marL="139700" indent="0">
              <a:buNone/>
            </a:pPr>
            <a:r>
              <a:rPr lang="en-US"/>
              <a:t>When a pattern match succeeds, AWK prints the entire record by default. But you can instruct AWK to print only certain fields. For instance, the following example prints the third and fourth field when a pattern match succeeds.</a:t>
            </a:r>
          </a:p>
          <a:p>
            <a:pPr marL="139700" indent="0">
              <a:buNone/>
            </a:pPr>
            <a:endParaRPr lang="en-US"/>
          </a:p>
          <a:p>
            <a:pPr marL="139700" indent="0">
              <a:buNone/>
            </a:pPr>
            <a:endParaRPr lang="en-US"/>
          </a:p>
        </p:txBody>
      </p:sp>
    </p:spTree>
    <p:extLst>
      <p:ext uri="{BB962C8B-B14F-4D97-AF65-F5344CB8AC3E}">
        <p14:creationId xmlns:p14="http://schemas.microsoft.com/office/powerpoint/2010/main" val="1151193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mn-cs"/>
              </a:rPr>
              <a:t>Counting and Printing Matched Pattern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In this example, we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increment</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the value of counter when a pattern match succeeds and </a:t>
            </a:r>
            <a:r>
              <a:rPr kumimoji="0" lang="en-US" sz="1200" b="1" i="0" u="none" strike="noStrike" kern="1200" cap="none" spc="0" normalizeH="0" baseline="0" noProof="0">
                <a:ln>
                  <a:noFill/>
                </a:ln>
                <a:solidFill>
                  <a:srgbClr val="000000"/>
                </a:solidFill>
                <a:effectLst/>
                <a:uLnTx/>
                <a:uFillTx/>
                <a:latin typeface="Arial" panose="020B0604020202020204" pitchFamily="34" charset="0"/>
                <a:ea typeface="+mn-ea"/>
                <a:cs typeface="+mn-cs"/>
              </a:rPr>
              <a:t>we print this value in the END block</a:t>
            </a: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Note that unlike other programming languages, there is no need to declare a variable before using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Printing Lines with More than 18 Characters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'length($2) &gt;= 5' marks.txt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awk 'length($2) &gt;= 5 {printf $3"\t"$4"\n"}' marks.txt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139700" indent="0">
              <a:buNone/>
            </a:pPr>
            <a:endParaRPr lang="en-US"/>
          </a:p>
        </p:txBody>
      </p:sp>
    </p:spTree>
    <p:extLst>
      <p:ext uri="{BB962C8B-B14F-4D97-AF65-F5344CB8AC3E}">
        <p14:creationId xmlns:p14="http://schemas.microsoft.com/office/powerpoint/2010/main" val="2064503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ARGC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But why AWK shows 5 when you passed only 4 arguments? Just check the following example to clear your doubt.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139700" indent="0">
              <a:buNone/>
            </a:pPr>
            <a:endParaRPr lang="en-US"/>
          </a:p>
        </p:txBody>
      </p:sp>
    </p:spTree>
    <p:extLst>
      <p:ext uri="{BB962C8B-B14F-4D97-AF65-F5344CB8AC3E}">
        <p14:creationId xmlns:p14="http://schemas.microsoft.com/office/powerpoint/2010/main" val="3756608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NF: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The example prints only those lines that contain more than two fields.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NR: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The example prints the record if the current record number is less than three.</a:t>
            </a:r>
            <a:endParaRPr kumimoji="0" lang="en-US" sz="1200" b="1"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echo -e "One Two\nOne Two Three\nOne Two Three Four" | awk 'NR &gt; 1 &amp;&amp; NR &lt; 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Calibri" panose="020F0502020204030204"/>
                <a:ea typeface="+mn-ea"/>
                <a:cs typeface="+mn-cs"/>
              </a:rPr>
              <a:t>RSTART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It represents the first position in the string matched by match function.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Example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'BEGIN { if (match("One Two Three", "Thre")) { print RSTART } }'</a:t>
            </a:r>
          </a:p>
          <a:p>
            <a:pPr marL="139700" indent="0">
              <a:buNone/>
            </a:pPr>
            <a:endParaRPr lang="en-US"/>
          </a:p>
        </p:txBody>
      </p:sp>
    </p:spTree>
    <p:extLst>
      <p:ext uri="{BB962C8B-B14F-4D97-AF65-F5344CB8AC3E}">
        <p14:creationId xmlns:p14="http://schemas.microsoft.com/office/powerpoint/2010/main" val="30011918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712731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Pat 100 97 58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Sandy 84 72 93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Chris 72 92 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 sum = $2 + $3 + $4 ; avg = sum / 3;  print $1, avg }' grades</a:t>
            </a:r>
          </a:p>
          <a:p>
            <a:pPr marL="139700" indent="0">
              <a:buNone/>
            </a:pPr>
            <a:endParaRPr lang="en-US"/>
          </a:p>
        </p:txBody>
      </p:sp>
    </p:spTree>
    <p:extLst>
      <p:ext uri="{BB962C8B-B14F-4D97-AF65-F5344CB8AC3E}">
        <p14:creationId xmlns:p14="http://schemas.microsoft.com/office/powerpoint/2010/main" val="3112366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5630106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630163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7368225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4733076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7569910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993765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3745154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2435023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26414767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4736098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22680366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a:t>So far we have used AWK's print and printf functions to display data on standard output. But printf is much more powerful than what we have seen before. This function is borrowed from the C language and is very helpful while producing formatted output.</a:t>
            </a:r>
          </a:p>
          <a:p>
            <a:pPr marL="139700" indent="0">
              <a:buNone/>
            </a:pPr>
            <a:endParaRPr lang="en-US"/>
          </a:p>
        </p:txBody>
      </p:sp>
    </p:spTree>
    <p:extLst>
      <p:ext uri="{BB962C8B-B14F-4D97-AF65-F5344CB8AC3E}">
        <p14:creationId xmlns:p14="http://schemas.microsoft.com/office/powerpoint/2010/main" val="12733929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3791362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Xem số nhập vào là chẵn hay lẻ</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Viết hàm tính số nguyên tố</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Xem thử IP đó xuất hiện bao nhiêu lần từ file log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'{print $1}' "new-access -2.log" | uniq -c | awk '{print $2": " $1}' &gt; results.txt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'{print $1}' "new-access -2.log" | uniq -c | awk '{print $2": " $1}’  | sort -nr -k2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awk '{ip[$1]++} END{for(i in ip) printf "%s %d\n", i, ip[i];}' "new-access -2.log" | awk '{print $2": " $1}' | sort -nr -k1</a:t>
            </a:r>
          </a:p>
          <a:p>
            <a:pPr marL="139700" indent="0">
              <a:buNone/>
            </a:pPr>
            <a:endParaRPr lang="en-US"/>
          </a:p>
        </p:txBody>
      </p:sp>
    </p:spTree>
    <p:extLst>
      <p:ext uri="{BB962C8B-B14F-4D97-AF65-F5344CB8AC3E}">
        <p14:creationId xmlns:p14="http://schemas.microsoft.com/office/powerpoint/2010/main" val="41498692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71765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blipFill rotWithShape="1">
          <a:blip r:embed="rId2">
            <a:alphaModFix/>
          </a:blip>
          <a:stretch>
            <a:fillRect/>
          </a:stretch>
        </a:blipFill>
        <a:effectLst/>
      </p:bgPr>
    </p:bg>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25500" y="3734932"/>
            <a:ext cx="9144000" cy="5481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None/>
              <a:defRPr sz="3600"/>
            </a:lvl1pPr>
            <a:lvl2pPr lvl="1" algn="ctr">
              <a:spcBef>
                <a:spcPts val="0"/>
              </a:spcBef>
              <a:spcAft>
                <a:spcPts val="0"/>
              </a:spcAft>
              <a:buNone/>
              <a:defRPr sz="3600"/>
            </a:lvl2pPr>
            <a:lvl3pPr lvl="2" algn="ctr">
              <a:spcBef>
                <a:spcPts val="0"/>
              </a:spcBef>
              <a:spcAft>
                <a:spcPts val="0"/>
              </a:spcAft>
              <a:buNone/>
              <a:defRPr sz="3600"/>
            </a:lvl3pPr>
            <a:lvl4pPr lvl="3" algn="ctr">
              <a:spcBef>
                <a:spcPts val="0"/>
              </a:spcBef>
              <a:spcAft>
                <a:spcPts val="0"/>
              </a:spcAft>
              <a:buNone/>
              <a:defRPr sz="3600"/>
            </a:lvl4pPr>
            <a:lvl5pPr lvl="4" algn="ctr">
              <a:spcBef>
                <a:spcPts val="0"/>
              </a:spcBef>
              <a:spcAft>
                <a:spcPts val="0"/>
              </a:spcAft>
              <a:buNone/>
              <a:defRPr sz="3600"/>
            </a:lvl5pPr>
            <a:lvl6pPr lvl="5" algn="ctr">
              <a:spcBef>
                <a:spcPts val="0"/>
              </a:spcBef>
              <a:spcAft>
                <a:spcPts val="0"/>
              </a:spcAft>
              <a:buNone/>
              <a:defRPr sz="3600"/>
            </a:lvl6pPr>
            <a:lvl7pPr lvl="6" algn="ctr">
              <a:spcBef>
                <a:spcPts val="0"/>
              </a:spcBef>
              <a:spcAft>
                <a:spcPts val="0"/>
              </a:spcAft>
              <a:buNone/>
              <a:defRPr sz="3600"/>
            </a:lvl7pPr>
            <a:lvl8pPr lvl="7" algn="ctr">
              <a:spcBef>
                <a:spcPts val="0"/>
              </a:spcBef>
              <a:spcAft>
                <a:spcPts val="0"/>
              </a:spcAft>
              <a:buNone/>
              <a:defRPr sz="3600"/>
            </a:lvl8pPr>
            <a:lvl9pPr lvl="8" algn="ctr">
              <a:spcBef>
                <a:spcPts val="0"/>
              </a:spcBef>
              <a:spcAft>
                <a:spcPts val="0"/>
              </a:spcAft>
              <a:buNone/>
              <a:defRPr sz="3600"/>
            </a:lvl9pPr>
          </a:lstStyle>
          <a:p>
            <a:endParaRPr/>
          </a:p>
        </p:txBody>
      </p:sp>
      <p:sp>
        <p:nvSpPr>
          <p:cNvPr id="8" name="Google Shape;8;p2"/>
          <p:cNvSpPr txBox="1">
            <a:spLocks noGrp="1"/>
          </p:cNvSpPr>
          <p:nvPr>
            <p:ph type="subTitle" idx="1"/>
          </p:nvPr>
        </p:nvSpPr>
        <p:spPr>
          <a:xfrm>
            <a:off x="38250" y="4283023"/>
            <a:ext cx="9144000" cy="2487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Layout">
  <p:cSld name="Agenda Layout">
    <p:bg>
      <p:bgPr>
        <a:blipFill rotWithShape="1">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2517575" y="432850"/>
            <a:ext cx="6626400" cy="5673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a:endParaRPr/>
          </a:p>
        </p:txBody>
      </p:sp>
      <p:sp>
        <p:nvSpPr>
          <p:cNvPr id="3" name="Slide Number Placeholder 5">
            <a:extLst>
              <a:ext uri="{FF2B5EF4-FFF2-40B4-BE49-F238E27FC236}">
                <a16:creationId xmlns:a16="http://schemas.microsoft.com/office/drawing/2014/main" id="{173E4419-EBD9-4843-AFFC-EE65C578D391}"/>
              </a:ext>
            </a:extLst>
          </p:cNvPr>
          <p:cNvSpPr>
            <a:spLocks noGrp="1"/>
          </p:cNvSpPr>
          <p:nvPr>
            <p:ph type="sldNum" sz="quarter" idx="12"/>
          </p:nvPr>
        </p:nvSpPr>
        <p:spPr>
          <a:xfrm>
            <a:off x="6388719" y="4778375"/>
            <a:ext cx="2743200" cy="365125"/>
          </a:xfrm>
          <a:prstGeom prst="rect">
            <a:avLst/>
          </a:prstGeom>
        </p:spPr>
        <p:txBody>
          <a:bodyPr anchor="ctr"/>
          <a:lstStyle>
            <a:lvl1pPr algn="r">
              <a:defRPr sz="1200">
                <a:solidFill>
                  <a:schemeClr val="bg1">
                    <a:lumMod val="50000"/>
                  </a:schemeClr>
                </a:solidFill>
              </a:defRPr>
            </a:lvl1pPr>
          </a:lstStyle>
          <a:p>
            <a:fld id="{DAC9FE72-3A80-4B60-9F46-F99E2834B23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Layout">
  <p:cSld name="Section Break Layout">
    <p:bg>
      <p:bgPr>
        <a:blipFill rotWithShape="1">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5"/>
          <p:cNvSpPr txBox="1">
            <a:spLocks noGrp="1"/>
          </p:cNvSpPr>
          <p:nvPr>
            <p:ph type="title"/>
          </p:nvPr>
        </p:nvSpPr>
        <p:spPr>
          <a:xfrm>
            <a:off x="4582625" y="2210925"/>
            <a:ext cx="4567800" cy="5481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None/>
              <a:defRPr sz="3600"/>
            </a:lvl1pPr>
            <a:lvl2pPr lvl="1" rtl="0">
              <a:spcBef>
                <a:spcPts val="0"/>
              </a:spcBef>
              <a:spcAft>
                <a:spcPts val="0"/>
              </a:spcAft>
              <a:buNone/>
              <a:defRPr sz="3600"/>
            </a:lvl2pPr>
            <a:lvl3pPr lvl="2" rtl="0">
              <a:spcBef>
                <a:spcPts val="0"/>
              </a:spcBef>
              <a:spcAft>
                <a:spcPts val="0"/>
              </a:spcAft>
              <a:buNone/>
              <a:defRPr sz="3600"/>
            </a:lvl3pPr>
            <a:lvl4pPr lvl="3" rtl="0">
              <a:spcBef>
                <a:spcPts val="0"/>
              </a:spcBef>
              <a:spcAft>
                <a:spcPts val="0"/>
              </a:spcAft>
              <a:buNone/>
              <a:defRPr sz="3600"/>
            </a:lvl4pPr>
            <a:lvl5pPr lvl="4" rtl="0">
              <a:spcBef>
                <a:spcPts val="0"/>
              </a:spcBef>
              <a:spcAft>
                <a:spcPts val="0"/>
              </a:spcAft>
              <a:buNone/>
              <a:defRPr sz="3600"/>
            </a:lvl5pPr>
            <a:lvl6pPr lvl="5" rtl="0">
              <a:spcBef>
                <a:spcPts val="0"/>
              </a:spcBef>
              <a:spcAft>
                <a:spcPts val="0"/>
              </a:spcAft>
              <a:buNone/>
              <a:defRPr sz="3600"/>
            </a:lvl6pPr>
            <a:lvl7pPr lvl="6" rtl="0">
              <a:spcBef>
                <a:spcPts val="0"/>
              </a:spcBef>
              <a:spcAft>
                <a:spcPts val="0"/>
              </a:spcAft>
              <a:buNone/>
              <a:defRPr sz="3600"/>
            </a:lvl7pPr>
            <a:lvl8pPr lvl="7" rtl="0">
              <a:spcBef>
                <a:spcPts val="0"/>
              </a:spcBef>
              <a:spcAft>
                <a:spcPts val="0"/>
              </a:spcAft>
              <a:buNone/>
              <a:defRPr sz="3600"/>
            </a:lvl8pPr>
            <a:lvl9pPr lvl="8" rtl="0">
              <a:spcBef>
                <a:spcPts val="0"/>
              </a:spcBef>
              <a:spcAft>
                <a:spcPts val="0"/>
              </a:spcAft>
              <a:buNone/>
              <a:defRPr sz="3600"/>
            </a:lvl9pPr>
          </a:lstStyle>
          <a:p>
            <a:endParaRPr/>
          </a:p>
        </p:txBody>
      </p:sp>
      <p:sp>
        <p:nvSpPr>
          <p:cNvPr id="15" name="Google Shape;15;p5"/>
          <p:cNvSpPr txBox="1">
            <a:spLocks noGrp="1"/>
          </p:cNvSpPr>
          <p:nvPr>
            <p:ph type="subTitle" idx="1"/>
          </p:nvPr>
        </p:nvSpPr>
        <p:spPr>
          <a:xfrm>
            <a:off x="4588994" y="2759025"/>
            <a:ext cx="4567800" cy="248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 Slide Layout">
  <p:cSld name="End Slide Layout">
    <p:bg>
      <p:bgPr>
        <a:blipFill rotWithShape="1">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6"/>
          <p:cNvSpPr/>
          <p:nvPr/>
        </p:nvSpPr>
        <p:spPr>
          <a:xfrm>
            <a:off x="0" y="0"/>
            <a:ext cx="9144000" cy="5143500"/>
          </a:xfrm>
          <a:prstGeom prst="rect">
            <a:avLst/>
          </a:prstGeom>
          <a:solidFill>
            <a:schemeClr val="lt1">
              <a:alpha val="3882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 name="Google Shape;18;p6"/>
          <p:cNvSpPr/>
          <p:nvPr/>
        </p:nvSpPr>
        <p:spPr>
          <a:xfrm>
            <a:off x="2699792" y="699542"/>
            <a:ext cx="3744416" cy="3744416"/>
          </a:xfrm>
          <a:prstGeom prst="ellipse">
            <a:avLst/>
          </a:prstGeom>
          <a:solidFill>
            <a:srgbClr val="85D8DE">
              <a:alpha val="7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 name="Google Shape;19;p6"/>
          <p:cNvSpPr txBox="1">
            <a:spLocks noGrp="1"/>
          </p:cNvSpPr>
          <p:nvPr>
            <p:ph type="title"/>
          </p:nvPr>
        </p:nvSpPr>
        <p:spPr>
          <a:xfrm>
            <a:off x="0" y="2204425"/>
            <a:ext cx="9144000" cy="5865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sz="3600"/>
            </a:lvl1pPr>
            <a:lvl2pPr lvl="1" algn="ctr" rtl="0">
              <a:spcBef>
                <a:spcPts val="0"/>
              </a:spcBef>
              <a:spcAft>
                <a:spcPts val="0"/>
              </a:spcAft>
              <a:buNone/>
              <a:defRPr sz="3600"/>
            </a:lvl2pPr>
            <a:lvl3pPr lvl="2" algn="ctr" rtl="0">
              <a:spcBef>
                <a:spcPts val="0"/>
              </a:spcBef>
              <a:spcAft>
                <a:spcPts val="0"/>
              </a:spcAft>
              <a:buNone/>
              <a:defRPr sz="3600"/>
            </a:lvl3pPr>
            <a:lvl4pPr lvl="3" algn="ctr" rtl="0">
              <a:spcBef>
                <a:spcPts val="0"/>
              </a:spcBef>
              <a:spcAft>
                <a:spcPts val="0"/>
              </a:spcAft>
              <a:buNone/>
              <a:defRPr sz="3600"/>
            </a:lvl4pPr>
            <a:lvl5pPr lvl="4" algn="ctr" rtl="0">
              <a:spcBef>
                <a:spcPts val="0"/>
              </a:spcBef>
              <a:spcAft>
                <a:spcPts val="0"/>
              </a:spcAft>
              <a:buNone/>
              <a:defRPr sz="3600"/>
            </a:lvl5pPr>
            <a:lvl6pPr lvl="5" algn="ctr" rtl="0">
              <a:spcBef>
                <a:spcPts val="0"/>
              </a:spcBef>
              <a:spcAft>
                <a:spcPts val="0"/>
              </a:spcAft>
              <a:buNone/>
              <a:defRPr sz="3600"/>
            </a:lvl6pPr>
            <a:lvl7pPr lvl="6" algn="ctr" rtl="0">
              <a:spcBef>
                <a:spcPts val="0"/>
              </a:spcBef>
              <a:spcAft>
                <a:spcPts val="0"/>
              </a:spcAft>
              <a:buNone/>
              <a:defRPr sz="3600"/>
            </a:lvl7pPr>
            <a:lvl8pPr lvl="7" algn="ctr" rtl="0">
              <a:spcBef>
                <a:spcPts val="0"/>
              </a:spcBef>
              <a:spcAft>
                <a:spcPts val="0"/>
              </a:spcAft>
              <a:buNone/>
              <a:defRPr sz="3600"/>
            </a:lvl8pPr>
            <a:lvl9pPr lvl="8" algn="ctr" rtl="0">
              <a:spcBef>
                <a:spcPts val="0"/>
              </a:spcBef>
              <a:spcAft>
                <a:spcPts val="0"/>
              </a:spcAft>
              <a:buNone/>
              <a:defRPr sz="3600"/>
            </a:lvl9pPr>
          </a:lstStyle>
          <a:p>
            <a:endParaRPr/>
          </a:p>
        </p:txBody>
      </p:sp>
      <p:sp>
        <p:nvSpPr>
          <p:cNvPr id="20" name="Google Shape;20;p6"/>
          <p:cNvSpPr txBox="1">
            <a:spLocks noGrp="1"/>
          </p:cNvSpPr>
          <p:nvPr>
            <p:ph type="subTitle" idx="1"/>
          </p:nvPr>
        </p:nvSpPr>
        <p:spPr>
          <a:xfrm>
            <a:off x="17" y="2790925"/>
            <a:ext cx="9302100" cy="248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sic Layout">
  <p:cSld name="Basic Layout">
    <p:bg>
      <p:bgPr>
        <a:blipFill rotWithShape="1">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7"/>
          <p:cNvSpPr/>
          <p:nvPr/>
        </p:nvSpPr>
        <p:spPr>
          <a:xfrm>
            <a:off x="0" y="0"/>
            <a:ext cx="9144000" cy="105958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3F3F3F"/>
              </a:solidFill>
              <a:latin typeface="Arial"/>
              <a:ea typeface="Arial"/>
              <a:cs typeface="Arial"/>
              <a:sym typeface="Arial"/>
            </a:endParaRPr>
          </a:p>
        </p:txBody>
      </p:sp>
      <p:sp>
        <p:nvSpPr>
          <p:cNvPr id="23" name="Google Shape;23;p7"/>
          <p:cNvSpPr txBox="1">
            <a:spLocks noGrp="1"/>
          </p:cNvSpPr>
          <p:nvPr>
            <p:ph type="title"/>
          </p:nvPr>
        </p:nvSpPr>
        <p:spPr>
          <a:xfrm>
            <a:off x="-6085" y="128321"/>
            <a:ext cx="9144000" cy="548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sz="3600"/>
            </a:lvl1pPr>
            <a:lvl2pPr lvl="1" algn="ctr" rtl="0">
              <a:spcBef>
                <a:spcPts val="0"/>
              </a:spcBef>
              <a:spcAft>
                <a:spcPts val="0"/>
              </a:spcAft>
              <a:buNone/>
              <a:defRPr sz="3600"/>
            </a:lvl2pPr>
            <a:lvl3pPr lvl="2" algn="ctr" rtl="0">
              <a:spcBef>
                <a:spcPts val="0"/>
              </a:spcBef>
              <a:spcAft>
                <a:spcPts val="0"/>
              </a:spcAft>
              <a:buNone/>
              <a:defRPr sz="3600"/>
            </a:lvl3pPr>
            <a:lvl4pPr lvl="3" algn="ctr" rtl="0">
              <a:spcBef>
                <a:spcPts val="0"/>
              </a:spcBef>
              <a:spcAft>
                <a:spcPts val="0"/>
              </a:spcAft>
              <a:buNone/>
              <a:defRPr sz="3600"/>
            </a:lvl4pPr>
            <a:lvl5pPr lvl="4" algn="ctr" rtl="0">
              <a:spcBef>
                <a:spcPts val="0"/>
              </a:spcBef>
              <a:spcAft>
                <a:spcPts val="0"/>
              </a:spcAft>
              <a:buNone/>
              <a:defRPr sz="3600"/>
            </a:lvl5pPr>
            <a:lvl6pPr lvl="5" algn="ctr" rtl="0">
              <a:spcBef>
                <a:spcPts val="0"/>
              </a:spcBef>
              <a:spcAft>
                <a:spcPts val="0"/>
              </a:spcAft>
              <a:buNone/>
              <a:defRPr sz="3600"/>
            </a:lvl6pPr>
            <a:lvl7pPr lvl="6" algn="ctr" rtl="0">
              <a:spcBef>
                <a:spcPts val="0"/>
              </a:spcBef>
              <a:spcAft>
                <a:spcPts val="0"/>
              </a:spcAft>
              <a:buNone/>
              <a:defRPr sz="3600"/>
            </a:lvl7pPr>
            <a:lvl8pPr lvl="7" algn="ctr" rtl="0">
              <a:spcBef>
                <a:spcPts val="0"/>
              </a:spcBef>
              <a:spcAft>
                <a:spcPts val="0"/>
              </a:spcAft>
              <a:buNone/>
              <a:defRPr sz="3600"/>
            </a:lvl8pPr>
            <a:lvl9pPr lvl="8" algn="ctr" rtl="0">
              <a:spcBef>
                <a:spcPts val="0"/>
              </a:spcBef>
              <a:spcAft>
                <a:spcPts val="0"/>
              </a:spcAft>
              <a:buNone/>
              <a:defRPr sz="3600"/>
            </a:lvl9pPr>
          </a:lstStyle>
          <a:p>
            <a:endParaRPr/>
          </a:p>
        </p:txBody>
      </p:sp>
      <p:sp>
        <p:nvSpPr>
          <p:cNvPr id="24" name="Google Shape;24;p7"/>
          <p:cNvSpPr txBox="1">
            <a:spLocks noGrp="1"/>
          </p:cNvSpPr>
          <p:nvPr>
            <p:ph type="subTitle" idx="1"/>
          </p:nvPr>
        </p:nvSpPr>
        <p:spPr>
          <a:xfrm>
            <a:off x="6665" y="676412"/>
            <a:ext cx="9144000" cy="248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5" name="Slide Number Placeholder 5">
            <a:extLst>
              <a:ext uri="{FF2B5EF4-FFF2-40B4-BE49-F238E27FC236}">
                <a16:creationId xmlns:a16="http://schemas.microsoft.com/office/drawing/2014/main" id="{458CEA85-B4BC-474F-A83C-B2F3F925A525}"/>
              </a:ext>
            </a:extLst>
          </p:cNvPr>
          <p:cNvSpPr>
            <a:spLocks noGrp="1"/>
          </p:cNvSpPr>
          <p:nvPr>
            <p:ph type="sldNum" sz="quarter" idx="12"/>
          </p:nvPr>
        </p:nvSpPr>
        <p:spPr>
          <a:xfrm>
            <a:off x="6388719" y="4778375"/>
            <a:ext cx="2743200" cy="365125"/>
          </a:xfrm>
          <a:prstGeom prst="rect">
            <a:avLst/>
          </a:prstGeom>
        </p:spPr>
        <p:txBody>
          <a:bodyPr anchor="ctr"/>
          <a:lstStyle>
            <a:lvl1pPr algn="r">
              <a:defRPr sz="1200">
                <a:solidFill>
                  <a:schemeClr val="bg1">
                    <a:lumMod val="50000"/>
                  </a:schemeClr>
                </a:solidFill>
              </a:defRPr>
            </a:lvl1pPr>
          </a:lstStyle>
          <a:p>
            <a:fld id="{DAC9FE72-3A80-4B60-9F46-F99E2834B23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5_Images and Contents Layout">
  <p:cSld name="5_Images and Contents Layout">
    <p:spTree>
      <p:nvGrpSpPr>
        <p:cNvPr id="1" name="Shape 90"/>
        <p:cNvGrpSpPr/>
        <p:nvPr/>
      </p:nvGrpSpPr>
      <p:grpSpPr>
        <a:xfrm>
          <a:off x="0" y="0"/>
          <a:ext cx="0" cy="0"/>
          <a:chOff x="0" y="0"/>
          <a:chExt cx="0" cy="0"/>
        </a:xfrm>
      </p:grpSpPr>
      <p:sp>
        <p:nvSpPr>
          <p:cNvPr id="91" name="Google Shape;91;p22"/>
          <p:cNvSpPr/>
          <p:nvPr/>
        </p:nvSpPr>
        <p:spPr>
          <a:xfrm>
            <a:off x="0" y="3507854"/>
            <a:ext cx="9144000" cy="1635646"/>
          </a:xfrm>
          <a:prstGeom prst="rect">
            <a:avLst/>
          </a:prstGeom>
          <a:solidFill>
            <a:srgbClr val="85D8D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pic>
        <p:nvPicPr>
          <p:cNvPr id="92" name="Google Shape;92;p22" descr="D:\Fullppt\PNG이미지\핸드폰2.png"/>
          <p:cNvPicPr preferRelativeResize="0"/>
          <p:nvPr/>
        </p:nvPicPr>
        <p:blipFill rotWithShape="1">
          <a:blip r:embed="rId2">
            <a:alphaModFix/>
          </a:blip>
          <a:srcRect/>
          <a:stretch/>
        </p:blipFill>
        <p:spPr>
          <a:xfrm>
            <a:off x="2735225" y="1079005"/>
            <a:ext cx="3373328" cy="4085033"/>
          </a:xfrm>
          <a:prstGeom prst="rect">
            <a:avLst/>
          </a:prstGeom>
          <a:noFill/>
          <a:ln>
            <a:noFill/>
          </a:ln>
        </p:spPr>
      </p:pic>
      <p:sp>
        <p:nvSpPr>
          <p:cNvPr id="93" name="Google Shape;93;p22"/>
          <p:cNvSpPr>
            <a:spLocks noGrp="1"/>
          </p:cNvSpPr>
          <p:nvPr>
            <p:ph type="pic" idx="2"/>
          </p:nvPr>
        </p:nvSpPr>
        <p:spPr>
          <a:xfrm>
            <a:off x="3566328" y="1217153"/>
            <a:ext cx="1945465" cy="3005145"/>
          </a:xfrm>
          <a:prstGeom prst="rect">
            <a:avLst/>
          </a:prstGeom>
          <a:solidFill>
            <a:srgbClr val="F2F2F2"/>
          </a:solidFill>
          <a:ln>
            <a:noFill/>
          </a:ln>
        </p:spPr>
        <p:txBody>
          <a:bodyPr spcFirstLastPara="1" wrap="square" lIns="91425" tIns="91425" rIns="91425" bIns="91425" anchor="ctr" anchorCtr="0">
            <a:noAutofit/>
          </a:bodyPr>
          <a:lstStyle>
            <a:lvl1pPr marL="0" marR="0" lvl="0" indent="0" algn="ctr" rtl="0">
              <a:spcBef>
                <a:spcPts val="24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L="457200" marR="0" lvl="1" indent="0" algn="l" rtl="0">
              <a:spcBef>
                <a:spcPts val="560"/>
              </a:spcBef>
              <a:spcAft>
                <a:spcPts val="0"/>
              </a:spcAft>
              <a:buClr>
                <a:schemeClr val="dk1"/>
              </a:buClr>
              <a:buSzPts val="1400"/>
              <a:buFont typeface="Arial"/>
              <a:buNone/>
              <a:defRPr sz="2800" b="0" i="0" u="none" strike="noStrike" cap="none">
                <a:solidFill>
                  <a:schemeClr val="dk1"/>
                </a:solidFill>
                <a:latin typeface="Arial"/>
                <a:ea typeface="Arial"/>
                <a:cs typeface="Arial"/>
                <a:sym typeface="Arial"/>
              </a:defRPr>
            </a:lvl2pPr>
            <a:lvl3pPr marL="914400" marR="0" lvl="2" indent="0" algn="l" rtl="0">
              <a:spcBef>
                <a:spcPts val="480"/>
              </a:spcBef>
              <a:spcAft>
                <a:spcPts val="0"/>
              </a:spcAft>
              <a:buClr>
                <a:schemeClr val="dk1"/>
              </a:buClr>
              <a:buSzPts val="1400"/>
              <a:buFont typeface="Arial"/>
              <a:buNone/>
              <a:defRPr sz="2400" b="0" i="0" u="none" strike="noStrike" cap="none">
                <a:solidFill>
                  <a:schemeClr val="dk1"/>
                </a:solidFill>
                <a:latin typeface="Arial"/>
                <a:ea typeface="Arial"/>
                <a:cs typeface="Arial"/>
                <a:sym typeface="Arial"/>
              </a:defRPr>
            </a:lvl3pPr>
            <a:lvl4pPr marL="1371600" marR="0" lvl="3"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4pPr>
            <a:lvl5pPr marL="1828800" marR="0" lvl="4"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5pPr>
            <a:lvl6pPr marL="2286000" marR="0" lvl="5"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6pPr>
            <a:lvl7pPr marL="2743200" marR="0" lvl="6"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7pPr>
            <a:lvl8pPr marL="3200400" marR="0" lvl="7"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8pPr>
            <a:lvl9pPr marL="3657600" marR="0" lvl="8" indent="0" algn="l" rtl="0">
              <a:spcBef>
                <a:spcPts val="400"/>
              </a:spcBef>
              <a:spcAft>
                <a:spcPts val="0"/>
              </a:spcAft>
              <a:buClr>
                <a:schemeClr val="dk1"/>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94" name="Google Shape;94;p22"/>
          <p:cNvSpPr txBox="1">
            <a:spLocks noGrp="1"/>
          </p:cNvSpPr>
          <p:nvPr>
            <p:ph type="title"/>
          </p:nvPr>
        </p:nvSpPr>
        <p:spPr>
          <a:xfrm>
            <a:off x="-6085" y="128321"/>
            <a:ext cx="9144000" cy="548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sz="3600"/>
            </a:lvl1pPr>
            <a:lvl2pPr lvl="1" algn="ctr" rtl="0">
              <a:spcBef>
                <a:spcPts val="0"/>
              </a:spcBef>
              <a:spcAft>
                <a:spcPts val="0"/>
              </a:spcAft>
              <a:buNone/>
              <a:defRPr sz="3600"/>
            </a:lvl2pPr>
            <a:lvl3pPr lvl="2" algn="ctr" rtl="0">
              <a:spcBef>
                <a:spcPts val="0"/>
              </a:spcBef>
              <a:spcAft>
                <a:spcPts val="0"/>
              </a:spcAft>
              <a:buNone/>
              <a:defRPr sz="3600"/>
            </a:lvl3pPr>
            <a:lvl4pPr lvl="3" algn="ctr" rtl="0">
              <a:spcBef>
                <a:spcPts val="0"/>
              </a:spcBef>
              <a:spcAft>
                <a:spcPts val="0"/>
              </a:spcAft>
              <a:buNone/>
              <a:defRPr sz="3600"/>
            </a:lvl4pPr>
            <a:lvl5pPr lvl="4" algn="ctr" rtl="0">
              <a:spcBef>
                <a:spcPts val="0"/>
              </a:spcBef>
              <a:spcAft>
                <a:spcPts val="0"/>
              </a:spcAft>
              <a:buNone/>
              <a:defRPr sz="3600"/>
            </a:lvl5pPr>
            <a:lvl6pPr lvl="5" algn="ctr" rtl="0">
              <a:spcBef>
                <a:spcPts val="0"/>
              </a:spcBef>
              <a:spcAft>
                <a:spcPts val="0"/>
              </a:spcAft>
              <a:buNone/>
              <a:defRPr sz="3600"/>
            </a:lvl6pPr>
            <a:lvl7pPr lvl="6" algn="ctr" rtl="0">
              <a:spcBef>
                <a:spcPts val="0"/>
              </a:spcBef>
              <a:spcAft>
                <a:spcPts val="0"/>
              </a:spcAft>
              <a:buNone/>
              <a:defRPr sz="3600"/>
            </a:lvl7pPr>
            <a:lvl8pPr lvl="7" algn="ctr" rtl="0">
              <a:spcBef>
                <a:spcPts val="0"/>
              </a:spcBef>
              <a:spcAft>
                <a:spcPts val="0"/>
              </a:spcAft>
              <a:buNone/>
              <a:defRPr sz="3600"/>
            </a:lvl8pPr>
            <a:lvl9pPr lvl="8" algn="ctr" rtl="0">
              <a:spcBef>
                <a:spcPts val="0"/>
              </a:spcBef>
              <a:spcAft>
                <a:spcPts val="0"/>
              </a:spcAft>
              <a:buNone/>
              <a:defRPr sz="3600"/>
            </a:lvl9pPr>
          </a:lstStyle>
          <a:p>
            <a:endParaRPr/>
          </a:p>
        </p:txBody>
      </p:sp>
      <p:sp>
        <p:nvSpPr>
          <p:cNvPr id="95" name="Google Shape;95;p22"/>
          <p:cNvSpPr txBox="1">
            <a:spLocks noGrp="1"/>
          </p:cNvSpPr>
          <p:nvPr>
            <p:ph type="subTitle" idx="1"/>
          </p:nvPr>
        </p:nvSpPr>
        <p:spPr>
          <a:xfrm>
            <a:off x="6665" y="676412"/>
            <a:ext cx="9144000" cy="248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68"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2" name="Google Shape;102;p23"/>
          <p:cNvSpPr txBox="1">
            <a:spLocks noGrp="1"/>
          </p:cNvSpPr>
          <p:nvPr>
            <p:ph type="title"/>
          </p:nvPr>
        </p:nvSpPr>
        <p:spPr>
          <a:xfrm>
            <a:off x="0" y="3734932"/>
            <a:ext cx="9144000" cy="548100"/>
          </a:xfrm>
          <a:prstGeom prst="rect">
            <a:avLst/>
          </a:prstGeom>
        </p:spPr>
        <p:txBody>
          <a:bodyPr spcFirstLastPara="1" wrap="square" lIns="91425" tIns="91425" rIns="91425" bIns="91425" anchor="ctr" anchorCtr="0">
            <a:noAutofit/>
          </a:bodyPr>
          <a:lstStyle/>
          <a:p>
            <a:pPr marL="0" lvl="0" indent="0" algn="ctr" rtl="0">
              <a:lnSpc>
                <a:spcPct val="80000"/>
              </a:lnSpc>
              <a:spcBef>
                <a:spcPts val="0"/>
              </a:spcBef>
              <a:spcAft>
                <a:spcPts val="0"/>
              </a:spcAft>
              <a:buNone/>
            </a:pPr>
            <a:r>
              <a:rPr lang="en-US" sz="3200"/>
              <a:t>Network Programming</a:t>
            </a:r>
            <a:endParaRPr dirty="0"/>
          </a:p>
        </p:txBody>
      </p:sp>
      <p:sp>
        <p:nvSpPr>
          <p:cNvPr id="103" name="Google Shape;103;p23"/>
          <p:cNvSpPr txBox="1">
            <a:spLocks noGrp="1"/>
          </p:cNvSpPr>
          <p:nvPr>
            <p:ph type="subTitle" idx="1"/>
          </p:nvPr>
        </p:nvSpPr>
        <p:spPr>
          <a:xfrm>
            <a:off x="2307431" y="4283022"/>
            <a:ext cx="4509006" cy="474715"/>
          </a:xfrm>
          <a:prstGeom prst="rect">
            <a:avLst/>
          </a:prstGeom>
        </p:spPr>
        <p:txBody>
          <a:bodyPr spcFirstLastPara="1" wrap="square" lIns="91425" tIns="91425" rIns="91425" bIns="91425" anchor="ctr" anchorCtr="0">
            <a:noAutofit/>
          </a:bodyPr>
          <a:lstStyle/>
          <a:p>
            <a:pPr algn="r"/>
            <a:r>
              <a:rPr lang="en-US" dirty="0"/>
              <a:t>Ung </a:t>
            </a:r>
            <a:r>
              <a:rPr lang="en-US" dirty="0" err="1"/>
              <a:t>Văn</a:t>
            </a:r>
            <a:r>
              <a:rPr lang="en-US" dirty="0"/>
              <a:t> </a:t>
            </a:r>
            <a:r>
              <a:rPr lang="en-US" dirty="0" err="1"/>
              <a:t>Giàu</a:t>
            </a:r>
            <a:endParaRPr lang="en-US" dirty="0"/>
          </a:p>
          <a:p>
            <a:pPr algn="r"/>
            <a:r>
              <a:rPr lang="en-US" b="1" dirty="0"/>
              <a:t>Email: </a:t>
            </a:r>
            <a:r>
              <a:rPr lang="en-US" dirty="0"/>
              <a:t>giau.ung@eiu.edu.vn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a:spLocks noGrp="1"/>
          </p:cNvSpPr>
          <p:nvPr>
            <p:ph type="title"/>
          </p:nvPr>
        </p:nvSpPr>
        <p:spPr>
          <a:xfrm>
            <a:off x="3954966" y="2210925"/>
            <a:ext cx="5195459" cy="548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Font typeface="Arial"/>
              <a:buNone/>
            </a:pPr>
            <a:r>
              <a:rPr lang="en-US" sz="3200"/>
              <a:t>AWK Utility</a:t>
            </a:r>
            <a:endParaRPr lang="en-US" sz="3200" dirty="0"/>
          </a:p>
        </p:txBody>
      </p:sp>
      <p:sp>
        <p:nvSpPr>
          <p:cNvPr id="149" name="Google Shape;149;p26"/>
          <p:cNvSpPr txBox="1">
            <a:spLocks noGrp="1"/>
          </p:cNvSpPr>
          <p:nvPr>
            <p:ph type="subTitle" idx="1"/>
          </p:nvPr>
        </p:nvSpPr>
        <p:spPr>
          <a:xfrm>
            <a:off x="3961335" y="2759025"/>
            <a:ext cx="5182665" cy="24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r>
              <a:rPr lang="en-US"/>
              <a:t>One of the most prominent text-processing utility on GNU/Linux</a:t>
            </a:r>
          </a:p>
        </p:txBody>
      </p:sp>
    </p:spTree>
    <p:extLst>
      <p:ext uri="{BB962C8B-B14F-4D97-AF65-F5344CB8AC3E}">
        <p14:creationId xmlns:p14="http://schemas.microsoft.com/office/powerpoint/2010/main" val="3791358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 Overview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is an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interpreted programming</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language</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very powerful and specially designed for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text processing</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often referred to as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GNU AWK</a:t>
            </a:r>
          </a:p>
          <a:p>
            <a:pPr marR="0" lvl="1" indent="228600"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version of AWK that GNU/Linux distributes is written and maintained by the Free Software Foundation (FSF)</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a:t>
            </a:fld>
            <a:endParaRPr lang="en-US"/>
          </a:p>
        </p:txBody>
      </p:sp>
    </p:spTree>
    <p:extLst>
      <p:ext uri="{BB962C8B-B14F-4D97-AF65-F5344CB8AC3E}">
        <p14:creationId xmlns:p14="http://schemas.microsoft.com/office/powerpoint/2010/main" val="2394792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 Overview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Types of AWK:</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Original AWK from AT &amp; T Laboratory</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NAWK</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Newer and improved version of AWK from AT &amp; T Laboratory</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GAWK</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GNU AWK</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GNU/Linux distributions ship GAWK</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fully compatible with AWK and NAWK</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4</a:t>
            </a:fld>
            <a:endParaRPr lang="en-US"/>
          </a:p>
        </p:txBody>
      </p:sp>
    </p:spTree>
    <p:extLst>
      <p:ext uri="{BB962C8B-B14F-4D97-AF65-F5344CB8AC3E}">
        <p14:creationId xmlns:p14="http://schemas.microsoft.com/office/powerpoint/2010/main" val="3035649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 Overview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925112"/>
            <a:ext cx="8391236" cy="3982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indent="-228600" algn="l">
              <a:lnSpc>
                <a:spcPct val="150000"/>
              </a:lnSpc>
              <a:buFont typeface="Wingdings" panose="05000000000000000000" pitchFamily="2" charset="2"/>
              <a:buChar char="§"/>
            </a:pPr>
            <a:r>
              <a:rPr lang="en-US" sz="1600"/>
              <a:t>Typical Uses of AWK:</a:t>
            </a:r>
          </a:p>
          <a:p>
            <a:pPr indent="228600" algn="l">
              <a:lnSpc>
                <a:spcPct val="150000"/>
              </a:lnSpc>
            </a:pPr>
            <a:r>
              <a:rPr lang="en-US" sz="1600"/>
              <a:t>Myriad of tasks can be done with AWK:</a:t>
            </a:r>
          </a:p>
          <a:p>
            <a:pPr marL="457200" indent="-228600" algn="l">
              <a:lnSpc>
                <a:spcPct val="150000"/>
              </a:lnSpc>
              <a:buFont typeface="Arial" panose="020B0604020202020204" pitchFamily="34" charset="0"/>
              <a:buChar char="•"/>
            </a:pPr>
            <a:r>
              <a:rPr lang="en-US" sz="1600"/>
              <a:t>Text processing</a:t>
            </a:r>
          </a:p>
          <a:p>
            <a:pPr marL="457200" indent="-228600" algn="l">
              <a:lnSpc>
                <a:spcPct val="150000"/>
              </a:lnSpc>
              <a:buFont typeface="Arial" panose="020B0604020202020204" pitchFamily="34" charset="0"/>
              <a:buChar char="•"/>
            </a:pPr>
            <a:r>
              <a:rPr lang="en-US" sz="1600"/>
              <a:t>Define variables to store data</a:t>
            </a:r>
          </a:p>
          <a:p>
            <a:pPr marL="457200" indent="-228600" algn="l">
              <a:lnSpc>
                <a:spcPct val="150000"/>
              </a:lnSpc>
              <a:buFont typeface="Arial" panose="020B0604020202020204" pitchFamily="34" charset="0"/>
              <a:buChar char="•"/>
            </a:pPr>
            <a:r>
              <a:rPr lang="en-US" sz="1600"/>
              <a:t>Use structured programming concepts to add logic to data processing</a:t>
            </a:r>
          </a:p>
          <a:p>
            <a:pPr marL="228600" indent="228600" algn="l">
              <a:lnSpc>
                <a:spcPct val="150000"/>
              </a:lnSpc>
            </a:pPr>
            <a:r>
              <a:rPr lang="en-US" sz="1600"/>
              <a:t>if-then statements and loops</a:t>
            </a:r>
          </a:p>
          <a:p>
            <a:pPr marL="457200" indent="-228600" algn="l">
              <a:lnSpc>
                <a:spcPct val="150000"/>
              </a:lnSpc>
              <a:buFont typeface="Arial" panose="020B0604020202020204" pitchFamily="34" charset="0"/>
              <a:buChar char="•"/>
            </a:pPr>
            <a:r>
              <a:rPr lang="en-US" sz="1600" b="1"/>
              <a:t>Producing formatted text reports</a:t>
            </a:r>
          </a:p>
          <a:p>
            <a:pPr marL="228600" indent="228600" algn="l">
              <a:lnSpc>
                <a:spcPct val="150000"/>
              </a:lnSpc>
            </a:pPr>
            <a:r>
              <a:rPr lang="en-US" sz="1600"/>
              <a:t>Generate formatted reports by extracting data elements within the data file and repositioning them in another order or format</a:t>
            </a:r>
          </a:p>
          <a:p>
            <a:pPr marL="457200" indent="-228600" algn="l">
              <a:lnSpc>
                <a:spcPct val="150000"/>
              </a:lnSpc>
              <a:buFont typeface="Arial" panose="020B0604020202020204" pitchFamily="34" charset="0"/>
              <a:buChar char="•"/>
            </a:pPr>
            <a:r>
              <a:rPr lang="en-US" sz="1600"/>
              <a:t>Performing arithmetic operations</a:t>
            </a:r>
          </a:p>
          <a:p>
            <a:pPr marL="457200" indent="-228600" algn="l">
              <a:lnSpc>
                <a:spcPct val="150000"/>
              </a:lnSpc>
              <a:buFont typeface="Arial" panose="020B0604020202020204" pitchFamily="34" charset="0"/>
              <a:buChar char="•"/>
            </a:pPr>
            <a:r>
              <a:rPr lang="en-US" sz="1600"/>
              <a:t>Performing string operations, and many more</a:t>
            </a:r>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5</a:t>
            </a:fld>
            <a:endParaRPr lang="en-US"/>
          </a:p>
        </p:txBody>
      </p:sp>
    </p:spTree>
    <p:extLst>
      <p:ext uri="{BB962C8B-B14F-4D97-AF65-F5344CB8AC3E}">
        <p14:creationId xmlns:p14="http://schemas.microsoft.com/office/powerpoint/2010/main" val="114073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2. Environment</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is available by default on most GNU/Linux distributions</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Can use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which</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command to check whether it is present on your system or not</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Installation Using Package Manager</a:t>
            </a:r>
          </a:p>
          <a:p>
            <a:pPr marL="457200" marR="0" lvl="1" indent="-228600"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Ubuntu: Advance Package Tool (APT) package manager</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sudo apt-get update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sudo apt-get install gawk</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After installation, ensure that AWK is accessible via command line</a:t>
            </a:r>
          </a:p>
          <a:p>
            <a:pPr marL="228600" marR="0" lvl="1"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which awk</a:t>
            </a:r>
          </a:p>
          <a:p>
            <a:pPr marR="0" lvl="0" algn="l" defTabSz="914400" rtl="0" eaLnBrk="1" fontAlgn="auto" latinLnBrk="0" hangingPunct="1">
              <a:lnSpc>
                <a:spcPct val="150000"/>
              </a:lnSpc>
              <a:spcAft>
                <a:spcPts val="0"/>
              </a:spcAft>
              <a:buClrTx/>
              <a:buSzTx/>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6</a:t>
            </a:fld>
            <a:endParaRPr lang="en-US"/>
          </a:p>
        </p:txBody>
      </p:sp>
    </p:spTree>
    <p:extLst>
      <p:ext uri="{BB962C8B-B14F-4D97-AF65-F5344CB8AC3E}">
        <p14:creationId xmlns:p14="http://schemas.microsoft.com/office/powerpoint/2010/main" val="733275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3. Workflow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a:lnSpc>
                <a:spcPct val="150000"/>
              </a:lnSpc>
            </a:pPr>
            <a:r>
              <a:rPr lang="en-US" sz="1600"/>
              <a:t>AWK follows a simple workflow − Read, Execute, and Repeat</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7</a:t>
            </a:fld>
            <a:endParaRPr lang="en-US"/>
          </a:p>
        </p:txBody>
      </p:sp>
      <p:pic>
        <p:nvPicPr>
          <p:cNvPr id="6" name="Picture 2" descr="AWK Workflow">
            <a:extLst>
              <a:ext uri="{FF2B5EF4-FFF2-40B4-BE49-F238E27FC236}">
                <a16:creationId xmlns:a16="http://schemas.microsoft.com/office/drawing/2014/main" id="{4FA2213F-45AA-A457-864E-868524398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477" y="1567421"/>
            <a:ext cx="3952875" cy="3491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5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3. Workflow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Read</a:t>
            </a:r>
          </a:p>
          <a:p>
            <a:pPr marL="228600" marR="0" lvl="1"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reads a line from the input stream (file, pipe, or stdin) and stores it in memory</a:t>
            </a: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Execute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AWK commands are applied sequentially on the input</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By default AWK execute commands on every line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We can restrict this by providing patterns</a:t>
            </a: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Repeat</a:t>
            </a:r>
          </a:p>
          <a:p>
            <a:pPr marL="228600" marR="0" lvl="1"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process repeats until the file reaches its end</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8</a:t>
            </a:fld>
            <a:endParaRPr lang="en-US"/>
          </a:p>
        </p:txBody>
      </p:sp>
    </p:spTree>
    <p:extLst>
      <p:ext uri="{BB962C8B-B14F-4D97-AF65-F5344CB8AC3E}">
        <p14:creationId xmlns:p14="http://schemas.microsoft.com/office/powerpoint/2010/main" val="2245766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4. Program Structure</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BEGIN block</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BEGIN</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{awk-commands}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BEGIN block gets executed at program start-up</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executes only once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is good place to initialize variables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BEGIN is an AWK keyword and hence it must be in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upper-case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Note: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block is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optional</a:t>
            </a: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9</a:t>
            </a:fld>
            <a:endParaRPr lang="en-US"/>
          </a:p>
        </p:txBody>
      </p:sp>
    </p:spTree>
    <p:extLst>
      <p:ext uri="{BB962C8B-B14F-4D97-AF65-F5344CB8AC3E}">
        <p14:creationId xmlns:p14="http://schemas.microsoft.com/office/powerpoint/2010/main" val="364078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4. Program Structure</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Body Block</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/pattern/ {awk-commands}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body block applies AWK commands on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every input line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By default, AWK executes commands on every line. We can restrict this by providing patterns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There are no keywords for the Body block</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10</a:t>
            </a:fld>
            <a:endParaRPr lang="en-US"/>
          </a:p>
        </p:txBody>
      </p:sp>
    </p:spTree>
    <p:extLst>
      <p:ext uri="{BB962C8B-B14F-4D97-AF65-F5344CB8AC3E}">
        <p14:creationId xmlns:p14="http://schemas.microsoft.com/office/powerpoint/2010/main" val="3189831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4. Program Structure</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 Block</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{awk-commands}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END block executes at the end of the program.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 is an AWK keyword and hence it must be in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upper-case</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Note: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block is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optional</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11</a:t>
            </a:fld>
            <a:endParaRPr lang="en-US"/>
          </a:p>
        </p:txBody>
      </p:sp>
    </p:spTree>
    <p:extLst>
      <p:ext uri="{BB962C8B-B14F-4D97-AF65-F5344CB8AC3E}">
        <p14:creationId xmlns:p14="http://schemas.microsoft.com/office/powerpoint/2010/main" val="2990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4. Program Structure</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r>
              <a:rPr lang="en-US"/>
              <a:t>Example</a:t>
            </a:r>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indent="-228600" algn="l">
              <a:lnSpc>
                <a:spcPct val="150000"/>
              </a:lnSpc>
              <a:buFont typeface="Wingdings" panose="05000000000000000000" pitchFamily="2" charset="2"/>
              <a:buChar char="§"/>
            </a:pPr>
            <a:r>
              <a:rPr lang="en-US" sz="1600"/>
              <a:t>Create a </a:t>
            </a:r>
            <a:r>
              <a:rPr lang="en-US" sz="1600" b="1"/>
              <a:t>data file </a:t>
            </a:r>
            <a:r>
              <a:rPr lang="en-US" sz="1600"/>
              <a:t>(marks.txt)</a:t>
            </a:r>
          </a:p>
          <a:p>
            <a:pPr marL="228600" indent="-228600" algn="l">
              <a:lnSpc>
                <a:spcPct val="150000"/>
              </a:lnSpc>
              <a:buFont typeface="Wingdings" panose="05000000000000000000" pitchFamily="2" charset="2"/>
              <a:buChar char="§"/>
            </a:pPr>
            <a:endParaRPr lang="en-US" sz="1600"/>
          </a:p>
          <a:p>
            <a:pPr marL="228600" indent="-228600" algn="l">
              <a:lnSpc>
                <a:spcPct val="150000"/>
              </a:lnSpc>
              <a:buFont typeface="Wingdings" panose="05000000000000000000" pitchFamily="2" charset="2"/>
              <a:buChar char="§"/>
            </a:pPr>
            <a:endParaRPr lang="en-US" sz="1600" b="1"/>
          </a:p>
          <a:p>
            <a:pPr marL="228600" indent="-228600" algn="l">
              <a:lnSpc>
                <a:spcPct val="150000"/>
              </a:lnSpc>
              <a:buFont typeface="Wingdings" panose="05000000000000000000" pitchFamily="2" charset="2"/>
              <a:buChar char="§"/>
            </a:pPr>
            <a:endParaRPr lang="en-US" sz="1600"/>
          </a:p>
          <a:p>
            <a:pPr marL="228600" indent="-228600" algn="l">
              <a:lnSpc>
                <a:spcPct val="150000"/>
              </a:lnSpc>
              <a:buFont typeface="Wingdings" panose="05000000000000000000" pitchFamily="2" charset="2"/>
              <a:buChar char="§"/>
            </a:pPr>
            <a:endParaRPr lang="en-US" sz="1600"/>
          </a:p>
          <a:p>
            <a:pPr marL="228600" indent="-228600" algn="l">
              <a:lnSpc>
                <a:spcPct val="150000"/>
              </a:lnSpc>
              <a:buFont typeface="Wingdings" panose="05000000000000000000" pitchFamily="2" charset="2"/>
              <a:buChar char="§"/>
            </a:pPr>
            <a:endParaRPr lang="en-US" sz="1600"/>
          </a:p>
          <a:p>
            <a:pPr marL="228600" indent="-228600" algn="l">
              <a:lnSpc>
                <a:spcPct val="150000"/>
              </a:lnSpc>
              <a:buFont typeface="Wingdings" panose="05000000000000000000" pitchFamily="2" charset="2"/>
              <a:buChar char="§"/>
            </a:pPr>
            <a:r>
              <a:rPr lang="en-US" sz="1600"/>
              <a:t>Write AWK code:</a:t>
            </a:r>
          </a:p>
          <a:p>
            <a:pPr marL="228600" algn="l">
              <a:lnSpc>
                <a:spcPct val="150000"/>
              </a:lnSpc>
            </a:pPr>
            <a:r>
              <a:rPr lang="en-US" sz="1600"/>
              <a:t>awk 'BEGIN { printf "Sr No\tName\tSub\tMarks\n“ } </a:t>
            </a:r>
            <a:br>
              <a:rPr lang="en-US" sz="1600"/>
            </a:br>
            <a:r>
              <a:rPr lang="en-US" sz="1600"/>
              <a:t>{ print }' marks.txt</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12</a:t>
            </a:fld>
            <a:endParaRPr lang="en-US"/>
          </a:p>
        </p:txBody>
      </p:sp>
      <p:pic>
        <p:nvPicPr>
          <p:cNvPr id="6" name="Picture 5">
            <a:extLst>
              <a:ext uri="{FF2B5EF4-FFF2-40B4-BE49-F238E27FC236}">
                <a16:creationId xmlns:a16="http://schemas.microsoft.com/office/drawing/2014/main" id="{0591A0E1-FBE0-B98B-DB43-A38BDEC03C8A}"/>
              </a:ext>
            </a:extLst>
          </p:cNvPr>
          <p:cNvPicPr>
            <a:picLocks noChangeAspect="1"/>
          </p:cNvPicPr>
          <p:nvPr/>
        </p:nvPicPr>
        <p:blipFill>
          <a:blip r:embed="rId3"/>
          <a:stretch>
            <a:fillRect/>
          </a:stretch>
        </p:blipFill>
        <p:spPr>
          <a:xfrm>
            <a:off x="3505200" y="1224512"/>
            <a:ext cx="3114675" cy="1669466"/>
          </a:xfrm>
          <a:prstGeom prst="rect">
            <a:avLst/>
          </a:prstGeom>
        </p:spPr>
      </p:pic>
    </p:spTree>
    <p:extLst>
      <p:ext uri="{BB962C8B-B14F-4D97-AF65-F5344CB8AC3E}">
        <p14:creationId xmlns:p14="http://schemas.microsoft.com/office/powerpoint/2010/main" val="117979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5. Basic Syntax</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indent="-228600" algn="l">
              <a:lnSpc>
                <a:spcPct val="150000"/>
              </a:lnSpc>
              <a:buFont typeface="Wingdings" panose="05000000000000000000" pitchFamily="2" charset="2"/>
              <a:buChar char="§"/>
            </a:pPr>
            <a:r>
              <a:rPr lang="en-US" sz="1600"/>
              <a:t>AWK is simple to use</a:t>
            </a:r>
          </a:p>
          <a:p>
            <a:pPr marL="228600" indent="-228600" algn="l">
              <a:lnSpc>
                <a:spcPct val="150000"/>
              </a:lnSpc>
              <a:buFont typeface="Wingdings" panose="05000000000000000000" pitchFamily="2" charset="2"/>
              <a:buChar char="§"/>
            </a:pPr>
            <a:r>
              <a:rPr lang="en-US" sz="1600"/>
              <a:t>We can provide AWK commands:</a:t>
            </a:r>
          </a:p>
          <a:p>
            <a:pPr marL="457200" indent="-228600" algn="l">
              <a:lnSpc>
                <a:spcPct val="150000"/>
              </a:lnSpc>
              <a:buFont typeface="Arial" panose="020B0604020202020204" pitchFamily="34" charset="0"/>
              <a:buChar char="•"/>
            </a:pPr>
            <a:r>
              <a:rPr lang="en-US" sz="1600"/>
              <a:t>either </a:t>
            </a:r>
            <a:r>
              <a:rPr lang="en-US" sz="1600" b="1"/>
              <a:t>directly</a:t>
            </a:r>
            <a:r>
              <a:rPr lang="en-US" sz="1600"/>
              <a:t> from the </a:t>
            </a:r>
            <a:r>
              <a:rPr lang="en-US" sz="1600" b="1"/>
              <a:t>command line </a:t>
            </a:r>
          </a:p>
          <a:p>
            <a:pPr marL="457200" indent="-228600" algn="l">
              <a:lnSpc>
                <a:spcPct val="150000"/>
              </a:lnSpc>
              <a:buFont typeface="Arial" panose="020B0604020202020204" pitchFamily="34" charset="0"/>
              <a:buChar char="•"/>
            </a:pPr>
            <a:r>
              <a:rPr lang="en-US" sz="1600"/>
              <a:t>or in the form of a </a:t>
            </a:r>
            <a:r>
              <a:rPr lang="en-US" sz="1600" b="1"/>
              <a:t>text file </a:t>
            </a:r>
            <a:r>
              <a:rPr lang="en-US" sz="1600"/>
              <a:t>containing AWK commands</a:t>
            </a:r>
          </a:p>
          <a:p>
            <a:pPr marL="228600" indent="-228600" algn="l">
              <a:lnSpc>
                <a:spcPct val="150000"/>
              </a:lnSpc>
              <a:buFont typeface="Wingdings" panose="05000000000000000000" pitchFamily="2" charset="2"/>
              <a:buChar char="§"/>
            </a:pPr>
            <a:r>
              <a:rPr lang="en-US" sz="1600" b="1"/>
              <a:t>AWK Command Line</a:t>
            </a:r>
          </a:p>
          <a:p>
            <a:pPr marL="228600" algn="l">
              <a:lnSpc>
                <a:spcPct val="150000"/>
              </a:lnSpc>
            </a:pPr>
            <a:r>
              <a:rPr lang="en-US" sz="1600"/>
              <a:t>Specify an AWK command within </a:t>
            </a:r>
            <a:r>
              <a:rPr lang="en-US" sz="1600" b="1"/>
              <a:t>single quotes</a:t>
            </a:r>
          </a:p>
          <a:p>
            <a:pPr marL="457200" indent="-228600" algn="l">
              <a:lnSpc>
                <a:spcPct val="150000"/>
              </a:lnSpc>
              <a:buFont typeface="Arial" panose="020B0604020202020204" pitchFamily="34" charset="0"/>
              <a:buChar char="•"/>
            </a:pPr>
            <a:r>
              <a:rPr lang="en-US" sz="1600" b="1"/>
              <a:t>awk [options] ‘awk commands’ [dataFile]</a:t>
            </a:r>
            <a:endParaRPr lang="en-US" sz="1600"/>
          </a:p>
          <a:p>
            <a:pPr marL="457200" indent="-228600" algn="l">
              <a:lnSpc>
                <a:spcPct val="150000"/>
              </a:lnSpc>
              <a:buFont typeface="Arial" panose="020B0604020202020204" pitchFamily="34" charset="0"/>
              <a:buChar char="•"/>
            </a:pPr>
            <a:r>
              <a:rPr lang="en-US" sz="1600"/>
              <a:t>Example: awk '{print}' marks.txt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13</a:t>
            </a:fld>
            <a:endParaRPr lang="en-US"/>
          </a:p>
        </p:txBody>
      </p:sp>
    </p:spTree>
    <p:extLst>
      <p:ext uri="{BB962C8B-B14F-4D97-AF65-F5344CB8AC3E}">
        <p14:creationId xmlns:p14="http://schemas.microsoft.com/office/powerpoint/2010/main" val="2358070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5. Basic Syntax</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indent="-228600" algn="l">
              <a:lnSpc>
                <a:spcPct val="150000"/>
              </a:lnSpc>
              <a:buFont typeface="Wingdings" panose="05000000000000000000" pitchFamily="2" charset="2"/>
              <a:buChar char="§"/>
            </a:pPr>
            <a:r>
              <a:rPr lang="en-US" sz="1600" b="1"/>
              <a:t>AWK Program File</a:t>
            </a:r>
          </a:p>
          <a:p>
            <a:pPr marL="228600" algn="l">
              <a:lnSpc>
                <a:spcPct val="150000"/>
              </a:lnSpc>
            </a:pPr>
            <a:r>
              <a:rPr lang="en-US" sz="1600"/>
              <a:t>Provide AWK commands in a script file </a:t>
            </a:r>
          </a:p>
          <a:p>
            <a:pPr marL="457200" indent="-228600" algn="l">
              <a:lnSpc>
                <a:spcPct val="150000"/>
              </a:lnSpc>
              <a:buFont typeface="Arial" panose="020B0604020202020204" pitchFamily="34" charset="0"/>
              <a:buChar char="•"/>
            </a:pPr>
            <a:r>
              <a:rPr lang="en-US" sz="1600" b="1"/>
              <a:t>awk [options] -f awkCommandFile [dataFile]</a:t>
            </a:r>
            <a:endParaRPr lang="en-US" sz="1600"/>
          </a:p>
          <a:p>
            <a:pPr marL="457200" indent="-228600" algn="l">
              <a:lnSpc>
                <a:spcPct val="150000"/>
              </a:lnSpc>
              <a:buFont typeface="Arial" panose="020B0604020202020204" pitchFamily="34" charset="0"/>
              <a:buChar char="•"/>
            </a:pPr>
            <a:r>
              <a:rPr lang="en-US" sz="1600"/>
              <a:t>Example: awk -f command.awk marks.txt</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14</a:t>
            </a:fld>
            <a:endParaRPr lang="en-US"/>
          </a:p>
        </p:txBody>
      </p:sp>
    </p:spTree>
    <p:extLst>
      <p:ext uri="{BB962C8B-B14F-4D97-AF65-F5344CB8AC3E}">
        <p14:creationId xmlns:p14="http://schemas.microsoft.com/office/powerpoint/2010/main" val="1747367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5. Basic Syntax</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Standard Options</a:t>
            </a: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-v option</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assigns a value to a variable</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allows assignment before the program execution</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-v name=Jerry 'BEGIN{printf "Name = %s\n", name}'</a:t>
            </a: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--dump-variables[=file] option</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prints a sorted list of global variables and their final values to file</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default file is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awkvars.out</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p>
          <a:p>
            <a:pPr marL="914400" marR="0" lvl="3"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--dump-variables ‘’</a:t>
            </a:r>
          </a:p>
          <a:p>
            <a:pPr marL="914400" marR="0" lvl="3"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cat awkvars.out</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15</a:t>
            </a:fld>
            <a:endParaRPr lang="en-US"/>
          </a:p>
        </p:txBody>
      </p:sp>
    </p:spTree>
    <p:extLst>
      <p:ext uri="{BB962C8B-B14F-4D97-AF65-F5344CB8AC3E}">
        <p14:creationId xmlns:p14="http://schemas.microsoft.com/office/powerpoint/2010/main" val="2046406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5. Basic Syntax</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indent="-228600" algn="l">
              <a:lnSpc>
                <a:spcPct val="150000"/>
              </a:lnSpc>
              <a:buFont typeface="Wingdings" panose="05000000000000000000" pitchFamily="2" charset="2"/>
              <a:buChar char="§"/>
            </a:pPr>
            <a:r>
              <a:rPr lang="en-US" sz="1600" b="1"/>
              <a:t>AWK Standard Options</a:t>
            </a:r>
          </a:p>
          <a:p>
            <a:pPr marL="457200" indent="-228600" algn="l">
              <a:lnSpc>
                <a:spcPct val="150000"/>
              </a:lnSpc>
              <a:buFont typeface="Arial" panose="020B0604020202020204" pitchFamily="34" charset="0"/>
              <a:buChar char="•"/>
            </a:pPr>
            <a:r>
              <a:rPr lang="en-US" sz="1600"/>
              <a:t>The --help option</a:t>
            </a:r>
          </a:p>
          <a:p>
            <a:pPr marL="457200" indent="-228600" algn="l">
              <a:lnSpc>
                <a:spcPct val="150000"/>
              </a:lnSpc>
              <a:buFont typeface="Arial" panose="020B0604020202020204" pitchFamily="34" charset="0"/>
              <a:buChar char="•"/>
            </a:pPr>
            <a:r>
              <a:rPr lang="en-US" sz="1600"/>
              <a:t>prints the help message on standard output</a:t>
            </a:r>
          </a:p>
          <a:p>
            <a:pPr marL="457200" indent="-228600" algn="l">
              <a:lnSpc>
                <a:spcPct val="150000"/>
              </a:lnSpc>
              <a:buFont typeface="Arial" panose="020B0604020202020204" pitchFamily="34" charset="0"/>
              <a:buChar char="•"/>
            </a:pPr>
            <a:r>
              <a:rPr lang="en-US" sz="1600"/>
              <a:t>Example: </a:t>
            </a:r>
            <a:r>
              <a:rPr lang="en-US" sz="1600" b="1"/>
              <a:t>awk --help</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16</a:t>
            </a:fld>
            <a:endParaRPr lang="en-US"/>
          </a:p>
        </p:txBody>
      </p:sp>
    </p:spTree>
    <p:extLst>
      <p:ext uri="{BB962C8B-B14F-4D97-AF65-F5344CB8AC3E}">
        <p14:creationId xmlns:p14="http://schemas.microsoft.com/office/powerpoint/2010/main" val="975483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6. Basic Examples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Use the data file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marks.txt</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Printing Column or Field</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instruct AWK to print only certain columns from the input field</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'{print $3 "\t" $4}' marks.txt</a:t>
            </a:r>
          </a:p>
          <a:p>
            <a:pPr marL="4572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and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represent the third and the fourth fields respectively from the input record</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Printing All Lines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By default, AWK prints all the lines that match pattern</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'/a/ {print $0}' marks.txt</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'/a/' marks.txt</a:t>
            </a: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17</a:t>
            </a:fld>
            <a:endParaRPr lang="en-US"/>
          </a:p>
        </p:txBody>
      </p:sp>
    </p:spTree>
    <p:extLst>
      <p:ext uri="{BB962C8B-B14F-4D97-AF65-F5344CB8AC3E}">
        <p14:creationId xmlns:p14="http://schemas.microsoft.com/office/powerpoint/2010/main" val="3700546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6. Basic Examples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Printing Columns by Pattern</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instruct AWK to print only certain fields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'/a/ {print $3 "\t" $4}' marks.txt</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Printing Column in Any Order</a:t>
            </a:r>
          </a:p>
          <a:p>
            <a:pPr marL="228600" marR="0" lvl="1"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'/a/ {print $4 "\t" $3}' marks.txt</a:t>
            </a:r>
          </a:p>
          <a:p>
            <a:pPr marL="0" marR="0" lvl="0" indent="0" algn="l" defTabSz="914400" rtl="0" eaLnBrk="1" fontAlgn="auto" latinLnBrk="0" hangingPunct="1">
              <a:lnSpc>
                <a:spcPct val="150000"/>
              </a:lnSpc>
              <a:spcAft>
                <a:spcPts val="0"/>
              </a:spcAft>
              <a:buClrTx/>
              <a:buSzTx/>
              <a:buFont typeface="Wingdings" panose="05000000000000000000" pitchFamily="2" charset="2"/>
              <a:buNone/>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18</a:t>
            </a:fld>
            <a:endParaRPr lang="en-US"/>
          </a:p>
        </p:txBody>
      </p:sp>
    </p:spTree>
    <p:extLst>
      <p:ext uri="{BB962C8B-B14F-4D97-AF65-F5344CB8AC3E}">
        <p14:creationId xmlns:p14="http://schemas.microsoft.com/office/powerpoint/2010/main" val="46969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6. Basic Examples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Counting and Printing Matched Pattern</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count and print the number of lines for which a pattern match succeeded</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'/a/{++cnt} END {print "Count = ", cnt}' marks.txt</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Printing Lines with More than 18 Characters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 only those lines that contain more than 18 characters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'length($0) &gt; 18' marks.txt</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provides a built-in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length</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function that returns the length of the string</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variable stores the entire line</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19</a:t>
            </a:fld>
            <a:endParaRPr lang="en-US"/>
          </a:p>
        </p:txBody>
      </p:sp>
    </p:spTree>
    <p:extLst>
      <p:ext uri="{BB962C8B-B14F-4D97-AF65-F5344CB8AC3E}">
        <p14:creationId xmlns:p14="http://schemas.microsoft.com/office/powerpoint/2010/main" val="2923057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7. Built-in Variables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AWK variables</a:t>
            </a: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ARGC</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number of arguments provided at the command line</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{print "Arguments =", ARGC}' One Two Three Four</a:t>
            </a: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ARGV</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 array that stores the command-line arguments</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p>
          <a:p>
            <a:pPr marL="1371600" marR="0" lvl="3" indent="0" algn="l" defTabSz="914400" rtl="0" eaLnBrk="1" fontAlgn="auto" latinLnBrk="0" hangingPunct="1">
              <a:lnSpc>
                <a:spcPct val="90000"/>
              </a:lnSpc>
              <a:spcBef>
                <a:spcPts val="5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t>
            </a:r>
          </a:p>
          <a:p>
            <a:pPr marL="1371600" marR="0" lvl="3" indent="0" algn="l" defTabSz="914400" rtl="0" eaLnBrk="1" fontAlgn="auto" latinLnBrk="0" hangingPunct="1">
              <a:lnSpc>
                <a:spcPct val="90000"/>
              </a:lnSpc>
              <a:spcBef>
                <a:spcPts val="5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for (i = 0; i &lt; ARGC; ++i) { </a:t>
            </a:r>
          </a:p>
          <a:p>
            <a:pPr marL="1371600" marR="0" lvl="3" indent="0" algn="l" defTabSz="914400" rtl="0" eaLnBrk="1" fontAlgn="auto" latinLnBrk="0" hangingPunct="1">
              <a:lnSpc>
                <a:spcPct val="90000"/>
              </a:lnSpc>
              <a:spcBef>
                <a:spcPts val="5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printf "ARGV[%d] = %s\n", i, ARGV[i] </a:t>
            </a:r>
          </a:p>
          <a:p>
            <a:pPr marL="1371600" marR="0" lvl="3" indent="0" algn="l" defTabSz="914400" rtl="0" eaLnBrk="1" fontAlgn="auto" latinLnBrk="0" hangingPunct="1">
              <a:lnSpc>
                <a:spcPct val="90000"/>
              </a:lnSpc>
              <a:spcBef>
                <a:spcPts val="5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 </a:t>
            </a:r>
          </a:p>
          <a:p>
            <a:pPr marL="1371600" marR="0" lvl="3" indent="0" algn="l" defTabSz="914400" rtl="0" eaLnBrk="1" fontAlgn="auto" latinLnBrk="0" hangingPunct="1">
              <a:lnSpc>
                <a:spcPct val="90000"/>
              </a:lnSpc>
              <a:spcBef>
                <a:spcPts val="5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one two three four</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20</a:t>
            </a:fld>
            <a:endParaRPr lang="en-US"/>
          </a:p>
        </p:txBody>
      </p:sp>
    </p:spTree>
    <p:extLst>
      <p:ext uri="{BB962C8B-B14F-4D97-AF65-F5344CB8AC3E}">
        <p14:creationId xmlns:p14="http://schemas.microsoft.com/office/powerpoint/2010/main" val="1142697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7. Built-in Variables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257175" y="925112"/>
            <a:ext cx="8874743" cy="3982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AWK variables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FILENAME</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represents the current file name</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Note:</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FILENAME is undefined in the BEGIN block</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'END {print FILENAME}' marks.txt</a:t>
            </a: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NF</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represents the number of fields in the current record</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echo -e "One Two\nOne Two Three\nOne Two Three Four" | awk 'NF &gt; 2’</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NR</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represents the number of the current record</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echo -e "One Two\nOne Two Three\nOne Two Three Four" | awk 'NR &lt; 3'</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21</a:t>
            </a:fld>
            <a:endParaRPr lang="en-US"/>
          </a:p>
        </p:txBody>
      </p:sp>
    </p:spTree>
    <p:extLst>
      <p:ext uri="{BB962C8B-B14F-4D97-AF65-F5344CB8AC3E}">
        <p14:creationId xmlns:p14="http://schemas.microsoft.com/office/powerpoint/2010/main" val="1069926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7. Built-in Variables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AWK variables</a:t>
            </a: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represents the entire input record</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'{print $0}' marks.txt</a:t>
            </a:r>
          </a:p>
          <a:p>
            <a:pPr marL="4572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represents the nth field in the current record </a:t>
            </a:r>
          </a:p>
          <a:p>
            <a:pPr marL="6858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'{print $3 "\t" $4}' marks.txt</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22</a:t>
            </a:fld>
            <a:endParaRPr lang="en-US"/>
          </a:p>
        </p:txBody>
      </p:sp>
    </p:spTree>
    <p:extLst>
      <p:ext uri="{BB962C8B-B14F-4D97-AF65-F5344CB8AC3E}">
        <p14:creationId xmlns:p14="http://schemas.microsoft.com/office/powerpoint/2010/main" val="320128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925112"/>
            <a:ext cx="8391236" cy="3982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Arithmetic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Addition</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50; b = 20; print "(a + b) = ",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Subtraction</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50; b = 20; print "(a - b) = ",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Multiplication</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50; b = 20; print "(a * b) = ",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Division</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50; b = 20; print "(a / b) = ",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Modulus</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50; b = 20; print "(a % b) = ", (a % b)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23</a:t>
            </a:fld>
            <a:endParaRPr lang="en-US"/>
          </a:p>
        </p:txBody>
      </p:sp>
    </p:spTree>
    <p:extLst>
      <p:ext uri="{BB962C8B-B14F-4D97-AF65-F5344CB8AC3E}">
        <p14:creationId xmlns:p14="http://schemas.microsoft.com/office/powerpoint/2010/main" val="2893139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Increment and Decrement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Pre-Increment/Decrement</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++a; printf "a = %d, b = %d\n", a, b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--a; printf "a = %d, b = %d\n", a, b }’</a:t>
            </a:r>
          </a:p>
          <a:p>
            <a:pPr marL="11430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Post-Increment/Decrement</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a++; printf "a = %d, b = %d\n", a, b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a--; printf "a = %d, b = %d\n", a, b }'</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24</a:t>
            </a:fld>
            <a:endParaRPr lang="en-US"/>
          </a:p>
        </p:txBody>
      </p:sp>
    </p:spTree>
    <p:extLst>
      <p:ext uri="{BB962C8B-B14F-4D97-AF65-F5344CB8AC3E}">
        <p14:creationId xmlns:p14="http://schemas.microsoft.com/office/powerpoint/2010/main" val="1264513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Assignment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Simple Assignment (=)</a:t>
            </a:r>
          </a:p>
          <a:p>
            <a:pPr marL="914400" marR="0" lvl="2" indent="-4572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name = "Jerry"; print "My name is", name }’</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Shorthand</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cnt = 10; cnt += 10; print "Counter =", cnt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cnt = 100; cnt -= 10; print "Counter =", cnt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cnt = 10; cnt *= 10; print "Counter =", cnt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cnt = 100; cnt /= 5; print "Counter =", cnt }’</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cnt = 100; cnt %= 8; print "Counter =", cnt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25</a:t>
            </a:fld>
            <a:endParaRPr lang="en-US"/>
          </a:p>
        </p:txBody>
      </p:sp>
    </p:spTree>
    <p:extLst>
      <p:ext uri="{BB962C8B-B14F-4D97-AF65-F5344CB8AC3E}">
        <p14:creationId xmlns:p14="http://schemas.microsoft.com/office/powerpoint/2010/main" val="18902231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Relational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Equal to</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10; if (a == b) print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Equal to</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20; if (a != b) print "a !=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Less Than</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20; if (a &lt; b) print "a  &lt; b"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26</a:t>
            </a:fld>
            <a:endParaRPr lang="en-US"/>
          </a:p>
        </p:txBody>
      </p:sp>
    </p:spTree>
    <p:extLst>
      <p:ext uri="{BB962C8B-B14F-4D97-AF65-F5344CB8AC3E}">
        <p14:creationId xmlns:p14="http://schemas.microsoft.com/office/powerpoint/2010/main" val="2893276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Relational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Less Than or Equal to</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10; if (a &lt;= b) print "a &lt;= b"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Greater Than</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20; if (b &gt; a ) print "b &gt; a" }’</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Greater Than or Equal to</a:t>
            </a:r>
          </a:p>
          <a:p>
            <a:pPr marL="685800" marR="0" lvl="2" indent="-22860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a = 10; b = 20; if (b &gt;= a ) print "b &gt; a"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27</a:t>
            </a:fld>
            <a:endParaRPr lang="en-US"/>
          </a:p>
        </p:txBody>
      </p:sp>
    </p:spTree>
    <p:extLst>
      <p:ext uri="{BB962C8B-B14F-4D97-AF65-F5344CB8AC3E}">
        <p14:creationId xmlns:p14="http://schemas.microsoft.com/office/powerpoint/2010/main" val="4225707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199" y="1000125"/>
            <a:ext cx="8674719" cy="39071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Logical Operators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Logical AND (&amp;&amp;)</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expr1 &amp;&amp; expr2</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pt-BR"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{num = 5; if (num &gt;= 0 &amp;&amp; num &lt;= 7) printf "%d is in octal format\n", num }’</a:t>
            </a: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Logical OR (||)</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expr1 || expr2</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{ch = "\n"; if (ch == " " || ch == "\t" || ch == "\n") print "Current character is whitespace." }’</a:t>
            </a: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Logical NOT (!)</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expr1</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name = ""; if (! length(name)) print "name is empty string." }'</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28</a:t>
            </a:fld>
            <a:endParaRPr lang="en-US"/>
          </a:p>
        </p:txBody>
      </p:sp>
    </p:spTree>
    <p:extLst>
      <p:ext uri="{BB962C8B-B14F-4D97-AF65-F5344CB8AC3E}">
        <p14:creationId xmlns:p14="http://schemas.microsoft.com/office/powerpoint/2010/main" val="3540543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8. Operators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199" y="1076960"/>
            <a:ext cx="8601075"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String Concatenation Operator</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Space is a string concatenation operator that merges two strings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str1 = "Hello, "; str2 = "World"; str3 = str1 str2; print str3 }’</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Array Membership Operator</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It is represented by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{arr[0] = 1; arr[1] = 2; arr[2] = 3; for (i in arr) printf "arr[%d] = %d\n", i, arr[i]}'</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29</a:t>
            </a:fld>
            <a:endParaRPr lang="en-US"/>
          </a:p>
        </p:txBody>
      </p:sp>
    </p:spTree>
    <p:extLst>
      <p:ext uri="{BB962C8B-B14F-4D97-AF65-F5344CB8AC3E}">
        <p14:creationId xmlns:p14="http://schemas.microsoft.com/office/powerpoint/2010/main" val="3391785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9. Control Flow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If statement</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{num = 10; if (num % 2 == 0) printf "%d is even number.\n", num }'</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30</a:t>
            </a:fld>
            <a:endParaRPr lang="en-US"/>
          </a:p>
        </p:txBody>
      </p:sp>
      <p:pic>
        <p:nvPicPr>
          <p:cNvPr id="6" name="Picture 5">
            <a:extLst>
              <a:ext uri="{FF2B5EF4-FFF2-40B4-BE49-F238E27FC236}">
                <a16:creationId xmlns:a16="http://schemas.microsoft.com/office/drawing/2014/main" id="{F8DA0F5A-7929-33D0-4738-DC4DD026CBDB}"/>
              </a:ext>
            </a:extLst>
          </p:cNvPr>
          <p:cNvPicPr>
            <a:picLocks noChangeAspect="1"/>
          </p:cNvPicPr>
          <p:nvPr/>
        </p:nvPicPr>
        <p:blipFill>
          <a:blip r:embed="rId3"/>
          <a:stretch>
            <a:fillRect/>
          </a:stretch>
        </p:blipFill>
        <p:spPr>
          <a:xfrm>
            <a:off x="1847850" y="1629578"/>
            <a:ext cx="2250696" cy="2436961"/>
          </a:xfrm>
          <a:prstGeom prst="rect">
            <a:avLst/>
          </a:prstGeom>
          <a:ln w="3175">
            <a:solidFill>
              <a:schemeClr val="tx1"/>
            </a:solidFill>
          </a:ln>
        </p:spPr>
      </p:pic>
    </p:spTree>
    <p:extLst>
      <p:ext uri="{BB962C8B-B14F-4D97-AF65-F5344CB8AC3E}">
        <p14:creationId xmlns:p14="http://schemas.microsoft.com/office/powerpoint/2010/main" val="2320527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9. Control Flow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If Else Statement</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{num = 11; if (num % 2 == 0) printf "%d is even number.\n", num; else printf "%d is odd number.\n", num}'</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31</a:t>
            </a:fld>
            <a:endParaRPr lang="en-US"/>
          </a:p>
        </p:txBody>
      </p:sp>
      <p:pic>
        <p:nvPicPr>
          <p:cNvPr id="6" name="Picture 5">
            <a:extLst>
              <a:ext uri="{FF2B5EF4-FFF2-40B4-BE49-F238E27FC236}">
                <a16:creationId xmlns:a16="http://schemas.microsoft.com/office/drawing/2014/main" id="{BAA24592-7539-7C5B-84BE-2188D7F2B005}"/>
              </a:ext>
            </a:extLst>
          </p:cNvPr>
          <p:cNvPicPr>
            <a:picLocks noChangeAspect="1"/>
          </p:cNvPicPr>
          <p:nvPr/>
        </p:nvPicPr>
        <p:blipFill>
          <a:blip r:embed="rId3"/>
          <a:stretch>
            <a:fillRect/>
          </a:stretch>
        </p:blipFill>
        <p:spPr>
          <a:xfrm>
            <a:off x="2071849" y="1667364"/>
            <a:ext cx="2580969" cy="1871376"/>
          </a:xfrm>
          <a:prstGeom prst="rect">
            <a:avLst/>
          </a:prstGeom>
          <a:ln w="3175">
            <a:solidFill>
              <a:schemeClr val="tx1"/>
            </a:solidFill>
          </a:ln>
        </p:spPr>
      </p:pic>
    </p:spTree>
    <p:extLst>
      <p:ext uri="{BB962C8B-B14F-4D97-AF65-F5344CB8AC3E}">
        <p14:creationId xmlns:p14="http://schemas.microsoft.com/office/powerpoint/2010/main" val="3272784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9. Control Flow</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If-Else-If Ladder</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Can easily create an if-else-if ladder by using multiple if-else statements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 = 30;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if (a==10)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print "a = 10";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else if (a == 20)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print "a = 20";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else if (a == 30)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print "a = 30";</a:t>
            </a:r>
          </a:p>
          <a:p>
            <a:pPr marL="914400" marR="0" lvl="2" indent="0" algn="l" defTabSz="914400" rtl="0" eaLnBrk="1" fontAlgn="auto" latinLnBrk="0" hangingPunct="1">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32</a:t>
            </a:fld>
            <a:endParaRPr lang="en-US"/>
          </a:p>
        </p:txBody>
      </p:sp>
    </p:spTree>
    <p:extLst>
      <p:ext uri="{BB962C8B-B14F-4D97-AF65-F5344CB8AC3E}">
        <p14:creationId xmlns:p14="http://schemas.microsoft.com/office/powerpoint/2010/main" val="161597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10. Loops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Loops are used to execute a set of actions in a repeated manner</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 loop execution continues as long as the loop condition is true</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Loop</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 </a:t>
            </a:r>
          </a:p>
          <a:p>
            <a:pPr marL="914400" marR="0" lvl="2" indent="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(initialization; condition; increment/decrement)</a:t>
            </a:r>
          </a:p>
          <a:p>
            <a:pPr marL="914400" marR="0" lvl="2" indent="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action</a:t>
            </a:r>
          </a:p>
          <a:p>
            <a:pPr marL="914400" marR="0" lvl="2" indent="0" algn="l" defTabSz="914400" rtl="0" eaLnBrk="1" fontAlgn="auto" latinLnBrk="0" hangingPunct="1">
              <a:lnSpc>
                <a:spcPct val="150000"/>
              </a:lnSpc>
              <a:spcAft>
                <a:spcPts val="0"/>
              </a:spcAft>
              <a:buClrTx/>
              <a:buSzTx/>
              <a:buFont typeface="Wingdings" panose="05000000000000000000" pitchFamily="2" charset="2"/>
              <a:buNone/>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 </a:t>
            </a:r>
          </a:p>
          <a:p>
            <a:pPr marL="457200" marR="0" lvl="2"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for (i = 1; i &lt;= 5; ++i) print i }'</a:t>
            </a: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33</a:t>
            </a:fld>
            <a:endParaRPr lang="en-US"/>
          </a:p>
        </p:txBody>
      </p:sp>
    </p:spTree>
    <p:extLst>
      <p:ext uri="{BB962C8B-B14F-4D97-AF65-F5344CB8AC3E}">
        <p14:creationId xmlns:p14="http://schemas.microsoft.com/office/powerpoint/2010/main" val="2788710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10. Loops</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While Loop</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a:t>
            </a:r>
          </a:p>
          <a:p>
            <a:pPr marL="457200" marR="0" lvl="1" indent="0"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while (condition)</a:t>
            </a:r>
          </a:p>
          <a:p>
            <a:pPr marL="457200" marR="0" lvl="1" indent="0" algn="l" defTabSz="914400" rtl="0" eaLnBrk="1" fontAlgn="auto" latinLnBrk="0" hangingPunct="1">
              <a:lnSpc>
                <a:spcPct val="150000"/>
              </a:lnSpc>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action</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Example:</a:t>
            </a:r>
          </a:p>
          <a:p>
            <a:pPr marL="914400" marR="0" lvl="2" indent="0"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{i = 1; while (i &lt; 6) { print i; ++i }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34</a:t>
            </a:fld>
            <a:endParaRPr lang="en-US"/>
          </a:p>
        </p:txBody>
      </p:sp>
    </p:spTree>
    <p:extLst>
      <p:ext uri="{BB962C8B-B14F-4D97-AF65-F5344CB8AC3E}">
        <p14:creationId xmlns:p14="http://schemas.microsoft.com/office/powerpoint/2010/main" val="4692900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11. Pretty Printing</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1076960"/>
            <a:ext cx="8391236" cy="383032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printf function</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Syntax: </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printf fmt, expr-list</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fmt</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is a string of format specifications and constants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expr-list</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is a list of arguments corresponding to format specifiers</a:t>
            </a:r>
          </a:p>
          <a:p>
            <a:pPr marL="6858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Escape Sequences</a:t>
            </a:r>
          </a:p>
          <a:p>
            <a:pPr marL="457200" marR="0" lvl="1" indent="-223838"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New Line</a:t>
            </a:r>
          </a:p>
          <a:p>
            <a:pPr marL="690563" marR="0" lvl="2" indent="-223838"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printf "Hello\nWorld\n" }’</a:t>
            </a:r>
          </a:p>
          <a:p>
            <a:pPr marL="457200" marR="0" lvl="1" indent="-223838"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Horizontal Tab</a:t>
            </a:r>
          </a:p>
          <a:p>
            <a:pPr marL="690563" marR="0" lvl="2" indent="-223838"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printf "Sr No\tName\tSub\tMarks\n" }'</a:t>
            </a:r>
          </a:p>
          <a:p>
            <a:pPr marL="228600" indent="-228600" algn="l">
              <a:lnSpc>
                <a:spcPct val="150000"/>
              </a:lnSpc>
              <a:buFont typeface="Wingdings" panose="05000000000000000000" pitchFamily="2" charset="2"/>
              <a:buChar char="§"/>
            </a:pP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35</a:t>
            </a:fld>
            <a:endParaRPr lang="en-US"/>
          </a:p>
        </p:txBody>
      </p:sp>
    </p:spTree>
    <p:extLst>
      <p:ext uri="{BB962C8B-B14F-4D97-AF65-F5344CB8AC3E}">
        <p14:creationId xmlns:p14="http://schemas.microsoft.com/office/powerpoint/2010/main" val="510373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11. Pretty Printing</a:t>
            </a:r>
            <a:endParaRPr lang="en-US" dirty="0"/>
          </a:p>
        </p:txBody>
      </p:sp>
      <p:sp>
        <p:nvSpPr>
          <p:cNvPr id="3" name="Subtitle 2">
            <a:extLst>
              <a:ext uri="{FF2B5EF4-FFF2-40B4-BE49-F238E27FC236}">
                <a16:creationId xmlns:a16="http://schemas.microsoft.com/office/drawing/2014/main" id="{EB1FE645-3490-49ED-BF65-95FCED8F7800}"/>
              </a:ext>
            </a:extLst>
          </p:cNvPr>
          <p:cNvSpPr>
            <a:spLocks noGrp="1"/>
          </p:cNvSpPr>
          <p:nvPr>
            <p:ph type="subTitle" idx="1"/>
          </p:nvPr>
        </p:nvSpPr>
        <p:spPr>
          <a:xfrm>
            <a:off x="6666" y="676412"/>
            <a:ext cx="9125254" cy="248700"/>
          </a:xfrm>
        </p:spPr>
        <p:txBody>
          <a:bodyPr/>
          <a:lstStyle/>
          <a:p>
            <a:endParaRPr lang="en-US" dirty="0"/>
          </a:p>
        </p:txBody>
      </p:sp>
      <p:sp>
        <p:nvSpPr>
          <p:cNvPr id="4" name="Content Placeholder 2">
            <a:extLst>
              <a:ext uri="{FF2B5EF4-FFF2-40B4-BE49-F238E27FC236}">
                <a16:creationId xmlns:a16="http://schemas.microsoft.com/office/drawing/2014/main" id="{E29816D2-32A5-4E1F-81E9-82D835E1CB04}"/>
              </a:ext>
            </a:extLst>
          </p:cNvPr>
          <p:cNvSpPr txBox="1">
            <a:spLocks/>
          </p:cNvSpPr>
          <p:nvPr/>
        </p:nvSpPr>
        <p:spPr>
          <a:xfrm>
            <a:off x="457200" y="925112"/>
            <a:ext cx="8391236" cy="3982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228600" marR="0" lvl="0" indent="-228600" algn="l" defTabSz="914400" rtl="0" eaLnBrk="1" fontAlgn="auto" latinLnBrk="0" hangingPunct="1">
              <a:lnSpc>
                <a:spcPct val="150000"/>
              </a:lnSpc>
              <a:spcAft>
                <a:spcPts val="0"/>
              </a:spcAft>
              <a:buClrTx/>
              <a:buSzTx/>
              <a:buFont typeface="Wingdings" panose="05000000000000000000" pitchFamily="2" charset="2"/>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Escape Sequences</a:t>
            </a:r>
          </a:p>
          <a:p>
            <a:pPr marL="457200" marR="0" lvl="1" indent="-228600" algn="l" defTabSz="914400" rtl="0" eaLnBrk="1" fontAlgn="auto" latinLnBrk="0" hangingPunct="1">
              <a:lnSpc>
                <a:spcPct val="150000"/>
              </a:lnSpc>
              <a:spcAft>
                <a:spcPts val="0"/>
              </a:spcAft>
              <a:buClrTx/>
              <a:buSzTx/>
              <a:buFont typeface="Arial" panose="020B0604020202020204" pitchFamily="34" charset="0"/>
              <a:buChar char="•"/>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Format Specifier</a:t>
            </a:r>
          </a:p>
          <a:p>
            <a:pPr marL="690563" marR="0" lvl="2" indent="-233363"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prints a single character</a:t>
            </a:r>
          </a:p>
          <a:p>
            <a:pPr marL="690563" marR="0" lvl="2" indent="-233363"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a:t>
            </a: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prints only the integer part of a decimal number</a:t>
            </a:r>
          </a:p>
          <a:p>
            <a:pPr marL="690563" marR="0" lvl="2" indent="-233363"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prints a floating point number of the form [-]ddd.dddddd</a:t>
            </a:r>
          </a:p>
          <a:p>
            <a:pPr marL="690563" marR="0" lvl="2" indent="-233363"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 and %G: </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uses %e or %f conversion, whichever is shorter, with non-significant zeros suppressed</a:t>
            </a:r>
          </a:p>
          <a:p>
            <a:pPr marL="690563" marR="0" lvl="2" indent="-233363" algn="l" defTabSz="914400" rtl="0" eaLnBrk="1" fontAlgn="auto" latinLnBrk="0" hangingPunct="1">
              <a:lnSpc>
                <a:spcPct val="150000"/>
              </a:lnSpc>
              <a:spcAft>
                <a:spcPts val="0"/>
              </a:spcAft>
              <a:buClrTx/>
              <a:buSzTx/>
              <a:buFont typeface="Wingdings" panose="05000000000000000000" pitchFamily="2" charset="2"/>
              <a:buChar char="ü"/>
              <a:tabLst/>
              <a:defRPr/>
            </a:pPr>
            <a:r>
              <a:rPr kumimoji="0" lang="en-US" sz="16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a:t>
            </a: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prints a character string</a:t>
            </a:r>
          </a:p>
          <a:p>
            <a:pPr marL="914400" marR="0" lvl="3" indent="-233363" algn="l" defTabSz="914400" rtl="0" eaLnBrk="1" fontAlgn="auto" latinLnBrk="0" hangingPunct="1">
              <a:lnSpc>
                <a:spcPct val="150000"/>
              </a:lnSpc>
              <a:spcAft>
                <a:spcPts val="0"/>
              </a:spcAft>
              <a:buClrTx/>
              <a:buSzTx/>
              <a:buFont typeface="Wingdings" panose="05000000000000000000" pitchFamily="2" charset="2"/>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awk 'BEGIN { printf "Name = %s\n", "Sherlock Holmes" }'</a:t>
            </a:r>
            <a:endParaRPr lang="en-US" sz="1600" dirty="0"/>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12"/>
          </p:nvPr>
        </p:nvSpPr>
        <p:spPr/>
        <p:txBody>
          <a:bodyPr/>
          <a:lstStyle/>
          <a:p>
            <a:fld id="{DAC9FE72-3A80-4B60-9F46-F99E2834B23F}" type="slidenum">
              <a:rPr lang="en-US" smtClean="0"/>
              <a:pPr/>
              <a:t>36</a:t>
            </a:fld>
            <a:endParaRPr lang="en-US"/>
          </a:p>
        </p:txBody>
      </p:sp>
    </p:spTree>
    <p:extLst>
      <p:ext uri="{BB962C8B-B14F-4D97-AF65-F5344CB8AC3E}">
        <p14:creationId xmlns:p14="http://schemas.microsoft.com/office/powerpoint/2010/main" val="3105097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9066A-160A-4602-89DA-D1D7F0010E4B}"/>
              </a:ext>
            </a:extLst>
          </p:cNvPr>
          <p:cNvSpPr>
            <a:spLocks noGrp="1"/>
          </p:cNvSpPr>
          <p:nvPr>
            <p:ph type="title"/>
          </p:nvPr>
        </p:nvSpPr>
        <p:spPr/>
        <p:txBody>
          <a:bodyPr/>
          <a:lstStyle/>
          <a:p>
            <a:r>
              <a:rPr lang="en-US"/>
              <a:t>Exercise</a:t>
            </a:r>
            <a:endParaRPr lang="en-US" dirty="0"/>
          </a:p>
        </p:txBody>
      </p:sp>
      <p:sp>
        <p:nvSpPr>
          <p:cNvPr id="6" name="Subtitle 5">
            <a:extLst>
              <a:ext uri="{FF2B5EF4-FFF2-40B4-BE49-F238E27FC236}">
                <a16:creationId xmlns:a16="http://schemas.microsoft.com/office/drawing/2014/main" id="{DE1F0FFA-B1EA-A538-318B-A916E6B898AB}"/>
              </a:ext>
            </a:extLst>
          </p:cNvPr>
          <p:cNvSpPr>
            <a:spLocks noGrp="1"/>
          </p:cNvSpPr>
          <p:nvPr>
            <p:ph type="subTitle" idx="1"/>
          </p:nvPr>
        </p:nvSpPr>
        <p:spPr/>
        <p:txBody>
          <a:bodyPr/>
          <a:lstStyle/>
          <a:p>
            <a:endParaRPr lang="en-US"/>
          </a:p>
        </p:txBody>
      </p:sp>
      <p:sp>
        <p:nvSpPr>
          <p:cNvPr id="5" name="Slide Number Placeholder 4">
            <a:extLst>
              <a:ext uri="{FF2B5EF4-FFF2-40B4-BE49-F238E27FC236}">
                <a16:creationId xmlns:a16="http://schemas.microsoft.com/office/drawing/2014/main" id="{E6A43A40-D7BF-4B69-AD13-BE85EF2CE2EB}"/>
              </a:ext>
            </a:extLst>
          </p:cNvPr>
          <p:cNvSpPr>
            <a:spLocks noGrp="1"/>
          </p:cNvSpPr>
          <p:nvPr>
            <p:ph type="sldNum" sz="quarter" idx="4294967295"/>
          </p:nvPr>
        </p:nvSpPr>
        <p:spPr>
          <a:xfrm>
            <a:off x="6400800" y="4778375"/>
            <a:ext cx="2743200" cy="365125"/>
          </a:xfrm>
          <a:prstGeom prst="rect">
            <a:avLst/>
          </a:prstGeom>
        </p:spPr>
        <p:txBody>
          <a:bodyPr/>
          <a:lstStyle/>
          <a:p>
            <a:fld id="{DAC9FE72-3A80-4B60-9F46-F99E2834B23F}" type="slidenum">
              <a:rPr lang="en-US" smtClean="0"/>
              <a:pPr/>
              <a:t>37</a:t>
            </a:fld>
            <a:endParaRPr lang="en-US"/>
          </a:p>
        </p:txBody>
      </p:sp>
    </p:spTree>
    <p:extLst>
      <p:ext uri="{BB962C8B-B14F-4D97-AF65-F5344CB8AC3E}">
        <p14:creationId xmlns:p14="http://schemas.microsoft.com/office/powerpoint/2010/main" val="27202153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56"/>
          <p:cNvSpPr txBox="1">
            <a:spLocks noGrp="1"/>
          </p:cNvSpPr>
          <p:nvPr>
            <p:ph type="title"/>
          </p:nvPr>
        </p:nvSpPr>
        <p:spPr>
          <a:xfrm>
            <a:off x="0" y="2204425"/>
            <a:ext cx="9144000" cy="58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rgbClr val="3F3F3F"/>
              </a:buClr>
              <a:buFont typeface="Arial"/>
              <a:buNone/>
            </a:pPr>
            <a:r>
              <a:rPr lang="en-US" b="1" dirty="0">
                <a:solidFill>
                  <a:srgbClr val="3F3F3F"/>
                </a:solidFill>
              </a:rPr>
              <a:t>Q&amp;A</a:t>
            </a:r>
            <a:endParaRPr dirty="0"/>
          </a:p>
        </p:txBody>
      </p:sp>
      <p:sp>
        <p:nvSpPr>
          <p:cNvPr id="3" name="Subtitle 2">
            <a:extLst>
              <a:ext uri="{FF2B5EF4-FFF2-40B4-BE49-F238E27FC236}">
                <a16:creationId xmlns:a16="http://schemas.microsoft.com/office/drawing/2014/main" id="{481FE37C-CB31-468E-A622-D423C202DDEB}"/>
              </a:ext>
            </a:extLst>
          </p:cNvPr>
          <p:cNvSpPr>
            <a:spLocks noGrp="1"/>
          </p:cNvSpPr>
          <p:nvPr>
            <p:ph type="subTitle" idx="1"/>
          </p:nvPr>
        </p:nvSpPr>
        <p:spPr>
          <a:xfrm>
            <a:off x="17" y="2790925"/>
            <a:ext cx="9143983" cy="248700"/>
          </a:xfrm>
        </p:spPr>
        <p:txBody>
          <a:bodyPr/>
          <a:lstStyle/>
          <a:p>
            <a:endParaRPr lang="en-US" dirty="0"/>
          </a:p>
        </p:txBody>
      </p:sp>
    </p:spTree>
    <p:extLst>
      <p:ext uri="{BB962C8B-B14F-4D97-AF65-F5344CB8AC3E}">
        <p14:creationId xmlns:p14="http://schemas.microsoft.com/office/powerpoint/2010/main" val="1756700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118"/>
        <p:cNvGrpSpPr/>
        <p:nvPr/>
      </p:nvGrpSpPr>
      <p:grpSpPr>
        <a:xfrm>
          <a:off x="0" y="0"/>
          <a:ext cx="0" cy="0"/>
          <a:chOff x="0" y="0"/>
          <a:chExt cx="0" cy="0"/>
        </a:xfrm>
      </p:grpSpPr>
      <p:grpSp>
        <p:nvGrpSpPr>
          <p:cNvPr id="119" name="Google Shape;119;p25"/>
          <p:cNvGrpSpPr/>
          <p:nvPr/>
        </p:nvGrpSpPr>
        <p:grpSpPr>
          <a:xfrm>
            <a:off x="2994210" y="1063106"/>
            <a:ext cx="5611091" cy="576000"/>
            <a:chOff x="2984973" y="1131591"/>
            <a:chExt cx="5611091" cy="576000"/>
          </a:xfrm>
        </p:grpSpPr>
        <p:sp>
          <p:nvSpPr>
            <p:cNvPr id="120" name="Google Shape;120;p25"/>
            <p:cNvSpPr/>
            <p:nvPr/>
          </p:nvSpPr>
          <p:spPr>
            <a:xfrm rot="5400000">
              <a:off x="5719936" y="-1240513"/>
              <a:ext cx="432048" cy="5320208"/>
            </a:xfrm>
            <a:prstGeom prst="round2SameRect">
              <a:avLst>
                <a:gd name="adj1" fmla="val 50000"/>
                <a:gd name="adj2" fmla="val 0"/>
              </a:avLst>
            </a:prstGeom>
            <a:solidFill>
              <a:srgbClr val="85D8D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1" name="Google Shape;121;p25"/>
            <p:cNvSpPr/>
            <p:nvPr/>
          </p:nvSpPr>
          <p:spPr>
            <a:xfrm rot="-5400000" flipH="1">
              <a:off x="2984973" y="1131591"/>
              <a:ext cx="576000" cy="576000"/>
            </a:xfrm>
            <a:prstGeom prst="ellipse">
              <a:avLst/>
            </a:prstGeom>
            <a:solidFill>
              <a:schemeClr val="lt1"/>
            </a:solidFill>
            <a:ln w="50800" cap="flat" cmpd="sng">
              <a:solidFill>
                <a:srgbClr val="85D8D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a:ln>
                  <a:noFill/>
                </a:ln>
                <a:solidFill>
                  <a:srgbClr val="FFFFFF"/>
                </a:solidFill>
                <a:effectLst/>
                <a:uLnTx/>
                <a:uFillTx/>
                <a:latin typeface="Arial Black"/>
                <a:ea typeface="Arial Black"/>
                <a:cs typeface="Arial Black"/>
                <a:sym typeface="Arial Black"/>
              </a:endParaRPr>
            </a:p>
          </p:txBody>
        </p:sp>
        <p:sp>
          <p:nvSpPr>
            <p:cNvPr id="122" name="Google Shape;122;p25"/>
            <p:cNvSpPr txBox="1"/>
            <p:nvPr/>
          </p:nvSpPr>
          <p:spPr>
            <a:xfrm>
              <a:off x="2988072" y="1234925"/>
              <a:ext cx="569802" cy="369332"/>
            </a:xfrm>
            <a:prstGeom prst="rect">
              <a:avLst/>
            </a:prstGeom>
            <a:noFill/>
            <a:ln>
              <a:noFill/>
            </a:ln>
          </p:spPr>
          <p:txBody>
            <a:bodyPr spcFirstLastPara="1" wrap="square" lIns="91425" tIns="0" rIns="91425"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85D8DE"/>
                  </a:solidFill>
                  <a:effectLst/>
                  <a:uLnTx/>
                  <a:uFillTx/>
                  <a:latin typeface="Arial"/>
                  <a:ea typeface="Arial"/>
                  <a:cs typeface="Arial"/>
                  <a:sym typeface="Arial"/>
                </a:rPr>
                <a:t>01</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 name="Google Shape;123;p25"/>
            <p:cNvSpPr txBox="1"/>
            <p:nvPr/>
          </p:nvSpPr>
          <p:spPr>
            <a:xfrm>
              <a:off x="3667248" y="1258262"/>
              <a:ext cx="4752528" cy="30777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lumMod val="85000"/>
                      <a:lumOff val="15000"/>
                    </a:srgbClr>
                  </a:solidFill>
                  <a:effectLst/>
                  <a:uLnTx/>
                  <a:uFillTx/>
                  <a:latin typeface="Arial"/>
                  <a:ea typeface="Arial"/>
                  <a:cs typeface="Arial"/>
                  <a:sym typeface="Arial"/>
                </a:rPr>
                <a:t>Class Policy</a:t>
              </a:r>
            </a:p>
          </p:txBody>
        </p:sp>
      </p:grpSp>
      <p:grpSp>
        <p:nvGrpSpPr>
          <p:cNvPr id="125" name="Google Shape;125;p25"/>
          <p:cNvGrpSpPr/>
          <p:nvPr/>
        </p:nvGrpSpPr>
        <p:grpSpPr>
          <a:xfrm>
            <a:off x="2994210" y="1814168"/>
            <a:ext cx="5611091" cy="576000"/>
            <a:chOff x="2984973" y="2023433"/>
            <a:chExt cx="5611091" cy="576000"/>
          </a:xfrm>
        </p:grpSpPr>
        <p:sp>
          <p:nvSpPr>
            <p:cNvPr id="126" name="Google Shape;126;p25"/>
            <p:cNvSpPr/>
            <p:nvPr/>
          </p:nvSpPr>
          <p:spPr>
            <a:xfrm rot="5400000">
              <a:off x="5719936" y="-348671"/>
              <a:ext cx="432048" cy="5320208"/>
            </a:xfrm>
            <a:prstGeom prst="round2SameRect">
              <a:avLst>
                <a:gd name="adj1" fmla="val 50000"/>
                <a:gd name="adj2" fmla="val 0"/>
              </a:avLst>
            </a:prstGeom>
            <a:solidFill>
              <a:srgbClr val="85D8D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27" name="Google Shape;127;p25"/>
            <p:cNvSpPr/>
            <p:nvPr/>
          </p:nvSpPr>
          <p:spPr>
            <a:xfrm rot="-5400000" flipH="1">
              <a:off x="2984973" y="2023433"/>
              <a:ext cx="576000" cy="576000"/>
            </a:xfrm>
            <a:prstGeom prst="ellipse">
              <a:avLst/>
            </a:prstGeom>
            <a:solidFill>
              <a:schemeClr val="lt1"/>
            </a:solidFill>
            <a:ln w="50800" cap="flat" cmpd="sng">
              <a:solidFill>
                <a:srgbClr val="85D8D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a:ln>
                  <a:noFill/>
                </a:ln>
                <a:solidFill>
                  <a:srgbClr val="FFFFFF"/>
                </a:solidFill>
                <a:effectLst/>
                <a:uLnTx/>
                <a:uFillTx/>
                <a:latin typeface="Arial Black"/>
                <a:ea typeface="Arial Black"/>
                <a:cs typeface="Arial Black"/>
                <a:sym typeface="Arial Black"/>
              </a:endParaRPr>
            </a:p>
          </p:txBody>
        </p:sp>
        <p:sp>
          <p:nvSpPr>
            <p:cNvPr id="128" name="Google Shape;128;p25"/>
            <p:cNvSpPr txBox="1"/>
            <p:nvPr/>
          </p:nvSpPr>
          <p:spPr>
            <a:xfrm>
              <a:off x="2988072" y="2126767"/>
              <a:ext cx="569802" cy="369332"/>
            </a:xfrm>
            <a:prstGeom prst="rect">
              <a:avLst/>
            </a:prstGeom>
            <a:noFill/>
            <a:ln>
              <a:noFill/>
            </a:ln>
          </p:spPr>
          <p:txBody>
            <a:bodyPr spcFirstLastPara="1" wrap="square" lIns="91425" tIns="0" rIns="91425"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85D8DE"/>
                  </a:solidFill>
                  <a:effectLst/>
                  <a:uLnTx/>
                  <a:uFillTx/>
                  <a:latin typeface="Arial"/>
                  <a:ea typeface="Arial"/>
                  <a:cs typeface="Arial"/>
                  <a:sym typeface="Arial"/>
                </a:rPr>
                <a:t>02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25"/>
            <p:cNvSpPr txBox="1"/>
            <p:nvPr/>
          </p:nvSpPr>
          <p:spPr>
            <a:xfrm>
              <a:off x="3667248" y="2150104"/>
              <a:ext cx="4752528" cy="30777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lumMod val="85000"/>
                      <a:lumOff val="15000"/>
                    </a:srgbClr>
                  </a:solidFill>
                  <a:effectLst/>
                  <a:uLnTx/>
                  <a:uFillTx/>
                  <a:latin typeface="Arial"/>
                  <a:ea typeface="Arial"/>
                  <a:cs typeface="Arial"/>
                  <a:sym typeface="Arial"/>
                </a:rPr>
                <a:t>Course Evaluation</a:t>
              </a:r>
            </a:p>
          </p:txBody>
        </p:sp>
      </p:grpSp>
      <p:sp>
        <p:nvSpPr>
          <p:cNvPr id="143" name="Google Shape;143;p25"/>
          <p:cNvSpPr txBox="1">
            <a:spLocks noGrp="1"/>
          </p:cNvSpPr>
          <p:nvPr>
            <p:ph type="title"/>
          </p:nvPr>
        </p:nvSpPr>
        <p:spPr>
          <a:xfrm>
            <a:off x="2517600" y="158548"/>
            <a:ext cx="6626400" cy="567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3F3F3F"/>
              </a:buClr>
              <a:buFont typeface="Arial"/>
              <a:buNone/>
            </a:pPr>
            <a:r>
              <a:rPr lang="en-US" dirty="0">
                <a:solidFill>
                  <a:srgbClr val="3F3F3F"/>
                </a:solidFill>
              </a:rPr>
              <a:t>Contents</a:t>
            </a:r>
            <a:endParaRPr dirty="0"/>
          </a:p>
        </p:txBody>
      </p:sp>
      <p:sp>
        <p:nvSpPr>
          <p:cNvPr id="2" name="Slide Number Placeholder 1">
            <a:extLst>
              <a:ext uri="{FF2B5EF4-FFF2-40B4-BE49-F238E27FC236}">
                <a16:creationId xmlns:a16="http://schemas.microsoft.com/office/drawing/2014/main" id="{A1032EE1-C5C0-4E7E-A578-5A39B441EAF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DAC9FE72-3A80-4B60-9F46-F99E2834B23F}" type="slidenum">
              <a:rPr kumimoji="0" lang="en-US" sz="1200" b="0" i="0" u="none" strike="noStrike" kern="0" cap="none" spc="0" normalizeH="0" baseline="0" noProof="0" smtClean="0">
                <a:ln>
                  <a:noFill/>
                </a:ln>
                <a:solidFill>
                  <a:srgbClr val="FFFFFF">
                    <a:lumMod val="50000"/>
                  </a:srgbClr>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39</a:t>
            </a:fld>
            <a:endParaRPr kumimoji="0" lang="en-US" sz="1200" b="0" i="0" u="none" strike="noStrike" kern="0" cap="none" spc="0" normalizeH="0" baseline="0" noProof="0">
              <a:ln>
                <a:noFill/>
              </a:ln>
              <a:solidFill>
                <a:srgbClr val="FFFFFF">
                  <a:lumMod val="50000"/>
                </a:srgbClr>
              </a:solidFill>
              <a:effectLst/>
              <a:uLnTx/>
              <a:uFillTx/>
              <a:latin typeface="Arial"/>
              <a:cs typeface="Arial"/>
              <a:sym typeface="Arial"/>
            </a:endParaRPr>
          </a:p>
        </p:txBody>
      </p:sp>
      <p:grpSp>
        <p:nvGrpSpPr>
          <p:cNvPr id="37" name="Google Shape;125;p25">
            <a:extLst>
              <a:ext uri="{FF2B5EF4-FFF2-40B4-BE49-F238E27FC236}">
                <a16:creationId xmlns:a16="http://schemas.microsoft.com/office/drawing/2014/main" id="{22866344-974E-A8EF-4162-748EC3EE7D00}"/>
              </a:ext>
            </a:extLst>
          </p:cNvPr>
          <p:cNvGrpSpPr/>
          <p:nvPr/>
        </p:nvGrpSpPr>
        <p:grpSpPr>
          <a:xfrm>
            <a:off x="2994210" y="2565229"/>
            <a:ext cx="5611091" cy="576000"/>
            <a:chOff x="2984973" y="2023433"/>
            <a:chExt cx="5611091" cy="576000"/>
          </a:xfrm>
        </p:grpSpPr>
        <p:sp>
          <p:nvSpPr>
            <p:cNvPr id="38" name="Google Shape;126;p25">
              <a:extLst>
                <a:ext uri="{FF2B5EF4-FFF2-40B4-BE49-F238E27FC236}">
                  <a16:creationId xmlns:a16="http://schemas.microsoft.com/office/drawing/2014/main" id="{865A0F82-2469-8B84-C88D-1762EA230B67}"/>
                </a:ext>
              </a:extLst>
            </p:cNvPr>
            <p:cNvSpPr/>
            <p:nvPr/>
          </p:nvSpPr>
          <p:spPr>
            <a:xfrm rot="5400000">
              <a:off x="5719936" y="-348671"/>
              <a:ext cx="432048" cy="5320208"/>
            </a:xfrm>
            <a:prstGeom prst="round2SameRect">
              <a:avLst>
                <a:gd name="adj1" fmla="val 50000"/>
                <a:gd name="adj2" fmla="val 0"/>
              </a:avLst>
            </a:prstGeom>
            <a:solidFill>
              <a:srgbClr val="85D8D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9" name="Google Shape;127;p25">
              <a:extLst>
                <a:ext uri="{FF2B5EF4-FFF2-40B4-BE49-F238E27FC236}">
                  <a16:creationId xmlns:a16="http://schemas.microsoft.com/office/drawing/2014/main" id="{FAA384C5-D7D5-556F-5E79-93F0860EDA43}"/>
                </a:ext>
              </a:extLst>
            </p:cNvPr>
            <p:cNvSpPr/>
            <p:nvPr/>
          </p:nvSpPr>
          <p:spPr>
            <a:xfrm rot="-5400000" flipH="1">
              <a:off x="2984973" y="2023433"/>
              <a:ext cx="576000" cy="576000"/>
            </a:xfrm>
            <a:prstGeom prst="ellipse">
              <a:avLst/>
            </a:prstGeom>
            <a:solidFill>
              <a:schemeClr val="lt1"/>
            </a:solidFill>
            <a:ln w="50800" cap="flat" cmpd="sng">
              <a:solidFill>
                <a:srgbClr val="85D8D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a:ln>
                  <a:noFill/>
                </a:ln>
                <a:solidFill>
                  <a:srgbClr val="FFFFFF"/>
                </a:solidFill>
                <a:effectLst/>
                <a:uLnTx/>
                <a:uFillTx/>
                <a:latin typeface="Arial Black"/>
                <a:ea typeface="Arial Black"/>
                <a:cs typeface="Arial Black"/>
                <a:sym typeface="Arial Black"/>
              </a:endParaRPr>
            </a:p>
          </p:txBody>
        </p:sp>
        <p:sp>
          <p:nvSpPr>
            <p:cNvPr id="40" name="Google Shape;128;p25">
              <a:extLst>
                <a:ext uri="{FF2B5EF4-FFF2-40B4-BE49-F238E27FC236}">
                  <a16:creationId xmlns:a16="http://schemas.microsoft.com/office/drawing/2014/main" id="{092FC926-173A-9DD1-9CEC-22953473E3E0}"/>
                </a:ext>
              </a:extLst>
            </p:cNvPr>
            <p:cNvSpPr txBox="1"/>
            <p:nvPr/>
          </p:nvSpPr>
          <p:spPr>
            <a:xfrm>
              <a:off x="2988072" y="2126767"/>
              <a:ext cx="569802" cy="369332"/>
            </a:xfrm>
            <a:prstGeom prst="rect">
              <a:avLst/>
            </a:prstGeom>
            <a:noFill/>
            <a:ln>
              <a:noFill/>
            </a:ln>
          </p:spPr>
          <p:txBody>
            <a:bodyPr spcFirstLastPara="1" wrap="square" lIns="91425" tIns="0" rIns="91425"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85D8DE"/>
                  </a:solidFill>
                  <a:effectLst/>
                  <a:uLnTx/>
                  <a:uFillTx/>
                  <a:latin typeface="Arial"/>
                  <a:ea typeface="Arial"/>
                  <a:cs typeface="Arial"/>
                  <a:sym typeface="Arial"/>
                </a:rPr>
                <a:t>03</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1" name="Google Shape;129;p25">
              <a:extLst>
                <a:ext uri="{FF2B5EF4-FFF2-40B4-BE49-F238E27FC236}">
                  <a16:creationId xmlns:a16="http://schemas.microsoft.com/office/drawing/2014/main" id="{DD8B6B1C-4021-31A3-1BA2-1D9AF6DD01CD}"/>
                </a:ext>
              </a:extLst>
            </p:cNvPr>
            <p:cNvSpPr txBox="1"/>
            <p:nvPr/>
          </p:nvSpPr>
          <p:spPr>
            <a:xfrm>
              <a:off x="3667248" y="2150104"/>
              <a:ext cx="4752528" cy="30777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lumMod val="85000"/>
                      <a:lumOff val="15000"/>
                    </a:srgbClr>
                  </a:solidFill>
                  <a:effectLst/>
                  <a:uLnTx/>
                  <a:uFillTx/>
                  <a:latin typeface="Arial"/>
                  <a:ea typeface="Arial"/>
                  <a:cs typeface="Arial"/>
                  <a:sym typeface="Arial"/>
                </a:rPr>
                <a:t>Course Introduction</a:t>
              </a:r>
            </a:p>
          </p:txBody>
        </p:sp>
      </p:grpSp>
      <p:grpSp>
        <p:nvGrpSpPr>
          <p:cNvPr id="42" name="Google Shape;125;p25">
            <a:extLst>
              <a:ext uri="{FF2B5EF4-FFF2-40B4-BE49-F238E27FC236}">
                <a16:creationId xmlns:a16="http://schemas.microsoft.com/office/drawing/2014/main" id="{A5EC749F-B0A4-A1F8-D236-092C7E077876}"/>
              </a:ext>
            </a:extLst>
          </p:cNvPr>
          <p:cNvGrpSpPr/>
          <p:nvPr/>
        </p:nvGrpSpPr>
        <p:grpSpPr>
          <a:xfrm>
            <a:off x="2994210" y="3316289"/>
            <a:ext cx="5611091" cy="576000"/>
            <a:chOff x="2984973" y="2023433"/>
            <a:chExt cx="5611091" cy="576000"/>
          </a:xfrm>
        </p:grpSpPr>
        <p:sp>
          <p:nvSpPr>
            <p:cNvPr id="43" name="Google Shape;126;p25">
              <a:extLst>
                <a:ext uri="{FF2B5EF4-FFF2-40B4-BE49-F238E27FC236}">
                  <a16:creationId xmlns:a16="http://schemas.microsoft.com/office/drawing/2014/main" id="{252B7F44-5137-A8EA-C187-5941477570A2}"/>
                </a:ext>
              </a:extLst>
            </p:cNvPr>
            <p:cNvSpPr/>
            <p:nvPr/>
          </p:nvSpPr>
          <p:spPr>
            <a:xfrm rot="5400000">
              <a:off x="5719936" y="-348671"/>
              <a:ext cx="432048" cy="5320208"/>
            </a:xfrm>
            <a:prstGeom prst="round2SameRect">
              <a:avLst>
                <a:gd name="adj1" fmla="val 50000"/>
                <a:gd name="adj2" fmla="val 0"/>
              </a:avLst>
            </a:prstGeom>
            <a:solidFill>
              <a:srgbClr val="85D8D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4" name="Google Shape;127;p25">
              <a:extLst>
                <a:ext uri="{FF2B5EF4-FFF2-40B4-BE49-F238E27FC236}">
                  <a16:creationId xmlns:a16="http://schemas.microsoft.com/office/drawing/2014/main" id="{39BF8E8B-DE7C-D345-9B9C-F434B56D6F96}"/>
                </a:ext>
              </a:extLst>
            </p:cNvPr>
            <p:cNvSpPr/>
            <p:nvPr/>
          </p:nvSpPr>
          <p:spPr>
            <a:xfrm rot="-5400000" flipH="1">
              <a:off x="2984973" y="2023433"/>
              <a:ext cx="576000" cy="576000"/>
            </a:xfrm>
            <a:prstGeom prst="ellipse">
              <a:avLst/>
            </a:prstGeom>
            <a:solidFill>
              <a:schemeClr val="lt1"/>
            </a:solidFill>
            <a:ln w="50800" cap="flat" cmpd="sng">
              <a:solidFill>
                <a:srgbClr val="85D8D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a:ln>
                  <a:noFill/>
                </a:ln>
                <a:solidFill>
                  <a:srgbClr val="FFFFFF"/>
                </a:solidFill>
                <a:effectLst/>
                <a:uLnTx/>
                <a:uFillTx/>
                <a:latin typeface="Arial Black"/>
                <a:ea typeface="Arial Black"/>
                <a:cs typeface="Arial Black"/>
                <a:sym typeface="Arial Black"/>
              </a:endParaRPr>
            </a:p>
          </p:txBody>
        </p:sp>
        <p:sp>
          <p:nvSpPr>
            <p:cNvPr id="45" name="Google Shape;128;p25">
              <a:extLst>
                <a:ext uri="{FF2B5EF4-FFF2-40B4-BE49-F238E27FC236}">
                  <a16:creationId xmlns:a16="http://schemas.microsoft.com/office/drawing/2014/main" id="{8FC7806F-59FB-3111-4320-BAD2BF2732F1}"/>
                </a:ext>
              </a:extLst>
            </p:cNvPr>
            <p:cNvSpPr txBox="1"/>
            <p:nvPr/>
          </p:nvSpPr>
          <p:spPr>
            <a:xfrm>
              <a:off x="2988072" y="2126767"/>
              <a:ext cx="569802" cy="369332"/>
            </a:xfrm>
            <a:prstGeom prst="rect">
              <a:avLst/>
            </a:prstGeom>
            <a:noFill/>
            <a:ln>
              <a:noFill/>
            </a:ln>
          </p:spPr>
          <p:txBody>
            <a:bodyPr spcFirstLastPara="1" wrap="square" lIns="91425" tIns="0" rIns="91425"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85D8DE"/>
                  </a:solidFill>
                  <a:effectLst/>
                  <a:uLnTx/>
                  <a:uFillTx/>
                  <a:latin typeface="Arial"/>
                  <a:ea typeface="Arial"/>
                  <a:cs typeface="Arial"/>
                  <a:sym typeface="Arial"/>
                </a:rPr>
                <a:t>04</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6" name="Google Shape;129;p25">
              <a:extLst>
                <a:ext uri="{FF2B5EF4-FFF2-40B4-BE49-F238E27FC236}">
                  <a16:creationId xmlns:a16="http://schemas.microsoft.com/office/drawing/2014/main" id="{086B1EA7-8869-23BA-CA3F-981CA39B9022}"/>
                </a:ext>
              </a:extLst>
            </p:cNvPr>
            <p:cNvSpPr txBox="1"/>
            <p:nvPr/>
          </p:nvSpPr>
          <p:spPr>
            <a:xfrm>
              <a:off x="3667248" y="2150104"/>
              <a:ext cx="4752528" cy="30777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lumMod val="85000"/>
                      <a:lumOff val="15000"/>
                    </a:srgbClr>
                  </a:solidFill>
                  <a:effectLst/>
                  <a:uLnTx/>
                  <a:uFillTx/>
                  <a:latin typeface="Arial"/>
                  <a:ea typeface="Arial"/>
                  <a:cs typeface="Arial"/>
                  <a:sym typeface="Arial"/>
                </a:rPr>
                <a:t>Course Objective</a:t>
              </a:r>
            </a:p>
          </p:txBody>
        </p:sp>
      </p:grpSp>
      <p:grpSp>
        <p:nvGrpSpPr>
          <p:cNvPr id="47" name="Google Shape;125;p25">
            <a:extLst>
              <a:ext uri="{FF2B5EF4-FFF2-40B4-BE49-F238E27FC236}">
                <a16:creationId xmlns:a16="http://schemas.microsoft.com/office/drawing/2014/main" id="{3230BCB3-5FE9-EFAE-5D7A-E2846504395E}"/>
              </a:ext>
            </a:extLst>
          </p:cNvPr>
          <p:cNvGrpSpPr/>
          <p:nvPr/>
        </p:nvGrpSpPr>
        <p:grpSpPr>
          <a:xfrm>
            <a:off x="2994210" y="4061907"/>
            <a:ext cx="5611091" cy="576000"/>
            <a:chOff x="2984973" y="2023433"/>
            <a:chExt cx="5611091" cy="576000"/>
          </a:xfrm>
        </p:grpSpPr>
        <p:sp>
          <p:nvSpPr>
            <p:cNvPr id="48" name="Google Shape;126;p25">
              <a:extLst>
                <a:ext uri="{FF2B5EF4-FFF2-40B4-BE49-F238E27FC236}">
                  <a16:creationId xmlns:a16="http://schemas.microsoft.com/office/drawing/2014/main" id="{D8949B33-B692-A29D-7B46-600776EB2B32}"/>
                </a:ext>
              </a:extLst>
            </p:cNvPr>
            <p:cNvSpPr/>
            <p:nvPr/>
          </p:nvSpPr>
          <p:spPr>
            <a:xfrm rot="5400000">
              <a:off x="5719936" y="-348671"/>
              <a:ext cx="432048" cy="5320208"/>
            </a:xfrm>
            <a:prstGeom prst="round2SameRect">
              <a:avLst>
                <a:gd name="adj1" fmla="val 50000"/>
                <a:gd name="adj2" fmla="val 0"/>
              </a:avLst>
            </a:prstGeom>
            <a:solidFill>
              <a:srgbClr val="85D8D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9" name="Google Shape;127;p25">
              <a:extLst>
                <a:ext uri="{FF2B5EF4-FFF2-40B4-BE49-F238E27FC236}">
                  <a16:creationId xmlns:a16="http://schemas.microsoft.com/office/drawing/2014/main" id="{DB653E40-BDF0-EAFD-439F-B5B911D3969A}"/>
                </a:ext>
              </a:extLst>
            </p:cNvPr>
            <p:cNvSpPr/>
            <p:nvPr/>
          </p:nvSpPr>
          <p:spPr>
            <a:xfrm rot="-5400000" flipH="1">
              <a:off x="2984973" y="2023433"/>
              <a:ext cx="576000" cy="576000"/>
            </a:xfrm>
            <a:prstGeom prst="ellipse">
              <a:avLst/>
            </a:prstGeom>
            <a:solidFill>
              <a:schemeClr val="lt1"/>
            </a:solidFill>
            <a:ln w="50800" cap="flat" cmpd="sng">
              <a:solidFill>
                <a:srgbClr val="85D8D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800" b="0" i="0" u="none" strike="noStrike" kern="0" cap="none" spc="0" normalizeH="0" baseline="0" noProof="0">
                <a:ln>
                  <a:noFill/>
                </a:ln>
                <a:solidFill>
                  <a:srgbClr val="FFFFFF"/>
                </a:solidFill>
                <a:effectLst/>
                <a:uLnTx/>
                <a:uFillTx/>
                <a:latin typeface="Arial Black"/>
                <a:ea typeface="Arial Black"/>
                <a:cs typeface="Arial Black"/>
                <a:sym typeface="Arial Black"/>
              </a:endParaRPr>
            </a:p>
          </p:txBody>
        </p:sp>
        <p:sp>
          <p:nvSpPr>
            <p:cNvPr id="50" name="Google Shape;128;p25">
              <a:extLst>
                <a:ext uri="{FF2B5EF4-FFF2-40B4-BE49-F238E27FC236}">
                  <a16:creationId xmlns:a16="http://schemas.microsoft.com/office/drawing/2014/main" id="{23075122-F84B-B22C-053F-86947FBF14F9}"/>
                </a:ext>
              </a:extLst>
            </p:cNvPr>
            <p:cNvSpPr txBox="1"/>
            <p:nvPr/>
          </p:nvSpPr>
          <p:spPr>
            <a:xfrm>
              <a:off x="2988072" y="2126767"/>
              <a:ext cx="569802" cy="369332"/>
            </a:xfrm>
            <a:prstGeom prst="rect">
              <a:avLst/>
            </a:prstGeom>
            <a:noFill/>
            <a:ln>
              <a:noFill/>
            </a:ln>
          </p:spPr>
          <p:txBody>
            <a:bodyPr spcFirstLastPara="1" wrap="square" lIns="91425" tIns="0" rIns="91425"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85D8DE"/>
                  </a:solidFill>
                  <a:effectLst/>
                  <a:uLnTx/>
                  <a:uFillTx/>
                  <a:latin typeface="Arial"/>
                  <a:ea typeface="Arial"/>
                  <a:cs typeface="Arial"/>
                  <a:sym typeface="Arial"/>
                </a:rPr>
                <a:t>05</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1" name="Google Shape;129;p25">
              <a:extLst>
                <a:ext uri="{FF2B5EF4-FFF2-40B4-BE49-F238E27FC236}">
                  <a16:creationId xmlns:a16="http://schemas.microsoft.com/office/drawing/2014/main" id="{222B38D9-DA81-2758-2D6A-35BB435CF0CF}"/>
                </a:ext>
              </a:extLst>
            </p:cNvPr>
            <p:cNvSpPr txBox="1"/>
            <p:nvPr/>
          </p:nvSpPr>
          <p:spPr>
            <a:xfrm>
              <a:off x="3667248" y="2150104"/>
              <a:ext cx="4752528" cy="307777"/>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000000">
                      <a:lumMod val="85000"/>
                      <a:lumOff val="15000"/>
                    </a:srgbClr>
                  </a:solidFill>
                  <a:effectLst/>
                  <a:uLnTx/>
                  <a:uFillTx/>
                  <a:latin typeface="Arial"/>
                  <a:ea typeface="Arial"/>
                  <a:cs typeface="Arial"/>
                  <a:sym typeface="Arial"/>
                </a:rPr>
                <a:t>Reference</a:t>
              </a:r>
            </a:p>
          </p:txBody>
        </p:sp>
      </p:grpSp>
    </p:spTree>
  </p:cSld>
  <p:clrMapOvr>
    <a:masterClrMapping/>
  </p:clrMapOvr>
</p:sld>
</file>

<file path=ppt/theme/theme1.xml><?xml version="1.0" encoding="utf-8"?>
<a:theme xmlns:a="http://schemas.openxmlformats.org/drawingml/2006/main" name="Contents Slide Mast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985</TotalTime>
  <Words>3206</Words>
  <Application>Microsoft Office PowerPoint</Application>
  <PresentationFormat>On-screen Show (16:9)</PresentationFormat>
  <Paragraphs>425</Paragraphs>
  <Slides>39</Slides>
  <Notes>39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Arial Black</vt:lpstr>
      <vt:lpstr>Wingdings</vt:lpstr>
      <vt:lpstr>Contents Slide Master</vt:lpstr>
      <vt:lpstr>Network Programming</vt:lpstr>
      <vt:lpstr>AWK Utility</vt:lpstr>
      <vt:lpstr>1. Overview</vt:lpstr>
      <vt:lpstr>1. Overview</vt:lpstr>
      <vt:lpstr>1. Overview</vt:lpstr>
      <vt:lpstr>2. Environment</vt:lpstr>
      <vt:lpstr>3. Workflow</vt:lpstr>
      <vt:lpstr>3. Workflow</vt:lpstr>
      <vt:lpstr>4. Program Structure</vt:lpstr>
      <vt:lpstr>4. Program Structure</vt:lpstr>
      <vt:lpstr>4. Program Structure</vt:lpstr>
      <vt:lpstr>4. Program Structure</vt:lpstr>
      <vt:lpstr>5. Basic Syntax</vt:lpstr>
      <vt:lpstr>5. Basic Syntax</vt:lpstr>
      <vt:lpstr>5. Basic Syntax</vt:lpstr>
      <vt:lpstr>5. Basic Syntax</vt:lpstr>
      <vt:lpstr>6. Basic Examples</vt:lpstr>
      <vt:lpstr>6. Basic Examples</vt:lpstr>
      <vt:lpstr>6. Basic Examples</vt:lpstr>
      <vt:lpstr>7. Built-in Variables</vt:lpstr>
      <vt:lpstr>7. Built-in Variables</vt:lpstr>
      <vt:lpstr>7. Built-in Variables</vt:lpstr>
      <vt:lpstr>8. Operators</vt:lpstr>
      <vt:lpstr>8. Operators</vt:lpstr>
      <vt:lpstr>8. Operators</vt:lpstr>
      <vt:lpstr>8. Operators</vt:lpstr>
      <vt:lpstr>8. Operators</vt:lpstr>
      <vt:lpstr>8. Operators</vt:lpstr>
      <vt:lpstr>8. Operators</vt:lpstr>
      <vt:lpstr>9. Control Flow</vt:lpstr>
      <vt:lpstr>9. Control Flow</vt:lpstr>
      <vt:lpstr>9. Control Flow</vt:lpstr>
      <vt:lpstr>10. Loops</vt:lpstr>
      <vt:lpstr>10. Loops</vt:lpstr>
      <vt:lpstr>11. Pretty Printing</vt:lpstr>
      <vt:lpstr>11. Pretty Printing</vt:lpstr>
      <vt:lpstr>Exercise</vt:lpstr>
      <vt:lpstr>Q&amp;A</vt:lpstr>
      <vt:lpstr>Contents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programming</dc:title>
  <dc:creator/>
  <cp:lastModifiedBy>Ung Van, Giau</cp:lastModifiedBy>
  <cp:revision>65</cp:revision>
  <dcterms:modified xsi:type="dcterms:W3CDTF">2024-06-04T07:20:42Z</dcterms:modified>
</cp:coreProperties>
</file>