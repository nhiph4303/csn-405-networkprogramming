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2000"/>
  <p:notesSz cx="6858000" cy="9144000"/>
  <p:embeddedFontLst>
    <p:embeddedFont>
      <p:font typeface="Play"/>
      <p:regular r:id="rId51"/>
      <p:bold r:id="rId52"/>
    </p:embeddedFont>
    <p:embeddedFont>
      <p:font typeface="Tahoma"/>
      <p:regular r:id="rId53"/>
      <p:bold r:id="rId54"/>
    </p:embeddedFont>
    <p:embeddedFont>
      <p:font typeface="Gill Sans"/>
      <p:regular r:id="rId55"/>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jO+rlu6fk+Q6Yy8ndPBiQqxOWI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F8E8D8-6D51-4AE9-BB1D-0D156FF65F80}">
  <a:tblStyle styleId="{B3F8E8D8-6D51-4AE9-BB1D-0D156FF65F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ay-regular.fntdata"/><Relationship Id="rId50" Type="http://schemas.openxmlformats.org/officeDocument/2006/relationships/slide" Target="slides/slide45.xml"/><Relationship Id="rId53" Type="http://schemas.openxmlformats.org/officeDocument/2006/relationships/font" Target="fonts/Tahoma-regular.fntdata"/><Relationship Id="rId52" Type="http://schemas.openxmlformats.org/officeDocument/2006/relationships/font" Target="fonts/Play-bold.fntdata"/><Relationship Id="rId11" Type="http://schemas.openxmlformats.org/officeDocument/2006/relationships/slide" Target="slides/slide6.xml"/><Relationship Id="rId55" Type="http://schemas.openxmlformats.org/officeDocument/2006/relationships/font" Target="fonts/GillSans-regular.fntdata"/><Relationship Id="rId10" Type="http://schemas.openxmlformats.org/officeDocument/2006/relationships/slide" Target="slides/slide5.xml"/><Relationship Id="rId54" Type="http://schemas.openxmlformats.org/officeDocument/2006/relationships/font" Target="fonts/Tahoma-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GillSans-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example.com/"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eople.cs.umass.edu/~phuthipong/"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9" name="Google Shape;11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0" name="Google Shape;11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3" name="Google Shape;14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4" name="Google Shape;14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7" name="Google Shape;18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Arial"/>
              <a:buNone/>
            </a:pPr>
            <a:r>
              <a:rPr lang="en-US"/>
              <a:t>---------------------------------</a:t>
            </a:r>
            <a:endParaRPr/>
          </a:p>
          <a:p>
            <a:pPr indent="0" lvl="0" marL="139700" rtl="0" algn="l">
              <a:spcBef>
                <a:spcPts val="0"/>
              </a:spcBef>
              <a:spcAft>
                <a:spcPts val="0"/>
              </a:spcAft>
              <a:buClr>
                <a:schemeClr val="dk1"/>
              </a:buClr>
              <a:buSzPts val="1200"/>
              <a:buFont typeface="Arial"/>
              <a:buNone/>
            </a:pPr>
            <a:r>
              <a:rPr b="1" lang="en-US"/>
              <a:t>Lập trình web </a:t>
            </a:r>
            <a:r>
              <a:rPr lang="en-US"/>
              <a:t>là xây dựng websites và ứng dụng web có thể dùng với bất kì trình duyệt. </a:t>
            </a:r>
            <a:endParaRPr/>
          </a:p>
          <a:p>
            <a:pPr indent="0" lvl="0" marL="139700" rtl="0" algn="l">
              <a:spcBef>
                <a:spcPts val="0"/>
              </a:spcBef>
              <a:spcAft>
                <a:spcPts val="0"/>
              </a:spcAft>
              <a:buClr>
                <a:schemeClr val="dk1"/>
              </a:buClr>
              <a:buSzPts val="1200"/>
              <a:buFont typeface="Arial"/>
              <a:buNone/>
            </a:pPr>
            <a:r>
              <a:rPr b="1" lang="en-US"/>
              <a:t>Trình duyệt </a:t>
            </a:r>
            <a:r>
              <a:rPr lang="en-US"/>
              <a:t>được viết dựa vào lập trình mạng, kết nối tới web server, web server lắng nghe port 80 và chờ kết nối đến.</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b="1" lang="en-US"/>
              <a:t>Lập trình mạng </a:t>
            </a:r>
            <a:r>
              <a:rPr lang="en-US"/>
              <a:t>là cách viết ứng dụng giao tiếp với ứng dụng qua mạng.</a:t>
            </a:r>
            <a:endParaRPr/>
          </a:p>
          <a:p>
            <a:pPr indent="0" lvl="0" marL="13970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4" name="Shape 1834"/>
        <p:cNvGrpSpPr/>
        <p:nvPr/>
      </p:nvGrpSpPr>
      <p:grpSpPr>
        <a:xfrm>
          <a:off x="0" y="0"/>
          <a:ext cx="0" cy="0"/>
          <a:chOff x="0" y="0"/>
          <a:chExt cx="0" cy="0"/>
        </a:xfrm>
      </p:grpSpPr>
      <p:sp>
        <p:nvSpPr>
          <p:cNvPr id="1835" name="Google Shape;18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6" name="Google Shape;183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7" name="Google Shape;183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6" name="Google Shape;18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7" name="Google Shape;18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0" name="Google Shape;23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Intermittently: không liên tục</a:t>
            </a:r>
            <a:endParaRPr/>
          </a:p>
        </p:txBody>
      </p:sp>
      <p:sp>
        <p:nvSpPr>
          <p:cNvPr id="2361" name="Google Shape;23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5" name="Shape 2845"/>
        <p:cNvGrpSpPr/>
        <p:nvPr/>
      </p:nvGrpSpPr>
      <p:grpSpPr>
        <a:xfrm>
          <a:off x="0" y="0"/>
          <a:ext cx="0" cy="0"/>
          <a:chOff x="0" y="0"/>
          <a:chExt cx="0" cy="0"/>
        </a:xfrm>
      </p:grpSpPr>
      <p:sp>
        <p:nvSpPr>
          <p:cNvPr id="2846" name="Google Shape;28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7" name="Google Shape;28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8" name="Google Shape;284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4" name="Shape 3334"/>
        <p:cNvGrpSpPr/>
        <p:nvPr/>
      </p:nvGrpSpPr>
      <p:grpSpPr>
        <a:xfrm>
          <a:off x="0" y="0"/>
          <a:ext cx="0" cy="0"/>
          <a:chOff x="0" y="0"/>
          <a:chExt cx="0" cy="0"/>
        </a:xfrm>
      </p:grpSpPr>
      <p:sp>
        <p:nvSpPr>
          <p:cNvPr id="3335" name="Google Shape;33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6" name="Google Shape;33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7" name="Google Shape;33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7" name="Shape 3347"/>
        <p:cNvGrpSpPr/>
        <p:nvPr/>
      </p:nvGrpSpPr>
      <p:grpSpPr>
        <a:xfrm>
          <a:off x="0" y="0"/>
          <a:ext cx="0" cy="0"/>
          <a:chOff x="0" y="0"/>
          <a:chExt cx="0" cy="0"/>
        </a:xfrm>
      </p:grpSpPr>
      <p:sp>
        <p:nvSpPr>
          <p:cNvPr id="3348" name="Google Shape;334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9" name="Google Shape;334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0" name="Google Shape;335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8" name="Shape 3408"/>
        <p:cNvGrpSpPr/>
        <p:nvPr/>
      </p:nvGrpSpPr>
      <p:grpSpPr>
        <a:xfrm>
          <a:off x="0" y="0"/>
          <a:ext cx="0" cy="0"/>
          <a:chOff x="0" y="0"/>
          <a:chExt cx="0" cy="0"/>
        </a:xfrm>
      </p:grpSpPr>
      <p:sp>
        <p:nvSpPr>
          <p:cNvPr id="3409" name="Google Shape;340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0" name="Google Shape;341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1" name="Google Shape;341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8" name="Shape 3418"/>
        <p:cNvGrpSpPr/>
        <p:nvPr/>
      </p:nvGrpSpPr>
      <p:grpSpPr>
        <a:xfrm>
          <a:off x="0" y="0"/>
          <a:ext cx="0" cy="0"/>
          <a:chOff x="0" y="0"/>
          <a:chExt cx="0" cy="0"/>
        </a:xfrm>
      </p:grpSpPr>
      <p:sp>
        <p:nvSpPr>
          <p:cNvPr id="3419" name="Google Shape;341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0" name="Google Shape;342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1" name="Google Shape;342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7" name="Shape 3427"/>
        <p:cNvGrpSpPr/>
        <p:nvPr/>
      </p:nvGrpSpPr>
      <p:grpSpPr>
        <a:xfrm>
          <a:off x="0" y="0"/>
          <a:ext cx="0" cy="0"/>
          <a:chOff x="0" y="0"/>
          <a:chExt cx="0" cy="0"/>
        </a:xfrm>
      </p:grpSpPr>
      <p:sp>
        <p:nvSpPr>
          <p:cNvPr id="3428" name="Google Shape;342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9" name="Google Shape;342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0" name="Google Shape;343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0" name="Shape 3440"/>
        <p:cNvGrpSpPr/>
        <p:nvPr/>
      </p:nvGrpSpPr>
      <p:grpSpPr>
        <a:xfrm>
          <a:off x="0" y="0"/>
          <a:ext cx="0" cy="0"/>
          <a:chOff x="0" y="0"/>
          <a:chExt cx="0" cy="0"/>
        </a:xfrm>
      </p:grpSpPr>
      <p:sp>
        <p:nvSpPr>
          <p:cNvPr id="3441" name="Google Shape;344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2" name="Google Shape;344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important points</a:t>
            </a:r>
            <a:endParaRPr/>
          </a:p>
          <a:p>
            <a:pPr indent="-171450" lvl="0" marL="171450" rtl="0" algn="l">
              <a:spcBef>
                <a:spcPts val="0"/>
              </a:spcBef>
              <a:spcAft>
                <a:spcPts val="0"/>
              </a:spcAft>
              <a:buClr>
                <a:schemeClr val="dk1"/>
              </a:buClr>
              <a:buSzPts val="1200"/>
              <a:buFont typeface="Arial"/>
              <a:buChar char="•"/>
            </a:pPr>
            <a:r>
              <a:rPr b="1" lang="en-US"/>
              <a:t>distributed</a:t>
            </a:r>
            <a:r>
              <a:rPr lang="en-US"/>
              <a:t> entities, exchanging messages (governed by protocols)</a:t>
            </a:r>
            <a:endParaRPr/>
          </a:p>
          <a:p>
            <a:pPr indent="-171450" lvl="0" marL="171450" rtl="0" algn="l">
              <a:spcBef>
                <a:spcPts val="0"/>
              </a:spcBef>
              <a:spcAft>
                <a:spcPts val="0"/>
              </a:spcAft>
              <a:buClr>
                <a:schemeClr val="dk1"/>
              </a:buClr>
              <a:buSzPts val="1200"/>
              <a:buFont typeface="Arial"/>
              <a:buChar char="•"/>
            </a:pPr>
            <a:r>
              <a:rPr lang="en-US"/>
              <a:t>Time going down</a:t>
            </a:r>
            <a:endParaRPr/>
          </a:p>
          <a:p>
            <a:pPr indent="-171450" lvl="0" marL="171450" rtl="0" algn="l">
              <a:spcBef>
                <a:spcPts val="0"/>
              </a:spcBef>
              <a:spcAft>
                <a:spcPts val="0"/>
              </a:spcAft>
              <a:buClr>
                <a:schemeClr val="dk1"/>
              </a:buClr>
              <a:buSzPts val="1200"/>
              <a:buFont typeface="Arial"/>
              <a:buChar char="•"/>
            </a:pPr>
            <a:r>
              <a:rPr lang="en-US"/>
              <a:t>go over definition of protocol (showing format, order of messages sent and received, and actions taken)</a:t>
            </a:r>
            <a:endParaRPr/>
          </a:p>
          <a:p>
            <a:pPr indent="0" lvl="0" marL="0" rtl="0" algn="l">
              <a:spcBef>
                <a:spcPts val="0"/>
              </a:spcBef>
              <a:spcAft>
                <a:spcPts val="0"/>
              </a:spcAft>
              <a:buClr>
                <a:schemeClr val="dk1"/>
              </a:buClr>
              <a:buSzPts val="1200"/>
              <a:buFont typeface="Arial"/>
              <a:buNone/>
            </a:pPr>
            <a:r>
              <a:rPr lang="en-US"/>
              <a:t>We’ll see these kinds of diagrams a lot</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rPr b="1" lang="en-US"/>
              <a:t>1. Handshaking Protocol (TCP 3-Way Handshake)</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When two people meet, they usually engage in a simple protocol for greeting. One person says, “Hello” (SYN), the other person responds with “Hello, nice to meet you” (SYN-ACK), and the first person replies with “Nice to meet you too” (ACK). After this exchange, they start the conversation.</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In the </a:t>
            </a:r>
            <a:r>
              <a:rPr b="1" lang="en-US"/>
              <a:t>TCP 3-way handshake</a:t>
            </a:r>
            <a:r>
              <a:rPr lang="en-US"/>
              <a:t>, a client sends a </a:t>
            </a:r>
            <a:r>
              <a:rPr b="1" lang="en-US"/>
              <a:t>SYN</a:t>
            </a:r>
            <a:r>
              <a:rPr lang="en-US"/>
              <a:t> packet to initiate a connection. The server responds with a </a:t>
            </a:r>
            <a:r>
              <a:rPr b="1" lang="en-US"/>
              <a:t>SYN-ACK</a:t>
            </a:r>
            <a:r>
              <a:rPr lang="en-US"/>
              <a:t> packet. Finally, the client sends an </a:t>
            </a:r>
            <a:r>
              <a:rPr b="1" lang="en-US"/>
              <a:t>ACK</a:t>
            </a:r>
            <a:r>
              <a:rPr lang="en-US"/>
              <a:t> packet to acknowledge the connection, and data transmission begins.</a:t>
            </a:r>
            <a:endParaRPr/>
          </a:p>
          <a:p>
            <a:pPr indent="0" lvl="0" marL="0" rtl="0" algn="l">
              <a:spcBef>
                <a:spcPts val="0"/>
              </a:spcBef>
              <a:spcAft>
                <a:spcPts val="0"/>
              </a:spcAft>
              <a:buNone/>
            </a:pPr>
            <a:r>
              <a:rPr b="1" lang="en-US"/>
              <a:t>2. Addressing (IP Addressing)</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Sending a physical letter. To make sure the letter gets to the correct person, you need to write the recipient’s </a:t>
            </a:r>
            <a:r>
              <a:rPr b="1" lang="en-US"/>
              <a:t>postal address</a:t>
            </a:r>
            <a:r>
              <a:rPr lang="en-US"/>
              <a:t>. The address ensures the letter arrives at the right location.</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a:t>
            </a:r>
            <a:r>
              <a:rPr b="1" lang="en-US"/>
              <a:t>IP addressing</a:t>
            </a:r>
            <a:r>
              <a:rPr lang="en-US"/>
              <a:t> works similarly. Every computer or device on a network has an IP address, which serves as its unique identifier, just like a home address in the real world. When a message (data packet) is sent, it is directed to the correct destination using the IP address.</a:t>
            </a:r>
            <a:endParaRPr/>
          </a:p>
          <a:p>
            <a:pPr indent="0" lvl="0" marL="0" rtl="0" algn="l">
              <a:spcBef>
                <a:spcPts val="0"/>
              </a:spcBef>
              <a:spcAft>
                <a:spcPts val="0"/>
              </a:spcAft>
              <a:buNone/>
            </a:pPr>
            <a:r>
              <a:rPr b="1" lang="en-US"/>
              <a:t>3. Flow Control (Speaking Etiquette)</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In a conversation, people don’t speak at the same time, and they take turns to talk. If one person talks too fast or for too long without pausing, the other person may not be able to keep up or respond appropriately.</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a:t>
            </a:r>
            <a:r>
              <a:rPr b="1" lang="en-US"/>
              <a:t>Flow control</a:t>
            </a:r>
            <a:r>
              <a:rPr lang="en-US"/>
              <a:t> in networking is similar. In protocols like </a:t>
            </a:r>
            <a:r>
              <a:rPr b="1" lang="en-US"/>
              <a:t>TCP</a:t>
            </a:r>
            <a:r>
              <a:rPr lang="en-US"/>
              <a:t>, flow control ensures that the sender does not overwhelm the receiver with too much data at once. It helps balance the rate at which data is sent and received.</a:t>
            </a:r>
            <a:endParaRPr/>
          </a:p>
          <a:p>
            <a:pPr indent="0" lvl="0" marL="0" rtl="0" algn="l">
              <a:spcBef>
                <a:spcPts val="0"/>
              </a:spcBef>
              <a:spcAft>
                <a:spcPts val="0"/>
              </a:spcAft>
              <a:buNone/>
            </a:pPr>
            <a:r>
              <a:rPr b="1" lang="en-US"/>
              <a:t>4. Error Checking (Feedback in Communication)</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If you’re talking on the phone and the line is bad, you may ask the other person, "Can you repeat that?" to make sure you understood them correctly. This is an example of error checking, where you confirm that the message was correctly received.</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a:t>
            </a:r>
            <a:r>
              <a:rPr b="1" lang="en-US"/>
              <a:t>Error detection and correction</a:t>
            </a:r>
            <a:r>
              <a:rPr lang="en-US"/>
              <a:t> mechanisms like </a:t>
            </a:r>
            <a:r>
              <a:rPr b="1" lang="en-US"/>
              <a:t>checksums</a:t>
            </a:r>
            <a:r>
              <a:rPr lang="en-US"/>
              <a:t> or </a:t>
            </a:r>
            <a:r>
              <a:rPr b="1" lang="en-US"/>
              <a:t>parity checks</a:t>
            </a:r>
            <a:r>
              <a:rPr lang="en-US"/>
              <a:t> ensure that data transmitted across a network is correct. If an error is detected, the receiver can request the data to be sent again.</a:t>
            </a:r>
            <a:endParaRPr/>
          </a:p>
          <a:p>
            <a:pPr indent="0" lvl="0" marL="0" rtl="0" algn="l">
              <a:spcBef>
                <a:spcPts val="0"/>
              </a:spcBef>
              <a:spcAft>
                <a:spcPts val="0"/>
              </a:spcAft>
              <a:buNone/>
            </a:pPr>
            <a:r>
              <a:rPr b="1" lang="en-US"/>
              <a:t>5. Routing (Giving Directions)</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Imagine you're asking for directions to a destination. A person might tell you to take multiple turns: “Go straight for 2 miles, turn left, then take a right at the traffic light.” These directions ensure that you reach your destination efficiently.</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In networking, </a:t>
            </a:r>
            <a:r>
              <a:rPr b="1" lang="en-US"/>
              <a:t>routers</a:t>
            </a:r>
            <a:r>
              <a:rPr lang="en-US"/>
              <a:t> perform this function. Data packets travel across multiple networks, and routers direct these packets based on the best path, similar to giving directions on how to reach a destination.</a:t>
            </a:r>
            <a:endParaRPr/>
          </a:p>
          <a:p>
            <a:pPr indent="0" lvl="0" marL="0" rtl="0" algn="l">
              <a:spcBef>
                <a:spcPts val="0"/>
              </a:spcBef>
              <a:spcAft>
                <a:spcPts val="0"/>
              </a:spcAft>
              <a:buNone/>
            </a:pPr>
            <a:r>
              <a:rPr b="1" lang="en-US"/>
              <a:t>6. HTTP Protocol (Requesting Information in a Restaurant)</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In a restaurant, a waiter asks what you’d like to order. You make a specific request (e.g., “I’d like a cheeseburger”), and the waiter goes to the kitchen and brings the requested item to you.</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In </a:t>
            </a:r>
            <a:r>
              <a:rPr b="1" lang="en-US"/>
              <a:t>HTTP (Hypertext Transfer Protocol)</a:t>
            </a:r>
            <a:r>
              <a:rPr lang="en-US"/>
              <a:t>, your browser (client) makes a request to a web server for a webpage or resource. The server processes the request and sends the requested page back to your browser.</a:t>
            </a:r>
            <a:endParaRPr/>
          </a:p>
          <a:p>
            <a:pPr indent="0" lvl="0" marL="0" rtl="0" algn="l">
              <a:spcBef>
                <a:spcPts val="0"/>
              </a:spcBef>
              <a:spcAft>
                <a:spcPts val="0"/>
              </a:spcAft>
              <a:buNone/>
            </a:pPr>
            <a:r>
              <a:rPr b="1" lang="en-US"/>
              <a:t>7. DNS (Directory Assistance or Phonebook)</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If you want to call someone but don't know their phone number, you might look them up in a phonebook or use directory assistance to get their number.</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In the internet, </a:t>
            </a:r>
            <a:r>
              <a:rPr b="1" lang="en-US"/>
              <a:t>DNS (Domain Name System)</a:t>
            </a:r>
            <a:r>
              <a:rPr lang="en-US"/>
              <a:t> works similarly. It translates human-readable domain names (like </a:t>
            </a:r>
            <a:r>
              <a:rPr lang="en-US" u="sng">
                <a:solidFill>
                  <a:schemeClr val="hlink"/>
                </a:solidFill>
                <a:hlinkClick r:id="rId2"/>
              </a:rPr>
              <a:t>www.example.com</a:t>
            </a:r>
            <a:r>
              <a:rPr lang="en-US"/>
              <a:t>) into IP addresses that computers use to identify each other on the network.</a:t>
            </a:r>
            <a:endParaRPr/>
          </a:p>
          <a:p>
            <a:pPr indent="0" lvl="0" marL="0" rtl="0" algn="l">
              <a:spcBef>
                <a:spcPts val="0"/>
              </a:spcBef>
              <a:spcAft>
                <a:spcPts val="0"/>
              </a:spcAft>
              <a:buNone/>
            </a:pPr>
            <a:r>
              <a:rPr b="1" lang="en-US"/>
              <a:t>8. Authentication (Checking ID at an Event)</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When you attend a private event, the host might ask for your invitation or ID to confirm you are allowed to enter.</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a:t>
            </a:r>
            <a:r>
              <a:rPr b="1" lang="en-US"/>
              <a:t>Authentication protocols</a:t>
            </a:r>
            <a:r>
              <a:rPr lang="en-US"/>
              <a:t>, such as those used by websites requiring a username and password, verify the identity of users before granting them access to certain resources.</a:t>
            </a:r>
            <a:endParaRPr/>
          </a:p>
          <a:p>
            <a:pPr indent="0" lvl="0" marL="0" rtl="0" algn="l">
              <a:spcBef>
                <a:spcPts val="0"/>
              </a:spcBef>
              <a:spcAft>
                <a:spcPts val="0"/>
              </a:spcAft>
              <a:buNone/>
            </a:pPr>
            <a:r>
              <a:rPr b="1" lang="en-US"/>
              <a:t>9. Broadcasting (Announcement to a Group)</a:t>
            </a:r>
            <a:endParaRPr/>
          </a:p>
          <a:p>
            <a:pPr indent="-76200" lvl="0" marL="0" rtl="0" algn="l">
              <a:spcBef>
                <a:spcPts val="0"/>
              </a:spcBef>
              <a:spcAft>
                <a:spcPts val="0"/>
              </a:spcAft>
              <a:buClr>
                <a:schemeClr val="dk1"/>
              </a:buClr>
              <a:buSzPts val="1200"/>
              <a:buFont typeface="Arial"/>
              <a:buChar char="•"/>
            </a:pPr>
            <a:r>
              <a:rPr b="1" lang="en-US"/>
              <a:t>Human Protocol Example</a:t>
            </a:r>
            <a:r>
              <a:rPr lang="en-US"/>
              <a:t>: A teacher making an announcement to the entire class is an example of broadcasting. Everyone in the room hears the same message at the same time.</a:t>
            </a:r>
            <a:endParaRPr/>
          </a:p>
          <a:p>
            <a:pPr indent="-76200" lvl="0" marL="0" rtl="0" algn="l">
              <a:spcBef>
                <a:spcPts val="0"/>
              </a:spcBef>
              <a:spcAft>
                <a:spcPts val="0"/>
              </a:spcAft>
              <a:buClr>
                <a:schemeClr val="dk1"/>
              </a:buClr>
              <a:buSzPts val="1200"/>
              <a:buFont typeface="Arial"/>
              <a:buChar char="•"/>
            </a:pPr>
            <a:r>
              <a:rPr b="1" lang="en-US"/>
              <a:t>Computer Network Example</a:t>
            </a:r>
            <a:r>
              <a:rPr lang="en-US"/>
              <a:t>: In networking, </a:t>
            </a:r>
            <a:r>
              <a:rPr b="1" lang="en-US"/>
              <a:t>broadcasting</a:t>
            </a:r>
            <a:r>
              <a:rPr lang="en-US"/>
              <a:t> refers to sending data to all devices on a network segment, where every device receives the same message.</a:t>
            </a:r>
            <a:endParaRPr/>
          </a:p>
          <a:p>
            <a:pPr indent="0" lvl="0" marL="0" rtl="0" algn="l">
              <a:spcBef>
                <a:spcPts val="0"/>
              </a:spcBef>
              <a:spcAft>
                <a:spcPts val="0"/>
              </a:spcAft>
              <a:buClr>
                <a:schemeClr val="dk1"/>
              </a:buClr>
              <a:buSzPts val="1200"/>
              <a:buFont typeface="Arial"/>
              <a:buNone/>
            </a:pPr>
            <a:r>
              <a:t/>
            </a:r>
            <a:endParaRPr/>
          </a:p>
        </p:txBody>
      </p:sp>
      <p:sp>
        <p:nvSpPr>
          <p:cNvPr id="3443" name="Google Shape;344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3" name="Shape 3523"/>
        <p:cNvGrpSpPr/>
        <p:nvPr/>
      </p:nvGrpSpPr>
      <p:grpSpPr>
        <a:xfrm>
          <a:off x="0" y="0"/>
          <a:ext cx="0" cy="0"/>
          <a:chOff x="0" y="0"/>
          <a:chExt cx="0" cy="0"/>
        </a:xfrm>
      </p:grpSpPr>
      <p:sp>
        <p:nvSpPr>
          <p:cNvPr id="3524" name="Google Shape;35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5" name="Google Shape;35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6" name="Google Shape;352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6" name="Shape 3556"/>
        <p:cNvGrpSpPr/>
        <p:nvPr/>
      </p:nvGrpSpPr>
      <p:grpSpPr>
        <a:xfrm>
          <a:off x="0" y="0"/>
          <a:ext cx="0" cy="0"/>
          <a:chOff x="0" y="0"/>
          <a:chExt cx="0" cy="0"/>
        </a:xfrm>
      </p:grpSpPr>
      <p:sp>
        <p:nvSpPr>
          <p:cNvPr id="3557" name="Google Shape;355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8" name="Google Shape;355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9" name="Google Shape;355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5" name="Shape 3565"/>
        <p:cNvGrpSpPr/>
        <p:nvPr/>
      </p:nvGrpSpPr>
      <p:grpSpPr>
        <a:xfrm>
          <a:off x="0" y="0"/>
          <a:ext cx="0" cy="0"/>
          <a:chOff x="0" y="0"/>
          <a:chExt cx="0" cy="0"/>
        </a:xfrm>
      </p:grpSpPr>
      <p:sp>
        <p:nvSpPr>
          <p:cNvPr id="3566" name="Google Shape;356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7" name="Google Shape;356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8" name="Google Shape;356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6" name="Shape 3586"/>
        <p:cNvGrpSpPr/>
        <p:nvPr/>
      </p:nvGrpSpPr>
      <p:grpSpPr>
        <a:xfrm>
          <a:off x="0" y="0"/>
          <a:ext cx="0" cy="0"/>
          <a:chOff x="0" y="0"/>
          <a:chExt cx="0" cy="0"/>
        </a:xfrm>
      </p:grpSpPr>
      <p:sp>
        <p:nvSpPr>
          <p:cNvPr id="3587" name="Google Shape;358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8" name="Google Shape;358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9" name="Google Shape;358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7" name="Shape 3667"/>
        <p:cNvGrpSpPr/>
        <p:nvPr/>
      </p:nvGrpSpPr>
      <p:grpSpPr>
        <a:xfrm>
          <a:off x="0" y="0"/>
          <a:ext cx="0" cy="0"/>
          <a:chOff x="0" y="0"/>
          <a:chExt cx="0" cy="0"/>
        </a:xfrm>
      </p:grpSpPr>
      <p:sp>
        <p:nvSpPr>
          <p:cNvPr id="3668" name="Google Shape;366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9" name="Google Shape;366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0" name="Google Shape;367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7" name="Shape 3757"/>
        <p:cNvGrpSpPr/>
        <p:nvPr/>
      </p:nvGrpSpPr>
      <p:grpSpPr>
        <a:xfrm>
          <a:off x="0" y="0"/>
          <a:ext cx="0" cy="0"/>
          <a:chOff x="0" y="0"/>
          <a:chExt cx="0" cy="0"/>
        </a:xfrm>
      </p:grpSpPr>
      <p:sp>
        <p:nvSpPr>
          <p:cNvPr id="3758" name="Google Shape;375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9" name="Google Shape;375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0" name="Google Shape;376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9" name="Shape 3869"/>
        <p:cNvGrpSpPr/>
        <p:nvPr/>
      </p:nvGrpSpPr>
      <p:grpSpPr>
        <a:xfrm>
          <a:off x="0" y="0"/>
          <a:ext cx="0" cy="0"/>
          <a:chOff x="0" y="0"/>
          <a:chExt cx="0" cy="0"/>
        </a:xfrm>
      </p:grpSpPr>
      <p:sp>
        <p:nvSpPr>
          <p:cNvPr id="3870" name="Google Shape;387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1" name="Google Shape;387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Thanks to </a:t>
            </a:r>
            <a:r>
              <a:rPr lang="en-US" u="sng">
                <a:solidFill>
                  <a:schemeClr val="hlink"/>
                </a:solidFill>
                <a:hlinkClick r:id="rId2"/>
              </a:rPr>
              <a:t>Nikko Bovornkeeratiroj</a:t>
            </a:r>
            <a:r>
              <a:rPr lang="en-US"/>
              <a:t>,  Phuthipong &lt;phuthipong@cs.umass.edu&gt;, for the stacking dolls idea and slides</a:t>
            </a:r>
            <a:endParaRPr/>
          </a:p>
        </p:txBody>
      </p:sp>
      <p:sp>
        <p:nvSpPr>
          <p:cNvPr id="3872" name="Google Shape;387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7" name="Shape 3887"/>
        <p:cNvGrpSpPr/>
        <p:nvPr/>
      </p:nvGrpSpPr>
      <p:grpSpPr>
        <a:xfrm>
          <a:off x="0" y="0"/>
          <a:ext cx="0" cy="0"/>
          <a:chOff x="0" y="0"/>
          <a:chExt cx="0" cy="0"/>
        </a:xfrm>
      </p:grpSpPr>
      <p:sp>
        <p:nvSpPr>
          <p:cNvPr id="3888" name="Google Shape;388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9" name="Google Shape;388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0" name="Google Shape;389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5" name="Shape 4025"/>
        <p:cNvGrpSpPr/>
        <p:nvPr/>
      </p:nvGrpSpPr>
      <p:grpSpPr>
        <a:xfrm>
          <a:off x="0" y="0"/>
          <a:ext cx="0" cy="0"/>
          <a:chOff x="0" y="0"/>
          <a:chExt cx="0" cy="0"/>
        </a:xfrm>
      </p:grpSpPr>
      <p:sp>
        <p:nvSpPr>
          <p:cNvPr id="4026" name="Google Shape;402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7" name="Google Shape;402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8" name="Google Shape;402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6" name="Shape 4166"/>
        <p:cNvGrpSpPr/>
        <p:nvPr/>
      </p:nvGrpSpPr>
      <p:grpSpPr>
        <a:xfrm>
          <a:off x="0" y="0"/>
          <a:ext cx="0" cy="0"/>
          <a:chOff x="0" y="0"/>
          <a:chExt cx="0" cy="0"/>
        </a:xfrm>
      </p:grpSpPr>
      <p:sp>
        <p:nvSpPr>
          <p:cNvPr id="4167" name="Google Shape;416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8" name="Google Shape;416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9" name="Google Shape;416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4" name="Shape 4184"/>
        <p:cNvGrpSpPr/>
        <p:nvPr/>
      </p:nvGrpSpPr>
      <p:grpSpPr>
        <a:xfrm>
          <a:off x="0" y="0"/>
          <a:ext cx="0" cy="0"/>
          <a:chOff x="0" y="0"/>
          <a:chExt cx="0" cy="0"/>
        </a:xfrm>
      </p:grpSpPr>
      <p:sp>
        <p:nvSpPr>
          <p:cNvPr id="4185" name="Google Shape;418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6" name="Google Shape;418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marR="0" rtl="0" algn="l">
              <a:lnSpc>
                <a:spcPct val="100000"/>
              </a:lnSpc>
              <a:spcBef>
                <a:spcPts val="0"/>
              </a:spcBef>
              <a:spcAft>
                <a:spcPts val="0"/>
              </a:spcAft>
              <a:buClr>
                <a:srgbClr val="000000"/>
              </a:buClr>
              <a:buSzPts val="1400"/>
              <a:buFont typeface="Arial"/>
              <a:buNone/>
            </a:pPr>
            <a:r>
              <a:rPr b="1" lang="en-US"/>
              <a:t>Physical (1): </a:t>
            </a:r>
            <a:r>
              <a:rPr lang="en-US"/>
              <a:t>This is the level of </a:t>
            </a:r>
            <a:r>
              <a:rPr b="1" lang="en-US"/>
              <a:t>physical communication </a:t>
            </a:r>
            <a:r>
              <a:rPr lang="en-US"/>
              <a:t>in the real world. At this level, we have </a:t>
            </a:r>
            <a:r>
              <a:rPr b="1" lang="en-US"/>
              <a:t>specifications</a:t>
            </a:r>
            <a:r>
              <a:rPr lang="en-US"/>
              <a:t> for things such as the </a:t>
            </a:r>
            <a:r>
              <a:rPr b="1" lang="en-US"/>
              <a:t>voltage levels </a:t>
            </a:r>
            <a:r>
              <a:rPr lang="en-US"/>
              <a:t>on an Ethernet cable, what </a:t>
            </a:r>
            <a:r>
              <a:rPr b="1" lang="en-US"/>
              <a:t>each pin on a connector </a:t>
            </a:r>
            <a:r>
              <a:rPr lang="en-US"/>
              <a:t>is for, the </a:t>
            </a:r>
            <a:r>
              <a:rPr b="1" lang="en-US"/>
              <a:t>radio frequency </a:t>
            </a:r>
            <a:r>
              <a:rPr lang="en-US"/>
              <a:t>of Wi-Fi, and the light flashes over an optic fiber. [Bit]</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b="1" lang="en-US"/>
              <a:t>Data Link (2): </a:t>
            </a:r>
            <a:r>
              <a:rPr lang="en-US"/>
              <a:t>This level builds on the physical layer. It deals with protocols for </a:t>
            </a:r>
            <a:r>
              <a:rPr b="1" lang="en-US"/>
              <a:t>directly communicating between two nodes</a:t>
            </a:r>
            <a:r>
              <a:rPr lang="en-US"/>
              <a:t>. It defines how a direct message between nodes starts and ends (framing), error detection and correction, and flow control. [Frame]</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b="1" lang="en-US"/>
              <a:t>Network layer (3): </a:t>
            </a:r>
            <a:r>
              <a:rPr lang="en-US"/>
              <a:t>The network layer provides the methods to </a:t>
            </a:r>
            <a:r>
              <a:rPr b="1" lang="en-US"/>
              <a:t>transmit data sequences </a:t>
            </a:r>
            <a:r>
              <a:rPr lang="en-US"/>
              <a:t>(called packets) </a:t>
            </a:r>
            <a:r>
              <a:rPr b="1" lang="en-US"/>
              <a:t>between nodes in different networks</a:t>
            </a:r>
            <a:r>
              <a:rPr lang="en-US"/>
              <a:t>. It provides methods to </a:t>
            </a:r>
            <a:r>
              <a:rPr b="1" lang="en-US"/>
              <a:t>route packets from one node to another </a:t>
            </a:r>
            <a:r>
              <a:rPr lang="en-US"/>
              <a:t>(without a direct physical connection) by transferring through many intermediate nodes. This is the layer that the </a:t>
            </a:r>
            <a:r>
              <a:rPr b="1" lang="en-US"/>
              <a:t>Internet Protocol </a:t>
            </a:r>
            <a:r>
              <a:rPr lang="en-US"/>
              <a:t>is defined on, which we will go into in some depth later.  [Packet]</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b="1" lang="en-US"/>
              <a:t>Transport layer (4):</a:t>
            </a:r>
            <a:r>
              <a:rPr lang="en-US"/>
              <a:t> At this layer, we have </a:t>
            </a:r>
            <a:r>
              <a:rPr b="1" lang="en-US"/>
              <a:t>methods to reliably deliver variable length data between hosts</a:t>
            </a:r>
            <a:r>
              <a:rPr lang="en-US"/>
              <a:t>. These methods deal with </a:t>
            </a:r>
            <a:r>
              <a:rPr b="1" lang="en-US"/>
              <a:t>splitting up data, recombining it, ensuring data arrives in order</a:t>
            </a:r>
            <a:r>
              <a:rPr lang="en-US"/>
              <a:t>, and so on. The Transmission Control Protocol (</a:t>
            </a:r>
            <a:r>
              <a:rPr b="1" lang="en-US"/>
              <a:t>TCP</a:t>
            </a:r>
            <a:r>
              <a:rPr lang="en-US"/>
              <a:t>) and User Datagram Protocol (</a:t>
            </a:r>
            <a:r>
              <a:rPr b="1" lang="en-US"/>
              <a:t>UDP</a:t>
            </a:r>
            <a:r>
              <a:rPr lang="en-US"/>
              <a:t>) are commonly said to exist on this layer. [Segment (TCP) / Datagram (UDP)]</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b="1" lang="en-US"/>
              <a:t>Session layer (5): </a:t>
            </a:r>
            <a:r>
              <a:rPr lang="en-US"/>
              <a:t>This layer builds on the transport layer by </a:t>
            </a:r>
            <a:r>
              <a:rPr b="1" lang="en-US"/>
              <a:t>adding methods to establish, checkpoint, suspend, resume, and terminate dialogs</a:t>
            </a:r>
            <a:r>
              <a:rPr lang="en-US"/>
              <a:t>. [Data]</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b="1" lang="en-US"/>
              <a:t>Presentation layer (6): </a:t>
            </a:r>
            <a:r>
              <a:rPr lang="en-US"/>
              <a:t>This is the lowest layer at which </a:t>
            </a:r>
            <a:r>
              <a:rPr b="1" lang="en-US"/>
              <a:t>data structure and presentation </a:t>
            </a:r>
            <a:r>
              <a:rPr lang="en-US"/>
              <a:t>for an application are defined. Concerns such as data encoding, serialization, and encryption are handled here. [Data]</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b="1" lang="en-US"/>
              <a:t>Application layer (7): </a:t>
            </a:r>
            <a:r>
              <a:rPr lang="en-US"/>
              <a:t>The applications that the </a:t>
            </a:r>
            <a:r>
              <a:rPr b="1" lang="en-US"/>
              <a:t>user interfaces </a:t>
            </a:r>
            <a:r>
              <a:rPr lang="en-US"/>
              <a:t>with (for example, web browsers and email clients) exist here. These applications make use of the services provided by the six lower layers. [Data]</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a:t>
            </a:r>
            <a:endParaRPr/>
          </a:p>
          <a:p>
            <a:pPr indent="0" lvl="0" marL="139700" rtl="0" algn="l">
              <a:spcBef>
                <a:spcPts val="0"/>
              </a:spcBef>
              <a:spcAft>
                <a:spcPts val="0"/>
              </a:spcAft>
              <a:buClr>
                <a:schemeClr val="dk1"/>
              </a:buClr>
              <a:buSzPts val="1200"/>
              <a:buFont typeface="Arial"/>
              <a:buNone/>
            </a:pPr>
            <a:r>
              <a:rPr lang="en-US"/>
              <a:t>Link: https://community.fs.com/article/tcpip-vs-osi-whats-the-difference-between-the-two-models.html</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1" name="Shape 4191"/>
        <p:cNvGrpSpPr/>
        <p:nvPr/>
      </p:nvGrpSpPr>
      <p:grpSpPr>
        <a:xfrm>
          <a:off x="0" y="0"/>
          <a:ext cx="0" cy="0"/>
          <a:chOff x="0" y="0"/>
          <a:chExt cx="0" cy="0"/>
        </a:xfrm>
      </p:grpSpPr>
      <p:sp>
        <p:nvSpPr>
          <p:cNvPr id="4192" name="Google Shape;419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3" name="Google Shape;419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4" name="Google Shape;419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0" name="Shape 4320"/>
        <p:cNvGrpSpPr/>
        <p:nvPr/>
      </p:nvGrpSpPr>
      <p:grpSpPr>
        <a:xfrm>
          <a:off x="0" y="0"/>
          <a:ext cx="0" cy="0"/>
          <a:chOff x="0" y="0"/>
          <a:chExt cx="0" cy="0"/>
        </a:xfrm>
      </p:grpSpPr>
      <p:sp>
        <p:nvSpPr>
          <p:cNvPr id="4321" name="Google Shape;432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2" name="Google Shape;432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3" name="Google Shape;432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9" name="Shape 4329"/>
        <p:cNvGrpSpPr/>
        <p:nvPr/>
      </p:nvGrpSpPr>
      <p:grpSpPr>
        <a:xfrm>
          <a:off x="0" y="0"/>
          <a:ext cx="0" cy="0"/>
          <a:chOff x="0" y="0"/>
          <a:chExt cx="0" cy="0"/>
        </a:xfrm>
      </p:grpSpPr>
      <p:sp>
        <p:nvSpPr>
          <p:cNvPr id="4330" name="Google Shape;433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1" name="Google Shape;433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2" name="Google Shape;433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8" name="Shape 4338"/>
        <p:cNvGrpSpPr/>
        <p:nvPr/>
      </p:nvGrpSpPr>
      <p:grpSpPr>
        <a:xfrm>
          <a:off x="0" y="0"/>
          <a:ext cx="0" cy="0"/>
          <a:chOff x="0" y="0"/>
          <a:chExt cx="0" cy="0"/>
        </a:xfrm>
      </p:grpSpPr>
      <p:sp>
        <p:nvSpPr>
          <p:cNvPr id="4339" name="Google Shape;433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0" name="Google Shape;434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1" name="Google Shape;434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9" name="Shape 4349"/>
        <p:cNvGrpSpPr/>
        <p:nvPr/>
      </p:nvGrpSpPr>
      <p:grpSpPr>
        <a:xfrm>
          <a:off x="0" y="0"/>
          <a:ext cx="0" cy="0"/>
          <a:chOff x="0" y="0"/>
          <a:chExt cx="0" cy="0"/>
        </a:xfrm>
      </p:grpSpPr>
      <p:sp>
        <p:nvSpPr>
          <p:cNvPr id="4350" name="Google Shape;435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1" name="Google Shape;435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marR="0" rtl="0" algn="l">
              <a:lnSpc>
                <a:spcPct val="100000"/>
              </a:lnSpc>
              <a:spcBef>
                <a:spcPts val="0"/>
              </a:spcBef>
              <a:spcAft>
                <a:spcPts val="0"/>
              </a:spcAft>
              <a:buClr>
                <a:srgbClr val="000000"/>
              </a:buClr>
              <a:buSzPts val="1400"/>
              <a:buFont typeface="Arial"/>
              <a:buNone/>
            </a:pPr>
            <a:r>
              <a:rPr b="1" i="0" lang="en-US" sz="1100">
                <a:solidFill>
                  <a:schemeClr val="dk1"/>
                </a:solidFill>
                <a:latin typeface="Arial"/>
                <a:ea typeface="Arial"/>
                <a:cs typeface="Arial"/>
                <a:sym typeface="Arial"/>
              </a:rPr>
              <a:t>Lập trình mạng </a:t>
            </a:r>
            <a:r>
              <a:rPr b="0" i="0" lang="en-US" sz="1100">
                <a:solidFill>
                  <a:schemeClr val="dk1"/>
                </a:solidFill>
                <a:latin typeface="Arial"/>
                <a:ea typeface="Arial"/>
                <a:cs typeface="Arial"/>
                <a:sym typeface="Arial"/>
              </a:rPr>
              <a:t>là các kỹ thuật lập trình nhằm xây dựng những ứng dụng, phần mềm khai thác hiệu quả tài nguyên mạng máy tính.</a:t>
            </a:r>
            <a:r>
              <a:rPr lang="en-US"/>
              <a:t> </a:t>
            </a:r>
            <a:endParaRPr/>
          </a:p>
          <a:p>
            <a:pPr indent="0" lvl="0" marL="13970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9" name="Shape 4359"/>
        <p:cNvGrpSpPr/>
        <p:nvPr/>
      </p:nvGrpSpPr>
      <p:grpSpPr>
        <a:xfrm>
          <a:off x="0" y="0"/>
          <a:ext cx="0" cy="0"/>
          <a:chOff x="0" y="0"/>
          <a:chExt cx="0" cy="0"/>
        </a:xfrm>
      </p:grpSpPr>
      <p:sp>
        <p:nvSpPr>
          <p:cNvPr id="4360" name="Google Shape;4360;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1" name="Google Shape;436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marR="0" rtl="0" algn="l">
              <a:lnSpc>
                <a:spcPct val="100000"/>
              </a:lnSpc>
              <a:spcBef>
                <a:spcPts val="0"/>
              </a:spcBef>
              <a:spcAft>
                <a:spcPts val="0"/>
              </a:spcAft>
              <a:buClr>
                <a:srgbClr val="000000"/>
              </a:buClr>
              <a:buSzPts val="1400"/>
              <a:buFont typeface="Arial"/>
              <a:buNone/>
            </a:pPr>
            <a:r>
              <a:rPr lang="en-US"/>
              <a:t>0. </a:t>
            </a:r>
            <a:r>
              <a:rPr b="0" lang="en-US"/>
              <a:t>Regardless of your chosen abstraction model, real-world protocols do work at many levels. Lower levels are responsible for handling data for the higher levels. These lower-level data structures must, therefore, encapsulate data from the higher levels. Let's look at encapsulating data now.</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1. The advantage of these abstractions is that, when programming an application, we only need to consider the highest-level protocol. </a:t>
            </a:r>
            <a:endParaRPr/>
          </a:p>
          <a:p>
            <a:pPr indent="0" lvl="0" marL="139700" rtl="0" algn="l">
              <a:spcBef>
                <a:spcPts val="0"/>
              </a:spcBef>
              <a:spcAft>
                <a:spcPts val="0"/>
              </a:spcAft>
              <a:buClr>
                <a:schemeClr val="dk1"/>
              </a:buClr>
              <a:buSzPts val="1200"/>
              <a:buFont typeface="Arial"/>
              <a:buNone/>
            </a:pPr>
            <a:r>
              <a:rPr lang="en-US"/>
              <a:t>For example, </a:t>
            </a:r>
            <a:r>
              <a:rPr b="1" lang="en-US"/>
              <a:t>a web browser needs only to implement the protocols </a:t>
            </a:r>
            <a:r>
              <a:rPr lang="en-US"/>
              <a:t>dealing specifically with websites—</a:t>
            </a:r>
            <a:r>
              <a:rPr b="1" lang="en-US"/>
              <a:t>HTTP</a:t>
            </a:r>
            <a:r>
              <a:rPr lang="en-US"/>
              <a:t>, HTML, CSS, and so on. It does </a:t>
            </a:r>
            <a:r>
              <a:rPr b="1" lang="en-US"/>
              <a:t>not need to bother with implementing TCP/IP</a:t>
            </a:r>
            <a:r>
              <a:rPr lang="en-US"/>
              <a:t>, and it certainly </a:t>
            </a:r>
            <a:r>
              <a:rPr b="1" lang="en-US"/>
              <a:t>doesn't have to understand how an Ethernet or Wi-Fi packet is encoded</a:t>
            </a:r>
            <a:r>
              <a:rPr lang="en-US"/>
              <a:t>. It can rely on ready-made implementations of the lower layers for these tasks. These implementations are provided by the operating system (for example, Windows, Linux, and macOS).</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2. For example, if we have a web server, Host A, which is transmitting a web page to the receiver, Host B, it may look like this: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8" name="Shape 4368"/>
        <p:cNvGrpSpPr/>
        <p:nvPr/>
      </p:nvGrpSpPr>
      <p:grpSpPr>
        <a:xfrm>
          <a:off x="0" y="0"/>
          <a:ext cx="0" cy="0"/>
          <a:chOff x="0" y="0"/>
          <a:chExt cx="0" cy="0"/>
        </a:xfrm>
      </p:grpSpPr>
      <p:sp>
        <p:nvSpPr>
          <p:cNvPr id="4369" name="Google Shape;4369;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0" name="Google Shape;437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Arial"/>
              <a:buNone/>
            </a:pPr>
            <a:r>
              <a:rPr lang="en-US"/>
              <a:t>1. The </a:t>
            </a:r>
            <a:r>
              <a:rPr b="1" lang="en-US"/>
              <a:t>web page contains a few paragraphs of text</a:t>
            </a:r>
            <a:r>
              <a:rPr lang="en-US"/>
              <a:t>, but the web server doesn't only send the text by itself. For the text to be rendered correctly, it must be </a:t>
            </a:r>
            <a:r>
              <a:rPr b="1" lang="en-US"/>
              <a:t>encoded in an HTML structure</a:t>
            </a:r>
            <a:r>
              <a:rPr lang="en-US"/>
              <a:t>.</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2. As the </a:t>
            </a:r>
            <a:r>
              <a:rPr b="1" lang="en-US"/>
              <a:t>text cannot be transmitted directly</a:t>
            </a:r>
            <a:r>
              <a:rPr lang="en-US"/>
              <a:t>, neither can the HTML. It instead </a:t>
            </a:r>
            <a:r>
              <a:rPr b="1" lang="en-US"/>
              <a:t>must be transmitted as part of an HTTP response</a:t>
            </a:r>
            <a:r>
              <a:rPr lang="en-US"/>
              <a:t>. The web server does this by applying the appropriate HTTP response header to the HTML.</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3. The </a:t>
            </a:r>
            <a:r>
              <a:rPr b="1" lang="en-US"/>
              <a:t>HTTP is transmitted as part of a TCP session</a:t>
            </a:r>
            <a:r>
              <a:rPr lang="en-US"/>
              <a:t>. This isn't done explicitly by the web server, but is taken care of by the operating system's TCP/IP stack.</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4. The </a:t>
            </a:r>
            <a:r>
              <a:rPr b="1" lang="en-US"/>
              <a:t>TCP</a:t>
            </a:r>
            <a:r>
              <a:rPr lang="en-US"/>
              <a:t> packet is routed by an </a:t>
            </a:r>
            <a:r>
              <a:rPr b="1" lang="en-US"/>
              <a:t>IP</a:t>
            </a:r>
            <a:r>
              <a:rPr lang="en-US"/>
              <a:t> packet.</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5. This is transmitted over the wire in an Ethernet packet (or another protocol).</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5" name="Shape 4385"/>
        <p:cNvGrpSpPr/>
        <p:nvPr/>
      </p:nvGrpSpPr>
      <p:grpSpPr>
        <a:xfrm>
          <a:off x="0" y="0"/>
          <a:ext cx="0" cy="0"/>
          <a:chOff x="0" y="0"/>
          <a:chExt cx="0" cy="0"/>
        </a:xfrm>
      </p:grpSpPr>
      <p:sp>
        <p:nvSpPr>
          <p:cNvPr id="4386" name="Google Shape;4386;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7" name="Google Shape;438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Overwhelming: quá phổ biến</a:t>
            </a:r>
            <a:endParaRPr/>
          </a:p>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0. Luckily for us, the lower-level concerns are handled automatically when we use the socket APIs for network programming. </a:t>
            </a:r>
            <a:endParaRPr/>
          </a:p>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Without this knowledge, dealing with failures or optimizing for performance is difficult if not impossible. With some of the theory out of the way, let's dive into the actual protocols powering modern networking.</a:t>
            </a:r>
            <a:endParaRPr/>
          </a:p>
          <a:p>
            <a:pPr indent="0" lvl="0" marL="139700" rtl="0" algn="l">
              <a:spcBef>
                <a:spcPts val="0"/>
              </a:spcBef>
              <a:spcAft>
                <a:spcPts val="0"/>
              </a:spcAft>
              <a:buClr>
                <a:schemeClr val="dk1"/>
              </a:buClr>
              <a:buSzPts val="1200"/>
              <a:buFont typeface="Arial"/>
              <a:buNone/>
            </a:pPr>
            <a:r>
              <a:t/>
            </a:r>
            <a:endParaRPr>
              <a:latin typeface="Play"/>
              <a:ea typeface="Play"/>
              <a:cs typeface="Play"/>
              <a:sym typeface="Play"/>
            </a:endParaRPr>
          </a:p>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3.</a:t>
            </a:r>
            <a:r>
              <a:rPr b="0" i="0" lang="en-US" sz="1800">
                <a:solidFill>
                  <a:srgbClr val="000000"/>
                </a:solidFill>
                <a:latin typeface="Play"/>
                <a:ea typeface="Play"/>
                <a:cs typeface="Play"/>
                <a:sym typeface="Play"/>
              </a:rPr>
              <a:t> If you're deploying network code today, you must support IPv4 or risk that a significant portion of your users won't be able to connect.</a:t>
            </a:r>
            <a:r>
              <a:rPr lang="en-US">
                <a:latin typeface="Play"/>
                <a:ea typeface="Play"/>
                <a:cs typeface="Play"/>
                <a:sym typeface="Play"/>
              </a:rPr>
              <a:t> </a:t>
            </a:r>
            <a:endParaRPr/>
          </a:p>
          <a:p>
            <a:pPr indent="0" lvl="0" marL="139700" rtl="0" algn="l">
              <a:spcBef>
                <a:spcPts val="0"/>
              </a:spcBef>
              <a:spcAft>
                <a:spcPts val="0"/>
              </a:spcAft>
              <a:buClr>
                <a:schemeClr val="dk1"/>
              </a:buClr>
              <a:buSzPts val="1200"/>
              <a:buFont typeface="Arial"/>
              <a:buNone/>
            </a:pPr>
            <a:r>
              <a:t/>
            </a:r>
            <a:endParaRPr>
              <a:latin typeface="Play"/>
              <a:ea typeface="Play"/>
              <a:cs typeface="Play"/>
              <a:sym typeface="Play"/>
            </a:endParaRPr>
          </a:p>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Today, every major desktop and smartphone </a:t>
            </a:r>
            <a:r>
              <a:rPr b="1" lang="en-US">
                <a:latin typeface="Play"/>
                <a:ea typeface="Play"/>
                <a:cs typeface="Play"/>
                <a:sym typeface="Play"/>
              </a:rPr>
              <a:t>operating system supports both IPv4 and IPv6 </a:t>
            </a:r>
            <a:r>
              <a:rPr lang="en-US">
                <a:latin typeface="Play"/>
                <a:ea typeface="Play"/>
                <a:cs typeface="Play"/>
                <a:sym typeface="Play"/>
              </a:rPr>
              <a:t>in what is called a </a:t>
            </a:r>
            <a:r>
              <a:rPr b="1" lang="en-US">
                <a:latin typeface="Play"/>
                <a:ea typeface="Play"/>
                <a:cs typeface="Play"/>
                <a:sym typeface="Play"/>
              </a:rPr>
              <a:t>dual-stack configuration</a:t>
            </a:r>
            <a:r>
              <a:rPr lang="en-US">
                <a:latin typeface="Play"/>
                <a:ea typeface="Play"/>
                <a:cs typeface="Play"/>
                <a:sym typeface="Play"/>
              </a:rPr>
              <a:t>. However, many applications, servers, and networks are still only configured to use IPv4. From a practical standpoint, this means that you need to support IPv4 in order to access much of the internet. However, you should also support IPv6 to be future-proof and to help the world to transition away from IPv4.</a:t>
            </a:r>
            <a:endParaRPr/>
          </a:p>
          <a:p>
            <a:pPr indent="0" lvl="0" marL="139700" rtl="0" algn="l">
              <a:spcBef>
                <a:spcPts val="0"/>
              </a:spcBef>
              <a:spcAft>
                <a:spcPts val="0"/>
              </a:spcAft>
              <a:buClr>
                <a:schemeClr val="dk1"/>
              </a:buClr>
              <a:buSzPts val="1200"/>
              <a:buFont typeface="Arial"/>
              <a:buNone/>
            </a:pPr>
            <a:r>
              <a:t/>
            </a:r>
            <a:endParaRPr>
              <a:latin typeface="Play"/>
              <a:ea typeface="Play"/>
              <a:cs typeface="Play"/>
              <a:sym typeface="Play"/>
            </a:endParaRPr>
          </a:p>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 </a:t>
            </a:r>
            <a:r>
              <a:rPr b="1" lang="en-US">
                <a:latin typeface="Play"/>
                <a:ea typeface="Play"/>
                <a:cs typeface="Play"/>
                <a:sym typeface="Play"/>
              </a:rPr>
              <a:t>Cloudflare</a:t>
            </a:r>
            <a:endParaRPr/>
          </a:p>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The Internet Protocol (IP) is a protocol, or set of rules, </a:t>
            </a:r>
            <a:r>
              <a:rPr b="1" lang="en-US">
                <a:latin typeface="Play"/>
                <a:ea typeface="Play"/>
                <a:cs typeface="Play"/>
                <a:sym typeface="Play"/>
              </a:rPr>
              <a:t>for routing and addressing packets of data so that they can travel across networks and arrive at the correct destination.</a:t>
            </a:r>
            <a:r>
              <a:rPr lang="en-US">
                <a:latin typeface="Play"/>
                <a:ea typeface="Play"/>
                <a:cs typeface="Play"/>
                <a:sym typeface="Play"/>
              </a:rPr>
              <a:t> Data traversing the Internet is divided into smaller pieces, called packets. IP information is attached to each packet, and this information helps routers to send packets to the right place. Every device or domain that connects to the Internet is assigned an IP address, and as packets are directed to the IP address attached to them, data arrives where it is needed.</a:t>
            </a:r>
            <a:endParaRPr/>
          </a:p>
          <a:p>
            <a:pPr indent="0" lvl="0" marL="139700" rtl="0" algn="l">
              <a:spcBef>
                <a:spcPts val="0"/>
              </a:spcBef>
              <a:spcAft>
                <a:spcPts val="0"/>
              </a:spcAft>
              <a:buClr>
                <a:schemeClr val="dk1"/>
              </a:buClr>
              <a:buSzPts val="1200"/>
              <a:buFont typeface="Arial"/>
              <a:buNone/>
            </a:pPr>
            <a:r>
              <a:t/>
            </a:r>
            <a:endParaRPr>
              <a:latin typeface="Play"/>
              <a:ea typeface="Play"/>
              <a:cs typeface="Play"/>
              <a:sym typeface="Play"/>
            </a:endParaRPr>
          </a:p>
          <a:p>
            <a:pPr indent="0" lvl="0" marL="139700" rtl="0" algn="l">
              <a:spcBef>
                <a:spcPts val="0"/>
              </a:spcBef>
              <a:spcAft>
                <a:spcPts val="0"/>
              </a:spcAft>
              <a:buClr>
                <a:schemeClr val="dk1"/>
              </a:buClr>
              <a:buSzPts val="1200"/>
              <a:buFont typeface="Play"/>
              <a:buNone/>
            </a:pPr>
            <a:r>
              <a:rPr lang="en-US">
                <a:latin typeface="Play"/>
                <a:ea typeface="Play"/>
                <a:cs typeface="Play"/>
                <a:sym typeface="Play"/>
              </a:rPr>
              <a:t>Once the packets arrive at their destination, they are handled differently depending on which transport protocol is used in combination with IP. The most common transport protocols are TCP and UDP.</a:t>
            </a:r>
            <a:endParaRPr>
              <a:latin typeface="Play"/>
              <a:ea typeface="Play"/>
              <a:cs typeface="Play"/>
              <a:sym typeface="Play"/>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3" name="Shape 4393"/>
        <p:cNvGrpSpPr/>
        <p:nvPr/>
      </p:nvGrpSpPr>
      <p:grpSpPr>
        <a:xfrm>
          <a:off x="0" y="0"/>
          <a:ext cx="0" cy="0"/>
          <a:chOff x="0" y="0"/>
          <a:chExt cx="0" cy="0"/>
        </a:xfrm>
      </p:grpSpPr>
      <p:sp>
        <p:nvSpPr>
          <p:cNvPr id="4394" name="Google Shape;4394;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5" name="Google Shape;439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Arial"/>
              <a:buNone/>
            </a:pPr>
            <a:r>
              <a:rPr lang="en-US"/>
              <a:t>0. If you think that IPv4 addresses are difficult to memorize, and IPv6 addresses impossible, then you are not alone. Luckily, we have a system to assign names to specific addresses.</a:t>
            </a:r>
            <a:endParaRPr/>
          </a:p>
          <a:p>
            <a:pPr indent="0" lvl="0" marL="139700" rtl="0" algn="l">
              <a:spcBef>
                <a:spcPts val="0"/>
              </a:spcBef>
              <a:spcAft>
                <a:spcPts val="0"/>
              </a:spcAft>
              <a:buClr>
                <a:schemeClr val="dk1"/>
              </a:buClr>
              <a:buSzPts val="1200"/>
              <a:buFont typeface="Arial"/>
              <a:buNone/>
            </a:pPr>
            <a:r>
              <a:t/>
            </a:r>
            <a:endParaRPr/>
          </a:p>
          <a:p>
            <a:pPr indent="0" lvl="0" marL="13970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Arial"/>
                <a:ea typeface="Arial"/>
                <a:cs typeface="Arial"/>
                <a:sym typeface="Arial"/>
              </a:rPr>
              <a:t>1. </a:t>
            </a:r>
            <a:r>
              <a:rPr b="1" i="0" lang="en-US" sz="1100" u="none" cap="none" strike="noStrike">
                <a:solidFill>
                  <a:srgbClr val="000000"/>
                </a:solidFill>
                <a:latin typeface="Arial"/>
                <a:ea typeface="Arial"/>
                <a:cs typeface="Arial"/>
                <a:sym typeface="Arial"/>
              </a:rPr>
              <a:t>The Internet Protocol can only route packets to an IP address</a:t>
            </a:r>
            <a:r>
              <a:rPr b="0" i="0" lang="en-US" sz="1100" u="none" cap="none" strike="noStrike">
                <a:solidFill>
                  <a:srgbClr val="000000"/>
                </a:solidFill>
                <a:latin typeface="Arial"/>
                <a:ea typeface="Arial"/>
                <a:cs typeface="Arial"/>
                <a:sym typeface="Arial"/>
              </a:rPr>
              <a:t>, not a name. So, if you </a:t>
            </a:r>
            <a:r>
              <a:rPr b="1" i="0" lang="en-US" sz="1100" u="none" cap="none" strike="noStrike">
                <a:solidFill>
                  <a:srgbClr val="000000"/>
                </a:solidFill>
                <a:latin typeface="Arial"/>
                <a:ea typeface="Arial"/>
                <a:cs typeface="Arial"/>
                <a:sym typeface="Arial"/>
              </a:rPr>
              <a:t>try to connect to a website</a:t>
            </a:r>
            <a:r>
              <a:rPr b="0" i="0" lang="en-US" sz="1100" u="none" cap="none" strike="noStrike">
                <a:solidFill>
                  <a:srgbClr val="000000"/>
                </a:solidFill>
                <a:latin typeface="Arial"/>
                <a:ea typeface="Arial"/>
                <a:cs typeface="Arial"/>
                <a:sym typeface="Arial"/>
              </a:rPr>
              <a:t>, such as example.com, your system must </a:t>
            </a:r>
            <a:r>
              <a:rPr b="1" i="0" lang="en-US" sz="1100" u="none" cap="none" strike="noStrike">
                <a:solidFill>
                  <a:srgbClr val="000000"/>
                </a:solidFill>
                <a:latin typeface="Arial"/>
                <a:ea typeface="Arial"/>
                <a:cs typeface="Arial"/>
                <a:sym typeface="Arial"/>
              </a:rPr>
              <a:t>first resolve that domain name</a:t>
            </a:r>
            <a:r>
              <a:rPr b="0" i="0" lang="en-US" sz="1100" u="none" cap="none" strike="noStrike">
                <a:solidFill>
                  <a:srgbClr val="000000"/>
                </a:solidFill>
                <a:latin typeface="Arial"/>
                <a:ea typeface="Arial"/>
                <a:cs typeface="Arial"/>
                <a:sym typeface="Arial"/>
              </a:rPr>
              <a:t>, example.com, </a:t>
            </a:r>
            <a:r>
              <a:rPr b="1" i="0" lang="en-US" sz="1100" u="none" cap="none" strike="noStrike">
                <a:solidFill>
                  <a:srgbClr val="000000"/>
                </a:solidFill>
                <a:latin typeface="Arial"/>
                <a:ea typeface="Arial"/>
                <a:cs typeface="Arial"/>
                <a:sym typeface="Arial"/>
              </a:rPr>
              <a:t>into an IP address </a:t>
            </a:r>
            <a:r>
              <a:rPr b="0" i="0" lang="en-US" sz="1100" u="none" cap="none" strike="noStrike">
                <a:solidFill>
                  <a:srgbClr val="000000"/>
                </a:solidFill>
                <a:latin typeface="Arial"/>
                <a:ea typeface="Arial"/>
                <a:cs typeface="Arial"/>
                <a:sym typeface="Arial"/>
              </a:rPr>
              <a:t>for the server that hosts that website.</a:t>
            </a:r>
            <a:endParaRPr/>
          </a:p>
          <a:p>
            <a:pPr indent="0" lvl="0" marL="13970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a:p>
            <a:pPr indent="0" lvl="0" marL="139700" marR="0" rtl="0" algn="l">
              <a:lnSpc>
                <a:spcPct val="100000"/>
              </a:lnSpc>
              <a:spcBef>
                <a:spcPts val="0"/>
              </a:spcBef>
              <a:spcAft>
                <a:spcPts val="0"/>
              </a:spcAft>
              <a:buClr>
                <a:srgbClr val="000000"/>
              </a:buClr>
              <a:buSzPts val="1400"/>
              <a:buFont typeface="Arial"/>
              <a:buNone/>
            </a:pPr>
            <a:r>
              <a:rPr b="0" i="0" lang="en-US" sz="1100" u="none" cap="none" strike="noStrike">
                <a:solidFill>
                  <a:srgbClr val="000000"/>
                </a:solidFill>
                <a:latin typeface="Arial"/>
                <a:ea typeface="Arial"/>
                <a:cs typeface="Arial"/>
                <a:sym typeface="Arial"/>
              </a:rPr>
              <a:t>2. This is done by connecting to a </a:t>
            </a:r>
            <a:r>
              <a:rPr b="1" i="0" lang="en-US" sz="1100" u="none" cap="none" strike="noStrike">
                <a:solidFill>
                  <a:srgbClr val="000000"/>
                </a:solidFill>
                <a:latin typeface="Arial"/>
                <a:ea typeface="Arial"/>
                <a:cs typeface="Arial"/>
                <a:sym typeface="Arial"/>
              </a:rPr>
              <a:t>Domain Name System </a:t>
            </a:r>
            <a:r>
              <a:rPr b="0" i="0" lang="en-US" sz="1100" u="none" cap="none" strike="noStrike">
                <a:solidFill>
                  <a:srgbClr val="000000"/>
                </a:solidFill>
                <a:latin typeface="Arial"/>
                <a:ea typeface="Arial"/>
                <a:cs typeface="Arial"/>
                <a:sym typeface="Arial"/>
              </a:rPr>
              <a:t>(DNS) server. You connect to a domain name server by knowing in advance its IP address. The IP address for a domain name server is usually assigned by your ISP.</a:t>
            </a:r>
            <a:endParaRPr/>
          </a:p>
          <a:p>
            <a:pPr indent="0" lvl="0" marL="13970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1" name="Shape 4401"/>
        <p:cNvGrpSpPr/>
        <p:nvPr/>
      </p:nvGrpSpPr>
      <p:grpSpPr>
        <a:xfrm>
          <a:off x="0" y="0"/>
          <a:ext cx="0" cy="0"/>
          <a:chOff x="0" y="0"/>
          <a:chExt cx="0" cy="0"/>
        </a:xfrm>
      </p:grpSpPr>
      <p:sp>
        <p:nvSpPr>
          <p:cNvPr id="4402" name="Google Shape;440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3" name="Google Shape;440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Arial"/>
              <a:buNone/>
            </a:pPr>
            <a:r>
              <a:rPr lang="en-US"/>
              <a:t>Many other domain name servers are made publicly available by different organizations. Here are a few free and public DNS servers: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0" name="Shape 4410"/>
        <p:cNvGrpSpPr/>
        <p:nvPr/>
      </p:nvGrpSpPr>
      <p:grpSpPr>
        <a:xfrm>
          <a:off x="0" y="0"/>
          <a:ext cx="0" cy="0"/>
          <a:chOff x="0" y="0"/>
          <a:chExt cx="0" cy="0"/>
        </a:xfrm>
      </p:grpSpPr>
      <p:sp>
        <p:nvSpPr>
          <p:cNvPr id="4411" name="Google Shape;441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2" name="Google Shape;441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Arial"/>
              <a:buNone/>
            </a:pPr>
            <a:r>
              <a:rPr lang="en-US"/>
              <a:t>It's common for households and organizations to have small Local Area Networks (LANs). As mentioned previously, there are IPv4 addresses ranges reserved for use in these small local networks.</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a:t>
            </a:r>
            <a:endParaRPr/>
          </a:p>
          <a:p>
            <a:pPr indent="0" lvl="0" marL="139700" rtl="0" algn="l">
              <a:spcBef>
                <a:spcPts val="0"/>
              </a:spcBef>
              <a:spcAft>
                <a:spcPts val="0"/>
              </a:spcAft>
              <a:buClr>
                <a:schemeClr val="dk1"/>
              </a:buClr>
              <a:buSzPts val="1200"/>
              <a:buFont typeface="Arial"/>
              <a:buNone/>
            </a:pPr>
            <a:r>
              <a:rPr lang="en-US"/>
              <a:t>IP address 127.*.*.* 🡪 the packet is destined for another application running on the same machine</a:t>
            </a:r>
            <a:endParaRPr/>
          </a:p>
          <a:p>
            <a:pPr indent="0" lvl="0" marL="139700" rtl="0" algn="l">
              <a:spcBef>
                <a:spcPts val="0"/>
              </a:spcBef>
              <a:spcAft>
                <a:spcPts val="0"/>
              </a:spcAft>
              <a:buClr>
                <a:schemeClr val="dk1"/>
              </a:buClr>
              <a:buSzPts val="1200"/>
              <a:buFont typeface="Arial"/>
              <a:buNone/>
            </a:pPr>
            <a:r>
              <a:rPr lang="en-US"/>
              <a:t>IP address is in the same subnet 🡪 the destination host can be found by simply checking the local network</a:t>
            </a:r>
            <a:endParaRPr/>
          </a:p>
          <a:p>
            <a:pPr indent="0" lvl="0" marL="139700" rtl="0" algn="l">
              <a:spcBef>
                <a:spcPts val="0"/>
              </a:spcBef>
              <a:spcAft>
                <a:spcPts val="0"/>
              </a:spcAft>
              <a:buClr>
                <a:schemeClr val="dk1"/>
              </a:buClr>
              <a:buSzPts val="1200"/>
              <a:buFont typeface="Arial"/>
              <a:buNone/>
            </a:pPr>
            <a:r>
              <a:rPr lang="en-US"/>
              <a:t>Otherwise, forwards the packet to a gateway machine that connects local subnet to the rest of the Internet</a:t>
            </a:r>
            <a:endParaRPr/>
          </a:p>
          <a:p>
            <a:pPr indent="0" lvl="0" marL="13970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8" name="Shape 4418"/>
        <p:cNvGrpSpPr/>
        <p:nvPr/>
      </p:nvGrpSpPr>
      <p:grpSpPr>
        <a:xfrm>
          <a:off x="0" y="0"/>
          <a:ext cx="0" cy="0"/>
          <a:chOff x="0" y="0"/>
          <a:chExt cx="0" cy="0"/>
        </a:xfrm>
      </p:grpSpPr>
      <p:sp>
        <p:nvSpPr>
          <p:cNvPr id="4419" name="Google Shape;441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0" name="Google Shape;442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Arial"/>
              <a:buNone/>
            </a:pPr>
            <a:r>
              <a:rPr lang="en-US"/>
              <a:t>When a packet originates (bắt đầu) from a device on an IPv4 local network, it must undergo (qua) </a:t>
            </a:r>
            <a:r>
              <a:rPr b="1" lang="en-US"/>
              <a:t>Network Address Translation </a:t>
            </a:r>
            <a:r>
              <a:rPr lang="en-US"/>
              <a:t>(NAT) before being routed on the internet. </a:t>
            </a:r>
            <a:r>
              <a:rPr b="1" lang="en-US"/>
              <a:t>A router that implements NAT remembers which local address a connection is established from</a:t>
            </a:r>
            <a:r>
              <a:rPr lang="en-US"/>
              <a:t>.</a:t>
            </a:r>
            <a:endParaRPr/>
          </a:p>
          <a:p>
            <a:pPr indent="0" lvl="0" marL="13970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7" name="Shape 4427"/>
        <p:cNvGrpSpPr/>
        <p:nvPr/>
      </p:nvGrpSpPr>
      <p:grpSpPr>
        <a:xfrm>
          <a:off x="0" y="0"/>
          <a:ext cx="0" cy="0"/>
          <a:chOff x="0" y="0"/>
          <a:chExt cx="0" cy="0"/>
        </a:xfrm>
      </p:grpSpPr>
      <p:sp>
        <p:nvSpPr>
          <p:cNvPr id="4428" name="Google Shape;442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9" name="Google Shape;442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39700" rtl="0" algn="l">
              <a:spcBef>
                <a:spcPts val="0"/>
              </a:spcBef>
              <a:spcAft>
                <a:spcPts val="0"/>
              </a:spcAft>
              <a:buClr>
                <a:schemeClr val="dk1"/>
              </a:buClr>
              <a:buSzPts val="1200"/>
              <a:buFont typeface="Arial"/>
              <a:buNone/>
            </a:pPr>
            <a:r>
              <a:rPr lang="en-US"/>
              <a:t>0. So far, we've covered only routing with one sender and one receiver. While this is the most common situation, let's consider alternative cases too.</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1. When a packet is routed from one sender to one receiver, it uses </a:t>
            </a:r>
            <a:r>
              <a:rPr b="1" lang="en-US"/>
              <a:t>unicast</a:t>
            </a:r>
            <a:r>
              <a:rPr lang="en-US"/>
              <a:t> addressing. This is the </a:t>
            </a:r>
            <a:r>
              <a:rPr b="1" lang="en-US"/>
              <a:t>simplest and most common type </a:t>
            </a:r>
            <a:r>
              <a:rPr lang="en-US"/>
              <a:t>of addressing. All of the protocols we deal with in this book use unicast addressing.</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2. Broadcast addressing allows a single sender to address a packet to all recipients simultaneously. It is typically used to deliver a packet to every receiver on an entire subnet. </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3. If a broadcast is a one-to-all communication, then </a:t>
            </a:r>
            <a:r>
              <a:rPr b="1" lang="en-US"/>
              <a:t>multicast is a one-to-many communication</a:t>
            </a:r>
            <a:r>
              <a:rPr lang="en-US"/>
              <a:t>. Multicast involves some </a:t>
            </a:r>
            <a:r>
              <a:rPr b="1" lang="en-US"/>
              <a:t>group management</a:t>
            </a:r>
            <a:r>
              <a:rPr lang="en-US"/>
              <a:t>, and a message is addressed and delivered to members of a group. </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4. </a:t>
            </a:r>
            <a:r>
              <a:rPr b="1" lang="en-US"/>
              <a:t>Anycast</a:t>
            </a:r>
            <a:r>
              <a:rPr lang="en-US"/>
              <a:t> addressed packets are used to deliver a message to one recipient when you don't care who that recipient is. This is useful if you have several servers that provide the same functionality, and you simply want one of them (you don't care which) to handle your request.</a:t>
            </a:r>
            <a:endParaRPr/>
          </a:p>
          <a:p>
            <a:pPr indent="0" lvl="0" marL="139700" rtl="0" algn="l">
              <a:spcBef>
                <a:spcPts val="0"/>
              </a:spcBef>
              <a:spcAft>
                <a:spcPts val="0"/>
              </a:spcAft>
              <a:buClr>
                <a:schemeClr val="dk1"/>
              </a:buClr>
              <a:buSzPts val="1200"/>
              <a:buFont typeface="Arial"/>
              <a:buNone/>
            </a:pPr>
            <a:r>
              <a:t/>
            </a:r>
            <a:endParaRPr/>
          </a:p>
          <a:p>
            <a:pPr indent="0" lvl="0" marL="139700" rtl="0" algn="l">
              <a:spcBef>
                <a:spcPts val="0"/>
              </a:spcBef>
              <a:spcAft>
                <a:spcPts val="0"/>
              </a:spcAft>
              <a:buClr>
                <a:schemeClr val="dk1"/>
              </a:buClr>
              <a:buSzPts val="1200"/>
              <a:buFont typeface="Arial"/>
              <a:buNone/>
            </a:pPr>
            <a:r>
              <a:rPr lang="en-US"/>
              <a:t>---</a:t>
            </a:r>
            <a:endParaRPr/>
          </a:p>
          <a:p>
            <a:pPr indent="0" lvl="0" marL="139700" rtl="0" algn="l">
              <a:spcBef>
                <a:spcPts val="0"/>
              </a:spcBef>
              <a:spcAft>
                <a:spcPts val="0"/>
              </a:spcAft>
              <a:buClr>
                <a:schemeClr val="dk1"/>
              </a:buClr>
              <a:buSzPts val="1200"/>
              <a:buFont typeface="Arial"/>
              <a:buNone/>
            </a:pPr>
            <a:r>
              <a:rPr b="1" lang="en-US"/>
              <a:t>IPv4 and lower network levels support local broadcast addressing</a:t>
            </a:r>
            <a:r>
              <a:rPr b="0" lang="en-US"/>
              <a:t>. IPv4 provides some optional (but commonly implemented) support for multicasting. </a:t>
            </a:r>
            <a:endParaRPr/>
          </a:p>
          <a:p>
            <a:pPr indent="0" lvl="0" marL="139700" rtl="0" algn="l">
              <a:spcBef>
                <a:spcPts val="0"/>
              </a:spcBef>
              <a:spcAft>
                <a:spcPts val="0"/>
              </a:spcAft>
              <a:buClr>
                <a:schemeClr val="dk1"/>
              </a:buClr>
              <a:buSzPts val="1200"/>
              <a:buFont typeface="Arial"/>
              <a:buNone/>
            </a:pPr>
            <a:r>
              <a:t/>
            </a:r>
            <a:endParaRPr b="0"/>
          </a:p>
          <a:p>
            <a:pPr indent="0" lvl="0" marL="139700" rtl="0" algn="l">
              <a:spcBef>
                <a:spcPts val="0"/>
              </a:spcBef>
              <a:spcAft>
                <a:spcPts val="0"/>
              </a:spcAft>
              <a:buClr>
                <a:schemeClr val="dk1"/>
              </a:buClr>
              <a:buSzPts val="1200"/>
              <a:buFont typeface="Arial"/>
              <a:buNone/>
            </a:pPr>
            <a:r>
              <a:rPr b="1" lang="en-US"/>
              <a:t>IPv6 mandates multicasting support</a:t>
            </a:r>
            <a:r>
              <a:rPr b="0" lang="en-US"/>
              <a:t> while providing additional features over IPv4's multicasting. Though IPv6 is </a:t>
            </a:r>
            <a:r>
              <a:rPr b="1" lang="en-US"/>
              <a:t>not considered to broadcast</a:t>
            </a:r>
            <a:r>
              <a:rPr b="0" lang="en-US"/>
              <a:t>, its multicasting functionality </a:t>
            </a:r>
            <a:r>
              <a:rPr b="1" lang="en-US"/>
              <a:t>can essentially emulate it</a:t>
            </a:r>
            <a:r>
              <a:rPr b="0" lang="en-US"/>
              <a:t>. </a:t>
            </a:r>
            <a:endParaRPr/>
          </a:p>
          <a:p>
            <a:pPr indent="0" lvl="0" marL="139700" rtl="0" algn="l">
              <a:spcBef>
                <a:spcPts val="0"/>
              </a:spcBef>
              <a:spcAft>
                <a:spcPts val="0"/>
              </a:spcAft>
              <a:buClr>
                <a:schemeClr val="dk1"/>
              </a:buClr>
              <a:buSzPts val="1200"/>
              <a:buFont typeface="Arial"/>
              <a:buNone/>
            </a:pPr>
            <a:r>
              <a:t/>
            </a:r>
            <a:endParaRPr b="0"/>
          </a:p>
          <a:p>
            <a:pPr indent="0" lvl="0" marL="139700" rtl="0" algn="l">
              <a:spcBef>
                <a:spcPts val="0"/>
              </a:spcBef>
              <a:spcAft>
                <a:spcPts val="0"/>
              </a:spcAft>
              <a:buClr>
                <a:schemeClr val="dk1"/>
              </a:buClr>
              <a:buSzPts val="1200"/>
              <a:buFont typeface="Arial"/>
              <a:buNone/>
            </a:pPr>
            <a:r>
              <a:rPr b="0" lang="en-US"/>
              <a:t>It's worth noting that these alternative addressing methods </a:t>
            </a:r>
            <a:r>
              <a:rPr b="1" lang="en-US"/>
              <a:t>don't generally work over the broader internet</a:t>
            </a:r>
            <a:r>
              <a:rPr b="0" lang="en-US"/>
              <a:t>. Imagine if one peer was able to broadcast a packet to every connected internet device. It would be a mess! </a:t>
            </a:r>
            <a:endParaRPr/>
          </a:p>
          <a:p>
            <a:pPr indent="0" lvl="0" marL="139700" rtl="0" algn="l">
              <a:spcBef>
                <a:spcPts val="0"/>
              </a:spcBef>
              <a:spcAft>
                <a:spcPts val="0"/>
              </a:spcAft>
              <a:buClr>
                <a:schemeClr val="dk1"/>
              </a:buClr>
              <a:buSzPts val="1200"/>
              <a:buFont typeface="Arial"/>
              <a:buNone/>
            </a:pPr>
            <a:r>
              <a:t/>
            </a:r>
            <a:endParaRPr b="0"/>
          </a:p>
          <a:p>
            <a:pPr indent="0" lvl="0" marL="139700" rtl="0" algn="l">
              <a:spcBef>
                <a:spcPts val="0"/>
              </a:spcBef>
              <a:spcAft>
                <a:spcPts val="0"/>
              </a:spcAft>
              <a:buClr>
                <a:schemeClr val="dk1"/>
              </a:buClr>
              <a:buSzPts val="1200"/>
              <a:buFont typeface="Arial"/>
              <a:buNone/>
            </a:pPr>
            <a:r>
              <a:rPr b="0" lang="en-US"/>
              <a:t>If you can use IP multicasting on your local network, though, it is worthwhile to implement it. </a:t>
            </a:r>
            <a:r>
              <a:rPr b="1" lang="en-US"/>
              <a:t>Sending one IP level multicast conserves (tiết kiệm) bandwidth compared to sending the same unicast message multiple times. </a:t>
            </a:r>
            <a:endParaRPr/>
          </a:p>
          <a:p>
            <a:pPr indent="0" lvl="0" marL="139700" rtl="0" algn="l">
              <a:spcBef>
                <a:spcPts val="0"/>
              </a:spcBef>
              <a:spcAft>
                <a:spcPts val="0"/>
              </a:spcAft>
              <a:buClr>
                <a:schemeClr val="dk1"/>
              </a:buClr>
              <a:buSzPts val="1200"/>
              <a:buFont typeface="Arial"/>
              <a:buNone/>
            </a:pPr>
            <a:r>
              <a:t/>
            </a:r>
            <a:endParaRPr b="0"/>
          </a:p>
          <a:p>
            <a:pPr indent="0" lvl="0" marL="139700" rtl="0" algn="l">
              <a:spcBef>
                <a:spcPts val="0"/>
              </a:spcBef>
              <a:spcAft>
                <a:spcPts val="0"/>
              </a:spcAft>
              <a:buClr>
                <a:schemeClr val="dk1"/>
              </a:buClr>
              <a:buSzPts val="1200"/>
              <a:buFont typeface="Arial"/>
              <a:buNone/>
            </a:pPr>
            <a:r>
              <a:rPr b="0" lang="en-US"/>
              <a:t>However, </a:t>
            </a:r>
            <a:r>
              <a:rPr b="1" lang="en-US"/>
              <a:t>multicasting is often done at the application level</a:t>
            </a:r>
            <a:r>
              <a:rPr b="0" lang="en-US"/>
              <a:t>. That is, when the application wants to deliver the same message to several recipients, it sends the message multiple times – once to each recipient. In Chapter 3, An In-Depth Overview of TCP Connections, we </a:t>
            </a:r>
            <a:r>
              <a:rPr b="1" lang="en-US"/>
              <a:t>build a chat room</a:t>
            </a:r>
            <a:r>
              <a:rPr b="0" lang="en-US"/>
              <a:t>. This chat room could be said to use application-level multicasting, but it does not take advantage of IP multicasting.</a:t>
            </a:r>
            <a:endParaRPr b="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5" name="Shape 4435"/>
        <p:cNvGrpSpPr/>
        <p:nvPr/>
      </p:nvGrpSpPr>
      <p:grpSpPr>
        <a:xfrm>
          <a:off x="0" y="0"/>
          <a:ext cx="0" cy="0"/>
          <a:chOff x="0" y="0"/>
          <a:chExt cx="0" cy="0"/>
        </a:xfrm>
      </p:grpSpPr>
      <p:sp>
        <p:nvSpPr>
          <p:cNvPr id="4436" name="Google Shape;443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7" name="Google Shape;443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8" name="Google Shape;4438;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ayout">
  <p:cSld name="Basic Layout">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51"/>
          <p:cNvSpPr/>
          <p:nvPr/>
        </p:nvSpPr>
        <p:spPr>
          <a:xfrm>
            <a:off x="0" y="0"/>
            <a:ext cx="12192000" cy="1412776"/>
          </a:xfrm>
          <a:prstGeom prst="rect">
            <a:avLst/>
          </a:prstGeom>
          <a:solidFill>
            <a:srgbClr val="F2F2F2"/>
          </a:solidFill>
          <a:ln>
            <a:noFill/>
          </a:ln>
        </p:spPr>
        <p:txBody>
          <a:bodyPr anchorCtr="0" anchor="ctr" bIns="60925" lIns="121900" spcFirstLastPara="1" rIns="121900" wrap="square" tIns="60925">
            <a:noAutofit/>
          </a:bodyPr>
          <a:lstStyle/>
          <a:p>
            <a:pPr indent="0" lvl="0" marL="0" marR="0" rtl="0" algn="ctr">
              <a:spcBef>
                <a:spcPts val="0"/>
              </a:spcBef>
              <a:spcAft>
                <a:spcPts val="0"/>
              </a:spcAft>
              <a:buClr>
                <a:schemeClr val="dk1"/>
              </a:buClr>
              <a:buSzPts val="2400"/>
              <a:buFont typeface="Arial"/>
              <a:buNone/>
            </a:pPr>
            <a:r>
              <a:t/>
            </a:r>
            <a:endParaRPr sz="2400">
              <a:solidFill>
                <a:srgbClr val="3F3F3F"/>
              </a:solidFill>
              <a:latin typeface="Arial"/>
              <a:ea typeface="Arial"/>
              <a:cs typeface="Arial"/>
              <a:sym typeface="Arial"/>
            </a:endParaRPr>
          </a:p>
        </p:txBody>
      </p:sp>
      <p:sp>
        <p:nvSpPr>
          <p:cNvPr id="41" name="Google Shape;41;p51"/>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chemeClr val="dk1"/>
              </a:buClr>
              <a:buSzPts val="4800"/>
              <a:buFont typeface="Play"/>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42" name="Google Shape;42;p51"/>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chemeClr val="dk1"/>
              </a:buClr>
              <a:buSzPts val="2800"/>
              <a:buNone/>
              <a:defRPr/>
            </a:lvl1pPr>
            <a:lvl2pPr lvl="1" algn="ctr">
              <a:lnSpc>
                <a:spcPct val="90000"/>
              </a:lnSpc>
              <a:spcBef>
                <a:spcPts val="0"/>
              </a:spcBef>
              <a:spcAft>
                <a:spcPts val="0"/>
              </a:spcAft>
              <a:buClr>
                <a:schemeClr val="dk1"/>
              </a:buClr>
              <a:buSzPts val="2400"/>
              <a:buNone/>
              <a:defRPr/>
            </a:lvl2pPr>
            <a:lvl3pPr lvl="2" algn="ctr">
              <a:lnSpc>
                <a:spcPct val="90000"/>
              </a:lnSpc>
              <a:spcBef>
                <a:spcPts val="0"/>
              </a:spcBef>
              <a:spcAft>
                <a:spcPts val="0"/>
              </a:spcAft>
              <a:buClr>
                <a:schemeClr val="dk1"/>
              </a:buClr>
              <a:buSzPts val="2000"/>
              <a:buNone/>
              <a:defRPr/>
            </a:lvl3pPr>
            <a:lvl4pPr lvl="3" algn="ctr">
              <a:lnSpc>
                <a:spcPct val="90000"/>
              </a:lnSpc>
              <a:spcBef>
                <a:spcPts val="0"/>
              </a:spcBef>
              <a:spcAft>
                <a:spcPts val="0"/>
              </a:spcAft>
              <a:buClr>
                <a:schemeClr val="dk1"/>
              </a:buClr>
              <a:buSzPts val="1800"/>
              <a:buNone/>
              <a:defRPr/>
            </a:lvl4pPr>
            <a:lvl5pPr lvl="4" algn="ctr">
              <a:lnSpc>
                <a:spcPct val="90000"/>
              </a:lnSpc>
              <a:spcBef>
                <a:spcPts val="0"/>
              </a:spcBef>
              <a:spcAft>
                <a:spcPts val="0"/>
              </a:spcAft>
              <a:buClr>
                <a:schemeClr val="dk1"/>
              </a:buClr>
              <a:buSzPts val="1800"/>
              <a:buNone/>
              <a:defRPr/>
            </a:lvl5pPr>
            <a:lvl6pPr lvl="5" algn="ctr">
              <a:lnSpc>
                <a:spcPct val="90000"/>
              </a:lnSpc>
              <a:spcBef>
                <a:spcPts val="0"/>
              </a:spcBef>
              <a:spcAft>
                <a:spcPts val="0"/>
              </a:spcAft>
              <a:buClr>
                <a:schemeClr val="dk1"/>
              </a:buClr>
              <a:buSzPts val="1800"/>
              <a:buNone/>
              <a:defRPr/>
            </a:lvl6pPr>
            <a:lvl7pPr lvl="6" algn="ctr">
              <a:lnSpc>
                <a:spcPct val="90000"/>
              </a:lnSpc>
              <a:spcBef>
                <a:spcPts val="0"/>
              </a:spcBef>
              <a:spcAft>
                <a:spcPts val="0"/>
              </a:spcAft>
              <a:buClr>
                <a:schemeClr val="dk1"/>
              </a:buClr>
              <a:buSzPts val="1800"/>
              <a:buNone/>
              <a:defRPr/>
            </a:lvl7pPr>
            <a:lvl8pPr lvl="7" algn="ctr">
              <a:lnSpc>
                <a:spcPct val="90000"/>
              </a:lnSpc>
              <a:spcBef>
                <a:spcPts val="0"/>
              </a:spcBef>
              <a:spcAft>
                <a:spcPts val="0"/>
              </a:spcAft>
              <a:buClr>
                <a:schemeClr val="dk1"/>
              </a:buClr>
              <a:buSzPts val="1800"/>
              <a:buNone/>
              <a:defRPr/>
            </a:lvl8pPr>
            <a:lvl9pPr lvl="8" algn="ctr">
              <a:lnSpc>
                <a:spcPct val="90000"/>
              </a:lnSpc>
              <a:spcBef>
                <a:spcPts val="0"/>
              </a:spcBef>
              <a:spcAft>
                <a:spcPts val="0"/>
              </a:spcAft>
              <a:buClr>
                <a:schemeClr val="dk1"/>
              </a:buClr>
              <a:buSzPts val="1800"/>
              <a:buNone/>
              <a:defRPr/>
            </a:lvl9pPr>
          </a:lstStyle>
          <a:p/>
        </p:txBody>
      </p:sp>
      <p:sp>
        <p:nvSpPr>
          <p:cNvPr id="43" name="Google Shape;43;p51"/>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7F7F7F"/>
                </a:solidFill>
                <a:latin typeface="Arial"/>
                <a:ea typeface="Arial"/>
                <a:cs typeface="Arial"/>
                <a:sym typeface="Arial"/>
              </a:defRPr>
            </a:lvl1pPr>
            <a:lvl2pPr indent="0" lvl="1" marL="0" algn="r">
              <a:spcBef>
                <a:spcPts val="0"/>
              </a:spcBef>
              <a:buNone/>
              <a:defRPr sz="1600">
                <a:solidFill>
                  <a:srgbClr val="7F7F7F"/>
                </a:solidFill>
                <a:latin typeface="Arial"/>
                <a:ea typeface="Arial"/>
                <a:cs typeface="Arial"/>
                <a:sym typeface="Arial"/>
              </a:defRPr>
            </a:lvl2pPr>
            <a:lvl3pPr indent="0" lvl="2" marL="0" algn="r">
              <a:spcBef>
                <a:spcPts val="0"/>
              </a:spcBef>
              <a:buNone/>
              <a:defRPr sz="1600">
                <a:solidFill>
                  <a:srgbClr val="7F7F7F"/>
                </a:solidFill>
                <a:latin typeface="Arial"/>
                <a:ea typeface="Arial"/>
                <a:cs typeface="Arial"/>
                <a:sym typeface="Arial"/>
              </a:defRPr>
            </a:lvl3pPr>
            <a:lvl4pPr indent="0" lvl="3" marL="0" algn="r">
              <a:spcBef>
                <a:spcPts val="0"/>
              </a:spcBef>
              <a:buNone/>
              <a:defRPr sz="1600">
                <a:solidFill>
                  <a:srgbClr val="7F7F7F"/>
                </a:solidFill>
                <a:latin typeface="Arial"/>
                <a:ea typeface="Arial"/>
                <a:cs typeface="Arial"/>
                <a:sym typeface="Arial"/>
              </a:defRPr>
            </a:lvl4pPr>
            <a:lvl5pPr indent="0" lvl="4" marL="0" algn="r">
              <a:spcBef>
                <a:spcPts val="0"/>
              </a:spcBef>
              <a:buNone/>
              <a:defRPr sz="1600">
                <a:solidFill>
                  <a:srgbClr val="7F7F7F"/>
                </a:solidFill>
                <a:latin typeface="Arial"/>
                <a:ea typeface="Arial"/>
                <a:cs typeface="Arial"/>
                <a:sym typeface="Arial"/>
              </a:defRPr>
            </a:lvl5pPr>
            <a:lvl6pPr indent="0" lvl="5" marL="0" algn="r">
              <a:spcBef>
                <a:spcPts val="0"/>
              </a:spcBef>
              <a:buNone/>
              <a:defRPr sz="1600">
                <a:solidFill>
                  <a:srgbClr val="7F7F7F"/>
                </a:solidFill>
                <a:latin typeface="Arial"/>
                <a:ea typeface="Arial"/>
                <a:cs typeface="Arial"/>
                <a:sym typeface="Arial"/>
              </a:defRPr>
            </a:lvl6pPr>
            <a:lvl7pPr indent="0" lvl="6" marL="0" algn="r">
              <a:spcBef>
                <a:spcPts val="0"/>
              </a:spcBef>
              <a:buNone/>
              <a:defRPr sz="1600">
                <a:solidFill>
                  <a:srgbClr val="7F7F7F"/>
                </a:solidFill>
                <a:latin typeface="Arial"/>
                <a:ea typeface="Arial"/>
                <a:cs typeface="Arial"/>
                <a:sym typeface="Arial"/>
              </a:defRPr>
            </a:lvl7pPr>
            <a:lvl8pPr indent="0" lvl="7" marL="0" algn="r">
              <a:spcBef>
                <a:spcPts val="0"/>
              </a:spcBef>
              <a:buNone/>
              <a:defRPr sz="1600">
                <a:solidFill>
                  <a:srgbClr val="7F7F7F"/>
                </a:solidFill>
                <a:latin typeface="Arial"/>
                <a:ea typeface="Arial"/>
                <a:cs typeface="Arial"/>
                <a:sym typeface="Arial"/>
              </a:defRPr>
            </a:lvl8pPr>
            <a:lvl9pPr indent="0" lvl="8" marL="0" algn="r">
              <a:spcBef>
                <a:spcPts val="0"/>
              </a:spcBef>
              <a:buNone/>
              <a:defRPr sz="1600">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5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7" name="Google Shape;4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5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5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5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5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5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5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56"/>
          <p:cNvSpPr/>
          <p:nvPr>
            <p:ph idx="2" type="pic"/>
          </p:nvPr>
        </p:nvSpPr>
        <p:spPr>
          <a:xfrm>
            <a:off x="5183188" y="987425"/>
            <a:ext cx="6172200" cy="4873625"/>
          </a:xfrm>
          <a:prstGeom prst="rect">
            <a:avLst/>
          </a:prstGeom>
          <a:noFill/>
          <a:ln>
            <a:noFill/>
          </a:ln>
        </p:spPr>
      </p:sp>
      <p:sp>
        <p:nvSpPr>
          <p:cNvPr id="73" name="Google Shape;73;p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5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5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0" Type="http://schemas.openxmlformats.org/officeDocument/2006/relationships/image" Target="../media/image42.png"/><Relationship Id="rId11" Type="http://schemas.openxmlformats.org/officeDocument/2006/relationships/image" Target="../media/image16.png"/><Relationship Id="rId22" Type="http://schemas.openxmlformats.org/officeDocument/2006/relationships/image" Target="../media/image45.png"/><Relationship Id="rId10" Type="http://schemas.openxmlformats.org/officeDocument/2006/relationships/image" Target="../media/image17.png"/><Relationship Id="rId21" Type="http://schemas.openxmlformats.org/officeDocument/2006/relationships/image" Target="../media/image20.png"/><Relationship Id="rId13" Type="http://schemas.openxmlformats.org/officeDocument/2006/relationships/image" Target="../media/image48.png"/><Relationship Id="rId12" Type="http://schemas.openxmlformats.org/officeDocument/2006/relationships/image" Target="../media/image15.png"/><Relationship Id="rId23" Type="http://schemas.openxmlformats.org/officeDocument/2006/relationships/image" Target="../media/image26.png"/><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8.png"/><Relationship Id="rId9" Type="http://schemas.openxmlformats.org/officeDocument/2006/relationships/image" Target="../media/image2.png"/><Relationship Id="rId15" Type="http://schemas.openxmlformats.org/officeDocument/2006/relationships/image" Target="../media/image46.png"/><Relationship Id="rId14" Type="http://schemas.openxmlformats.org/officeDocument/2006/relationships/image" Target="../media/image34.png"/><Relationship Id="rId17" Type="http://schemas.openxmlformats.org/officeDocument/2006/relationships/image" Target="../media/image37.png"/><Relationship Id="rId16" Type="http://schemas.openxmlformats.org/officeDocument/2006/relationships/image" Target="../media/image19.png"/><Relationship Id="rId5" Type="http://schemas.openxmlformats.org/officeDocument/2006/relationships/image" Target="../media/image11.png"/><Relationship Id="rId19" Type="http://schemas.openxmlformats.org/officeDocument/2006/relationships/image" Target="../media/image31.png"/><Relationship Id="rId6" Type="http://schemas.openxmlformats.org/officeDocument/2006/relationships/image" Target="../media/image12.png"/><Relationship Id="rId18" Type="http://schemas.openxmlformats.org/officeDocument/2006/relationships/image" Target="../media/image22.png"/><Relationship Id="rId7" Type="http://schemas.openxmlformats.org/officeDocument/2006/relationships/image" Target="../media/image5.png"/><Relationship Id="rId8" Type="http://schemas.openxmlformats.org/officeDocument/2006/relationships/image" Target="../media/image1.png"/></Relationships>
</file>

<file path=ppt/slides/_rels/slide13.xml.rels><?xml version="1.0" encoding="UTF-8" standalone="yes"?><Relationships xmlns="http://schemas.openxmlformats.org/package/2006/relationships"><Relationship Id="rId20" Type="http://schemas.openxmlformats.org/officeDocument/2006/relationships/image" Target="../media/image42.png"/><Relationship Id="rId11" Type="http://schemas.openxmlformats.org/officeDocument/2006/relationships/image" Target="../media/image16.png"/><Relationship Id="rId22" Type="http://schemas.openxmlformats.org/officeDocument/2006/relationships/image" Target="../media/image45.png"/><Relationship Id="rId10" Type="http://schemas.openxmlformats.org/officeDocument/2006/relationships/image" Target="../media/image17.png"/><Relationship Id="rId21" Type="http://schemas.openxmlformats.org/officeDocument/2006/relationships/image" Target="../media/image20.png"/><Relationship Id="rId13" Type="http://schemas.openxmlformats.org/officeDocument/2006/relationships/image" Target="../media/image48.png"/><Relationship Id="rId12" Type="http://schemas.openxmlformats.org/officeDocument/2006/relationships/image" Target="../media/image15.png"/><Relationship Id="rId23" Type="http://schemas.openxmlformats.org/officeDocument/2006/relationships/image" Target="../media/image26.png"/><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8.png"/><Relationship Id="rId9" Type="http://schemas.openxmlformats.org/officeDocument/2006/relationships/image" Target="../media/image2.png"/><Relationship Id="rId15" Type="http://schemas.openxmlformats.org/officeDocument/2006/relationships/image" Target="../media/image46.png"/><Relationship Id="rId14" Type="http://schemas.openxmlformats.org/officeDocument/2006/relationships/image" Target="../media/image34.png"/><Relationship Id="rId17" Type="http://schemas.openxmlformats.org/officeDocument/2006/relationships/image" Target="../media/image37.png"/><Relationship Id="rId16" Type="http://schemas.openxmlformats.org/officeDocument/2006/relationships/image" Target="../media/image19.png"/><Relationship Id="rId5" Type="http://schemas.openxmlformats.org/officeDocument/2006/relationships/image" Target="../media/image11.png"/><Relationship Id="rId19" Type="http://schemas.openxmlformats.org/officeDocument/2006/relationships/image" Target="../media/image31.png"/><Relationship Id="rId6" Type="http://schemas.openxmlformats.org/officeDocument/2006/relationships/image" Target="../media/image12.png"/><Relationship Id="rId18" Type="http://schemas.openxmlformats.org/officeDocument/2006/relationships/image" Target="../media/image22.png"/><Relationship Id="rId7" Type="http://schemas.openxmlformats.org/officeDocument/2006/relationships/image" Target="../media/image5.png"/><Relationship Id="rId8" Type="http://schemas.openxmlformats.org/officeDocument/2006/relationships/image" Target="../media/image1.png"/></Relationships>
</file>

<file path=ppt/slides/_rels/slide14.xml.rels><?xml version="1.0" encoding="UTF-8" standalone="yes"?><Relationships xmlns="http://schemas.openxmlformats.org/package/2006/relationships"><Relationship Id="rId20" Type="http://schemas.openxmlformats.org/officeDocument/2006/relationships/image" Target="../media/image45.png"/><Relationship Id="rId11" Type="http://schemas.openxmlformats.org/officeDocument/2006/relationships/image" Target="../media/image15.png"/><Relationship Id="rId22" Type="http://schemas.openxmlformats.org/officeDocument/2006/relationships/image" Target="../media/image16.png"/><Relationship Id="rId10" Type="http://schemas.openxmlformats.org/officeDocument/2006/relationships/image" Target="../media/image17.png"/><Relationship Id="rId21" Type="http://schemas.openxmlformats.org/officeDocument/2006/relationships/image" Target="../media/image26.png"/><Relationship Id="rId13" Type="http://schemas.openxmlformats.org/officeDocument/2006/relationships/image" Target="../media/image34.png"/><Relationship Id="rId12" Type="http://schemas.openxmlformats.org/officeDocument/2006/relationships/image" Target="../media/image48.png"/><Relationship Id="rId23" Type="http://schemas.openxmlformats.org/officeDocument/2006/relationships/image" Target="../media/image46.png"/><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8.png"/><Relationship Id="rId9" Type="http://schemas.openxmlformats.org/officeDocument/2006/relationships/image" Target="../media/image2.png"/><Relationship Id="rId15" Type="http://schemas.openxmlformats.org/officeDocument/2006/relationships/image" Target="../media/image37.png"/><Relationship Id="rId14" Type="http://schemas.openxmlformats.org/officeDocument/2006/relationships/image" Target="../media/image19.png"/><Relationship Id="rId17" Type="http://schemas.openxmlformats.org/officeDocument/2006/relationships/image" Target="../media/image31.png"/><Relationship Id="rId16" Type="http://schemas.openxmlformats.org/officeDocument/2006/relationships/image" Target="../media/image22.png"/><Relationship Id="rId5" Type="http://schemas.openxmlformats.org/officeDocument/2006/relationships/image" Target="../media/image11.png"/><Relationship Id="rId19" Type="http://schemas.openxmlformats.org/officeDocument/2006/relationships/image" Target="../media/image20.png"/><Relationship Id="rId6" Type="http://schemas.openxmlformats.org/officeDocument/2006/relationships/image" Target="../media/image12.png"/><Relationship Id="rId18" Type="http://schemas.openxmlformats.org/officeDocument/2006/relationships/image" Target="../media/image42.png"/><Relationship Id="rId7" Type="http://schemas.openxmlformats.org/officeDocument/2006/relationships/image" Target="../media/image5.png"/><Relationship Id="rId8"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4.jpg"/><Relationship Id="rId4" Type="http://schemas.openxmlformats.org/officeDocument/2006/relationships/image" Target="../media/image61.png"/><Relationship Id="rId5" Type="http://schemas.openxmlformats.org/officeDocument/2006/relationships/image" Target="../media/image63.png"/><Relationship Id="rId6" Type="http://schemas.openxmlformats.org/officeDocument/2006/relationships/image" Target="../media/image55.png"/><Relationship Id="rId7" Type="http://schemas.openxmlformats.org/officeDocument/2006/relationships/image" Target="../media/image57.png"/><Relationship Id="rId8" Type="http://schemas.openxmlformats.org/officeDocument/2006/relationships/hyperlink" Target="https://dribbble.com/shots/7182188-Babushka-Boi"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1.png"/><Relationship Id="rId4" Type="http://schemas.openxmlformats.org/officeDocument/2006/relationships/image" Target="../media/image50.png"/><Relationship Id="rId5" Type="http://schemas.openxmlformats.org/officeDocument/2006/relationships/image" Target="../media/image63.png"/><Relationship Id="rId6" Type="http://schemas.openxmlformats.org/officeDocument/2006/relationships/image" Target="../media/image55.png"/><Relationship Id="rId7"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5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68.png"/><Relationship Id="rId4" Type="http://schemas.openxmlformats.org/officeDocument/2006/relationships/image" Target="../media/image66.png"/><Relationship Id="rId5" Type="http://schemas.openxmlformats.org/officeDocument/2006/relationships/image" Target="../media/image64.png"/><Relationship Id="rId6" Type="http://schemas.openxmlformats.org/officeDocument/2006/relationships/image" Target="../media/image67.png"/><Relationship Id="rId7" Type="http://schemas.openxmlformats.org/officeDocument/2006/relationships/image" Target="../media/image6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6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Basic Network Programming concepts</a:t>
            </a:r>
            <a:endParaRPr/>
          </a:p>
        </p:txBody>
      </p:sp>
      <p:sp>
        <p:nvSpPr>
          <p:cNvPr id="94" name="Google Shape;94;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800100" y="34942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0" lang="en-US">
                <a:latin typeface="Calibri"/>
                <a:ea typeface="Calibri"/>
                <a:cs typeface="Calibri"/>
                <a:sym typeface="Calibri"/>
              </a:rPr>
              <a:t>Synthesis: a day in the life of a web request</a:t>
            </a:r>
            <a:endParaRPr b="0" sz="4400">
              <a:latin typeface="Arial"/>
              <a:ea typeface="Arial"/>
              <a:cs typeface="Arial"/>
              <a:sym typeface="Arial"/>
            </a:endParaRPr>
          </a:p>
        </p:txBody>
      </p:sp>
      <p:sp>
        <p:nvSpPr>
          <p:cNvPr id="101" name="Google Shape;101;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Arial"/>
                <a:ea typeface="Arial"/>
                <a:cs typeface="Arial"/>
                <a:sym typeface="Arial"/>
              </a:rPr>
              <a:t>Link Layer: 6-</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sp>
        <p:nvSpPr>
          <p:cNvPr id="102" name="Google Shape;102;p2"/>
          <p:cNvSpPr txBox="1"/>
          <p:nvPr/>
        </p:nvSpPr>
        <p:spPr>
          <a:xfrm>
            <a:off x="533400" y="1338263"/>
            <a:ext cx="11273118" cy="4648200"/>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Arial"/>
                <a:ea typeface="Arial"/>
                <a:cs typeface="Arial"/>
                <a:sym typeface="Arial"/>
              </a:rPr>
              <a:t>our journey down the protocol stack is now complete!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Arial"/>
                <a:ea typeface="Arial"/>
                <a:cs typeface="Arial"/>
                <a:sym typeface="Arial"/>
              </a:rPr>
              <a:t>application, transport, network, link</a:t>
            </a:r>
            <a:endParaRPr/>
          </a:p>
          <a:p>
            <a:pPr indent="-269875" lvl="0" marL="4000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chemeClr val="dk1"/>
                </a:solidFill>
                <a:latin typeface="Arial"/>
                <a:ea typeface="Arial"/>
                <a:cs typeface="Arial"/>
                <a:sym typeface="Arial"/>
              </a:rPr>
              <a:t>putting-it-all-together: synthesis!</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00000"/>
                </a:solidFill>
                <a:latin typeface="Arial"/>
                <a:ea typeface="Arial"/>
                <a:cs typeface="Arial"/>
                <a:sym typeface="Arial"/>
              </a:rPr>
              <a:t>goal:</a:t>
            </a:r>
            <a:r>
              <a:rPr b="0" i="0" lang="en-US" sz="2800" u="none" cap="none" strike="noStrike">
                <a:solidFill>
                  <a:srgbClr val="C00000"/>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identify, review, understand protocols (at all layers) involved in seemingly simple scenario: requesting www page</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00000"/>
                </a:solidFill>
                <a:latin typeface="Arial"/>
                <a:ea typeface="Arial"/>
                <a:cs typeface="Arial"/>
                <a:sym typeface="Arial"/>
              </a:rPr>
              <a:t>scenario:</a:t>
            </a:r>
            <a:r>
              <a:rPr b="0" i="0" lang="en-US" sz="2800" u="none" cap="none" strike="noStrike">
                <a:solidFill>
                  <a:srgbClr val="C00000"/>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student attaches laptop to campus network, requests/receives www.google.com </a:t>
            </a:r>
            <a:endParaRPr/>
          </a:p>
          <a:p>
            <a:pPr indent="-19050" lvl="0" marL="3524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chemeClr val="dk1"/>
              </a:solidFill>
              <a:latin typeface="Arial"/>
              <a:ea typeface="Arial"/>
              <a:cs typeface="Arial"/>
              <a:sym typeface="Arial"/>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animEffect filter="fade" transition="in">
                                      <p:cBhvr>
                                        <p:cTn dur="500"/>
                                        <p:tgtEl>
                                          <p:spTgt spid="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animEffect filter="fade" transition="in">
                                      <p:cBhvr>
                                        <p:cTn dur="500"/>
                                        <p:tgtEl>
                                          <p:spTgt spid="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animEffect filter="fade" transition="in">
                                      <p:cBhvr>
                                        <p:cTn dur="500"/>
                                        <p:tgtEl>
                                          <p:spTgt spid="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animEffect filter="fade" transition="in">
                                      <p:cBhvr>
                                        <p:cTn dur="500"/>
                                        <p:tgtEl>
                                          <p:spTgt spid="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animEffect filter="fade" transition="in">
                                      <p:cBhvr>
                                        <p:cTn dur="500"/>
                                        <p:tgtEl>
                                          <p:spTgt spid="1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animEffect filter="fade" transition="in">
                                      <p:cBhvr>
                                        <p:cTn dur="500"/>
                                        <p:tgtEl>
                                          <p:spTgt spid="1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 day in the life: scenario</a:t>
            </a:r>
            <a:endParaRPr/>
          </a:p>
        </p:txBody>
      </p:sp>
      <p:sp>
        <p:nvSpPr>
          <p:cNvPr id="109" name="Google Shape;109;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Arial"/>
                <a:ea typeface="Arial"/>
                <a:cs typeface="Arial"/>
                <a:sym typeface="Arial"/>
              </a:rPr>
              <a:t>Link Layer: 6-</a:t>
            </a:r>
            <a:fld id="{00000000-1234-1234-1234-123412341234}" type="slidenum">
              <a:rPr b="0" i="0" lang="en-US" sz="1100" u="none" cap="none" strike="noStrike">
                <a:solidFill>
                  <a:srgbClr val="7F7F7F"/>
                </a:solidFill>
                <a:latin typeface="Arial"/>
                <a:ea typeface="Arial"/>
                <a:cs typeface="Arial"/>
                <a:sym typeface="Arial"/>
              </a:rPr>
              <a:t>‹#›</a:t>
            </a:fld>
            <a:endParaRPr b="0" i="0" sz="1100" u="none" cap="none" strike="noStrike">
              <a:solidFill>
                <a:srgbClr val="7F7F7F"/>
              </a:solidFill>
              <a:latin typeface="Arial"/>
              <a:ea typeface="Arial"/>
              <a:cs typeface="Arial"/>
              <a:sym typeface="Arial"/>
            </a:endParaRPr>
          </a:p>
        </p:txBody>
      </p:sp>
      <p:sp>
        <p:nvSpPr>
          <p:cNvPr id="110" name="Google Shape;110;p3"/>
          <p:cNvSpPr/>
          <p:nvPr/>
        </p:nvSpPr>
        <p:spPr>
          <a:xfrm>
            <a:off x="5037166" y="1832733"/>
            <a:ext cx="3494531"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1" name="Google Shape;111;p3"/>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12" name="Google Shape;112;p3"/>
          <p:cNvSpPr txBox="1"/>
          <p:nvPr/>
        </p:nvSpPr>
        <p:spPr>
          <a:xfrm>
            <a:off x="5108669" y="2394135"/>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68.80.0.0/13</a:t>
            </a:r>
            <a:endParaRPr/>
          </a:p>
        </p:txBody>
      </p:sp>
      <p:cxnSp>
        <p:nvCxnSpPr>
          <p:cNvPr id="113" name="Google Shape;113;p3"/>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114" name="Google Shape;114;p3"/>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115" name="Google Shape;115;p3"/>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116" name="Google Shape;116;p3"/>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117" name="Google Shape;117;p3"/>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cxnSp>
        <p:nvCxnSpPr>
          <p:cNvPr id="118" name="Google Shape;118;p3"/>
          <p:cNvCxnSpPr/>
          <p:nvPr/>
        </p:nvCxnSpPr>
        <p:spPr>
          <a:xfrm flipH="1">
            <a:off x="7205382" y="2772055"/>
            <a:ext cx="260350" cy="258762"/>
          </a:xfrm>
          <a:prstGeom prst="straightConnector1">
            <a:avLst/>
          </a:prstGeom>
          <a:noFill/>
          <a:ln cap="flat" cmpd="sng" w="9525">
            <a:solidFill>
              <a:srgbClr val="000000"/>
            </a:solidFill>
            <a:prstDash val="solid"/>
            <a:round/>
            <a:headEnd len="med" w="med" type="none"/>
            <a:tailEnd len="med" w="med" type="none"/>
          </a:ln>
        </p:spPr>
      </p:cxnSp>
      <p:sp>
        <p:nvSpPr>
          <p:cNvPr id="119" name="Google Shape;119;p3"/>
          <p:cNvSpPr/>
          <p:nvPr/>
        </p:nvSpPr>
        <p:spPr>
          <a:xfrm>
            <a:off x="1169707" y="4751667"/>
            <a:ext cx="6419850" cy="1620838"/>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120" name="Google Shape;120;p3"/>
          <p:cNvCxnSpPr/>
          <p:nvPr/>
        </p:nvCxnSpPr>
        <p:spPr>
          <a:xfrm flipH="1" rot="10800000">
            <a:off x="4560607" y="3680105"/>
            <a:ext cx="1174750" cy="1651000"/>
          </a:xfrm>
          <a:prstGeom prst="straightConnector1">
            <a:avLst/>
          </a:prstGeom>
          <a:noFill/>
          <a:ln cap="flat" cmpd="sng" w="9525">
            <a:solidFill>
              <a:srgbClr val="000000"/>
            </a:solidFill>
            <a:prstDash val="solid"/>
            <a:round/>
            <a:headEnd len="med" w="med" type="none"/>
            <a:tailEnd len="med" w="med" type="none"/>
          </a:ln>
        </p:spPr>
      </p:cxnSp>
      <p:sp>
        <p:nvSpPr>
          <p:cNvPr id="121" name="Google Shape;121;p3"/>
          <p:cNvSpPr txBox="1"/>
          <p:nvPr/>
        </p:nvSpPr>
        <p:spPr>
          <a:xfrm>
            <a:off x="5438495" y="5623205"/>
            <a:ext cx="1809750"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Google’s network </a:t>
            </a:r>
            <a:endParaRPr/>
          </a:p>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64.233.160.0/19 </a:t>
            </a:r>
            <a:endParaRPr/>
          </a:p>
        </p:txBody>
      </p:sp>
      <p:cxnSp>
        <p:nvCxnSpPr>
          <p:cNvPr id="122" name="Google Shape;122;p3"/>
          <p:cNvCxnSpPr/>
          <p:nvPr/>
        </p:nvCxnSpPr>
        <p:spPr>
          <a:xfrm flipH="1" rot="10800000">
            <a:off x="3139795" y="5499380"/>
            <a:ext cx="942975" cy="1587"/>
          </a:xfrm>
          <a:prstGeom prst="straightConnector1">
            <a:avLst/>
          </a:prstGeom>
          <a:noFill/>
          <a:ln cap="flat" cmpd="sng" w="9525">
            <a:solidFill>
              <a:srgbClr val="000000"/>
            </a:solidFill>
            <a:prstDash val="solid"/>
            <a:round/>
            <a:headEnd len="med" w="med" type="none"/>
            <a:tailEnd len="med" w="med" type="none"/>
          </a:ln>
        </p:spPr>
      </p:cxnSp>
      <p:sp>
        <p:nvSpPr>
          <p:cNvPr id="123" name="Google Shape;123;p3"/>
          <p:cNvSpPr txBox="1"/>
          <p:nvPr/>
        </p:nvSpPr>
        <p:spPr>
          <a:xfrm>
            <a:off x="2052357" y="5891492"/>
            <a:ext cx="159543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64.233.169.105</a:t>
            </a:r>
            <a:endParaRPr/>
          </a:p>
        </p:txBody>
      </p:sp>
      <p:sp>
        <p:nvSpPr>
          <p:cNvPr id="124" name="Google Shape;124;p3"/>
          <p:cNvSpPr txBox="1"/>
          <p:nvPr/>
        </p:nvSpPr>
        <p:spPr>
          <a:xfrm>
            <a:off x="2020607" y="5597805"/>
            <a:ext cx="1177925"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web server</a:t>
            </a:r>
            <a:endParaRPr/>
          </a:p>
        </p:txBody>
      </p:sp>
      <p:sp>
        <p:nvSpPr>
          <p:cNvPr id="125" name="Google Shape;125;p3"/>
          <p:cNvSpPr txBox="1"/>
          <p:nvPr/>
        </p:nvSpPr>
        <p:spPr>
          <a:xfrm>
            <a:off x="6124855" y="1962523"/>
            <a:ext cx="123348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DNS server</a:t>
            </a:r>
            <a:endParaRPr/>
          </a:p>
          <a:p>
            <a:pPr indent="0" lvl="0" marL="0" marR="0" rtl="0" algn="l">
              <a:spcBef>
                <a:spcPts val="0"/>
              </a:spcBef>
              <a:spcAft>
                <a:spcPts val="0"/>
              </a:spcAft>
              <a:buNone/>
            </a:pPr>
            <a:r>
              <a:t/>
            </a:r>
            <a:endParaRPr b="0" i="0" sz="1600" u="none" cap="none" strike="noStrike">
              <a:solidFill>
                <a:srgbClr val="000000"/>
              </a:solidFill>
              <a:latin typeface="Arial"/>
              <a:ea typeface="Arial"/>
              <a:cs typeface="Arial"/>
              <a:sym typeface="Arial"/>
            </a:endParaRPr>
          </a:p>
        </p:txBody>
      </p:sp>
      <p:grpSp>
        <p:nvGrpSpPr>
          <p:cNvPr id="126" name="Google Shape;126;p3"/>
          <p:cNvGrpSpPr/>
          <p:nvPr/>
        </p:nvGrpSpPr>
        <p:grpSpPr>
          <a:xfrm flipH="1">
            <a:off x="5890932" y="3667405"/>
            <a:ext cx="400050" cy="152400"/>
            <a:chOff x="3228" y="1776"/>
            <a:chExt cx="252" cy="96"/>
          </a:xfrm>
        </p:grpSpPr>
        <p:cxnSp>
          <p:nvCxnSpPr>
            <p:cNvPr id="127" name="Google Shape;127;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28" name="Google Shape;128;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29" name="Google Shape;129;p3"/>
          <p:cNvGrpSpPr/>
          <p:nvPr/>
        </p:nvGrpSpPr>
        <p:grpSpPr>
          <a:xfrm rot="10800000">
            <a:off x="6043332" y="3143530"/>
            <a:ext cx="400050" cy="152400"/>
            <a:chOff x="3228" y="1776"/>
            <a:chExt cx="252" cy="96"/>
          </a:xfrm>
        </p:grpSpPr>
        <p:cxnSp>
          <p:nvCxnSpPr>
            <p:cNvPr id="130" name="Google Shape;130;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31" name="Google Shape;131;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32" name="Google Shape;132;p3"/>
          <p:cNvGrpSpPr/>
          <p:nvPr/>
        </p:nvGrpSpPr>
        <p:grpSpPr>
          <a:xfrm rot="10800000">
            <a:off x="8143595" y="3834092"/>
            <a:ext cx="400050" cy="152400"/>
            <a:chOff x="3228" y="1776"/>
            <a:chExt cx="252" cy="96"/>
          </a:xfrm>
        </p:grpSpPr>
        <p:cxnSp>
          <p:nvCxnSpPr>
            <p:cNvPr id="133" name="Google Shape;133;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34" name="Google Shape;134;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35" name="Google Shape;135;p3"/>
          <p:cNvGrpSpPr/>
          <p:nvPr/>
        </p:nvGrpSpPr>
        <p:grpSpPr>
          <a:xfrm flipH="1" rot="10800000">
            <a:off x="7319682" y="3853142"/>
            <a:ext cx="295275" cy="114300"/>
            <a:chOff x="3228" y="1776"/>
            <a:chExt cx="252" cy="96"/>
          </a:xfrm>
        </p:grpSpPr>
        <p:cxnSp>
          <p:nvCxnSpPr>
            <p:cNvPr id="136" name="Google Shape;136;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37" name="Google Shape;137;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38" name="Google Shape;138;p3"/>
          <p:cNvGrpSpPr/>
          <p:nvPr/>
        </p:nvGrpSpPr>
        <p:grpSpPr>
          <a:xfrm rot="-10390311">
            <a:off x="7591145" y="3195917"/>
            <a:ext cx="452437" cy="57150"/>
            <a:chOff x="3228" y="1776"/>
            <a:chExt cx="252" cy="96"/>
          </a:xfrm>
        </p:grpSpPr>
        <p:cxnSp>
          <p:nvCxnSpPr>
            <p:cNvPr id="139" name="Google Shape;139;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40" name="Google Shape;140;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41" name="Google Shape;141;p3"/>
          <p:cNvGrpSpPr/>
          <p:nvPr/>
        </p:nvGrpSpPr>
        <p:grpSpPr>
          <a:xfrm>
            <a:off x="6733895" y="3400705"/>
            <a:ext cx="295275" cy="114300"/>
            <a:chOff x="3228" y="1776"/>
            <a:chExt cx="252" cy="96"/>
          </a:xfrm>
        </p:grpSpPr>
        <p:cxnSp>
          <p:nvCxnSpPr>
            <p:cNvPr id="142" name="Google Shape;142;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43" name="Google Shape;143;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44" name="Google Shape;144;p3"/>
          <p:cNvGrpSpPr/>
          <p:nvPr/>
        </p:nvGrpSpPr>
        <p:grpSpPr>
          <a:xfrm flipH="1">
            <a:off x="7372070" y="3400705"/>
            <a:ext cx="295275" cy="114300"/>
            <a:chOff x="3228" y="1776"/>
            <a:chExt cx="252" cy="96"/>
          </a:xfrm>
        </p:grpSpPr>
        <p:cxnSp>
          <p:nvCxnSpPr>
            <p:cNvPr id="145" name="Google Shape;145;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46" name="Google Shape;146;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47" name="Google Shape;147;p3"/>
          <p:cNvGrpSpPr/>
          <p:nvPr/>
        </p:nvGrpSpPr>
        <p:grpSpPr>
          <a:xfrm>
            <a:off x="5786157" y="5348567"/>
            <a:ext cx="295275" cy="114300"/>
            <a:chOff x="3228" y="1776"/>
            <a:chExt cx="252" cy="96"/>
          </a:xfrm>
        </p:grpSpPr>
        <p:cxnSp>
          <p:nvCxnSpPr>
            <p:cNvPr id="148" name="Google Shape;148;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49" name="Google Shape;149;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50" name="Google Shape;150;p3"/>
          <p:cNvGrpSpPr/>
          <p:nvPr/>
        </p:nvGrpSpPr>
        <p:grpSpPr>
          <a:xfrm flipH="1">
            <a:off x="6424332" y="5348567"/>
            <a:ext cx="295275" cy="114300"/>
            <a:chOff x="3228" y="1776"/>
            <a:chExt cx="252" cy="96"/>
          </a:xfrm>
        </p:grpSpPr>
        <p:cxnSp>
          <p:nvCxnSpPr>
            <p:cNvPr id="151" name="Google Shape;151;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52" name="Google Shape;152;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53" name="Google Shape;153;p3"/>
          <p:cNvGrpSpPr/>
          <p:nvPr/>
        </p:nvGrpSpPr>
        <p:grpSpPr>
          <a:xfrm>
            <a:off x="4019270" y="5705755"/>
            <a:ext cx="295275" cy="114300"/>
            <a:chOff x="3228" y="1776"/>
            <a:chExt cx="252" cy="96"/>
          </a:xfrm>
        </p:grpSpPr>
        <p:cxnSp>
          <p:nvCxnSpPr>
            <p:cNvPr id="154" name="Google Shape;154;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55" name="Google Shape;155;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56" name="Google Shape;156;p3"/>
          <p:cNvGrpSpPr/>
          <p:nvPr/>
        </p:nvGrpSpPr>
        <p:grpSpPr>
          <a:xfrm flipH="1">
            <a:off x="4657445" y="5705755"/>
            <a:ext cx="295275" cy="114300"/>
            <a:chOff x="3228" y="1776"/>
            <a:chExt cx="252" cy="96"/>
          </a:xfrm>
        </p:grpSpPr>
        <p:cxnSp>
          <p:nvCxnSpPr>
            <p:cNvPr id="157" name="Google Shape;157;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58" name="Google Shape;158;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59" name="Google Shape;159;p3"/>
          <p:cNvGrpSpPr/>
          <p:nvPr/>
        </p:nvGrpSpPr>
        <p:grpSpPr>
          <a:xfrm rot="10800000">
            <a:off x="4862232" y="5410480"/>
            <a:ext cx="295275" cy="114300"/>
            <a:chOff x="3228" y="1776"/>
            <a:chExt cx="252" cy="96"/>
          </a:xfrm>
        </p:grpSpPr>
        <p:cxnSp>
          <p:nvCxnSpPr>
            <p:cNvPr id="160" name="Google Shape;160;p3"/>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61" name="Google Shape;161;p3"/>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sp>
        <p:nvSpPr>
          <p:cNvPr id="162" name="Google Shape;162;p3"/>
          <p:cNvSpPr txBox="1"/>
          <p:nvPr/>
        </p:nvSpPr>
        <p:spPr>
          <a:xfrm>
            <a:off x="881342" y="3666845"/>
            <a:ext cx="1595438"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school network </a:t>
            </a:r>
            <a:endParaRPr/>
          </a:p>
          <a:p>
            <a:pPr indent="0" lvl="0" marL="0" marR="0" rtl="0" algn="l">
              <a:spcBef>
                <a:spcPts val="0"/>
              </a:spcBef>
              <a:spcAft>
                <a:spcPts val="0"/>
              </a:spcAft>
              <a:buNone/>
            </a:pPr>
            <a:r>
              <a:rPr b="0" i="0" lang="en-US" sz="1600" u="none" cap="none" strike="noStrike">
                <a:solidFill>
                  <a:srgbClr val="000000"/>
                </a:solidFill>
                <a:latin typeface="Arial"/>
                <a:ea typeface="Arial"/>
                <a:cs typeface="Arial"/>
                <a:sym typeface="Arial"/>
              </a:rPr>
              <a:t>68.80.2.0/24</a:t>
            </a:r>
            <a:endParaRPr/>
          </a:p>
        </p:txBody>
      </p:sp>
      <p:grpSp>
        <p:nvGrpSpPr>
          <p:cNvPr id="163" name="Google Shape;163;p3"/>
          <p:cNvGrpSpPr/>
          <p:nvPr/>
        </p:nvGrpSpPr>
        <p:grpSpPr>
          <a:xfrm>
            <a:off x="849686" y="1873155"/>
            <a:ext cx="1473201" cy="1119188"/>
            <a:chOff x="135" y="833"/>
            <a:chExt cx="928" cy="705"/>
          </a:xfrm>
        </p:grpSpPr>
        <p:grpSp>
          <p:nvGrpSpPr>
            <p:cNvPr id="164" name="Google Shape;164;p3"/>
            <p:cNvGrpSpPr/>
            <p:nvPr/>
          </p:nvGrpSpPr>
          <p:grpSpPr>
            <a:xfrm>
              <a:off x="135" y="833"/>
              <a:ext cx="928" cy="705"/>
              <a:chOff x="135" y="833"/>
              <a:chExt cx="928" cy="705"/>
            </a:xfrm>
          </p:grpSpPr>
          <p:sp>
            <p:nvSpPr>
              <p:cNvPr id="165" name="Google Shape;165;p3"/>
              <p:cNvSpPr/>
              <p:nvPr/>
            </p:nvSpPr>
            <p:spPr>
              <a:xfrm>
                <a:off x="135" y="836"/>
                <a:ext cx="928" cy="702"/>
              </a:xfrm>
              <a:custGeom>
                <a:rect b="b" l="l" r="r" t="t"/>
                <a:pathLst>
                  <a:path extrusionOk="0" h="10000" w="10000">
                    <a:moveTo>
                      <a:pt x="9330" y="10000"/>
                    </a:moveTo>
                    <a:cubicBezTo>
                      <a:pt x="6768" y="8563"/>
                      <a:pt x="6152" y="7769"/>
                      <a:pt x="0" y="6170"/>
                    </a:cubicBezTo>
                    <a:lnTo>
                      <a:pt x="7582" y="6096"/>
                    </a:lnTo>
                    <a:cubicBezTo>
                      <a:pt x="7547" y="3488"/>
                      <a:pt x="7633" y="2608"/>
                      <a:pt x="7597" y="0"/>
                    </a:cubicBezTo>
                    <a:cubicBezTo>
                      <a:pt x="8698" y="5472"/>
                      <a:pt x="8887" y="5795"/>
                      <a:pt x="9987" y="7243"/>
                    </a:cubicBezTo>
                    <a:cubicBezTo>
                      <a:pt x="10122" y="8001"/>
                      <a:pt x="9194" y="9242"/>
                      <a:pt x="9330" y="10000"/>
                    </a:cubicBezTo>
                    <a:close/>
                  </a:path>
                </a:pathLst>
              </a:custGeom>
              <a:gradFill>
                <a:gsLst>
                  <a:gs pos="0">
                    <a:srgbClr val="FFFFFF"/>
                  </a:gs>
                  <a:gs pos="100000">
                    <a:srgbClr val="BFBFBF"/>
                  </a:gs>
                </a:gsLst>
                <a:lin ang="12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6" name="Google Shape;166;p3"/>
              <p:cNvGrpSpPr/>
              <p:nvPr/>
            </p:nvGrpSpPr>
            <p:grpSpPr>
              <a:xfrm>
                <a:off x="148" y="840"/>
                <a:ext cx="694" cy="432"/>
                <a:chOff x="2579" y="1533"/>
                <a:chExt cx="1078" cy="507"/>
              </a:xfrm>
            </p:grpSpPr>
            <p:pic>
              <p:nvPicPr>
                <p:cNvPr id="167" name="Google Shape;167;p3"/>
                <p:cNvPicPr preferRelativeResize="0"/>
                <p:nvPr/>
              </p:nvPicPr>
              <p:blipFill rotWithShape="1">
                <a:blip r:embed="rId3">
                  <a:alphaModFix/>
                </a:blip>
                <a:srcRect b="0" l="0" r="0" t="0"/>
                <a:stretch/>
              </p:blipFill>
              <p:spPr>
                <a:xfrm>
                  <a:off x="2579" y="1533"/>
                  <a:ext cx="1078" cy="507"/>
                </a:xfrm>
                <a:prstGeom prst="rect">
                  <a:avLst/>
                </a:prstGeom>
                <a:noFill/>
                <a:ln>
                  <a:noFill/>
                </a:ln>
              </p:spPr>
            </p:pic>
            <p:sp>
              <p:nvSpPr>
                <p:cNvPr id="168" name="Google Shape;168;p3"/>
                <p:cNvSpPr/>
                <p:nvPr/>
              </p:nvSpPr>
              <p:spPr>
                <a:xfrm>
                  <a:off x="2633" y="1580"/>
                  <a:ext cx="957" cy="41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9" name="Google Shape;169;p3"/>
              <p:cNvSpPr/>
              <p:nvPr/>
            </p:nvSpPr>
            <p:spPr>
              <a:xfrm>
                <a:off x="146" y="833"/>
                <a:ext cx="696" cy="439"/>
              </a:xfrm>
              <a:prstGeom prst="rect">
                <a:avLst/>
              </a:prstGeom>
              <a:noFill/>
              <a:ln cap="flat" cmpd="sng" w="1905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0" name="Google Shape;170;p3"/>
            <p:cNvSpPr txBox="1"/>
            <p:nvPr/>
          </p:nvSpPr>
          <p:spPr>
            <a:xfrm>
              <a:off x="233" y="938"/>
              <a:ext cx="513"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b="0" i="0" lang="en-US" sz="1400" u="none" cap="none" strike="noStrike">
                  <a:solidFill>
                    <a:srgbClr val="C00000"/>
                  </a:solidFill>
                  <a:latin typeface="Arial"/>
                  <a:ea typeface="Arial"/>
                  <a:cs typeface="Arial"/>
                  <a:sym typeface="Arial"/>
                </a:rPr>
                <a:t>browser</a:t>
              </a:r>
              <a:endParaRPr/>
            </a:p>
          </p:txBody>
        </p:sp>
      </p:grpSp>
      <p:grpSp>
        <p:nvGrpSpPr>
          <p:cNvPr id="171" name="Google Shape;171;p3"/>
          <p:cNvGrpSpPr/>
          <p:nvPr/>
        </p:nvGrpSpPr>
        <p:grpSpPr>
          <a:xfrm>
            <a:off x="7299045" y="2164042"/>
            <a:ext cx="358775" cy="623888"/>
            <a:chOff x="4140" y="429"/>
            <a:chExt cx="1425" cy="2396"/>
          </a:xfrm>
        </p:grpSpPr>
        <p:sp>
          <p:nvSpPr>
            <p:cNvPr id="172" name="Google Shape;172;p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 name="Google Shape;173;p3"/>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 name="Google Shape;174;p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p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 name="Google Shape;176;p3"/>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7" name="Google Shape;177;p3"/>
            <p:cNvGrpSpPr/>
            <p:nvPr/>
          </p:nvGrpSpPr>
          <p:grpSpPr>
            <a:xfrm>
              <a:off x="4751" y="667"/>
              <a:ext cx="580" cy="146"/>
              <a:chOff x="617" y="2567"/>
              <a:chExt cx="724" cy="140"/>
            </a:xfrm>
          </p:grpSpPr>
          <p:sp>
            <p:nvSpPr>
              <p:cNvPr id="178" name="Google Shape;178;p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 name="Google Shape;179;p3"/>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0" name="Google Shape;180;p3"/>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81" name="Google Shape;181;p3"/>
            <p:cNvGrpSpPr/>
            <p:nvPr/>
          </p:nvGrpSpPr>
          <p:grpSpPr>
            <a:xfrm>
              <a:off x="4745" y="996"/>
              <a:ext cx="580" cy="134"/>
              <a:chOff x="612" y="2570"/>
              <a:chExt cx="724" cy="139"/>
            </a:xfrm>
          </p:grpSpPr>
          <p:sp>
            <p:nvSpPr>
              <p:cNvPr id="182" name="Google Shape;182;p3"/>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 name="Google Shape;183;p3"/>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4" name="Google Shape;184;p3"/>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 name="Google Shape;185;p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86" name="Google Shape;186;p3"/>
            <p:cNvGrpSpPr/>
            <p:nvPr/>
          </p:nvGrpSpPr>
          <p:grpSpPr>
            <a:xfrm>
              <a:off x="4733" y="1636"/>
              <a:ext cx="586" cy="140"/>
              <a:chOff x="611" y="2576"/>
              <a:chExt cx="730" cy="129"/>
            </a:xfrm>
          </p:grpSpPr>
          <p:sp>
            <p:nvSpPr>
              <p:cNvPr id="187" name="Google Shape;187;p3"/>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 name="Google Shape;188;p3"/>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9" name="Google Shape;189;p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90" name="Google Shape;190;p3"/>
            <p:cNvGrpSpPr/>
            <p:nvPr/>
          </p:nvGrpSpPr>
          <p:grpSpPr>
            <a:xfrm>
              <a:off x="4739" y="1325"/>
              <a:ext cx="580" cy="140"/>
              <a:chOff x="614" y="2566"/>
              <a:chExt cx="723" cy="140"/>
            </a:xfrm>
          </p:grpSpPr>
          <p:sp>
            <p:nvSpPr>
              <p:cNvPr id="191" name="Google Shape;191;p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p3"/>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93" name="Google Shape;193;p3"/>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 name="Google Shape;194;p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 name="Google Shape;195;p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 name="Google Shape;196;p3"/>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 name="Google Shape;197;p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 name="Google Shape;198;p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 name="Google Shape;199;p3"/>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3"/>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 name="Google Shape;201;p3"/>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202" name="Google Shape;202;p3"/>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 name="Google Shape;203;p3"/>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04" name="Google Shape;204;p3"/>
          <p:cNvGrpSpPr/>
          <p:nvPr/>
        </p:nvGrpSpPr>
        <p:grpSpPr>
          <a:xfrm>
            <a:off x="3087416" y="2965438"/>
            <a:ext cx="960147" cy="436668"/>
            <a:chOff x="3668110" y="2448910"/>
            <a:chExt cx="3794234" cy="2165130"/>
          </a:xfrm>
        </p:grpSpPr>
        <p:sp>
          <p:nvSpPr>
            <p:cNvPr id="205" name="Google Shape;205;p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p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07" name="Google Shape;207;p3"/>
            <p:cNvGrpSpPr/>
            <p:nvPr/>
          </p:nvGrpSpPr>
          <p:grpSpPr>
            <a:xfrm>
              <a:off x="3941378" y="2603243"/>
              <a:ext cx="3202061" cy="1066110"/>
              <a:chOff x="7939341" y="3037317"/>
              <a:chExt cx="897649" cy="353919"/>
            </a:xfrm>
          </p:grpSpPr>
          <p:sp>
            <p:nvSpPr>
              <p:cNvPr id="208" name="Google Shape;208;p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9" name="Google Shape;209;p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0" name="Google Shape;210;p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1" name="Google Shape;211;p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12" name="Google Shape;212;p3"/>
          <p:cNvGrpSpPr/>
          <p:nvPr/>
        </p:nvGrpSpPr>
        <p:grpSpPr>
          <a:xfrm>
            <a:off x="5430426" y="3270309"/>
            <a:ext cx="853832" cy="472456"/>
            <a:chOff x="7493876" y="2774731"/>
            <a:chExt cx="1481958" cy="894622"/>
          </a:xfrm>
        </p:grpSpPr>
        <p:sp>
          <p:nvSpPr>
            <p:cNvPr id="213" name="Google Shape;213;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4" name="Google Shape;214;p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5" name="Google Shape;215;p3"/>
            <p:cNvGrpSpPr/>
            <p:nvPr/>
          </p:nvGrpSpPr>
          <p:grpSpPr>
            <a:xfrm>
              <a:off x="7713663" y="2848339"/>
              <a:ext cx="1042107" cy="425543"/>
              <a:chOff x="7786941" y="2884917"/>
              <a:chExt cx="897649" cy="353919"/>
            </a:xfrm>
          </p:grpSpPr>
          <p:sp>
            <p:nvSpPr>
              <p:cNvPr id="216" name="Google Shape;216;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7" name="Google Shape;217;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8" name="Google Shape;218;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19" name="Google Shape;219;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20" name="Google Shape;220;p3"/>
          <p:cNvGrpSpPr/>
          <p:nvPr/>
        </p:nvGrpSpPr>
        <p:grpSpPr>
          <a:xfrm>
            <a:off x="6752719" y="3019298"/>
            <a:ext cx="853832" cy="472456"/>
            <a:chOff x="7493876" y="2774731"/>
            <a:chExt cx="1481958" cy="894622"/>
          </a:xfrm>
        </p:grpSpPr>
        <p:sp>
          <p:nvSpPr>
            <p:cNvPr id="221" name="Google Shape;221;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2" name="Google Shape;222;p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3" name="Google Shape;223;p3"/>
            <p:cNvGrpSpPr/>
            <p:nvPr/>
          </p:nvGrpSpPr>
          <p:grpSpPr>
            <a:xfrm>
              <a:off x="7713663" y="2848339"/>
              <a:ext cx="1042107" cy="425543"/>
              <a:chOff x="7786941" y="2884917"/>
              <a:chExt cx="897649" cy="353919"/>
            </a:xfrm>
          </p:grpSpPr>
          <p:sp>
            <p:nvSpPr>
              <p:cNvPr id="224" name="Google Shape;224;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5" name="Google Shape;225;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6" name="Google Shape;226;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7" name="Google Shape;227;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28" name="Google Shape;228;p3"/>
          <p:cNvGrpSpPr/>
          <p:nvPr/>
        </p:nvGrpSpPr>
        <p:grpSpPr>
          <a:xfrm>
            <a:off x="7496789" y="3749923"/>
            <a:ext cx="853832" cy="472456"/>
            <a:chOff x="7493876" y="2774731"/>
            <a:chExt cx="1481958" cy="894622"/>
          </a:xfrm>
        </p:grpSpPr>
        <p:sp>
          <p:nvSpPr>
            <p:cNvPr id="229" name="Google Shape;229;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0" name="Google Shape;230;p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1" name="Google Shape;231;p3"/>
            <p:cNvGrpSpPr/>
            <p:nvPr/>
          </p:nvGrpSpPr>
          <p:grpSpPr>
            <a:xfrm>
              <a:off x="7713663" y="2848339"/>
              <a:ext cx="1042107" cy="425543"/>
              <a:chOff x="7786941" y="2884917"/>
              <a:chExt cx="897649" cy="353919"/>
            </a:xfrm>
          </p:grpSpPr>
          <p:sp>
            <p:nvSpPr>
              <p:cNvPr id="232" name="Google Shape;232;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3" name="Google Shape;233;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4" name="Google Shape;234;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36" name="Google Shape;236;p3"/>
          <p:cNvGrpSpPr/>
          <p:nvPr/>
        </p:nvGrpSpPr>
        <p:grpSpPr>
          <a:xfrm>
            <a:off x="4139507" y="5298141"/>
            <a:ext cx="809010" cy="502026"/>
            <a:chOff x="7493876" y="2774731"/>
            <a:chExt cx="1481958" cy="894622"/>
          </a:xfrm>
        </p:grpSpPr>
        <p:sp>
          <p:nvSpPr>
            <p:cNvPr id="237" name="Google Shape;237;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8" name="Google Shape;238;p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9" name="Google Shape;239;p3"/>
            <p:cNvGrpSpPr/>
            <p:nvPr/>
          </p:nvGrpSpPr>
          <p:grpSpPr>
            <a:xfrm>
              <a:off x="7713663" y="2848339"/>
              <a:ext cx="1042107" cy="425543"/>
              <a:chOff x="7786941" y="2884917"/>
              <a:chExt cx="897649" cy="353919"/>
            </a:xfrm>
          </p:grpSpPr>
          <p:sp>
            <p:nvSpPr>
              <p:cNvPr id="240" name="Google Shape;240;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1" name="Google Shape;241;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2" name="Google Shape;242;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3" name="Google Shape;243;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44" name="Google Shape;244;p3"/>
          <p:cNvGrpSpPr/>
          <p:nvPr/>
        </p:nvGrpSpPr>
        <p:grpSpPr>
          <a:xfrm>
            <a:off x="5872016" y="4978459"/>
            <a:ext cx="809010" cy="502026"/>
            <a:chOff x="7493876" y="2774731"/>
            <a:chExt cx="1481958" cy="894622"/>
          </a:xfrm>
        </p:grpSpPr>
        <p:sp>
          <p:nvSpPr>
            <p:cNvPr id="245" name="Google Shape;245;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6" name="Google Shape;246;p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7" name="Google Shape;247;p3"/>
            <p:cNvGrpSpPr/>
            <p:nvPr/>
          </p:nvGrpSpPr>
          <p:grpSpPr>
            <a:xfrm>
              <a:off x="7713663" y="2848339"/>
              <a:ext cx="1042107" cy="425543"/>
              <a:chOff x="7786941" y="2884917"/>
              <a:chExt cx="897649" cy="353919"/>
            </a:xfrm>
          </p:grpSpPr>
          <p:sp>
            <p:nvSpPr>
              <p:cNvPr id="248" name="Google Shape;248;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9" name="Google Shape;249;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0" name="Google Shape;250;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1" name="Google Shape;251;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252" name="Google Shape;252;p3"/>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253" name="Google Shape;253;p3"/>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54" name="Google Shape;254;p3"/>
          <p:cNvGrpSpPr/>
          <p:nvPr/>
        </p:nvGrpSpPr>
        <p:grpSpPr>
          <a:xfrm>
            <a:off x="1946552" y="2678242"/>
            <a:ext cx="913139" cy="665131"/>
            <a:chOff x="7455987" y="2414528"/>
            <a:chExt cx="511700" cy="327647"/>
          </a:xfrm>
        </p:grpSpPr>
        <p:pic>
          <p:nvPicPr>
            <p:cNvPr descr="laptop_keyboard" id="255" name="Google Shape;255;p3"/>
            <p:cNvPicPr preferRelativeResize="0"/>
            <p:nvPr/>
          </p:nvPicPr>
          <p:blipFill rotWithShape="1">
            <a:blip r:embed="rId4">
              <a:alphaModFix/>
            </a:blip>
            <a:srcRect b="0" l="0" r="0" t="0"/>
            <a:stretch/>
          </p:blipFill>
          <p:spPr>
            <a:xfrm flipH="1" rot="109064">
              <a:off x="7458407" y="2575770"/>
              <a:ext cx="437221" cy="159511"/>
            </a:xfrm>
            <a:prstGeom prst="rect">
              <a:avLst/>
            </a:prstGeom>
            <a:noFill/>
            <a:ln>
              <a:noFill/>
            </a:ln>
          </p:spPr>
        </p:pic>
        <p:sp>
          <p:nvSpPr>
            <p:cNvPr id="256" name="Google Shape;256;p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57" name="Google Shape;257;p3"/>
            <p:cNvPicPr preferRelativeResize="0"/>
            <p:nvPr/>
          </p:nvPicPr>
          <p:blipFill rotWithShape="1">
            <a:blip r:embed="rId5">
              <a:alphaModFix/>
            </a:blip>
            <a:srcRect b="0" l="0" r="0" t="0"/>
            <a:stretch/>
          </p:blipFill>
          <p:spPr>
            <a:xfrm>
              <a:off x="7620637" y="2426338"/>
              <a:ext cx="319785" cy="189429"/>
            </a:xfrm>
            <a:prstGeom prst="rect">
              <a:avLst/>
            </a:prstGeom>
            <a:noFill/>
            <a:ln>
              <a:noFill/>
            </a:ln>
          </p:spPr>
        </p:pic>
        <p:sp>
          <p:nvSpPr>
            <p:cNvPr id="258" name="Google Shape;258;p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 name="Google Shape;259;p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 name="Google Shape;260;p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 name="Google Shape;261;p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 name="Google Shape;262;p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3" name="Google Shape;263;p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64" name="Google Shape;264;p3"/>
            <p:cNvGrpSpPr/>
            <p:nvPr/>
          </p:nvGrpSpPr>
          <p:grpSpPr>
            <a:xfrm>
              <a:off x="7594735" y="2642220"/>
              <a:ext cx="98740" cy="36846"/>
              <a:chOff x="1740" y="2642"/>
              <a:chExt cx="752" cy="327"/>
            </a:xfrm>
          </p:grpSpPr>
          <p:sp>
            <p:nvSpPr>
              <p:cNvPr id="265" name="Google Shape;265;p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6" name="Google Shape;266;p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7" name="Google Shape;267;p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8" name="Google Shape;268;p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9" name="Google Shape;269;p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 name="Google Shape;270;p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71" name="Google Shape;271;p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 name="Google Shape;272;p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 name="Google Shape;273;p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4" name="Google Shape;274;p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 name="Google Shape;275;p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 name="Google Shape;276;p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77" name="Google Shape;277;p3"/>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78" name="Google Shape;278;p3"/>
          <p:cNvGrpSpPr/>
          <p:nvPr/>
        </p:nvGrpSpPr>
        <p:grpSpPr>
          <a:xfrm>
            <a:off x="2647027" y="4019872"/>
            <a:ext cx="853832" cy="472456"/>
            <a:chOff x="7493876" y="2774731"/>
            <a:chExt cx="1481958" cy="894622"/>
          </a:xfrm>
        </p:grpSpPr>
        <p:sp>
          <p:nvSpPr>
            <p:cNvPr id="279" name="Google Shape;279;p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0" name="Google Shape;280;p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1" name="Google Shape;281;p3"/>
            <p:cNvGrpSpPr/>
            <p:nvPr/>
          </p:nvGrpSpPr>
          <p:grpSpPr>
            <a:xfrm>
              <a:off x="7713663" y="2848339"/>
              <a:ext cx="1042107" cy="425543"/>
              <a:chOff x="7786941" y="2884917"/>
              <a:chExt cx="897649" cy="353919"/>
            </a:xfrm>
          </p:grpSpPr>
          <p:sp>
            <p:nvSpPr>
              <p:cNvPr id="282" name="Google Shape;282;p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3" name="Google Shape;283;p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4" name="Google Shape;284;p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5" name="Google Shape;285;p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286" name="Google Shape;286;p3"/>
          <p:cNvSpPr/>
          <p:nvPr/>
        </p:nvSpPr>
        <p:spPr>
          <a:xfrm>
            <a:off x="685800" y="2756646"/>
            <a:ext cx="1313330" cy="511526"/>
          </a:xfrm>
          <a:prstGeom prst="rightArrow">
            <a:avLst>
              <a:gd fmla="val 50000" name="adj1"/>
              <a:gd fmla="val 50000" name="adj2"/>
            </a:avLst>
          </a:prstGeom>
          <a:gradFill>
            <a:gsLst>
              <a:gs pos="0">
                <a:srgbClr val="FFFFFF">
                  <a:alpha val="66666"/>
                </a:srgbClr>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87" name="Google Shape;287;p3"/>
          <p:cNvGrpSpPr/>
          <p:nvPr/>
        </p:nvGrpSpPr>
        <p:grpSpPr>
          <a:xfrm>
            <a:off x="1373964" y="4541734"/>
            <a:ext cx="1607995" cy="1127080"/>
            <a:chOff x="1373964" y="4541734"/>
            <a:chExt cx="1607995" cy="1127080"/>
          </a:xfrm>
        </p:grpSpPr>
        <p:sp>
          <p:nvSpPr>
            <p:cNvPr id="288" name="Google Shape;288;p3"/>
            <p:cNvSpPr txBox="1"/>
            <p:nvPr/>
          </p:nvSpPr>
          <p:spPr>
            <a:xfrm>
              <a:off x="1373964" y="4541734"/>
              <a:ext cx="8901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C00000"/>
                  </a:solidFill>
                  <a:latin typeface="Arial"/>
                  <a:ea typeface="Arial"/>
                  <a:cs typeface="Arial"/>
                  <a:sym typeface="Arial"/>
                </a:rPr>
                <a:t>web page</a:t>
              </a:r>
              <a:endParaRPr/>
            </a:p>
          </p:txBody>
        </p:sp>
        <p:sp>
          <p:nvSpPr>
            <p:cNvPr id="289" name="Google Shape;289;p3"/>
            <p:cNvSpPr/>
            <p:nvPr/>
          </p:nvSpPr>
          <p:spPr>
            <a:xfrm>
              <a:off x="1450329" y="4799922"/>
              <a:ext cx="1531630" cy="868892"/>
            </a:xfrm>
            <a:custGeom>
              <a:rect b="b" l="l" r="r" t="t"/>
              <a:pathLst>
                <a:path extrusionOk="0" h="10000" w="10000">
                  <a:moveTo>
                    <a:pt x="9927" y="10000"/>
                  </a:moveTo>
                  <a:cubicBezTo>
                    <a:pt x="7231" y="9836"/>
                    <a:pt x="6474" y="9595"/>
                    <a:pt x="0" y="9182"/>
                  </a:cubicBezTo>
                  <a:lnTo>
                    <a:pt x="8245" y="8883"/>
                  </a:lnTo>
                  <a:cubicBezTo>
                    <a:pt x="8212" y="5538"/>
                    <a:pt x="8387" y="3345"/>
                    <a:pt x="8352" y="0"/>
                  </a:cubicBezTo>
                  <a:cubicBezTo>
                    <a:pt x="8852" y="3416"/>
                    <a:pt x="8942" y="4239"/>
                    <a:pt x="10000" y="6096"/>
                  </a:cubicBezTo>
                  <a:cubicBezTo>
                    <a:pt x="9991" y="7928"/>
                    <a:pt x="9934" y="8700"/>
                    <a:pt x="9927" y="10000"/>
                  </a:cubicBezTo>
                  <a:close/>
                </a:path>
              </a:pathLst>
            </a:custGeom>
            <a:gradFill>
              <a:gsLst>
                <a:gs pos="0">
                  <a:srgbClr val="FFFFFF"/>
                </a:gs>
                <a:gs pos="100000">
                  <a:srgbClr val="BFBFBF"/>
                </a:gs>
              </a:gsLst>
              <a:lin ang="12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90" name="Google Shape;290;p3"/>
            <p:cNvPicPr preferRelativeResize="0"/>
            <p:nvPr/>
          </p:nvPicPr>
          <p:blipFill rotWithShape="1">
            <a:blip r:embed="rId6">
              <a:alphaModFix/>
            </a:blip>
            <a:srcRect b="0" l="0" r="0" t="0"/>
            <a:stretch/>
          </p:blipFill>
          <p:spPr>
            <a:xfrm>
              <a:off x="1484743" y="4817138"/>
              <a:ext cx="1243012" cy="768350"/>
            </a:xfrm>
            <a:prstGeom prst="rect">
              <a:avLst/>
            </a:prstGeom>
            <a:noFill/>
            <a:ln cap="flat" cmpd="sng" w="1587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pic>
      </p:grpSp>
      <p:grpSp>
        <p:nvGrpSpPr>
          <p:cNvPr id="291" name="Google Shape;291;p3"/>
          <p:cNvGrpSpPr/>
          <p:nvPr/>
        </p:nvGrpSpPr>
        <p:grpSpPr>
          <a:xfrm>
            <a:off x="2957232" y="5059642"/>
            <a:ext cx="358775" cy="623888"/>
            <a:chOff x="4140" y="429"/>
            <a:chExt cx="1425" cy="2396"/>
          </a:xfrm>
        </p:grpSpPr>
        <p:sp>
          <p:nvSpPr>
            <p:cNvPr id="292" name="Google Shape;292;p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3" name="Google Shape;293;p3"/>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4" name="Google Shape;294;p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 name="Google Shape;295;p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6" name="Google Shape;296;p3"/>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97" name="Google Shape;297;p3"/>
            <p:cNvGrpSpPr/>
            <p:nvPr/>
          </p:nvGrpSpPr>
          <p:grpSpPr>
            <a:xfrm>
              <a:off x="4751" y="667"/>
              <a:ext cx="580" cy="146"/>
              <a:chOff x="617" y="2567"/>
              <a:chExt cx="724" cy="140"/>
            </a:xfrm>
          </p:grpSpPr>
          <p:sp>
            <p:nvSpPr>
              <p:cNvPr id="298" name="Google Shape;298;p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9" name="Google Shape;299;p3"/>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0" name="Google Shape;300;p3"/>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01" name="Google Shape;301;p3"/>
            <p:cNvGrpSpPr/>
            <p:nvPr/>
          </p:nvGrpSpPr>
          <p:grpSpPr>
            <a:xfrm>
              <a:off x="4745" y="996"/>
              <a:ext cx="580" cy="134"/>
              <a:chOff x="612" y="2570"/>
              <a:chExt cx="724" cy="139"/>
            </a:xfrm>
          </p:grpSpPr>
          <p:sp>
            <p:nvSpPr>
              <p:cNvPr id="302" name="Google Shape;302;p3"/>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3" name="Google Shape;303;p3"/>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4" name="Google Shape;304;p3"/>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5" name="Google Shape;305;p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06" name="Google Shape;306;p3"/>
            <p:cNvGrpSpPr/>
            <p:nvPr/>
          </p:nvGrpSpPr>
          <p:grpSpPr>
            <a:xfrm>
              <a:off x="4733" y="1636"/>
              <a:ext cx="586" cy="140"/>
              <a:chOff x="611" y="2576"/>
              <a:chExt cx="730" cy="129"/>
            </a:xfrm>
          </p:grpSpPr>
          <p:sp>
            <p:nvSpPr>
              <p:cNvPr id="307" name="Google Shape;307;p3"/>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3"/>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9" name="Google Shape;309;p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10" name="Google Shape;310;p3"/>
            <p:cNvGrpSpPr/>
            <p:nvPr/>
          </p:nvGrpSpPr>
          <p:grpSpPr>
            <a:xfrm>
              <a:off x="4739" y="1325"/>
              <a:ext cx="580" cy="140"/>
              <a:chOff x="614" y="2566"/>
              <a:chExt cx="723" cy="140"/>
            </a:xfrm>
          </p:grpSpPr>
          <p:sp>
            <p:nvSpPr>
              <p:cNvPr id="311" name="Google Shape;311;p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2" name="Google Shape;312;p3"/>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13" name="Google Shape;313;p3"/>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4" name="Google Shape;314;p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p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 name="Google Shape;316;p3"/>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7" name="Google Shape;317;p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3"/>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 name="Google Shape;320;p3"/>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 name="Google Shape;321;p3"/>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22" name="Google Shape;322;p3"/>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3"/>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4" name="Google Shape;324;p3"/>
          <p:cNvSpPr txBox="1"/>
          <p:nvPr/>
        </p:nvSpPr>
        <p:spPr>
          <a:xfrm>
            <a:off x="8877300" y="1833563"/>
            <a:ext cx="2878418" cy="1316037"/>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chemeClr val="dk1"/>
                </a:solidFill>
                <a:latin typeface="Arial"/>
                <a:ea typeface="Arial"/>
                <a:cs typeface="Arial"/>
                <a:sym typeface="Arial"/>
              </a:rPr>
              <a:t>arriving mobile client attaches to network …</a:t>
            </a:r>
            <a:endParaRPr b="0" i="0" sz="2400" u="none" cap="none" strike="noStrike">
              <a:solidFill>
                <a:schemeClr val="dk1"/>
              </a:solidFill>
              <a:latin typeface="Arial"/>
              <a:ea typeface="Arial"/>
              <a:cs typeface="Arial"/>
              <a:sym typeface="Arial"/>
            </a:endParaRPr>
          </a:p>
          <a:p>
            <a:pPr indent="-19050" lvl="0" marL="3524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chemeClr val="dk1"/>
              </a:solidFill>
              <a:latin typeface="Arial"/>
              <a:ea typeface="Arial"/>
              <a:cs typeface="Arial"/>
              <a:sym typeface="Arial"/>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chemeClr val="dk1"/>
              </a:solidFill>
              <a:latin typeface="Gill Sans"/>
              <a:ea typeface="Gill Sans"/>
              <a:cs typeface="Gill Sans"/>
              <a:sym typeface="Gill Sans"/>
            </a:endParaRPr>
          </a:p>
        </p:txBody>
      </p:sp>
      <p:sp>
        <p:nvSpPr>
          <p:cNvPr id="325" name="Google Shape;325;p3"/>
          <p:cNvSpPr txBox="1"/>
          <p:nvPr/>
        </p:nvSpPr>
        <p:spPr>
          <a:xfrm>
            <a:off x="8877300" y="3179763"/>
            <a:ext cx="2878418" cy="1316037"/>
          </a:xfrm>
          <a:prstGeom prst="rect">
            <a:avLst/>
          </a:prstGeom>
          <a:noFill/>
          <a:ln>
            <a:noFill/>
          </a:ln>
        </p:spPr>
        <p:txBody>
          <a:bodyPr anchorCtr="0" anchor="t" bIns="45700" lIns="91425" spcFirstLastPara="1" rIns="91425" wrap="square" tIns="45700">
            <a:normAutofit fontScale="92500"/>
          </a:bodyPr>
          <a:lstStyle/>
          <a:p>
            <a:pPr indent="-269875" lvl="0" marL="400050" marR="0" rtl="0" algn="l">
              <a:lnSpc>
                <a:spcPct val="90000"/>
              </a:lnSpc>
              <a:spcBef>
                <a:spcPts val="0"/>
              </a:spcBef>
              <a:spcAft>
                <a:spcPts val="0"/>
              </a:spcAft>
              <a:buClr>
                <a:srgbClr val="0000A3"/>
              </a:buClr>
              <a:buSzPct val="100000"/>
              <a:buFont typeface="Noto Sans Symbols"/>
              <a:buChar char="▪"/>
            </a:pPr>
            <a:r>
              <a:rPr b="0" i="0" lang="en-US" sz="3000" u="none" cap="none" strike="noStrike">
                <a:solidFill>
                  <a:schemeClr val="dk1"/>
                </a:solidFill>
                <a:latin typeface="Arial"/>
                <a:ea typeface="Arial"/>
                <a:cs typeface="Arial"/>
                <a:sym typeface="Arial"/>
              </a:rPr>
              <a:t>requests web page: </a:t>
            </a:r>
            <a:r>
              <a:rPr b="0" i="0" lang="en-US" sz="2600" u="none" cap="none" strike="noStrike">
                <a:solidFill>
                  <a:schemeClr val="dk1"/>
                </a:solidFill>
                <a:latin typeface="Arial"/>
                <a:ea typeface="Arial"/>
                <a:cs typeface="Arial"/>
                <a:sym typeface="Arial"/>
              </a:rPr>
              <a:t>www.google.com</a:t>
            </a:r>
            <a:endParaRPr b="0" i="0" sz="2400" u="none" cap="none" strike="noStrike">
              <a:solidFill>
                <a:schemeClr val="dk1"/>
              </a:solidFill>
              <a:latin typeface="Arial"/>
              <a:ea typeface="Arial"/>
              <a:cs typeface="Arial"/>
              <a:sym typeface="Arial"/>
            </a:endParaRPr>
          </a:p>
          <a:p>
            <a:pPr indent="-34290" lvl="0" marL="352425" marR="0" rtl="0" algn="l">
              <a:lnSpc>
                <a:spcPct val="90000"/>
              </a:lnSpc>
              <a:spcBef>
                <a:spcPts val="1000"/>
              </a:spcBef>
              <a:spcAft>
                <a:spcPts val="0"/>
              </a:spcAft>
              <a:buClr>
                <a:srgbClr val="0000A3"/>
              </a:buClr>
              <a:buSzPct val="100000"/>
              <a:buFont typeface="Noto Sans Symbols"/>
              <a:buNone/>
            </a:pPr>
            <a:r>
              <a:t/>
            </a:r>
            <a:endParaRPr b="0" i="0" sz="3200" u="none" cap="none" strike="noStrike">
              <a:solidFill>
                <a:schemeClr val="dk1"/>
              </a:solidFill>
              <a:latin typeface="Arial"/>
              <a:ea typeface="Arial"/>
              <a:cs typeface="Arial"/>
              <a:sym typeface="Arial"/>
            </a:endParaRPr>
          </a:p>
          <a:p>
            <a:pPr indent="-57784" lvl="0" marL="352425" marR="0" rtl="0" algn="l">
              <a:lnSpc>
                <a:spcPct val="90000"/>
              </a:lnSpc>
              <a:spcBef>
                <a:spcPts val="1000"/>
              </a:spcBef>
              <a:spcAft>
                <a:spcPts val="0"/>
              </a:spcAft>
              <a:buClr>
                <a:srgbClr val="0000A3"/>
              </a:buClr>
              <a:buSzPct val="100000"/>
              <a:buFont typeface="Noto Sans Symbols"/>
              <a:buNone/>
            </a:pPr>
            <a:r>
              <a:t/>
            </a:r>
            <a:endParaRPr b="0" i="0" sz="2800" u="none" cap="none" strike="noStrike">
              <a:solidFill>
                <a:schemeClr val="dk1"/>
              </a:solidFill>
              <a:latin typeface="Gill Sans"/>
              <a:ea typeface="Gill Sans"/>
              <a:cs typeface="Gill Sans"/>
              <a:sym typeface="Gill Sans"/>
            </a:endParaRPr>
          </a:p>
        </p:txBody>
      </p:sp>
      <p:sp>
        <p:nvSpPr>
          <p:cNvPr id="326" name="Google Shape;326;p3"/>
          <p:cNvSpPr txBox="1"/>
          <p:nvPr/>
        </p:nvSpPr>
        <p:spPr>
          <a:xfrm>
            <a:off x="8737600" y="1181100"/>
            <a:ext cx="165141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rgbClr val="0000A8"/>
                </a:solidFill>
                <a:latin typeface="Arial"/>
                <a:ea typeface="Arial"/>
                <a:cs typeface="Arial"/>
                <a:sym typeface="Arial"/>
              </a:rPr>
              <a:t>scenario</a:t>
            </a:r>
            <a:r>
              <a:rPr b="0" i="0" lang="en-US" sz="1800" u="none" cap="none" strike="noStrike">
                <a:solidFill>
                  <a:schemeClr val="dk1"/>
                </a:solidFill>
                <a:latin typeface="Arial"/>
                <a:ea typeface="Arial"/>
                <a:cs typeface="Arial"/>
                <a:sym typeface="Arial"/>
              </a:rPr>
              <a:t>:</a:t>
            </a:r>
            <a:endParaRPr/>
          </a:p>
        </p:txBody>
      </p:sp>
      <p:grpSp>
        <p:nvGrpSpPr>
          <p:cNvPr id="327" name="Google Shape;327;p3"/>
          <p:cNvGrpSpPr/>
          <p:nvPr/>
        </p:nvGrpSpPr>
        <p:grpSpPr>
          <a:xfrm>
            <a:off x="9296400" y="4451350"/>
            <a:ext cx="2425700" cy="1612900"/>
            <a:chOff x="9296400" y="4451350"/>
            <a:chExt cx="2425700" cy="1612900"/>
          </a:xfrm>
        </p:grpSpPr>
        <p:pic>
          <p:nvPicPr>
            <p:cNvPr descr="A picture containing table, drawing&#10;&#10;Description automatically generated" id="328" name="Google Shape;328;p3"/>
            <p:cNvPicPr preferRelativeResize="0"/>
            <p:nvPr/>
          </p:nvPicPr>
          <p:blipFill rotWithShape="1">
            <a:blip r:embed="rId7">
              <a:alphaModFix/>
            </a:blip>
            <a:srcRect b="0" l="0" r="0" t="0"/>
            <a:stretch/>
          </p:blipFill>
          <p:spPr>
            <a:xfrm>
              <a:off x="10109200" y="4451350"/>
              <a:ext cx="1612900" cy="1612900"/>
            </a:xfrm>
            <a:prstGeom prst="rect">
              <a:avLst/>
            </a:prstGeom>
            <a:noFill/>
            <a:ln>
              <a:noFill/>
            </a:ln>
          </p:spPr>
        </p:pic>
        <p:sp>
          <p:nvSpPr>
            <p:cNvPr id="329" name="Google Shape;329;p3"/>
            <p:cNvSpPr txBox="1"/>
            <p:nvPr/>
          </p:nvSpPr>
          <p:spPr>
            <a:xfrm>
              <a:off x="9296400" y="4744591"/>
              <a:ext cx="1492716"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3200">
                  <a:solidFill>
                    <a:srgbClr val="00B050"/>
                  </a:solidFill>
                  <a:latin typeface="Arial"/>
                  <a:ea typeface="Arial"/>
                  <a:cs typeface="Arial"/>
                  <a:sym typeface="Arial"/>
                </a:rPr>
                <a:t>Sounds </a:t>
              </a:r>
              <a:endParaRPr/>
            </a:p>
            <a:p>
              <a:pPr indent="0" lvl="0" marL="0" marR="0" rtl="0" algn="ctr">
                <a:spcBef>
                  <a:spcPts val="0"/>
                </a:spcBef>
                <a:spcAft>
                  <a:spcPts val="0"/>
                </a:spcAft>
                <a:buNone/>
              </a:pPr>
              <a:r>
                <a:rPr i="1" lang="en-US" sz="3200">
                  <a:solidFill>
                    <a:srgbClr val="00B050"/>
                  </a:solidFill>
                  <a:latin typeface="Arial"/>
                  <a:ea typeface="Arial"/>
                  <a:cs typeface="Arial"/>
                  <a:sym typeface="Arial"/>
                </a:rPr>
                <a:t>simple!</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 day in the life: connecting to the Internet</a:t>
            </a:r>
            <a:endParaRPr/>
          </a:p>
        </p:txBody>
      </p:sp>
      <p:sp>
        <p:nvSpPr>
          <p:cNvPr id="335" name="Google Shape;335;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Link Layer: 6-</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
        <p:nvSpPr>
          <p:cNvPr id="336" name="Google Shape;336;p4"/>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337" name="Google Shape;337;p4"/>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338" name="Google Shape;338;p4"/>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339" name="Google Shape;339;p4"/>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340" name="Google Shape;340;p4"/>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341" name="Google Shape;341;p4"/>
          <p:cNvCxnSpPr/>
          <p:nvPr/>
        </p:nvCxnSpPr>
        <p:spPr>
          <a:xfrm flipH="1" rot="10800000">
            <a:off x="3670020" y="4087905"/>
            <a:ext cx="512015" cy="181161"/>
          </a:xfrm>
          <a:prstGeom prst="straightConnector1">
            <a:avLst/>
          </a:prstGeom>
          <a:noFill/>
          <a:ln cap="flat" cmpd="sng" w="9525">
            <a:solidFill>
              <a:srgbClr val="000000"/>
            </a:solidFill>
            <a:prstDash val="solid"/>
            <a:round/>
            <a:headEnd len="med" w="med" type="none"/>
            <a:tailEnd len="med" w="med" type="none"/>
          </a:ln>
        </p:spPr>
      </p:cxnSp>
      <p:grpSp>
        <p:nvGrpSpPr>
          <p:cNvPr id="342" name="Google Shape;342;p4"/>
          <p:cNvGrpSpPr/>
          <p:nvPr/>
        </p:nvGrpSpPr>
        <p:grpSpPr>
          <a:xfrm>
            <a:off x="3087416" y="2965438"/>
            <a:ext cx="960147" cy="436668"/>
            <a:chOff x="3668110" y="2448910"/>
            <a:chExt cx="3794234" cy="2165130"/>
          </a:xfrm>
        </p:grpSpPr>
        <p:sp>
          <p:nvSpPr>
            <p:cNvPr id="343" name="Google Shape;343;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4" name="Google Shape;344;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345" name="Google Shape;345;p4"/>
            <p:cNvGrpSpPr/>
            <p:nvPr/>
          </p:nvGrpSpPr>
          <p:grpSpPr>
            <a:xfrm>
              <a:off x="3941378" y="2603243"/>
              <a:ext cx="3202061" cy="1066110"/>
              <a:chOff x="7939341" y="3037317"/>
              <a:chExt cx="897649" cy="353919"/>
            </a:xfrm>
          </p:grpSpPr>
          <p:sp>
            <p:nvSpPr>
              <p:cNvPr id="346" name="Google Shape;346;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7" name="Google Shape;347;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9" name="Google Shape;349;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350" name="Google Shape;350;p4"/>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351" name="Google Shape;351;p4"/>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52" name="Google Shape;352;p4"/>
          <p:cNvGrpSpPr/>
          <p:nvPr/>
        </p:nvGrpSpPr>
        <p:grpSpPr>
          <a:xfrm>
            <a:off x="1946552" y="2678242"/>
            <a:ext cx="913139" cy="665131"/>
            <a:chOff x="7455987" y="2414528"/>
            <a:chExt cx="511700" cy="327647"/>
          </a:xfrm>
        </p:grpSpPr>
        <p:pic>
          <p:nvPicPr>
            <p:cNvPr descr="laptop_keyboard" id="353" name="Google Shape;353;p4"/>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354" name="Google Shape;354;p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355" name="Google Shape;355;p4"/>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356" name="Google Shape;356;p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7" name="Google Shape;357;p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8" name="Google Shape;358;p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9" name="Google Shape;359;p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0" name="Google Shape;360;p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1" name="Google Shape;361;p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62" name="Google Shape;362;p4"/>
            <p:cNvGrpSpPr/>
            <p:nvPr/>
          </p:nvGrpSpPr>
          <p:grpSpPr>
            <a:xfrm>
              <a:off x="7594735" y="2642220"/>
              <a:ext cx="98740" cy="36846"/>
              <a:chOff x="1740" y="2642"/>
              <a:chExt cx="752" cy="327"/>
            </a:xfrm>
          </p:grpSpPr>
          <p:sp>
            <p:nvSpPr>
              <p:cNvPr id="363" name="Google Shape;363;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4" name="Google Shape;364;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5" name="Google Shape;365;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6" name="Google Shape;366;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 name="Google Shape;367;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8" name="Google Shape;368;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69" name="Google Shape;369;p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 name="Google Shape;370;p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1" name="Google Shape;371;p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2" name="Google Shape;372;p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3" name="Google Shape;373;p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4" name="Google Shape;374;p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75" name="Google Shape;375;p4"/>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376" name="Google Shape;376;p4"/>
          <p:cNvGrpSpPr/>
          <p:nvPr/>
        </p:nvGrpSpPr>
        <p:grpSpPr>
          <a:xfrm>
            <a:off x="2647027" y="4019872"/>
            <a:ext cx="853832" cy="472456"/>
            <a:chOff x="7493876" y="2774731"/>
            <a:chExt cx="1481958" cy="894622"/>
          </a:xfrm>
        </p:grpSpPr>
        <p:sp>
          <p:nvSpPr>
            <p:cNvPr id="377" name="Google Shape;37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78" name="Google Shape;37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79" name="Google Shape;379;p4"/>
            <p:cNvGrpSpPr/>
            <p:nvPr/>
          </p:nvGrpSpPr>
          <p:grpSpPr>
            <a:xfrm>
              <a:off x="7713663" y="2848339"/>
              <a:ext cx="1042107" cy="425543"/>
              <a:chOff x="7786941" y="2884917"/>
              <a:chExt cx="897649" cy="353919"/>
            </a:xfrm>
          </p:grpSpPr>
          <p:sp>
            <p:nvSpPr>
              <p:cNvPr id="380" name="Google Shape;38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1" name="Google Shape;38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2" name="Google Shape;38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3" name="Google Shape;38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384" name="Google Shape;384;p4"/>
          <p:cNvSpPr txBox="1"/>
          <p:nvPr/>
        </p:nvSpPr>
        <p:spPr>
          <a:xfrm>
            <a:off x="2528047" y="4464423"/>
            <a:ext cx="1351524"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router has </a:t>
            </a:r>
            <a:endParaRPr/>
          </a:p>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DHCP server</a:t>
            </a:r>
            <a:endParaRPr/>
          </a:p>
        </p:txBody>
      </p:sp>
      <p:sp>
        <p:nvSpPr>
          <p:cNvPr id="385" name="Google Shape;385;p4"/>
          <p:cNvSpPr txBox="1"/>
          <p:nvPr/>
        </p:nvSpPr>
        <p:spPr>
          <a:xfrm>
            <a:off x="2236695" y="2034987"/>
            <a:ext cx="1661032"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arriving mobile:</a:t>
            </a:r>
            <a:endParaRPr/>
          </a:p>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DHCP client</a:t>
            </a:r>
            <a:endParaRPr/>
          </a:p>
        </p:txBody>
      </p:sp>
      <p:sp>
        <p:nvSpPr>
          <p:cNvPr id="386" name="Google Shape;386;p4"/>
          <p:cNvSpPr txBox="1"/>
          <p:nvPr/>
        </p:nvSpPr>
        <p:spPr>
          <a:xfrm>
            <a:off x="5158160" y="1377950"/>
            <a:ext cx="6691630" cy="1262062"/>
          </a:xfrm>
          <a:prstGeom prst="rect">
            <a:avLst/>
          </a:prstGeom>
          <a:noFill/>
          <a:ln>
            <a:noFill/>
          </a:ln>
        </p:spPr>
        <p:txBody>
          <a:bodyPr anchorCtr="0" anchor="t" bIns="45700" lIns="91425" spcFirstLastPara="1" rIns="91425" wrap="square" tIns="45700">
            <a:noAutofit/>
          </a:bodyPr>
          <a:lstStyle/>
          <a:p>
            <a:pPr indent="-231775" lvl="0" marL="231775" marR="0" rtl="0" algn="l">
              <a:lnSpc>
                <a:spcPct val="85000"/>
              </a:lnSpc>
              <a:spcBef>
                <a:spcPts val="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connecting laptop needs to get its own IP address, addr of first-hop router, addr of DNS server: use </a:t>
            </a:r>
            <a:r>
              <a:rPr lang="en-US" sz="2800">
                <a:solidFill>
                  <a:srgbClr val="C00000"/>
                </a:solidFill>
                <a:latin typeface="Arial"/>
                <a:ea typeface="Arial"/>
                <a:cs typeface="Arial"/>
                <a:sym typeface="Arial"/>
              </a:rPr>
              <a:t>DHCP</a:t>
            </a:r>
            <a:endParaRPr/>
          </a:p>
        </p:txBody>
      </p:sp>
      <p:grpSp>
        <p:nvGrpSpPr>
          <p:cNvPr id="387" name="Google Shape;387;p4"/>
          <p:cNvGrpSpPr/>
          <p:nvPr/>
        </p:nvGrpSpPr>
        <p:grpSpPr>
          <a:xfrm>
            <a:off x="1316411" y="1330325"/>
            <a:ext cx="1014412" cy="1665288"/>
            <a:chOff x="651" y="681"/>
            <a:chExt cx="639" cy="1049"/>
          </a:xfrm>
        </p:grpSpPr>
        <p:sp>
          <p:nvSpPr>
            <p:cNvPr id="388" name="Google Shape;388;p4"/>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9" name="Google Shape;389;p4"/>
            <p:cNvGrpSpPr/>
            <p:nvPr/>
          </p:nvGrpSpPr>
          <p:grpSpPr>
            <a:xfrm>
              <a:off x="651" y="681"/>
              <a:ext cx="501" cy="828"/>
              <a:chOff x="569" y="2954"/>
              <a:chExt cx="501" cy="828"/>
            </a:xfrm>
          </p:grpSpPr>
          <p:sp>
            <p:nvSpPr>
              <p:cNvPr id="390" name="Google Shape;390;p4"/>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1" name="Google Shape;391;p4"/>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92" name="Google Shape;392;p4"/>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93" name="Google Shape;393;p4"/>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94" name="Google Shape;394;p4"/>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95" name="Google Shape;395;p4"/>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96" name="Google Shape;396;p4"/>
          <p:cNvGrpSpPr/>
          <p:nvPr/>
        </p:nvGrpSpPr>
        <p:grpSpPr>
          <a:xfrm>
            <a:off x="641723" y="1411287"/>
            <a:ext cx="544513" cy="244475"/>
            <a:chOff x="844" y="3337"/>
            <a:chExt cx="343" cy="154"/>
          </a:xfrm>
        </p:grpSpPr>
        <p:sp>
          <p:nvSpPr>
            <p:cNvPr id="397" name="Google Shape;397;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9" name="Google Shape;399;p4"/>
          <p:cNvGrpSpPr/>
          <p:nvPr/>
        </p:nvGrpSpPr>
        <p:grpSpPr>
          <a:xfrm>
            <a:off x="187698" y="1430337"/>
            <a:ext cx="1081088" cy="1166813"/>
            <a:chOff x="42" y="744"/>
            <a:chExt cx="681" cy="735"/>
          </a:xfrm>
        </p:grpSpPr>
        <p:grpSp>
          <p:nvGrpSpPr>
            <p:cNvPr id="400" name="Google Shape;400;p4"/>
            <p:cNvGrpSpPr/>
            <p:nvPr/>
          </p:nvGrpSpPr>
          <p:grpSpPr>
            <a:xfrm>
              <a:off x="42" y="886"/>
              <a:ext cx="681" cy="468"/>
              <a:chOff x="42" y="886"/>
              <a:chExt cx="681" cy="468"/>
            </a:xfrm>
          </p:grpSpPr>
          <p:grpSp>
            <p:nvGrpSpPr>
              <p:cNvPr id="401" name="Google Shape;401;p4"/>
              <p:cNvGrpSpPr/>
              <p:nvPr/>
            </p:nvGrpSpPr>
            <p:grpSpPr>
              <a:xfrm>
                <a:off x="278" y="886"/>
                <a:ext cx="397" cy="154"/>
                <a:chOff x="740" y="3209"/>
                <a:chExt cx="397" cy="154"/>
              </a:xfrm>
            </p:grpSpPr>
            <p:grpSp>
              <p:nvGrpSpPr>
                <p:cNvPr id="402" name="Google Shape;402;p4"/>
                <p:cNvGrpSpPr/>
                <p:nvPr/>
              </p:nvGrpSpPr>
              <p:grpSpPr>
                <a:xfrm>
                  <a:off x="794" y="3209"/>
                  <a:ext cx="343" cy="154"/>
                  <a:chOff x="844" y="3337"/>
                  <a:chExt cx="343" cy="154"/>
                </a:xfrm>
              </p:grpSpPr>
              <p:sp>
                <p:nvSpPr>
                  <p:cNvPr id="403" name="Google Shape;403;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405" name="Google Shape;405;p4"/>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6" name="Google Shape;406;p4"/>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7" name="Google Shape;407;p4"/>
              <p:cNvGrpSpPr/>
              <p:nvPr/>
            </p:nvGrpSpPr>
            <p:grpSpPr>
              <a:xfrm>
                <a:off x="278" y="1034"/>
                <a:ext cx="397" cy="154"/>
                <a:chOff x="836" y="3305"/>
                <a:chExt cx="397" cy="154"/>
              </a:xfrm>
            </p:grpSpPr>
            <p:grpSp>
              <p:nvGrpSpPr>
                <p:cNvPr id="408" name="Google Shape;408;p4"/>
                <p:cNvGrpSpPr/>
                <p:nvPr/>
              </p:nvGrpSpPr>
              <p:grpSpPr>
                <a:xfrm>
                  <a:off x="890" y="3305"/>
                  <a:ext cx="343" cy="154"/>
                  <a:chOff x="844" y="3337"/>
                  <a:chExt cx="343" cy="154"/>
                </a:xfrm>
              </p:grpSpPr>
              <p:sp>
                <p:nvSpPr>
                  <p:cNvPr id="409" name="Google Shape;409;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11" name="Google Shape;411;p4"/>
                <p:cNvGrpSpPr/>
                <p:nvPr/>
              </p:nvGrpSpPr>
              <p:grpSpPr>
                <a:xfrm>
                  <a:off x="836" y="3334"/>
                  <a:ext cx="354" cy="94"/>
                  <a:chOff x="836" y="3334"/>
                  <a:chExt cx="354" cy="94"/>
                </a:xfrm>
              </p:grpSpPr>
              <p:sp>
                <p:nvSpPr>
                  <p:cNvPr id="412" name="Google Shape;412;p4"/>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3" name="Google Shape;413;p4"/>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14" name="Google Shape;414;p4"/>
              <p:cNvGrpSpPr/>
              <p:nvPr/>
            </p:nvGrpSpPr>
            <p:grpSpPr>
              <a:xfrm>
                <a:off x="165" y="1054"/>
                <a:ext cx="480" cy="112"/>
                <a:chOff x="627" y="3377"/>
                <a:chExt cx="480" cy="112"/>
              </a:xfrm>
            </p:grpSpPr>
            <p:sp>
              <p:nvSpPr>
                <p:cNvPr id="415" name="Google Shape;415;p4"/>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6" name="Google Shape;416;p4"/>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17" name="Google Shape;417;p4"/>
              <p:cNvGrpSpPr/>
              <p:nvPr/>
            </p:nvGrpSpPr>
            <p:grpSpPr>
              <a:xfrm>
                <a:off x="42" y="1200"/>
                <a:ext cx="681" cy="154"/>
                <a:chOff x="504" y="3523"/>
                <a:chExt cx="681" cy="154"/>
              </a:xfrm>
            </p:grpSpPr>
            <p:grpSp>
              <p:nvGrpSpPr>
                <p:cNvPr id="418" name="Google Shape;418;p4"/>
                <p:cNvGrpSpPr/>
                <p:nvPr/>
              </p:nvGrpSpPr>
              <p:grpSpPr>
                <a:xfrm>
                  <a:off x="623" y="3523"/>
                  <a:ext cx="510" cy="154"/>
                  <a:chOff x="723" y="3453"/>
                  <a:chExt cx="510" cy="154"/>
                </a:xfrm>
              </p:grpSpPr>
              <p:grpSp>
                <p:nvGrpSpPr>
                  <p:cNvPr id="419" name="Google Shape;419;p4"/>
                  <p:cNvGrpSpPr/>
                  <p:nvPr/>
                </p:nvGrpSpPr>
                <p:grpSpPr>
                  <a:xfrm>
                    <a:off x="836" y="3453"/>
                    <a:ext cx="397" cy="154"/>
                    <a:chOff x="836" y="3305"/>
                    <a:chExt cx="397" cy="154"/>
                  </a:xfrm>
                </p:grpSpPr>
                <p:grpSp>
                  <p:nvGrpSpPr>
                    <p:cNvPr id="420" name="Google Shape;420;p4"/>
                    <p:cNvGrpSpPr/>
                    <p:nvPr/>
                  </p:nvGrpSpPr>
                  <p:grpSpPr>
                    <a:xfrm>
                      <a:off x="890" y="3305"/>
                      <a:ext cx="343" cy="154"/>
                      <a:chOff x="844" y="3337"/>
                      <a:chExt cx="343" cy="154"/>
                    </a:xfrm>
                  </p:grpSpPr>
                  <p:sp>
                    <p:nvSpPr>
                      <p:cNvPr id="421" name="Google Shape;421;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2" name="Google Shape;422;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23" name="Google Shape;423;p4"/>
                    <p:cNvGrpSpPr/>
                    <p:nvPr/>
                  </p:nvGrpSpPr>
                  <p:grpSpPr>
                    <a:xfrm>
                      <a:off x="836" y="3334"/>
                      <a:ext cx="354" cy="94"/>
                      <a:chOff x="836" y="3334"/>
                      <a:chExt cx="354" cy="94"/>
                    </a:xfrm>
                  </p:grpSpPr>
                  <p:sp>
                    <p:nvSpPr>
                      <p:cNvPr id="424" name="Google Shape;424;p4"/>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5" name="Google Shape;425;p4"/>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26" name="Google Shape;426;p4"/>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4"/>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28" name="Google Shape;428;p4"/>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p4"/>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p4"/>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31" name="Google Shape;431;p4"/>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32" name="Google Shape;432;p4"/>
          <p:cNvGrpSpPr/>
          <p:nvPr/>
        </p:nvGrpSpPr>
        <p:grpSpPr>
          <a:xfrm>
            <a:off x="771898" y="2638425"/>
            <a:ext cx="1081088" cy="244475"/>
            <a:chOff x="504" y="3523"/>
            <a:chExt cx="681" cy="154"/>
          </a:xfrm>
        </p:grpSpPr>
        <p:grpSp>
          <p:nvGrpSpPr>
            <p:cNvPr id="433" name="Google Shape;433;p4"/>
            <p:cNvGrpSpPr/>
            <p:nvPr/>
          </p:nvGrpSpPr>
          <p:grpSpPr>
            <a:xfrm>
              <a:off x="623" y="3523"/>
              <a:ext cx="510" cy="154"/>
              <a:chOff x="723" y="3453"/>
              <a:chExt cx="510" cy="154"/>
            </a:xfrm>
          </p:grpSpPr>
          <p:grpSp>
            <p:nvGrpSpPr>
              <p:cNvPr id="434" name="Google Shape;434;p4"/>
              <p:cNvGrpSpPr/>
              <p:nvPr/>
            </p:nvGrpSpPr>
            <p:grpSpPr>
              <a:xfrm>
                <a:off x="836" y="3453"/>
                <a:ext cx="397" cy="154"/>
                <a:chOff x="836" y="3305"/>
                <a:chExt cx="397" cy="154"/>
              </a:xfrm>
            </p:grpSpPr>
            <p:grpSp>
              <p:nvGrpSpPr>
                <p:cNvPr id="435" name="Google Shape;435;p4"/>
                <p:cNvGrpSpPr/>
                <p:nvPr/>
              </p:nvGrpSpPr>
              <p:grpSpPr>
                <a:xfrm>
                  <a:off x="890" y="3305"/>
                  <a:ext cx="343" cy="154"/>
                  <a:chOff x="844" y="3337"/>
                  <a:chExt cx="343" cy="154"/>
                </a:xfrm>
              </p:grpSpPr>
              <p:sp>
                <p:nvSpPr>
                  <p:cNvPr id="436" name="Google Shape;436;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7" name="Google Shape;437;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38" name="Google Shape;438;p4"/>
                <p:cNvGrpSpPr/>
                <p:nvPr/>
              </p:nvGrpSpPr>
              <p:grpSpPr>
                <a:xfrm>
                  <a:off x="836" y="3334"/>
                  <a:ext cx="354" cy="94"/>
                  <a:chOff x="836" y="3334"/>
                  <a:chExt cx="354" cy="94"/>
                </a:xfrm>
              </p:grpSpPr>
              <p:sp>
                <p:nvSpPr>
                  <p:cNvPr id="439" name="Google Shape;439;p4"/>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4"/>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41" name="Google Shape;441;p4"/>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p4"/>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43" name="Google Shape;443;p4"/>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4" name="Google Shape;444;p4"/>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5" name="Google Shape;445;p4"/>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46" name="Google Shape;446;p4"/>
          <p:cNvGrpSpPr/>
          <p:nvPr/>
        </p:nvGrpSpPr>
        <p:grpSpPr>
          <a:xfrm>
            <a:off x="1598986" y="3330575"/>
            <a:ext cx="1316037" cy="1314450"/>
            <a:chOff x="931" y="1941"/>
            <a:chExt cx="829" cy="828"/>
          </a:xfrm>
        </p:grpSpPr>
        <p:sp>
          <p:nvSpPr>
            <p:cNvPr id="447" name="Google Shape;447;p4"/>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BFBFBF"/>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48" name="Google Shape;448;p4"/>
            <p:cNvGrpSpPr/>
            <p:nvPr/>
          </p:nvGrpSpPr>
          <p:grpSpPr>
            <a:xfrm>
              <a:off x="931" y="1941"/>
              <a:ext cx="501" cy="828"/>
              <a:chOff x="569" y="2954"/>
              <a:chExt cx="501" cy="828"/>
            </a:xfrm>
          </p:grpSpPr>
          <p:sp>
            <p:nvSpPr>
              <p:cNvPr id="449" name="Google Shape;449;p4"/>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0" name="Google Shape;450;p4"/>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451" name="Google Shape;451;p4"/>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452" name="Google Shape;452;p4"/>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453" name="Google Shape;453;p4"/>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454" name="Google Shape;454;p4"/>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455" name="Google Shape;455;p4"/>
          <p:cNvGrpSpPr/>
          <p:nvPr/>
        </p:nvGrpSpPr>
        <p:grpSpPr>
          <a:xfrm>
            <a:off x="460748" y="3230562"/>
            <a:ext cx="1081088" cy="1217613"/>
            <a:chOff x="1404" y="3105"/>
            <a:chExt cx="681" cy="767"/>
          </a:xfrm>
        </p:grpSpPr>
        <p:grpSp>
          <p:nvGrpSpPr>
            <p:cNvPr id="456" name="Google Shape;456;p4"/>
            <p:cNvGrpSpPr/>
            <p:nvPr/>
          </p:nvGrpSpPr>
          <p:grpSpPr>
            <a:xfrm>
              <a:off x="1404" y="3355"/>
              <a:ext cx="681" cy="468"/>
              <a:chOff x="42" y="886"/>
              <a:chExt cx="681" cy="468"/>
            </a:xfrm>
          </p:grpSpPr>
          <p:grpSp>
            <p:nvGrpSpPr>
              <p:cNvPr id="457" name="Google Shape;457;p4"/>
              <p:cNvGrpSpPr/>
              <p:nvPr/>
            </p:nvGrpSpPr>
            <p:grpSpPr>
              <a:xfrm>
                <a:off x="278" y="886"/>
                <a:ext cx="397" cy="154"/>
                <a:chOff x="740" y="3209"/>
                <a:chExt cx="397" cy="154"/>
              </a:xfrm>
            </p:grpSpPr>
            <p:grpSp>
              <p:nvGrpSpPr>
                <p:cNvPr id="458" name="Google Shape;458;p4"/>
                <p:cNvGrpSpPr/>
                <p:nvPr/>
              </p:nvGrpSpPr>
              <p:grpSpPr>
                <a:xfrm>
                  <a:off x="794" y="3209"/>
                  <a:ext cx="343" cy="154"/>
                  <a:chOff x="844" y="3337"/>
                  <a:chExt cx="343" cy="154"/>
                </a:xfrm>
              </p:grpSpPr>
              <p:sp>
                <p:nvSpPr>
                  <p:cNvPr id="459" name="Google Shape;459;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0" name="Google Shape;460;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461" name="Google Shape;461;p4"/>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2" name="Google Shape;462;p4"/>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63" name="Google Shape;463;p4"/>
              <p:cNvGrpSpPr/>
              <p:nvPr/>
            </p:nvGrpSpPr>
            <p:grpSpPr>
              <a:xfrm>
                <a:off x="278" y="1034"/>
                <a:ext cx="397" cy="154"/>
                <a:chOff x="836" y="3305"/>
                <a:chExt cx="397" cy="154"/>
              </a:xfrm>
            </p:grpSpPr>
            <p:grpSp>
              <p:nvGrpSpPr>
                <p:cNvPr id="464" name="Google Shape;464;p4"/>
                <p:cNvGrpSpPr/>
                <p:nvPr/>
              </p:nvGrpSpPr>
              <p:grpSpPr>
                <a:xfrm>
                  <a:off x="890" y="3305"/>
                  <a:ext cx="343" cy="154"/>
                  <a:chOff x="844" y="3337"/>
                  <a:chExt cx="343" cy="154"/>
                </a:xfrm>
              </p:grpSpPr>
              <p:sp>
                <p:nvSpPr>
                  <p:cNvPr id="465" name="Google Shape;465;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6" name="Google Shape;466;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67" name="Google Shape;467;p4"/>
                <p:cNvGrpSpPr/>
                <p:nvPr/>
              </p:nvGrpSpPr>
              <p:grpSpPr>
                <a:xfrm>
                  <a:off x="836" y="3334"/>
                  <a:ext cx="354" cy="94"/>
                  <a:chOff x="836" y="3334"/>
                  <a:chExt cx="354" cy="94"/>
                </a:xfrm>
              </p:grpSpPr>
              <p:sp>
                <p:nvSpPr>
                  <p:cNvPr id="468" name="Google Shape;468;p4"/>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9" name="Google Shape;469;p4"/>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70" name="Google Shape;470;p4"/>
              <p:cNvGrpSpPr/>
              <p:nvPr/>
            </p:nvGrpSpPr>
            <p:grpSpPr>
              <a:xfrm>
                <a:off x="165" y="1054"/>
                <a:ext cx="480" cy="112"/>
                <a:chOff x="627" y="3377"/>
                <a:chExt cx="480" cy="112"/>
              </a:xfrm>
            </p:grpSpPr>
            <p:sp>
              <p:nvSpPr>
                <p:cNvPr id="471" name="Google Shape;471;p4"/>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 name="Google Shape;472;p4"/>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73" name="Google Shape;473;p4"/>
              <p:cNvGrpSpPr/>
              <p:nvPr/>
            </p:nvGrpSpPr>
            <p:grpSpPr>
              <a:xfrm>
                <a:off x="42" y="1200"/>
                <a:ext cx="681" cy="154"/>
                <a:chOff x="504" y="3523"/>
                <a:chExt cx="681" cy="154"/>
              </a:xfrm>
            </p:grpSpPr>
            <p:grpSp>
              <p:nvGrpSpPr>
                <p:cNvPr id="474" name="Google Shape;474;p4"/>
                <p:cNvGrpSpPr/>
                <p:nvPr/>
              </p:nvGrpSpPr>
              <p:grpSpPr>
                <a:xfrm>
                  <a:off x="623" y="3523"/>
                  <a:ext cx="510" cy="154"/>
                  <a:chOff x="723" y="3453"/>
                  <a:chExt cx="510" cy="154"/>
                </a:xfrm>
              </p:grpSpPr>
              <p:grpSp>
                <p:nvGrpSpPr>
                  <p:cNvPr id="475" name="Google Shape;475;p4"/>
                  <p:cNvGrpSpPr/>
                  <p:nvPr/>
                </p:nvGrpSpPr>
                <p:grpSpPr>
                  <a:xfrm>
                    <a:off x="836" y="3453"/>
                    <a:ext cx="397" cy="154"/>
                    <a:chOff x="836" y="3305"/>
                    <a:chExt cx="397" cy="154"/>
                  </a:xfrm>
                </p:grpSpPr>
                <p:grpSp>
                  <p:nvGrpSpPr>
                    <p:cNvPr id="476" name="Google Shape;476;p4"/>
                    <p:cNvGrpSpPr/>
                    <p:nvPr/>
                  </p:nvGrpSpPr>
                  <p:grpSpPr>
                    <a:xfrm>
                      <a:off x="890" y="3305"/>
                      <a:ext cx="343" cy="154"/>
                      <a:chOff x="844" y="3337"/>
                      <a:chExt cx="343" cy="154"/>
                    </a:xfrm>
                  </p:grpSpPr>
                  <p:sp>
                    <p:nvSpPr>
                      <p:cNvPr id="477" name="Google Shape;477;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8" name="Google Shape;478;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79" name="Google Shape;479;p4"/>
                    <p:cNvGrpSpPr/>
                    <p:nvPr/>
                  </p:nvGrpSpPr>
                  <p:grpSpPr>
                    <a:xfrm>
                      <a:off x="836" y="3334"/>
                      <a:ext cx="354" cy="94"/>
                      <a:chOff x="836" y="3334"/>
                      <a:chExt cx="354" cy="94"/>
                    </a:xfrm>
                  </p:grpSpPr>
                  <p:sp>
                    <p:nvSpPr>
                      <p:cNvPr id="480" name="Google Shape;480;p4"/>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1" name="Google Shape;481;p4"/>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82" name="Google Shape;482;p4"/>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3" name="Google Shape;483;p4"/>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84" name="Google Shape;484;p4"/>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5" name="Google Shape;485;p4"/>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6" name="Google Shape;486;p4"/>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87" name="Google Shape;487;p4"/>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88" name="Google Shape;488;p4"/>
            <p:cNvGrpSpPr/>
            <p:nvPr/>
          </p:nvGrpSpPr>
          <p:grpSpPr>
            <a:xfrm>
              <a:off x="1695" y="3227"/>
              <a:ext cx="343" cy="154"/>
              <a:chOff x="844" y="3337"/>
              <a:chExt cx="343" cy="154"/>
            </a:xfrm>
          </p:grpSpPr>
          <p:sp>
            <p:nvSpPr>
              <p:cNvPr id="489" name="Google Shape;489;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0" name="Google Shape;490;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grpSp>
        <p:nvGrpSpPr>
          <p:cNvPr id="491" name="Google Shape;491;p4"/>
          <p:cNvGrpSpPr/>
          <p:nvPr/>
        </p:nvGrpSpPr>
        <p:grpSpPr>
          <a:xfrm>
            <a:off x="924298" y="3427412"/>
            <a:ext cx="544513" cy="244475"/>
            <a:chOff x="844" y="3337"/>
            <a:chExt cx="343" cy="154"/>
          </a:xfrm>
        </p:grpSpPr>
        <p:sp>
          <p:nvSpPr>
            <p:cNvPr id="492" name="Google Shape;492;p4"/>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3" name="Google Shape;493;p4"/>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494" name="Google Shape;494;p4"/>
          <p:cNvSpPr/>
          <p:nvPr/>
        </p:nvSpPr>
        <p:spPr>
          <a:xfrm>
            <a:off x="5158161" y="2817812"/>
            <a:ext cx="6365968" cy="13065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DHCP request </a:t>
            </a:r>
            <a:r>
              <a:rPr lang="en-US" sz="2800">
                <a:solidFill>
                  <a:srgbClr val="0000A8"/>
                </a:solidFill>
                <a:latin typeface="Arial"/>
                <a:ea typeface="Arial"/>
                <a:cs typeface="Arial"/>
                <a:sym typeface="Arial"/>
              </a:rPr>
              <a:t>encapsulated</a:t>
            </a:r>
            <a:r>
              <a:rPr lang="en-US" sz="2800">
                <a:solidFill>
                  <a:srgbClr val="3333CC"/>
                </a:solidFill>
                <a:latin typeface="Arial"/>
                <a:ea typeface="Arial"/>
                <a:cs typeface="Arial"/>
                <a:sym typeface="Arial"/>
              </a:rPr>
              <a:t> </a:t>
            </a:r>
            <a:r>
              <a:rPr lang="en-US" sz="2800">
                <a:solidFill>
                  <a:srgbClr val="000000"/>
                </a:solidFill>
                <a:latin typeface="Arial"/>
                <a:ea typeface="Arial"/>
                <a:cs typeface="Arial"/>
                <a:sym typeface="Arial"/>
              </a:rPr>
              <a:t>in </a:t>
            </a:r>
            <a:r>
              <a:rPr lang="en-US" sz="2800">
                <a:solidFill>
                  <a:srgbClr val="C00000"/>
                </a:solidFill>
                <a:latin typeface="Arial"/>
                <a:ea typeface="Arial"/>
                <a:cs typeface="Arial"/>
                <a:sym typeface="Arial"/>
              </a:rPr>
              <a:t>UDP</a:t>
            </a:r>
            <a:r>
              <a:rPr lang="en-US" sz="2800">
                <a:solidFill>
                  <a:srgbClr val="000000"/>
                </a:solidFill>
                <a:latin typeface="Arial"/>
                <a:ea typeface="Arial"/>
                <a:cs typeface="Arial"/>
                <a:sym typeface="Arial"/>
              </a:rPr>
              <a:t>, encapsulated in </a:t>
            </a:r>
            <a:r>
              <a:rPr lang="en-US" sz="2800">
                <a:solidFill>
                  <a:srgbClr val="C00000"/>
                </a:solidFill>
                <a:latin typeface="Arial"/>
                <a:ea typeface="Arial"/>
                <a:cs typeface="Arial"/>
                <a:sym typeface="Arial"/>
              </a:rPr>
              <a:t>IP</a:t>
            </a:r>
            <a:r>
              <a:rPr lang="en-US" sz="2800">
                <a:solidFill>
                  <a:srgbClr val="000000"/>
                </a:solidFill>
                <a:latin typeface="Arial"/>
                <a:ea typeface="Arial"/>
                <a:cs typeface="Arial"/>
                <a:sym typeface="Arial"/>
              </a:rPr>
              <a:t>, encapsulated in </a:t>
            </a:r>
            <a:r>
              <a:rPr lang="en-US" sz="2800">
                <a:solidFill>
                  <a:srgbClr val="C00000"/>
                </a:solidFill>
                <a:latin typeface="Arial"/>
                <a:ea typeface="Arial"/>
                <a:cs typeface="Arial"/>
                <a:sym typeface="Arial"/>
              </a:rPr>
              <a:t>802.3 </a:t>
            </a:r>
            <a:r>
              <a:rPr lang="en-US" sz="2800">
                <a:solidFill>
                  <a:srgbClr val="000000"/>
                </a:solidFill>
                <a:latin typeface="Arial"/>
                <a:ea typeface="Arial"/>
                <a:cs typeface="Arial"/>
                <a:sym typeface="Arial"/>
              </a:rPr>
              <a:t>Ethernet</a:t>
            </a:r>
            <a:endParaRPr/>
          </a:p>
          <a:p>
            <a:pPr indent="-342900" lvl="0" marL="342900" marR="0" rtl="0" algn="l">
              <a:lnSpc>
                <a:spcPct val="90000"/>
              </a:lnSpc>
              <a:spcBef>
                <a:spcPts val="560"/>
              </a:spcBef>
              <a:spcAft>
                <a:spcPts val="0"/>
              </a:spcAft>
              <a:buClr>
                <a:srgbClr val="000099"/>
              </a:buClr>
              <a:buSzPts val="1820"/>
              <a:buFont typeface="Noto Sans Symbols"/>
              <a:buNone/>
            </a:pPr>
            <a:r>
              <a:t/>
            </a:r>
            <a:endParaRPr sz="2800">
              <a:solidFill>
                <a:srgbClr val="000000"/>
              </a:solidFill>
              <a:latin typeface="Arial"/>
              <a:ea typeface="Arial"/>
              <a:cs typeface="Arial"/>
              <a:sym typeface="Arial"/>
            </a:endParaRPr>
          </a:p>
        </p:txBody>
      </p:sp>
      <p:sp>
        <p:nvSpPr>
          <p:cNvPr id="495" name="Google Shape;495;p4"/>
          <p:cNvSpPr/>
          <p:nvPr/>
        </p:nvSpPr>
        <p:spPr>
          <a:xfrm>
            <a:off x="5156572" y="4229100"/>
            <a:ext cx="6573673" cy="1563687"/>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Ethernet frame </a:t>
            </a:r>
            <a:r>
              <a:rPr lang="en-US" sz="2800">
                <a:solidFill>
                  <a:srgbClr val="0000A8"/>
                </a:solidFill>
                <a:latin typeface="Arial"/>
                <a:ea typeface="Arial"/>
                <a:cs typeface="Arial"/>
                <a:sym typeface="Arial"/>
              </a:rPr>
              <a:t>broadcast</a:t>
            </a:r>
            <a:r>
              <a:rPr lang="en-US" sz="2800">
                <a:solidFill>
                  <a:srgbClr val="000000"/>
                </a:solidFill>
                <a:latin typeface="Arial"/>
                <a:ea typeface="Arial"/>
                <a:cs typeface="Arial"/>
                <a:sym typeface="Arial"/>
              </a:rPr>
              <a:t> (dest: FFFFFFFFFFFF) on LAN, received at router running </a:t>
            </a:r>
            <a:r>
              <a:rPr lang="en-US" sz="2800">
                <a:solidFill>
                  <a:srgbClr val="C00000"/>
                </a:solidFill>
                <a:latin typeface="Arial"/>
                <a:ea typeface="Arial"/>
                <a:cs typeface="Arial"/>
                <a:sym typeface="Arial"/>
              </a:rPr>
              <a:t>DHCP </a:t>
            </a:r>
            <a:r>
              <a:rPr lang="en-US" sz="2800">
                <a:solidFill>
                  <a:srgbClr val="000000"/>
                </a:solidFill>
                <a:latin typeface="Arial"/>
                <a:ea typeface="Arial"/>
                <a:cs typeface="Arial"/>
                <a:sym typeface="Arial"/>
              </a:rPr>
              <a:t>server</a:t>
            </a:r>
            <a:endParaRPr/>
          </a:p>
        </p:txBody>
      </p:sp>
      <p:sp>
        <p:nvSpPr>
          <p:cNvPr id="496" name="Google Shape;496;p4"/>
          <p:cNvSpPr/>
          <p:nvPr/>
        </p:nvSpPr>
        <p:spPr>
          <a:xfrm>
            <a:off x="5154985" y="5565775"/>
            <a:ext cx="6541416" cy="1292225"/>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Ethernet </a:t>
            </a:r>
            <a:r>
              <a:rPr lang="en-US" sz="2800">
                <a:solidFill>
                  <a:srgbClr val="0000A8"/>
                </a:solidFill>
                <a:latin typeface="Arial"/>
                <a:ea typeface="Arial"/>
                <a:cs typeface="Arial"/>
                <a:sym typeface="Arial"/>
              </a:rPr>
              <a:t>de-muxed</a:t>
            </a:r>
            <a:r>
              <a:rPr lang="en-US" sz="2800">
                <a:solidFill>
                  <a:srgbClr val="000000"/>
                </a:solidFill>
                <a:latin typeface="Arial"/>
                <a:ea typeface="Arial"/>
                <a:cs typeface="Arial"/>
                <a:sym typeface="Arial"/>
              </a:rPr>
              <a:t> to IP de-muxed, UDP de-muxed to DHCP </a:t>
            </a:r>
            <a:endParaRPr/>
          </a:p>
        </p:txBody>
      </p:sp>
      <p:grpSp>
        <p:nvGrpSpPr>
          <p:cNvPr id="497" name="Google Shape;497;p4"/>
          <p:cNvGrpSpPr/>
          <p:nvPr/>
        </p:nvGrpSpPr>
        <p:grpSpPr>
          <a:xfrm>
            <a:off x="2606022" y="3858371"/>
            <a:ext cx="358775" cy="623888"/>
            <a:chOff x="4140" y="429"/>
            <a:chExt cx="1425" cy="2396"/>
          </a:xfrm>
        </p:grpSpPr>
        <p:sp>
          <p:nvSpPr>
            <p:cNvPr id="498" name="Google Shape;498;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9" name="Google Shape;499;p4"/>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0" name="Google Shape;500;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1" name="Google Shape;501;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 name="Google Shape;502;p4"/>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3" name="Google Shape;503;p4"/>
            <p:cNvGrpSpPr/>
            <p:nvPr/>
          </p:nvGrpSpPr>
          <p:grpSpPr>
            <a:xfrm>
              <a:off x="4751" y="667"/>
              <a:ext cx="580" cy="146"/>
              <a:chOff x="617" y="2567"/>
              <a:chExt cx="724" cy="140"/>
            </a:xfrm>
          </p:grpSpPr>
          <p:sp>
            <p:nvSpPr>
              <p:cNvPr id="504" name="Google Shape;504;p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5" name="Google Shape;505;p4"/>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06" name="Google Shape;506;p4"/>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7" name="Google Shape;507;p4"/>
            <p:cNvGrpSpPr/>
            <p:nvPr/>
          </p:nvGrpSpPr>
          <p:grpSpPr>
            <a:xfrm>
              <a:off x="4745" y="996"/>
              <a:ext cx="580" cy="134"/>
              <a:chOff x="612" y="2570"/>
              <a:chExt cx="724" cy="139"/>
            </a:xfrm>
          </p:grpSpPr>
          <p:sp>
            <p:nvSpPr>
              <p:cNvPr id="508" name="Google Shape;508;p4"/>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9" name="Google Shape;509;p4"/>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10" name="Google Shape;510;p4"/>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1" name="Google Shape;511;p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12" name="Google Shape;512;p4"/>
            <p:cNvGrpSpPr/>
            <p:nvPr/>
          </p:nvGrpSpPr>
          <p:grpSpPr>
            <a:xfrm>
              <a:off x="4733" y="1636"/>
              <a:ext cx="586" cy="140"/>
              <a:chOff x="611" y="2576"/>
              <a:chExt cx="730" cy="129"/>
            </a:xfrm>
          </p:grpSpPr>
          <p:sp>
            <p:nvSpPr>
              <p:cNvPr id="513" name="Google Shape;513;p4"/>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4" name="Google Shape;514;p4"/>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15" name="Google Shape;515;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16" name="Google Shape;516;p4"/>
            <p:cNvGrpSpPr/>
            <p:nvPr/>
          </p:nvGrpSpPr>
          <p:grpSpPr>
            <a:xfrm>
              <a:off x="4739" y="1325"/>
              <a:ext cx="580" cy="140"/>
              <a:chOff x="614" y="2566"/>
              <a:chExt cx="723" cy="140"/>
            </a:xfrm>
          </p:grpSpPr>
          <p:sp>
            <p:nvSpPr>
              <p:cNvPr id="517" name="Google Shape;517;p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8" name="Google Shape;518;p4"/>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19" name="Google Shape;519;p4"/>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0" name="Google Shape;520;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1" name="Google Shape;521;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2" name="Google Shape;522;p4"/>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3" name="Google Shape;523;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4" name="Google Shape;524;p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5" name="Google Shape;525;p4"/>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6" name="Google Shape;526;p4"/>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7" name="Google Shape;527;p4"/>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28" name="Google Shape;528;p4"/>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9" name="Google Shape;529;p4"/>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par>
                                <p:cTn fill="hold" nodeType="with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animEffect filter="fade" transition="in">
                                      <p:cBhvr>
                                        <p:cTn dur="500"/>
                                        <p:tgtEl>
                                          <p:spTgt spid="3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9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par>
                          <p:cTn fill="hold">
                            <p:stCondLst>
                              <p:cond delay="1000"/>
                            </p:stCondLst>
                            <p:childTnLst>
                              <p:par>
                                <p:cTn fill="hold" nodeType="afterEffect" presetClass="exit" presetID="1" presetSubtype="0">
                                  <p:stCondLst>
                                    <p:cond delay="1000"/>
                                  </p:stCondLst>
                                  <p:childTnLst>
                                    <p:set>
                                      <p:cBhvr>
                                        <p:cTn dur="1" fill="hold">
                                          <p:stCondLst>
                                            <p:cond delay="1"/>
                                          </p:stCondLst>
                                        </p:cTn>
                                        <p:tgtEl>
                                          <p:spTgt spid="45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par>
                                <p:cTn fill="hold" nodeType="withEffect" presetClass="entr" presetID="1" presetSubtype="0">
                                  <p:stCondLst>
                                    <p:cond delay="100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 day in the life: connecting to the Internet</a:t>
            </a:r>
            <a:endParaRPr/>
          </a:p>
        </p:txBody>
      </p:sp>
      <p:sp>
        <p:nvSpPr>
          <p:cNvPr id="535" name="Google Shape;535;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Link Layer: 6-</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
        <p:nvSpPr>
          <p:cNvPr id="536" name="Google Shape;536;p5"/>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537" name="Google Shape;537;p5"/>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538" name="Google Shape;538;p5"/>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539" name="Google Shape;539;p5"/>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540" name="Google Shape;540;p5"/>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541" name="Google Shape;541;p5"/>
          <p:cNvCxnSpPr/>
          <p:nvPr/>
        </p:nvCxnSpPr>
        <p:spPr>
          <a:xfrm flipH="1" rot="10800000">
            <a:off x="3670020" y="4087905"/>
            <a:ext cx="512015" cy="181161"/>
          </a:xfrm>
          <a:prstGeom prst="straightConnector1">
            <a:avLst/>
          </a:prstGeom>
          <a:noFill/>
          <a:ln cap="flat" cmpd="sng" w="9525">
            <a:solidFill>
              <a:srgbClr val="000000"/>
            </a:solidFill>
            <a:prstDash val="solid"/>
            <a:round/>
            <a:headEnd len="med" w="med" type="none"/>
            <a:tailEnd len="med" w="med" type="none"/>
          </a:ln>
        </p:spPr>
      </p:cxnSp>
      <p:grpSp>
        <p:nvGrpSpPr>
          <p:cNvPr id="542" name="Google Shape;542;p5"/>
          <p:cNvGrpSpPr/>
          <p:nvPr/>
        </p:nvGrpSpPr>
        <p:grpSpPr>
          <a:xfrm>
            <a:off x="3087416" y="2965438"/>
            <a:ext cx="960147" cy="436668"/>
            <a:chOff x="3668110" y="2448910"/>
            <a:chExt cx="3794234" cy="2165130"/>
          </a:xfrm>
        </p:grpSpPr>
        <p:sp>
          <p:nvSpPr>
            <p:cNvPr id="543" name="Google Shape;543;p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4" name="Google Shape;544;p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545" name="Google Shape;545;p5"/>
            <p:cNvGrpSpPr/>
            <p:nvPr/>
          </p:nvGrpSpPr>
          <p:grpSpPr>
            <a:xfrm>
              <a:off x="3941378" y="2603243"/>
              <a:ext cx="3202061" cy="1066110"/>
              <a:chOff x="7939341" y="3037317"/>
              <a:chExt cx="897649" cy="353919"/>
            </a:xfrm>
          </p:grpSpPr>
          <p:sp>
            <p:nvSpPr>
              <p:cNvPr id="546" name="Google Shape;546;p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7" name="Google Shape;547;p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8" name="Google Shape;548;p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9" name="Google Shape;549;p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550" name="Google Shape;550;p5"/>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551" name="Google Shape;551;p5"/>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552" name="Google Shape;552;p5"/>
          <p:cNvGrpSpPr/>
          <p:nvPr/>
        </p:nvGrpSpPr>
        <p:grpSpPr>
          <a:xfrm>
            <a:off x="1905000" y="2501153"/>
            <a:ext cx="954696" cy="842220"/>
            <a:chOff x="7432700" y="2327293"/>
            <a:chExt cx="534987" cy="414882"/>
          </a:xfrm>
        </p:grpSpPr>
        <p:pic>
          <p:nvPicPr>
            <p:cNvPr descr="antenna_stylized" id="553" name="Google Shape;553;p5"/>
            <p:cNvPicPr preferRelativeResize="0"/>
            <p:nvPr/>
          </p:nvPicPr>
          <p:blipFill rotWithShape="1">
            <a:blip r:embed="rId3">
              <a:alphaModFix/>
            </a:blip>
            <a:srcRect b="0" l="0" r="0" t="0"/>
            <a:stretch/>
          </p:blipFill>
          <p:spPr>
            <a:xfrm>
              <a:off x="7432700" y="2327293"/>
              <a:ext cx="530702" cy="223756"/>
            </a:xfrm>
            <a:prstGeom prst="rect">
              <a:avLst/>
            </a:prstGeom>
            <a:noFill/>
            <a:ln>
              <a:noFill/>
            </a:ln>
          </p:spPr>
        </p:pic>
        <p:pic>
          <p:nvPicPr>
            <p:cNvPr descr="laptop_keyboard" id="554" name="Google Shape;554;p5"/>
            <p:cNvPicPr preferRelativeResize="0"/>
            <p:nvPr/>
          </p:nvPicPr>
          <p:blipFill rotWithShape="1">
            <a:blip r:embed="rId4">
              <a:alphaModFix/>
            </a:blip>
            <a:srcRect b="0" l="0" r="0" t="0"/>
            <a:stretch/>
          </p:blipFill>
          <p:spPr>
            <a:xfrm flipH="1" rot="109064">
              <a:off x="7458407" y="2575770"/>
              <a:ext cx="437221" cy="159511"/>
            </a:xfrm>
            <a:prstGeom prst="rect">
              <a:avLst/>
            </a:prstGeom>
            <a:noFill/>
            <a:ln>
              <a:noFill/>
            </a:ln>
          </p:spPr>
        </p:pic>
        <p:sp>
          <p:nvSpPr>
            <p:cNvPr id="555" name="Google Shape;555;p5"/>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556" name="Google Shape;556;p5"/>
            <p:cNvPicPr preferRelativeResize="0"/>
            <p:nvPr/>
          </p:nvPicPr>
          <p:blipFill rotWithShape="1">
            <a:blip r:embed="rId5">
              <a:alphaModFix/>
            </a:blip>
            <a:srcRect b="0" l="0" r="0" t="0"/>
            <a:stretch/>
          </p:blipFill>
          <p:spPr>
            <a:xfrm>
              <a:off x="7620637" y="2426338"/>
              <a:ext cx="319785" cy="189429"/>
            </a:xfrm>
            <a:prstGeom prst="rect">
              <a:avLst/>
            </a:prstGeom>
            <a:noFill/>
            <a:ln>
              <a:noFill/>
            </a:ln>
          </p:spPr>
        </p:pic>
        <p:sp>
          <p:nvSpPr>
            <p:cNvPr id="557" name="Google Shape;557;p5"/>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8" name="Google Shape;558;p5"/>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9" name="Google Shape;559;p5"/>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 name="Google Shape;560;p5"/>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 name="Google Shape;561;p5"/>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 name="Google Shape;562;p5"/>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63" name="Google Shape;563;p5"/>
            <p:cNvGrpSpPr/>
            <p:nvPr/>
          </p:nvGrpSpPr>
          <p:grpSpPr>
            <a:xfrm>
              <a:off x="7594735" y="2642220"/>
              <a:ext cx="98740" cy="36846"/>
              <a:chOff x="1740" y="2642"/>
              <a:chExt cx="752" cy="327"/>
            </a:xfrm>
          </p:grpSpPr>
          <p:sp>
            <p:nvSpPr>
              <p:cNvPr id="564" name="Google Shape;564;p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5" name="Google Shape;565;p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6" name="Google Shape;566;p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7" name="Google Shape;567;p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8" name="Google Shape;568;p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9" name="Google Shape;569;p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570" name="Google Shape;570;p5"/>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1" name="Google Shape;571;p5"/>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2" name="Google Shape;572;p5"/>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3" name="Google Shape;573;p5"/>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4" name="Google Shape;574;p5"/>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5" name="Google Shape;575;p5"/>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576" name="Google Shape;576;p5"/>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577" name="Google Shape;577;p5"/>
          <p:cNvGrpSpPr/>
          <p:nvPr/>
        </p:nvGrpSpPr>
        <p:grpSpPr>
          <a:xfrm>
            <a:off x="2647027" y="4019872"/>
            <a:ext cx="853832" cy="472456"/>
            <a:chOff x="7493876" y="2774731"/>
            <a:chExt cx="1481958" cy="894622"/>
          </a:xfrm>
        </p:grpSpPr>
        <p:sp>
          <p:nvSpPr>
            <p:cNvPr id="578" name="Google Shape;578;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9" name="Google Shape;579;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80" name="Google Shape;580;p5"/>
            <p:cNvGrpSpPr/>
            <p:nvPr/>
          </p:nvGrpSpPr>
          <p:grpSpPr>
            <a:xfrm>
              <a:off x="7713663" y="2848339"/>
              <a:ext cx="1042107" cy="425543"/>
              <a:chOff x="7786941" y="2884917"/>
              <a:chExt cx="897649" cy="353919"/>
            </a:xfrm>
          </p:grpSpPr>
          <p:sp>
            <p:nvSpPr>
              <p:cNvPr id="581" name="Google Shape;581;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2" name="Google Shape;582;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3" name="Google Shape;583;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4" name="Google Shape;584;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585" name="Google Shape;585;p5"/>
          <p:cNvSpPr txBox="1"/>
          <p:nvPr/>
        </p:nvSpPr>
        <p:spPr>
          <a:xfrm>
            <a:off x="2528047" y="4464423"/>
            <a:ext cx="1351524"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router has </a:t>
            </a:r>
            <a:endParaRPr/>
          </a:p>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DHCP server</a:t>
            </a:r>
            <a:endParaRPr/>
          </a:p>
        </p:txBody>
      </p:sp>
      <p:sp>
        <p:nvSpPr>
          <p:cNvPr id="586" name="Google Shape;586;p5"/>
          <p:cNvSpPr txBox="1"/>
          <p:nvPr/>
        </p:nvSpPr>
        <p:spPr>
          <a:xfrm>
            <a:off x="2236695" y="2034987"/>
            <a:ext cx="1661032"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arriving mobile:</a:t>
            </a:r>
            <a:endParaRPr/>
          </a:p>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DHCP client</a:t>
            </a:r>
            <a:endParaRPr/>
          </a:p>
        </p:txBody>
      </p:sp>
      <p:grpSp>
        <p:nvGrpSpPr>
          <p:cNvPr id="587" name="Google Shape;587;p5"/>
          <p:cNvGrpSpPr/>
          <p:nvPr/>
        </p:nvGrpSpPr>
        <p:grpSpPr>
          <a:xfrm>
            <a:off x="1316411" y="1330325"/>
            <a:ext cx="1014412" cy="1665288"/>
            <a:chOff x="651" y="681"/>
            <a:chExt cx="639" cy="1049"/>
          </a:xfrm>
        </p:grpSpPr>
        <p:sp>
          <p:nvSpPr>
            <p:cNvPr id="588" name="Google Shape;588;p5"/>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9" name="Google Shape;589;p5"/>
            <p:cNvGrpSpPr/>
            <p:nvPr/>
          </p:nvGrpSpPr>
          <p:grpSpPr>
            <a:xfrm>
              <a:off x="651" y="681"/>
              <a:ext cx="501" cy="828"/>
              <a:chOff x="569" y="2954"/>
              <a:chExt cx="501" cy="828"/>
            </a:xfrm>
          </p:grpSpPr>
          <p:sp>
            <p:nvSpPr>
              <p:cNvPr id="590" name="Google Shape;590;p5"/>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5"/>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592" name="Google Shape;592;p5"/>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593" name="Google Shape;593;p5"/>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594" name="Google Shape;594;p5"/>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595" name="Google Shape;595;p5"/>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96" name="Google Shape;596;p5"/>
          <p:cNvGrpSpPr/>
          <p:nvPr/>
        </p:nvGrpSpPr>
        <p:grpSpPr>
          <a:xfrm>
            <a:off x="1598986" y="3330575"/>
            <a:ext cx="1316037" cy="1314450"/>
            <a:chOff x="931" y="1941"/>
            <a:chExt cx="829" cy="828"/>
          </a:xfrm>
        </p:grpSpPr>
        <p:sp>
          <p:nvSpPr>
            <p:cNvPr id="597" name="Google Shape;597;p5"/>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BFBFBF"/>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98" name="Google Shape;598;p5"/>
            <p:cNvGrpSpPr/>
            <p:nvPr/>
          </p:nvGrpSpPr>
          <p:grpSpPr>
            <a:xfrm>
              <a:off x="931" y="1941"/>
              <a:ext cx="501" cy="828"/>
              <a:chOff x="569" y="2954"/>
              <a:chExt cx="501" cy="828"/>
            </a:xfrm>
          </p:grpSpPr>
          <p:sp>
            <p:nvSpPr>
              <p:cNvPr id="599" name="Google Shape;599;p5"/>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5"/>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601" name="Google Shape;601;p5"/>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602" name="Google Shape;602;p5"/>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603" name="Google Shape;603;p5"/>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604" name="Google Shape;604;p5"/>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605" name="Google Shape;605;p5"/>
          <p:cNvGrpSpPr/>
          <p:nvPr/>
        </p:nvGrpSpPr>
        <p:grpSpPr>
          <a:xfrm>
            <a:off x="2606022" y="3858371"/>
            <a:ext cx="358775" cy="623888"/>
            <a:chOff x="4140" y="429"/>
            <a:chExt cx="1425" cy="2396"/>
          </a:xfrm>
        </p:grpSpPr>
        <p:sp>
          <p:nvSpPr>
            <p:cNvPr id="606" name="Google Shape;606;p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7" name="Google Shape;607;p5"/>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8" name="Google Shape;608;p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9" name="Google Shape;609;p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0" name="Google Shape;610;p5"/>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11" name="Google Shape;611;p5"/>
            <p:cNvGrpSpPr/>
            <p:nvPr/>
          </p:nvGrpSpPr>
          <p:grpSpPr>
            <a:xfrm>
              <a:off x="4751" y="667"/>
              <a:ext cx="580" cy="146"/>
              <a:chOff x="617" y="2567"/>
              <a:chExt cx="724" cy="140"/>
            </a:xfrm>
          </p:grpSpPr>
          <p:sp>
            <p:nvSpPr>
              <p:cNvPr id="612" name="Google Shape;612;p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3" name="Google Shape;613;p5"/>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14" name="Google Shape;614;p5"/>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15" name="Google Shape;615;p5"/>
            <p:cNvGrpSpPr/>
            <p:nvPr/>
          </p:nvGrpSpPr>
          <p:grpSpPr>
            <a:xfrm>
              <a:off x="4745" y="996"/>
              <a:ext cx="580" cy="134"/>
              <a:chOff x="612" y="2570"/>
              <a:chExt cx="724" cy="139"/>
            </a:xfrm>
          </p:grpSpPr>
          <p:sp>
            <p:nvSpPr>
              <p:cNvPr id="616" name="Google Shape;616;p5"/>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7" name="Google Shape;617;p5"/>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18" name="Google Shape;618;p5"/>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9" name="Google Shape;619;p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20" name="Google Shape;620;p5"/>
            <p:cNvGrpSpPr/>
            <p:nvPr/>
          </p:nvGrpSpPr>
          <p:grpSpPr>
            <a:xfrm>
              <a:off x="4733" y="1636"/>
              <a:ext cx="586" cy="140"/>
              <a:chOff x="611" y="2576"/>
              <a:chExt cx="730" cy="129"/>
            </a:xfrm>
          </p:grpSpPr>
          <p:sp>
            <p:nvSpPr>
              <p:cNvPr id="621" name="Google Shape;621;p5"/>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2" name="Google Shape;622;p5"/>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23" name="Google Shape;623;p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24" name="Google Shape;624;p5"/>
            <p:cNvGrpSpPr/>
            <p:nvPr/>
          </p:nvGrpSpPr>
          <p:grpSpPr>
            <a:xfrm>
              <a:off x="4739" y="1325"/>
              <a:ext cx="580" cy="140"/>
              <a:chOff x="614" y="2566"/>
              <a:chExt cx="723" cy="140"/>
            </a:xfrm>
          </p:grpSpPr>
          <p:sp>
            <p:nvSpPr>
              <p:cNvPr id="625" name="Google Shape;625;p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6" name="Google Shape;626;p5"/>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27" name="Google Shape;627;p5"/>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8" name="Google Shape;628;p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9" name="Google Shape;629;p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0" name="Google Shape;630;p5"/>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1" name="Google Shape;631;p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2" name="Google Shape;632;p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3" name="Google Shape;633;p5"/>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5"/>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5"/>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636" name="Google Shape;636;p5"/>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7" name="Google Shape;637;p5"/>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38" name="Google Shape;638;p5"/>
          <p:cNvSpPr txBox="1"/>
          <p:nvPr/>
        </p:nvSpPr>
        <p:spPr>
          <a:xfrm>
            <a:off x="5231672" y="1504912"/>
            <a:ext cx="6548848" cy="1573213"/>
          </a:xfrm>
          <a:prstGeom prst="rect">
            <a:avLst/>
          </a:prstGeom>
          <a:noFill/>
          <a:ln>
            <a:noFill/>
          </a:ln>
        </p:spPr>
        <p:txBody>
          <a:bodyPr anchorCtr="0" anchor="t" bIns="45700" lIns="91425" spcFirstLastPara="1" rIns="91425" wrap="square" tIns="45700">
            <a:noAutofit/>
          </a:bodyPr>
          <a:lstStyle/>
          <a:p>
            <a:pPr indent="-231775" lvl="0" marL="231775" marR="0" rtl="0" algn="l">
              <a:lnSpc>
                <a:spcPct val="80000"/>
              </a:lnSpc>
              <a:spcBef>
                <a:spcPts val="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DHCP server formulates </a:t>
            </a:r>
            <a:r>
              <a:rPr lang="en-US" sz="2800">
                <a:solidFill>
                  <a:srgbClr val="C00000"/>
                </a:solidFill>
                <a:latin typeface="Arial"/>
                <a:ea typeface="Arial"/>
                <a:cs typeface="Arial"/>
                <a:sym typeface="Arial"/>
              </a:rPr>
              <a:t>DHCP ACK </a:t>
            </a:r>
            <a:r>
              <a:rPr lang="en-US" sz="2800">
                <a:solidFill>
                  <a:schemeClr val="dk1"/>
                </a:solidFill>
                <a:latin typeface="Arial"/>
                <a:ea typeface="Arial"/>
                <a:cs typeface="Arial"/>
                <a:sym typeface="Arial"/>
              </a:rPr>
              <a:t>containing client’s IP address, IP address of first-hop router for client, name &amp; IP address of DNS server</a:t>
            </a:r>
            <a:endParaRPr/>
          </a:p>
          <a:p>
            <a:pPr indent="-165100" lvl="0" marL="342900" marR="0" rtl="0" algn="l">
              <a:lnSpc>
                <a:spcPct val="80000"/>
              </a:lnSpc>
              <a:spcBef>
                <a:spcPts val="560"/>
              </a:spcBef>
              <a:spcAft>
                <a:spcPts val="0"/>
              </a:spcAft>
              <a:buClr>
                <a:srgbClr val="000099"/>
              </a:buClr>
              <a:buSzPts val="2800"/>
              <a:buFont typeface="Noto Sans Symbols"/>
              <a:buNone/>
            </a:pPr>
            <a:r>
              <a:t/>
            </a:r>
            <a:endParaRPr sz="2800">
              <a:solidFill>
                <a:schemeClr val="dk1"/>
              </a:solidFill>
              <a:latin typeface="Arial"/>
              <a:ea typeface="Arial"/>
              <a:cs typeface="Arial"/>
              <a:sym typeface="Arial"/>
            </a:endParaRPr>
          </a:p>
        </p:txBody>
      </p:sp>
      <p:grpSp>
        <p:nvGrpSpPr>
          <p:cNvPr id="639" name="Google Shape;639;p5"/>
          <p:cNvGrpSpPr/>
          <p:nvPr/>
        </p:nvGrpSpPr>
        <p:grpSpPr>
          <a:xfrm>
            <a:off x="379319" y="3300692"/>
            <a:ext cx="1081088" cy="1166813"/>
            <a:chOff x="42" y="744"/>
            <a:chExt cx="681" cy="735"/>
          </a:xfrm>
        </p:grpSpPr>
        <p:grpSp>
          <p:nvGrpSpPr>
            <p:cNvPr id="640" name="Google Shape;640;p5"/>
            <p:cNvGrpSpPr/>
            <p:nvPr/>
          </p:nvGrpSpPr>
          <p:grpSpPr>
            <a:xfrm>
              <a:off x="42" y="886"/>
              <a:ext cx="681" cy="468"/>
              <a:chOff x="42" y="886"/>
              <a:chExt cx="681" cy="468"/>
            </a:xfrm>
          </p:grpSpPr>
          <p:grpSp>
            <p:nvGrpSpPr>
              <p:cNvPr id="641" name="Google Shape;641;p5"/>
              <p:cNvGrpSpPr/>
              <p:nvPr/>
            </p:nvGrpSpPr>
            <p:grpSpPr>
              <a:xfrm>
                <a:off x="278" y="886"/>
                <a:ext cx="397" cy="154"/>
                <a:chOff x="740" y="3209"/>
                <a:chExt cx="397" cy="154"/>
              </a:xfrm>
            </p:grpSpPr>
            <p:grpSp>
              <p:nvGrpSpPr>
                <p:cNvPr id="642" name="Google Shape;642;p5"/>
                <p:cNvGrpSpPr/>
                <p:nvPr/>
              </p:nvGrpSpPr>
              <p:grpSpPr>
                <a:xfrm>
                  <a:off x="794" y="3209"/>
                  <a:ext cx="343" cy="154"/>
                  <a:chOff x="844" y="3337"/>
                  <a:chExt cx="343" cy="154"/>
                </a:xfrm>
              </p:grpSpPr>
              <p:sp>
                <p:nvSpPr>
                  <p:cNvPr id="643" name="Google Shape;643;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4" name="Google Shape;644;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645" name="Google Shape;645;p5"/>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6" name="Google Shape;646;p5"/>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47" name="Google Shape;647;p5"/>
              <p:cNvGrpSpPr/>
              <p:nvPr/>
            </p:nvGrpSpPr>
            <p:grpSpPr>
              <a:xfrm>
                <a:off x="278" y="1034"/>
                <a:ext cx="397" cy="154"/>
                <a:chOff x="836" y="3305"/>
                <a:chExt cx="397" cy="154"/>
              </a:xfrm>
            </p:grpSpPr>
            <p:grpSp>
              <p:nvGrpSpPr>
                <p:cNvPr id="648" name="Google Shape;648;p5"/>
                <p:cNvGrpSpPr/>
                <p:nvPr/>
              </p:nvGrpSpPr>
              <p:grpSpPr>
                <a:xfrm>
                  <a:off x="890" y="3305"/>
                  <a:ext cx="343" cy="154"/>
                  <a:chOff x="844" y="3337"/>
                  <a:chExt cx="343" cy="154"/>
                </a:xfrm>
              </p:grpSpPr>
              <p:sp>
                <p:nvSpPr>
                  <p:cNvPr id="649" name="Google Shape;649;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0" name="Google Shape;650;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651" name="Google Shape;651;p5"/>
                <p:cNvGrpSpPr/>
                <p:nvPr/>
              </p:nvGrpSpPr>
              <p:grpSpPr>
                <a:xfrm>
                  <a:off x="836" y="3334"/>
                  <a:ext cx="354" cy="94"/>
                  <a:chOff x="836" y="3334"/>
                  <a:chExt cx="354" cy="94"/>
                </a:xfrm>
              </p:grpSpPr>
              <p:sp>
                <p:nvSpPr>
                  <p:cNvPr id="652" name="Google Shape;652;p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3" name="Google Shape;653;p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654" name="Google Shape;654;p5"/>
              <p:cNvGrpSpPr/>
              <p:nvPr/>
            </p:nvGrpSpPr>
            <p:grpSpPr>
              <a:xfrm>
                <a:off x="165" y="1054"/>
                <a:ext cx="480" cy="112"/>
                <a:chOff x="627" y="3377"/>
                <a:chExt cx="480" cy="112"/>
              </a:xfrm>
            </p:grpSpPr>
            <p:sp>
              <p:nvSpPr>
                <p:cNvPr id="655" name="Google Shape;655;p5"/>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6" name="Google Shape;656;p5"/>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57" name="Google Shape;657;p5"/>
              <p:cNvGrpSpPr/>
              <p:nvPr/>
            </p:nvGrpSpPr>
            <p:grpSpPr>
              <a:xfrm>
                <a:off x="42" y="1200"/>
                <a:ext cx="681" cy="154"/>
                <a:chOff x="504" y="3523"/>
                <a:chExt cx="681" cy="154"/>
              </a:xfrm>
            </p:grpSpPr>
            <p:grpSp>
              <p:nvGrpSpPr>
                <p:cNvPr id="658" name="Google Shape;658;p5"/>
                <p:cNvGrpSpPr/>
                <p:nvPr/>
              </p:nvGrpSpPr>
              <p:grpSpPr>
                <a:xfrm>
                  <a:off x="623" y="3523"/>
                  <a:ext cx="510" cy="154"/>
                  <a:chOff x="723" y="3453"/>
                  <a:chExt cx="510" cy="154"/>
                </a:xfrm>
              </p:grpSpPr>
              <p:grpSp>
                <p:nvGrpSpPr>
                  <p:cNvPr id="659" name="Google Shape;659;p5"/>
                  <p:cNvGrpSpPr/>
                  <p:nvPr/>
                </p:nvGrpSpPr>
                <p:grpSpPr>
                  <a:xfrm>
                    <a:off x="836" y="3453"/>
                    <a:ext cx="397" cy="154"/>
                    <a:chOff x="836" y="3305"/>
                    <a:chExt cx="397" cy="154"/>
                  </a:xfrm>
                </p:grpSpPr>
                <p:grpSp>
                  <p:nvGrpSpPr>
                    <p:cNvPr id="660" name="Google Shape;660;p5"/>
                    <p:cNvGrpSpPr/>
                    <p:nvPr/>
                  </p:nvGrpSpPr>
                  <p:grpSpPr>
                    <a:xfrm>
                      <a:off x="890" y="3305"/>
                      <a:ext cx="343" cy="154"/>
                      <a:chOff x="844" y="3337"/>
                      <a:chExt cx="343" cy="154"/>
                    </a:xfrm>
                  </p:grpSpPr>
                  <p:sp>
                    <p:nvSpPr>
                      <p:cNvPr id="661" name="Google Shape;661;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2" name="Google Shape;662;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663" name="Google Shape;663;p5"/>
                    <p:cNvGrpSpPr/>
                    <p:nvPr/>
                  </p:nvGrpSpPr>
                  <p:grpSpPr>
                    <a:xfrm>
                      <a:off x="836" y="3334"/>
                      <a:ext cx="354" cy="94"/>
                      <a:chOff x="836" y="3334"/>
                      <a:chExt cx="354" cy="94"/>
                    </a:xfrm>
                  </p:grpSpPr>
                  <p:sp>
                    <p:nvSpPr>
                      <p:cNvPr id="664" name="Google Shape;664;p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5" name="Google Shape;665;p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666" name="Google Shape;666;p5"/>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7" name="Google Shape;667;p5"/>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68" name="Google Shape;668;p5"/>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9" name="Google Shape;669;p5"/>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0" name="Google Shape;670;p5"/>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671" name="Google Shape;671;p5"/>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72" name="Google Shape;672;p5"/>
          <p:cNvGrpSpPr/>
          <p:nvPr/>
        </p:nvGrpSpPr>
        <p:grpSpPr>
          <a:xfrm>
            <a:off x="476157" y="4386542"/>
            <a:ext cx="1081087" cy="244475"/>
            <a:chOff x="504" y="3523"/>
            <a:chExt cx="681" cy="154"/>
          </a:xfrm>
        </p:grpSpPr>
        <p:grpSp>
          <p:nvGrpSpPr>
            <p:cNvPr id="673" name="Google Shape;673;p5"/>
            <p:cNvGrpSpPr/>
            <p:nvPr/>
          </p:nvGrpSpPr>
          <p:grpSpPr>
            <a:xfrm>
              <a:off x="623" y="3523"/>
              <a:ext cx="510" cy="154"/>
              <a:chOff x="723" y="3453"/>
              <a:chExt cx="510" cy="154"/>
            </a:xfrm>
          </p:grpSpPr>
          <p:grpSp>
            <p:nvGrpSpPr>
              <p:cNvPr id="674" name="Google Shape;674;p5"/>
              <p:cNvGrpSpPr/>
              <p:nvPr/>
            </p:nvGrpSpPr>
            <p:grpSpPr>
              <a:xfrm>
                <a:off x="836" y="3453"/>
                <a:ext cx="397" cy="154"/>
                <a:chOff x="836" y="3305"/>
                <a:chExt cx="397" cy="154"/>
              </a:xfrm>
            </p:grpSpPr>
            <p:grpSp>
              <p:nvGrpSpPr>
                <p:cNvPr id="675" name="Google Shape;675;p5"/>
                <p:cNvGrpSpPr/>
                <p:nvPr/>
              </p:nvGrpSpPr>
              <p:grpSpPr>
                <a:xfrm>
                  <a:off x="890" y="3305"/>
                  <a:ext cx="343" cy="154"/>
                  <a:chOff x="844" y="3337"/>
                  <a:chExt cx="343" cy="154"/>
                </a:xfrm>
              </p:grpSpPr>
              <p:sp>
                <p:nvSpPr>
                  <p:cNvPr id="676" name="Google Shape;676;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7" name="Google Shape;677;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678" name="Google Shape;678;p5"/>
                <p:cNvGrpSpPr/>
                <p:nvPr/>
              </p:nvGrpSpPr>
              <p:grpSpPr>
                <a:xfrm>
                  <a:off x="836" y="3334"/>
                  <a:ext cx="354" cy="94"/>
                  <a:chOff x="836" y="3334"/>
                  <a:chExt cx="354" cy="94"/>
                </a:xfrm>
              </p:grpSpPr>
              <p:sp>
                <p:nvSpPr>
                  <p:cNvPr id="679" name="Google Shape;679;p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0" name="Google Shape;680;p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681" name="Google Shape;681;p5"/>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2" name="Google Shape;682;p5"/>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83" name="Google Shape;683;p5"/>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4" name="Google Shape;684;p5"/>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5" name="Google Shape;685;p5"/>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86" name="Google Shape;686;p5"/>
          <p:cNvGrpSpPr/>
          <p:nvPr/>
        </p:nvGrpSpPr>
        <p:grpSpPr>
          <a:xfrm>
            <a:off x="179014" y="1480949"/>
            <a:ext cx="1081087" cy="1217612"/>
            <a:chOff x="1404" y="3105"/>
            <a:chExt cx="681" cy="767"/>
          </a:xfrm>
        </p:grpSpPr>
        <p:grpSp>
          <p:nvGrpSpPr>
            <p:cNvPr id="687" name="Google Shape;687;p5"/>
            <p:cNvGrpSpPr/>
            <p:nvPr/>
          </p:nvGrpSpPr>
          <p:grpSpPr>
            <a:xfrm>
              <a:off x="1404" y="3355"/>
              <a:ext cx="681" cy="468"/>
              <a:chOff x="42" y="886"/>
              <a:chExt cx="681" cy="468"/>
            </a:xfrm>
          </p:grpSpPr>
          <p:grpSp>
            <p:nvGrpSpPr>
              <p:cNvPr id="688" name="Google Shape;688;p5"/>
              <p:cNvGrpSpPr/>
              <p:nvPr/>
            </p:nvGrpSpPr>
            <p:grpSpPr>
              <a:xfrm>
                <a:off x="278" y="886"/>
                <a:ext cx="397" cy="154"/>
                <a:chOff x="740" y="3209"/>
                <a:chExt cx="397" cy="154"/>
              </a:xfrm>
            </p:grpSpPr>
            <p:grpSp>
              <p:nvGrpSpPr>
                <p:cNvPr id="689" name="Google Shape;689;p5"/>
                <p:cNvGrpSpPr/>
                <p:nvPr/>
              </p:nvGrpSpPr>
              <p:grpSpPr>
                <a:xfrm>
                  <a:off x="794" y="3209"/>
                  <a:ext cx="343" cy="154"/>
                  <a:chOff x="844" y="3337"/>
                  <a:chExt cx="343" cy="154"/>
                </a:xfrm>
              </p:grpSpPr>
              <p:sp>
                <p:nvSpPr>
                  <p:cNvPr id="690" name="Google Shape;690;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1" name="Google Shape;691;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692" name="Google Shape;692;p5"/>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3" name="Google Shape;693;p5"/>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94" name="Google Shape;694;p5"/>
              <p:cNvGrpSpPr/>
              <p:nvPr/>
            </p:nvGrpSpPr>
            <p:grpSpPr>
              <a:xfrm>
                <a:off x="278" y="1034"/>
                <a:ext cx="397" cy="154"/>
                <a:chOff x="836" y="3305"/>
                <a:chExt cx="397" cy="154"/>
              </a:xfrm>
            </p:grpSpPr>
            <p:grpSp>
              <p:nvGrpSpPr>
                <p:cNvPr id="695" name="Google Shape;695;p5"/>
                <p:cNvGrpSpPr/>
                <p:nvPr/>
              </p:nvGrpSpPr>
              <p:grpSpPr>
                <a:xfrm>
                  <a:off x="890" y="3305"/>
                  <a:ext cx="343" cy="154"/>
                  <a:chOff x="844" y="3337"/>
                  <a:chExt cx="343" cy="154"/>
                </a:xfrm>
              </p:grpSpPr>
              <p:sp>
                <p:nvSpPr>
                  <p:cNvPr id="696" name="Google Shape;696;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7" name="Google Shape;697;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698" name="Google Shape;698;p5"/>
                <p:cNvGrpSpPr/>
                <p:nvPr/>
              </p:nvGrpSpPr>
              <p:grpSpPr>
                <a:xfrm>
                  <a:off x="836" y="3334"/>
                  <a:ext cx="354" cy="94"/>
                  <a:chOff x="836" y="3334"/>
                  <a:chExt cx="354" cy="94"/>
                </a:xfrm>
              </p:grpSpPr>
              <p:sp>
                <p:nvSpPr>
                  <p:cNvPr id="699" name="Google Shape;699;p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0" name="Google Shape;700;p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701" name="Google Shape;701;p5"/>
              <p:cNvGrpSpPr/>
              <p:nvPr/>
            </p:nvGrpSpPr>
            <p:grpSpPr>
              <a:xfrm>
                <a:off x="165" y="1054"/>
                <a:ext cx="480" cy="112"/>
                <a:chOff x="627" y="3377"/>
                <a:chExt cx="480" cy="112"/>
              </a:xfrm>
            </p:grpSpPr>
            <p:sp>
              <p:nvSpPr>
                <p:cNvPr id="702" name="Google Shape;702;p5"/>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3" name="Google Shape;703;p5"/>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04" name="Google Shape;704;p5"/>
              <p:cNvGrpSpPr/>
              <p:nvPr/>
            </p:nvGrpSpPr>
            <p:grpSpPr>
              <a:xfrm>
                <a:off x="42" y="1200"/>
                <a:ext cx="681" cy="154"/>
                <a:chOff x="504" y="3523"/>
                <a:chExt cx="681" cy="154"/>
              </a:xfrm>
            </p:grpSpPr>
            <p:grpSp>
              <p:nvGrpSpPr>
                <p:cNvPr id="705" name="Google Shape;705;p5"/>
                <p:cNvGrpSpPr/>
                <p:nvPr/>
              </p:nvGrpSpPr>
              <p:grpSpPr>
                <a:xfrm>
                  <a:off x="623" y="3523"/>
                  <a:ext cx="510" cy="154"/>
                  <a:chOff x="723" y="3453"/>
                  <a:chExt cx="510" cy="154"/>
                </a:xfrm>
              </p:grpSpPr>
              <p:grpSp>
                <p:nvGrpSpPr>
                  <p:cNvPr id="706" name="Google Shape;706;p5"/>
                  <p:cNvGrpSpPr/>
                  <p:nvPr/>
                </p:nvGrpSpPr>
                <p:grpSpPr>
                  <a:xfrm>
                    <a:off x="836" y="3453"/>
                    <a:ext cx="397" cy="154"/>
                    <a:chOff x="836" y="3305"/>
                    <a:chExt cx="397" cy="154"/>
                  </a:xfrm>
                </p:grpSpPr>
                <p:grpSp>
                  <p:nvGrpSpPr>
                    <p:cNvPr id="707" name="Google Shape;707;p5"/>
                    <p:cNvGrpSpPr/>
                    <p:nvPr/>
                  </p:nvGrpSpPr>
                  <p:grpSpPr>
                    <a:xfrm>
                      <a:off x="890" y="3305"/>
                      <a:ext cx="343" cy="154"/>
                      <a:chOff x="844" y="3337"/>
                      <a:chExt cx="343" cy="154"/>
                    </a:xfrm>
                  </p:grpSpPr>
                  <p:sp>
                    <p:nvSpPr>
                      <p:cNvPr id="708" name="Google Shape;708;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9" name="Google Shape;709;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710" name="Google Shape;710;p5"/>
                    <p:cNvGrpSpPr/>
                    <p:nvPr/>
                  </p:nvGrpSpPr>
                  <p:grpSpPr>
                    <a:xfrm>
                      <a:off x="836" y="3334"/>
                      <a:ext cx="354" cy="94"/>
                      <a:chOff x="836" y="3334"/>
                      <a:chExt cx="354" cy="94"/>
                    </a:xfrm>
                  </p:grpSpPr>
                  <p:sp>
                    <p:nvSpPr>
                      <p:cNvPr id="711" name="Google Shape;711;p5"/>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2" name="Google Shape;712;p5"/>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713" name="Google Shape;713;p5"/>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5"/>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15" name="Google Shape;715;p5"/>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6" name="Google Shape;716;p5"/>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7" name="Google Shape;717;p5"/>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718" name="Google Shape;718;p5"/>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19" name="Google Shape;719;p5"/>
            <p:cNvGrpSpPr/>
            <p:nvPr/>
          </p:nvGrpSpPr>
          <p:grpSpPr>
            <a:xfrm>
              <a:off x="1695" y="3227"/>
              <a:ext cx="343" cy="154"/>
              <a:chOff x="844" y="3337"/>
              <a:chExt cx="343" cy="154"/>
            </a:xfrm>
          </p:grpSpPr>
          <p:sp>
            <p:nvSpPr>
              <p:cNvPr id="720" name="Google Shape;720;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1" name="Google Shape;721;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grpSp>
        <p:nvGrpSpPr>
          <p:cNvPr id="722" name="Google Shape;722;p5"/>
          <p:cNvGrpSpPr/>
          <p:nvPr/>
        </p:nvGrpSpPr>
        <p:grpSpPr>
          <a:xfrm>
            <a:off x="830169" y="3326092"/>
            <a:ext cx="544513" cy="244475"/>
            <a:chOff x="844" y="3337"/>
            <a:chExt cx="343" cy="154"/>
          </a:xfrm>
        </p:grpSpPr>
        <p:sp>
          <p:nvSpPr>
            <p:cNvPr id="723" name="Google Shape;723;p5"/>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4" name="Google Shape;724;p5"/>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725" name="Google Shape;725;p5"/>
          <p:cNvSpPr/>
          <p:nvPr/>
        </p:nvSpPr>
        <p:spPr>
          <a:xfrm>
            <a:off x="5207223" y="3162580"/>
            <a:ext cx="6530667" cy="1362075"/>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encapsulation at DHCP server, frame forwarded (</a:t>
            </a:r>
            <a:r>
              <a:rPr lang="en-US" sz="2800">
                <a:solidFill>
                  <a:srgbClr val="C00000"/>
                </a:solidFill>
                <a:latin typeface="Arial"/>
                <a:ea typeface="Arial"/>
                <a:cs typeface="Arial"/>
                <a:sym typeface="Arial"/>
              </a:rPr>
              <a:t>switch learning</a:t>
            </a:r>
            <a:r>
              <a:rPr lang="en-US" sz="2800">
                <a:solidFill>
                  <a:srgbClr val="000000"/>
                </a:solidFill>
                <a:latin typeface="Arial"/>
                <a:ea typeface="Arial"/>
                <a:cs typeface="Arial"/>
                <a:sym typeface="Arial"/>
              </a:rPr>
              <a:t>) through LAN, demultiplexing at client</a:t>
            </a:r>
            <a:endParaRPr/>
          </a:p>
          <a:p>
            <a:pPr indent="-243840" lvl="0" marL="342900" marR="0" rtl="0" algn="l">
              <a:lnSpc>
                <a:spcPct val="90000"/>
              </a:lnSpc>
              <a:spcBef>
                <a:spcPts val="480"/>
              </a:spcBef>
              <a:spcAft>
                <a:spcPts val="0"/>
              </a:spcAft>
              <a:buClr>
                <a:srgbClr val="000099"/>
              </a:buClr>
              <a:buSzPts val="1560"/>
              <a:buFont typeface="Noto Sans Symbols"/>
              <a:buNone/>
            </a:pPr>
            <a:r>
              <a:t/>
            </a:r>
            <a:endParaRPr sz="2400">
              <a:solidFill>
                <a:srgbClr val="000000"/>
              </a:solidFill>
              <a:latin typeface="Arial"/>
              <a:ea typeface="Arial"/>
              <a:cs typeface="Arial"/>
              <a:sym typeface="Arial"/>
            </a:endParaRPr>
          </a:p>
        </p:txBody>
      </p:sp>
      <p:sp>
        <p:nvSpPr>
          <p:cNvPr id="726" name="Google Shape;726;p5"/>
          <p:cNvSpPr txBox="1"/>
          <p:nvPr/>
        </p:nvSpPr>
        <p:spPr>
          <a:xfrm>
            <a:off x="1998687" y="5515572"/>
            <a:ext cx="8110939"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800">
                <a:solidFill>
                  <a:srgbClr val="0000A8"/>
                </a:solidFill>
                <a:latin typeface="Arial"/>
                <a:ea typeface="Arial"/>
                <a:cs typeface="Arial"/>
                <a:sym typeface="Arial"/>
              </a:rPr>
              <a:t>Client now has IP address, knows name &amp; addr of DNS </a:t>
            </a:r>
            <a:endParaRPr/>
          </a:p>
          <a:p>
            <a:pPr indent="0" lvl="0" marL="0" marR="0" rtl="0" algn="ctr">
              <a:spcBef>
                <a:spcPts val="0"/>
              </a:spcBef>
              <a:spcAft>
                <a:spcPts val="0"/>
              </a:spcAft>
              <a:buNone/>
            </a:pPr>
            <a:r>
              <a:rPr i="1" lang="en-US" sz="2800">
                <a:solidFill>
                  <a:srgbClr val="0000A8"/>
                </a:solidFill>
                <a:latin typeface="Arial"/>
                <a:ea typeface="Arial"/>
                <a:cs typeface="Arial"/>
                <a:sym typeface="Arial"/>
              </a:rPr>
              <a:t>server, IP address of its first-hop router</a:t>
            </a:r>
            <a:endParaRPr/>
          </a:p>
        </p:txBody>
      </p:sp>
      <p:sp>
        <p:nvSpPr>
          <p:cNvPr id="727" name="Google Shape;727;p5"/>
          <p:cNvSpPr/>
          <p:nvPr/>
        </p:nvSpPr>
        <p:spPr>
          <a:xfrm>
            <a:off x="5229766" y="4655782"/>
            <a:ext cx="6530666" cy="733425"/>
          </a:xfrm>
          <a:prstGeom prst="rect">
            <a:avLst/>
          </a:prstGeom>
          <a:noFill/>
          <a:ln>
            <a:noFill/>
          </a:ln>
        </p:spPr>
        <p:txBody>
          <a:bodyPr anchorCtr="0" anchor="t" bIns="45700" lIns="91425" spcFirstLastPara="1" rIns="91425" wrap="square" tIns="45700">
            <a:noAutofit/>
          </a:bodyPr>
          <a:lstStyle/>
          <a:p>
            <a:pPr indent="-231775" lvl="0" marL="231775"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DHCP client receives DHCP ACK reply</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2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638">
                                            <p:txEl>
                                              <p:pRg end="0" st="0"/>
                                            </p:txEl>
                                          </p:spTgt>
                                        </p:tgtEl>
                                        <p:attrNameLst>
                                          <p:attrName>style.visibility</p:attrName>
                                        </p:attrNameLst>
                                      </p:cBhvr>
                                      <p:to>
                                        <p:strVal val="visible"/>
                                      </p:to>
                                    </p:set>
                                    <p:animEffect filter="fade" transition="in">
                                      <p:cBhvr>
                                        <p:cTn dur="500"/>
                                        <p:tgtEl>
                                          <p:spTgt spid="63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638">
                                            <p:txEl>
                                              <p:pRg end="1" st="1"/>
                                            </p:txEl>
                                          </p:spTgt>
                                        </p:tgtEl>
                                        <p:attrNameLst>
                                          <p:attrName>style.visibility</p:attrName>
                                        </p:attrNameLst>
                                      </p:cBhvr>
                                      <p:to>
                                        <p:strVal val="visible"/>
                                      </p:to>
                                    </p:set>
                                    <p:animEffect filter="fade" transition="in">
                                      <p:cBhvr>
                                        <p:cTn dur="500"/>
                                        <p:tgtEl>
                                          <p:spTgt spid="6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par>
                                <p:cTn fill="hold" nodeType="withEffect" presetClass="entr" presetID="10" presetSubtype="0">
                                  <p:stCondLst>
                                    <p:cond delay="0"/>
                                  </p:stCondLst>
                                  <p:childTnLst>
                                    <p:set>
                                      <p:cBhvr>
                                        <p:cTn dur="1" fill="hold">
                                          <p:stCondLst>
                                            <p:cond delay="0"/>
                                          </p:stCondLst>
                                        </p:cTn>
                                        <p:tgtEl>
                                          <p:spTgt spid="725">
                                            <p:txEl>
                                              <p:pRg end="0" st="0"/>
                                            </p:txEl>
                                          </p:spTgt>
                                        </p:tgtEl>
                                        <p:attrNameLst>
                                          <p:attrName>style.visibility</p:attrName>
                                        </p:attrNameLst>
                                      </p:cBhvr>
                                      <p:to>
                                        <p:strVal val="visible"/>
                                      </p:to>
                                    </p:set>
                                    <p:animEffect filter="fade" transition="in">
                                      <p:cBhvr>
                                        <p:cTn dur="500"/>
                                        <p:tgtEl>
                                          <p:spTgt spid="72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25">
                                            <p:txEl>
                                              <p:pRg end="1" st="1"/>
                                            </p:txEl>
                                          </p:spTgt>
                                        </p:tgtEl>
                                        <p:attrNameLst>
                                          <p:attrName>style.visibility</p:attrName>
                                        </p:attrNameLst>
                                      </p:cBhvr>
                                      <p:to>
                                        <p:strVal val="visible"/>
                                      </p:to>
                                    </p:set>
                                    <p:animEffect filter="fade" transition="in">
                                      <p:cBhvr>
                                        <p:cTn dur="500"/>
                                        <p:tgtEl>
                                          <p:spTgt spid="725">
                                            <p:txEl>
                                              <p:pRg end="1" st="1"/>
                                            </p:txEl>
                                          </p:spTgt>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par>
                                <p:cTn fill="hold" nodeType="withEffect" presetClass="exit" presetID="1" presetSubtype="0">
                                  <p:stCondLst>
                                    <p:cond delay="0"/>
                                  </p:stCondLst>
                                  <p:childTnLst>
                                    <p:set>
                                      <p:cBhvr>
                                        <p:cTn dur="1" fill="hold">
                                          <p:stCondLst>
                                            <p:cond delay="1"/>
                                          </p:stCondLst>
                                        </p:cTn>
                                        <p:tgtEl>
                                          <p:spTgt spid="72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639"/>
                                        </p:tgtEl>
                                        <p:attrNameLst>
                                          <p:attrName>style.visibility</p:attrName>
                                        </p:attrNameLst>
                                      </p:cBhvr>
                                      <p:to>
                                        <p:strVal val="hidden"/>
                                      </p:to>
                                    </p:se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1000"/>
                                        <p:tgtEl>
                                          <p:spTgt spid="686"/>
                                        </p:tgtEl>
                                      </p:cBhvr>
                                    </p:animEffect>
                                  </p:childTnLst>
                                </p:cTn>
                              </p:par>
                              <p:par>
                                <p:cTn fill="hold" nodeType="withEffect" presetClass="exit" presetID="1" presetSubtype="0">
                                  <p:stCondLst>
                                    <p:cond delay="0"/>
                                  </p:stCondLst>
                                  <p:childTnLst>
                                    <p:set>
                                      <p:cBhvr>
                                        <p:cTn dur="1" fill="hold">
                                          <p:stCondLst>
                                            <p:cond delay="1"/>
                                          </p:stCondLst>
                                        </p:cTn>
                                        <p:tgtEl>
                                          <p:spTgt spid="672"/>
                                        </p:tgtEl>
                                        <p:attrNameLst>
                                          <p:attrName>style.visibility</p:attrName>
                                        </p:attrNameLst>
                                      </p:cBhvr>
                                      <p:to>
                                        <p:strVal val="hidden"/>
                                      </p:to>
                                    </p:set>
                                  </p:childTnLst>
                                </p:cTn>
                              </p:par>
                            </p:childTnLst>
                          </p:cTn>
                        </p:par>
                        <p:par>
                          <p:cTn fill="hold">
                            <p:stCondLst>
                              <p:cond delay="2001"/>
                            </p:stCondLst>
                            <p:childTnLst>
                              <p:par>
                                <p:cTn fill="hold" nodeType="after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500"/>
                                        <p:tgtEl>
                                          <p:spTgt spid="726"/>
                                        </p:tgtEl>
                                      </p:cBhvr>
                                    </p:animEffect>
                                  </p:childTnLst>
                                </p:cTn>
                              </p:par>
                              <p:par>
                                <p:cTn fill="hold" nodeType="withEffect" presetClass="entr" presetID="10" presetSubtype="0">
                                  <p:stCondLst>
                                    <p:cond delay="0"/>
                                  </p:stCondLst>
                                  <p:childTnLst>
                                    <p:set>
                                      <p:cBhvr>
                                        <p:cTn dur="1" fill="hold">
                                          <p:stCondLst>
                                            <p:cond delay="0"/>
                                          </p:stCondLst>
                                        </p:cTn>
                                        <p:tgtEl>
                                          <p:spTgt spid="727">
                                            <p:txEl>
                                              <p:pRg end="0" st="0"/>
                                            </p:txEl>
                                          </p:spTgt>
                                        </p:tgtEl>
                                        <p:attrNameLst>
                                          <p:attrName>style.visibility</p:attrName>
                                        </p:attrNameLst>
                                      </p:cBhvr>
                                      <p:to>
                                        <p:strVal val="visible"/>
                                      </p:to>
                                    </p:set>
                                    <p:animEffect filter="fade" transition="in">
                                      <p:cBhvr>
                                        <p:cTn dur="500"/>
                                        <p:tgtEl>
                                          <p:spTgt spid="72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6"/>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sz="4900"/>
              <a:t>A day in the life… ARP  </a:t>
            </a:r>
            <a:r>
              <a:rPr lang="en-US" sz="4000"/>
              <a:t>(before DNS, before HTTP)</a:t>
            </a:r>
            <a:endParaRPr/>
          </a:p>
        </p:txBody>
      </p:sp>
      <p:sp>
        <p:nvSpPr>
          <p:cNvPr id="733" name="Google Shape;733;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Link Layer: 6-</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
        <p:nvSpPr>
          <p:cNvPr id="734" name="Google Shape;734;p6"/>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35" name="Google Shape;735;p6"/>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736" name="Google Shape;736;p6"/>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737" name="Google Shape;737;p6"/>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738" name="Google Shape;738;p6"/>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cxnSp>
        <p:nvCxnSpPr>
          <p:cNvPr id="739" name="Google Shape;739;p6"/>
          <p:cNvCxnSpPr/>
          <p:nvPr/>
        </p:nvCxnSpPr>
        <p:spPr>
          <a:xfrm flipH="1" rot="10800000">
            <a:off x="3670020" y="4087905"/>
            <a:ext cx="512015" cy="181161"/>
          </a:xfrm>
          <a:prstGeom prst="straightConnector1">
            <a:avLst/>
          </a:prstGeom>
          <a:noFill/>
          <a:ln cap="flat" cmpd="sng" w="9525">
            <a:solidFill>
              <a:srgbClr val="000000"/>
            </a:solidFill>
            <a:prstDash val="solid"/>
            <a:round/>
            <a:headEnd len="med" w="med" type="none"/>
            <a:tailEnd len="med" w="med" type="none"/>
          </a:ln>
        </p:spPr>
      </p:cxnSp>
      <p:grpSp>
        <p:nvGrpSpPr>
          <p:cNvPr id="740" name="Google Shape;740;p6"/>
          <p:cNvGrpSpPr/>
          <p:nvPr/>
        </p:nvGrpSpPr>
        <p:grpSpPr>
          <a:xfrm>
            <a:off x="3087416" y="2965438"/>
            <a:ext cx="960147" cy="436668"/>
            <a:chOff x="3668110" y="2448910"/>
            <a:chExt cx="3794234" cy="2165130"/>
          </a:xfrm>
        </p:grpSpPr>
        <p:sp>
          <p:nvSpPr>
            <p:cNvPr id="741" name="Google Shape;741;p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42" name="Google Shape;742;p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743" name="Google Shape;743;p6"/>
            <p:cNvGrpSpPr/>
            <p:nvPr/>
          </p:nvGrpSpPr>
          <p:grpSpPr>
            <a:xfrm>
              <a:off x="3941378" y="2603243"/>
              <a:ext cx="3202061" cy="1066110"/>
              <a:chOff x="7939341" y="3037317"/>
              <a:chExt cx="897649" cy="353919"/>
            </a:xfrm>
          </p:grpSpPr>
          <p:sp>
            <p:nvSpPr>
              <p:cNvPr id="744" name="Google Shape;744;p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45" name="Google Shape;745;p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46" name="Google Shape;746;p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47" name="Google Shape;747;p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748" name="Google Shape;748;p6"/>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749" name="Google Shape;749;p6"/>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750" name="Google Shape;750;p6"/>
          <p:cNvGrpSpPr/>
          <p:nvPr/>
        </p:nvGrpSpPr>
        <p:grpSpPr>
          <a:xfrm>
            <a:off x="1946552" y="2678242"/>
            <a:ext cx="913139" cy="665131"/>
            <a:chOff x="7455987" y="2414528"/>
            <a:chExt cx="511700" cy="327647"/>
          </a:xfrm>
        </p:grpSpPr>
        <p:pic>
          <p:nvPicPr>
            <p:cNvPr descr="laptop_keyboard" id="751" name="Google Shape;751;p6"/>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752" name="Google Shape;752;p6"/>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753" name="Google Shape;753;p6"/>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754" name="Google Shape;754;p6"/>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5" name="Google Shape;755;p6"/>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6" name="Google Shape;756;p6"/>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7" name="Google Shape;757;p6"/>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8" name="Google Shape;758;p6"/>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9" name="Google Shape;759;p6"/>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60" name="Google Shape;760;p6"/>
            <p:cNvGrpSpPr/>
            <p:nvPr/>
          </p:nvGrpSpPr>
          <p:grpSpPr>
            <a:xfrm>
              <a:off x="7594735" y="2642220"/>
              <a:ext cx="98740" cy="36846"/>
              <a:chOff x="1740" y="2642"/>
              <a:chExt cx="752" cy="327"/>
            </a:xfrm>
          </p:grpSpPr>
          <p:sp>
            <p:nvSpPr>
              <p:cNvPr id="761" name="Google Shape;761;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2" name="Google Shape;762;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3" name="Google Shape;763;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4" name="Google Shape;764;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5" name="Google Shape;765;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6" name="Google Shape;766;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67" name="Google Shape;767;p6"/>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8" name="Google Shape;768;p6"/>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9" name="Google Shape;769;p6"/>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0" name="Google Shape;770;p6"/>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1" name="Google Shape;771;p6"/>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2" name="Google Shape;772;p6"/>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73" name="Google Shape;773;p6"/>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774" name="Google Shape;774;p6"/>
          <p:cNvGrpSpPr/>
          <p:nvPr/>
        </p:nvGrpSpPr>
        <p:grpSpPr>
          <a:xfrm>
            <a:off x="2647027" y="4019872"/>
            <a:ext cx="853832" cy="472456"/>
            <a:chOff x="7493876" y="2774731"/>
            <a:chExt cx="1481958" cy="894622"/>
          </a:xfrm>
        </p:grpSpPr>
        <p:sp>
          <p:nvSpPr>
            <p:cNvPr id="775" name="Google Shape;775;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76" name="Google Shape;776;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77" name="Google Shape;777;p6"/>
            <p:cNvGrpSpPr/>
            <p:nvPr/>
          </p:nvGrpSpPr>
          <p:grpSpPr>
            <a:xfrm>
              <a:off x="7713663" y="2848339"/>
              <a:ext cx="1042107" cy="425543"/>
              <a:chOff x="7786941" y="2884917"/>
              <a:chExt cx="897649" cy="353919"/>
            </a:xfrm>
          </p:grpSpPr>
          <p:sp>
            <p:nvSpPr>
              <p:cNvPr id="778" name="Google Shape;778;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79" name="Google Shape;779;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80" name="Google Shape;780;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81" name="Google Shape;781;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782" name="Google Shape;782;p6"/>
          <p:cNvSpPr txBox="1"/>
          <p:nvPr/>
        </p:nvSpPr>
        <p:spPr>
          <a:xfrm>
            <a:off x="2528047" y="4464423"/>
            <a:ext cx="1202765"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router has </a:t>
            </a:r>
            <a:endParaRPr/>
          </a:p>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ARP server</a:t>
            </a:r>
            <a:endParaRPr/>
          </a:p>
        </p:txBody>
      </p:sp>
      <p:sp>
        <p:nvSpPr>
          <p:cNvPr id="783" name="Google Shape;783;p6"/>
          <p:cNvSpPr txBox="1"/>
          <p:nvPr/>
        </p:nvSpPr>
        <p:spPr>
          <a:xfrm>
            <a:off x="2236695" y="2034987"/>
            <a:ext cx="1661032" cy="56528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arriving mobile:</a:t>
            </a:r>
            <a:endParaRPr/>
          </a:p>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ARP client</a:t>
            </a:r>
            <a:endParaRPr/>
          </a:p>
        </p:txBody>
      </p:sp>
      <p:grpSp>
        <p:nvGrpSpPr>
          <p:cNvPr id="784" name="Google Shape;784;p6"/>
          <p:cNvGrpSpPr/>
          <p:nvPr/>
        </p:nvGrpSpPr>
        <p:grpSpPr>
          <a:xfrm>
            <a:off x="1316411" y="1330325"/>
            <a:ext cx="1014412" cy="1665288"/>
            <a:chOff x="651" y="681"/>
            <a:chExt cx="639" cy="1049"/>
          </a:xfrm>
        </p:grpSpPr>
        <p:sp>
          <p:nvSpPr>
            <p:cNvPr id="785" name="Google Shape;785;p6"/>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86" name="Google Shape;786;p6"/>
            <p:cNvGrpSpPr/>
            <p:nvPr/>
          </p:nvGrpSpPr>
          <p:grpSpPr>
            <a:xfrm>
              <a:off x="651" y="681"/>
              <a:ext cx="500" cy="834"/>
              <a:chOff x="569" y="2954"/>
              <a:chExt cx="500" cy="834"/>
            </a:xfrm>
          </p:grpSpPr>
          <p:sp>
            <p:nvSpPr>
              <p:cNvPr id="787" name="Google Shape;787;p6"/>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8" name="Google Shape;788;p6"/>
              <p:cNvSpPr txBox="1"/>
              <p:nvPr/>
            </p:nvSpPr>
            <p:spPr>
              <a:xfrm>
                <a:off x="638" y="2954"/>
                <a:ext cx="388"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DNS</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789" name="Google Shape;789;p6"/>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790" name="Google Shape;790;p6"/>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791" name="Google Shape;791;p6"/>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792" name="Google Shape;792;p6"/>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793" name="Google Shape;793;p6"/>
          <p:cNvGrpSpPr/>
          <p:nvPr/>
        </p:nvGrpSpPr>
        <p:grpSpPr>
          <a:xfrm>
            <a:off x="1603750" y="3853801"/>
            <a:ext cx="1195388" cy="808687"/>
            <a:chOff x="1603750" y="3853801"/>
            <a:chExt cx="1195388" cy="808687"/>
          </a:xfrm>
        </p:grpSpPr>
        <p:grpSp>
          <p:nvGrpSpPr>
            <p:cNvPr id="794" name="Google Shape;794;p6"/>
            <p:cNvGrpSpPr/>
            <p:nvPr/>
          </p:nvGrpSpPr>
          <p:grpSpPr>
            <a:xfrm>
              <a:off x="1603750" y="3883240"/>
              <a:ext cx="1195388" cy="779248"/>
              <a:chOff x="934" y="2316"/>
              <a:chExt cx="753" cy="464"/>
            </a:xfrm>
          </p:grpSpPr>
          <p:sp>
            <p:nvSpPr>
              <p:cNvPr id="795" name="Google Shape;795;p6"/>
              <p:cNvSpPr/>
              <p:nvPr/>
            </p:nvSpPr>
            <p:spPr>
              <a:xfrm>
                <a:off x="1424" y="2316"/>
                <a:ext cx="263" cy="441"/>
              </a:xfrm>
              <a:custGeom>
                <a:rect b="b" l="l" r="r" t="t"/>
                <a:pathLst>
                  <a:path extrusionOk="0" h="10000" w="10000">
                    <a:moveTo>
                      <a:pt x="324" y="0"/>
                    </a:moveTo>
                    <a:cubicBezTo>
                      <a:pt x="3883" y="2374"/>
                      <a:pt x="5856" y="3091"/>
                      <a:pt x="10000" y="4764"/>
                    </a:cubicBezTo>
                    <a:lnTo>
                      <a:pt x="139" y="10000"/>
                    </a:lnTo>
                    <a:cubicBezTo>
                      <a:pt x="93" y="8211"/>
                      <a:pt x="46" y="6421"/>
                      <a:pt x="0" y="4632"/>
                    </a:cubicBezTo>
                    <a:lnTo>
                      <a:pt x="324" y="0"/>
                    </a:lnTo>
                    <a:close/>
                  </a:path>
                </a:pathLst>
              </a:custGeom>
              <a:gradFill>
                <a:gsLst>
                  <a:gs pos="0">
                    <a:srgbClr val="BFBFBF"/>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96" name="Google Shape;796;p6"/>
              <p:cNvGrpSpPr/>
              <p:nvPr/>
            </p:nvGrpSpPr>
            <p:grpSpPr>
              <a:xfrm>
                <a:off x="934" y="2412"/>
                <a:ext cx="497" cy="368"/>
                <a:chOff x="572" y="3425"/>
                <a:chExt cx="497" cy="368"/>
              </a:xfrm>
            </p:grpSpPr>
            <p:sp>
              <p:nvSpPr>
                <p:cNvPr id="797" name="Google Shape;797;p6"/>
                <p:cNvSpPr/>
                <p:nvPr/>
              </p:nvSpPr>
              <p:spPr>
                <a:xfrm>
                  <a:off x="576" y="3446"/>
                  <a:ext cx="493" cy="31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8" name="Google Shape;798;p6"/>
                <p:cNvSpPr txBox="1"/>
                <p:nvPr/>
              </p:nvSpPr>
              <p:spPr>
                <a:xfrm>
                  <a:off x="646" y="3425"/>
                  <a:ext cx="338" cy="3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799" name="Google Shape;799;p6"/>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800" name="Google Shape;800;p6"/>
                <p:cNvCxnSpPr/>
                <p:nvPr/>
              </p:nvCxnSpPr>
              <p:spPr>
                <a:xfrm>
                  <a:off x="575"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801" name="Google Shape;801;p6"/>
            <p:cNvGrpSpPr/>
            <p:nvPr/>
          </p:nvGrpSpPr>
          <p:grpSpPr>
            <a:xfrm>
              <a:off x="1610474" y="3853801"/>
              <a:ext cx="850900" cy="261938"/>
              <a:chOff x="187" y="1352"/>
              <a:chExt cx="536" cy="165"/>
            </a:xfrm>
          </p:grpSpPr>
          <p:sp>
            <p:nvSpPr>
              <p:cNvPr id="802" name="Google Shape;802;p6"/>
              <p:cNvSpPr/>
              <p:nvPr/>
            </p:nvSpPr>
            <p:spPr>
              <a:xfrm>
                <a:off x="187" y="1365"/>
                <a:ext cx="492" cy="141"/>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03" name="Google Shape;803;p6"/>
              <p:cNvSpPr txBox="1"/>
              <p:nvPr/>
            </p:nvSpPr>
            <p:spPr>
              <a:xfrm>
                <a:off x="212" y="1352"/>
                <a:ext cx="511" cy="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a:solidFill>
                      <a:srgbClr val="000000"/>
                    </a:solidFill>
                    <a:latin typeface="Arial"/>
                    <a:ea typeface="Arial"/>
                    <a:cs typeface="Arial"/>
                    <a:sym typeface="Arial"/>
                  </a:rPr>
                  <a:t>   </a:t>
                </a:r>
                <a:r>
                  <a:rPr i="0" lang="en-US" sz="1100">
                    <a:solidFill>
                      <a:srgbClr val="000000"/>
                    </a:solidFill>
                    <a:latin typeface="Arial"/>
                    <a:ea typeface="Arial"/>
                    <a:cs typeface="Arial"/>
                    <a:sym typeface="Arial"/>
                  </a:rPr>
                  <a:t>ARP</a:t>
                </a:r>
                <a:endParaRPr i="0" sz="1000">
                  <a:solidFill>
                    <a:srgbClr val="000000"/>
                  </a:solidFill>
                  <a:latin typeface="Arial"/>
                  <a:ea typeface="Arial"/>
                  <a:cs typeface="Arial"/>
                  <a:sym typeface="Arial"/>
                </a:endParaRPr>
              </a:p>
            </p:txBody>
          </p:sp>
        </p:grpSp>
      </p:grpSp>
      <p:grpSp>
        <p:nvGrpSpPr>
          <p:cNvPr id="804" name="Google Shape;804;p6"/>
          <p:cNvGrpSpPr/>
          <p:nvPr/>
        </p:nvGrpSpPr>
        <p:grpSpPr>
          <a:xfrm>
            <a:off x="2606022" y="3858371"/>
            <a:ext cx="358775" cy="623888"/>
            <a:chOff x="4140" y="429"/>
            <a:chExt cx="1425" cy="2396"/>
          </a:xfrm>
        </p:grpSpPr>
        <p:sp>
          <p:nvSpPr>
            <p:cNvPr id="805" name="Google Shape;805;p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6" name="Google Shape;806;p6"/>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7" name="Google Shape;807;p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8" name="Google Shape;808;p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9" name="Google Shape;809;p6"/>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10" name="Google Shape;810;p6"/>
            <p:cNvGrpSpPr/>
            <p:nvPr/>
          </p:nvGrpSpPr>
          <p:grpSpPr>
            <a:xfrm>
              <a:off x="4751" y="667"/>
              <a:ext cx="580" cy="146"/>
              <a:chOff x="617" y="2567"/>
              <a:chExt cx="724" cy="140"/>
            </a:xfrm>
          </p:grpSpPr>
          <p:sp>
            <p:nvSpPr>
              <p:cNvPr id="811" name="Google Shape;811;p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2" name="Google Shape;812;p6"/>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13" name="Google Shape;813;p6"/>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14" name="Google Shape;814;p6"/>
            <p:cNvGrpSpPr/>
            <p:nvPr/>
          </p:nvGrpSpPr>
          <p:grpSpPr>
            <a:xfrm>
              <a:off x="4745" y="996"/>
              <a:ext cx="580" cy="134"/>
              <a:chOff x="612" y="2570"/>
              <a:chExt cx="724" cy="139"/>
            </a:xfrm>
          </p:grpSpPr>
          <p:sp>
            <p:nvSpPr>
              <p:cNvPr id="815" name="Google Shape;815;p6"/>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6" name="Google Shape;816;p6"/>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17" name="Google Shape;817;p6"/>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8" name="Google Shape;818;p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19" name="Google Shape;819;p6"/>
            <p:cNvGrpSpPr/>
            <p:nvPr/>
          </p:nvGrpSpPr>
          <p:grpSpPr>
            <a:xfrm>
              <a:off x="4733" y="1636"/>
              <a:ext cx="586" cy="140"/>
              <a:chOff x="611" y="2576"/>
              <a:chExt cx="730" cy="129"/>
            </a:xfrm>
          </p:grpSpPr>
          <p:sp>
            <p:nvSpPr>
              <p:cNvPr id="820" name="Google Shape;820;p6"/>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1" name="Google Shape;821;p6"/>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22" name="Google Shape;822;p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23" name="Google Shape;823;p6"/>
            <p:cNvGrpSpPr/>
            <p:nvPr/>
          </p:nvGrpSpPr>
          <p:grpSpPr>
            <a:xfrm>
              <a:off x="4739" y="1325"/>
              <a:ext cx="580" cy="140"/>
              <a:chOff x="614" y="2566"/>
              <a:chExt cx="723" cy="140"/>
            </a:xfrm>
          </p:grpSpPr>
          <p:sp>
            <p:nvSpPr>
              <p:cNvPr id="824" name="Google Shape;824;p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5" name="Google Shape;825;p6"/>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26" name="Google Shape;826;p6"/>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7" name="Google Shape;827;p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8" name="Google Shape;828;p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9" name="Google Shape;829;p6"/>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0" name="Google Shape;830;p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1" name="Google Shape;831;p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2" name="Google Shape;832;p6"/>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3" name="Google Shape;833;p6"/>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4" name="Google Shape;834;p6"/>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835" name="Google Shape;835;p6"/>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6" name="Google Shape;836;p6"/>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37" name="Google Shape;837;p6"/>
          <p:cNvSpPr txBox="1"/>
          <p:nvPr/>
        </p:nvSpPr>
        <p:spPr>
          <a:xfrm>
            <a:off x="5429671" y="1384207"/>
            <a:ext cx="6323058" cy="12620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400"/>
              <a:buFont typeface="Noto Sans Symbols"/>
              <a:buChar char="▪"/>
            </a:pPr>
            <a:r>
              <a:rPr lang="en-US" sz="2400">
                <a:solidFill>
                  <a:schemeClr val="dk1"/>
                </a:solidFill>
                <a:latin typeface="Arial"/>
                <a:ea typeface="Arial"/>
                <a:cs typeface="Arial"/>
                <a:sym typeface="Arial"/>
              </a:rPr>
              <a:t>before sending </a:t>
            </a:r>
            <a:r>
              <a:rPr lang="en-US" sz="2400">
                <a:solidFill>
                  <a:srgbClr val="C00000"/>
                </a:solidFill>
                <a:latin typeface="Arial"/>
                <a:ea typeface="Arial"/>
                <a:cs typeface="Arial"/>
                <a:sym typeface="Arial"/>
              </a:rPr>
              <a:t>HTTP</a:t>
            </a:r>
            <a:r>
              <a:rPr b="1" i="1" lang="en-US" sz="2400">
                <a:solidFill>
                  <a:srgbClr val="C00000"/>
                </a:solidFill>
                <a:latin typeface="Arial"/>
                <a:ea typeface="Arial"/>
                <a:cs typeface="Arial"/>
                <a:sym typeface="Arial"/>
              </a:rPr>
              <a:t> </a:t>
            </a:r>
            <a:r>
              <a:rPr lang="en-US" sz="2400">
                <a:solidFill>
                  <a:schemeClr val="dk1"/>
                </a:solidFill>
                <a:latin typeface="Arial"/>
                <a:ea typeface="Arial"/>
                <a:cs typeface="Arial"/>
                <a:sym typeface="Arial"/>
              </a:rPr>
              <a:t>request, need IP address of www.google.com:  </a:t>
            </a:r>
            <a:r>
              <a:rPr lang="en-US" sz="2400">
                <a:solidFill>
                  <a:srgbClr val="C00000"/>
                </a:solidFill>
                <a:latin typeface="Arial"/>
                <a:ea typeface="Arial"/>
                <a:cs typeface="Arial"/>
                <a:sym typeface="Arial"/>
              </a:rPr>
              <a:t>DNS</a:t>
            </a:r>
            <a:endParaRPr/>
          </a:p>
        </p:txBody>
      </p:sp>
      <p:grpSp>
        <p:nvGrpSpPr>
          <p:cNvPr id="838" name="Google Shape;838;p6"/>
          <p:cNvGrpSpPr/>
          <p:nvPr/>
        </p:nvGrpSpPr>
        <p:grpSpPr>
          <a:xfrm>
            <a:off x="188913" y="1412782"/>
            <a:ext cx="762000" cy="876300"/>
            <a:chOff x="177" y="729"/>
            <a:chExt cx="480" cy="552"/>
          </a:xfrm>
        </p:grpSpPr>
        <p:grpSp>
          <p:nvGrpSpPr>
            <p:cNvPr id="839" name="Google Shape;839;p6"/>
            <p:cNvGrpSpPr/>
            <p:nvPr/>
          </p:nvGrpSpPr>
          <p:grpSpPr>
            <a:xfrm>
              <a:off x="343" y="732"/>
              <a:ext cx="290" cy="154"/>
              <a:chOff x="844" y="3337"/>
              <a:chExt cx="290" cy="154"/>
            </a:xfrm>
          </p:grpSpPr>
          <p:sp>
            <p:nvSpPr>
              <p:cNvPr id="840" name="Google Shape;840;p6"/>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1" name="Google Shape;841;p6"/>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842" name="Google Shape;842;p6"/>
            <p:cNvGrpSpPr/>
            <p:nvPr/>
          </p:nvGrpSpPr>
          <p:grpSpPr>
            <a:xfrm>
              <a:off x="290" y="874"/>
              <a:ext cx="354" cy="154"/>
              <a:chOff x="740" y="3209"/>
              <a:chExt cx="354" cy="154"/>
            </a:xfrm>
          </p:grpSpPr>
          <p:grpSp>
            <p:nvGrpSpPr>
              <p:cNvPr id="843" name="Google Shape;843;p6"/>
              <p:cNvGrpSpPr/>
              <p:nvPr/>
            </p:nvGrpSpPr>
            <p:grpSpPr>
              <a:xfrm>
                <a:off x="794" y="3209"/>
                <a:ext cx="290" cy="154"/>
                <a:chOff x="844" y="3337"/>
                <a:chExt cx="290" cy="154"/>
              </a:xfrm>
            </p:grpSpPr>
            <p:sp>
              <p:nvSpPr>
                <p:cNvPr id="844" name="Google Shape;844;p6"/>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5" name="Google Shape;845;p6"/>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846" name="Google Shape;846;p6"/>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7" name="Google Shape;847;p6"/>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48" name="Google Shape;848;p6"/>
            <p:cNvGrpSpPr/>
            <p:nvPr/>
          </p:nvGrpSpPr>
          <p:grpSpPr>
            <a:xfrm>
              <a:off x="290" y="1022"/>
              <a:ext cx="354" cy="154"/>
              <a:chOff x="836" y="3305"/>
              <a:chExt cx="354" cy="154"/>
            </a:xfrm>
          </p:grpSpPr>
          <p:grpSp>
            <p:nvGrpSpPr>
              <p:cNvPr id="849" name="Google Shape;849;p6"/>
              <p:cNvGrpSpPr/>
              <p:nvPr/>
            </p:nvGrpSpPr>
            <p:grpSpPr>
              <a:xfrm>
                <a:off x="890" y="3305"/>
                <a:ext cx="290" cy="154"/>
                <a:chOff x="844" y="3337"/>
                <a:chExt cx="290" cy="154"/>
              </a:xfrm>
            </p:grpSpPr>
            <p:sp>
              <p:nvSpPr>
                <p:cNvPr id="850" name="Google Shape;850;p6"/>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1" name="Google Shape;851;p6"/>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852" name="Google Shape;852;p6"/>
              <p:cNvGrpSpPr/>
              <p:nvPr/>
            </p:nvGrpSpPr>
            <p:grpSpPr>
              <a:xfrm>
                <a:off x="836" y="3334"/>
                <a:ext cx="354" cy="94"/>
                <a:chOff x="836" y="3334"/>
                <a:chExt cx="354" cy="94"/>
              </a:xfrm>
            </p:grpSpPr>
            <p:sp>
              <p:nvSpPr>
                <p:cNvPr id="853" name="Google Shape;853;p6"/>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4" name="Google Shape;854;p6"/>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855" name="Google Shape;855;p6"/>
            <p:cNvGrpSpPr/>
            <p:nvPr/>
          </p:nvGrpSpPr>
          <p:grpSpPr>
            <a:xfrm>
              <a:off x="177" y="1042"/>
              <a:ext cx="480" cy="112"/>
              <a:chOff x="627" y="3377"/>
              <a:chExt cx="480" cy="112"/>
            </a:xfrm>
          </p:grpSpPr>
          <p:sp>
            <p:nvSpPr>
              <p:cNvPr id="856" name="Google Shape;856;p6"/>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7" name="Google Shape;857;p6"/>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58" name="Google Shape;858;p6"/>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59" name="Google Shape;859;p6"/>
          <p:cNvSpPr/>
          <p:nvPr/>
        </p:nvSpPr>
        <p:spPr>
          <a:xfrm>
            <a:off x="5426495" y="2279650"/>
            <a:ext cx="6213373" cy="13065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000000"/>
                </a:solidFill>
                <a:latin typeface="Arial"/>
                <a:ea typeface="Arial"/>
                <a:cs typeface="Arial"/>
                <a:sym typeface="Arial"/>
              </a:rPr>
              <a:t>DNS query created, encapsulated in UDP, encapsulated in IP, encapsulated in Eth.  To send frame to router, need MAC address of router interface: </a:t>
            </a:r>
            <a:r>
              <a:rPr lang="en-US" sz="2400">
                <a:solidFill>
                  <a:srgbClr val="C00000"/>
                </a:solidFill>
                <a:latin typeface="Arial"/>
                <a:ea typeface="Arial"/>
                <a:cs typeface="Arial"/>
                <a:sym typeface="Arial"/>
              </a:rPr>
              <a:t>ARP</a:t>
            </a:r>
            <a:endParaRPr/>
          </a:p>
          <a:p>
            <a:pPr indent="0" lvl="0" marL="0" marR="0" rtl="0" algn="l">
              <a:lnSpc>
                <a:spcPct val="90000"/>
              </a:lnSpc>
              <a:spcBef>
                <a:spcPts val="480"/>
              </a:spcBef>
              <a:spcAft>
                <a:spcPts val="0"/>
              </a:spcAft>
              <a:buNone/>
            </a:pPr>
            <a:r>
              <a:t/>
            </a:r>
            <a:endParaRPr b="1" sz="2400">
              <a:solidFill>
                <a:srgbClr val="000000"/>
              </a:solidFill>
              <a:latin typeface="Arial"/>
              <a:ea typeface="Arial"/>
              <a:cs typeface="Arial"/>
              <a:sym typeface="Arial"/>
            </a:endParaRPr>
          </a:p>
        </p:txBody>
      </p:sp>
      <p:sp>
        <p:nvSpPr>
          <p:cNvPr id="860" name="Google Shape;860;p6"/>
          <p:cNvSpPr/>
          <p:nvPr/>
        </p:nvSpPr>
        <p:spPr>
          <a:xfrm>
            <a:off x="5417905" y="3769753"/>
            <a:ext cx="6509636" cy="15636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C00000"/>
                </a:solidFill>
                <a:latin typeface="Arial"/>
                <a:ea typeface="Arial"/>
                <a:cs typeface="Arial"/>
                <a:sym typeface="Arial"/>
              </a:rPr>
              <a:t>ARP query </a:t>
            </a:r>
            <a:r>
              <a:rPr lang="en-US" sz="2400">
                <a:solidFill>
                  <a:srgbClr val="000000"/>
                </a:solidFill>
                <a:latin typeface="Arial"/>
                <a:ea typeface="Arial"/>
                <a:cs typeface="Arial"/>
                <a:sym typeface="Arial"/>
              </a:rPr>
              <a:t>broadcast, received by router, which replies with </a:t>
            </a:r>
            <a:r>
              <a:rPr lang="en-US" sz="2400">
                <a:solidFill>
                  <a:srgbClr val="C00000"/>
                </a:solidFill>
                <a:latin typeface="Arial"/>
                <a:ea typeface="Arial"/>
                <a:cs typeface="Arial"/>
                <a:sym typeface="Arial"/>
              </a:rPr>
              <a:t>ARP reply </a:t>
            </a:r>
            <a:r>
              <a:rPr lang="en-US" sz="2400">
                <a:solidFill>
                  <a:srgbClr val="000000"/>
                </a:solidFill>
                <a:latin typeface="Arial"/>
                <a:ea typeface="Arial"/>
                <a:cs typeface="Arial"/>
                <a:sym typeface="Arial"/>
              </a:rPr>
              <a:t>giving MAC address of router interface</a:t>
            </a:r>
            <a:endParaRPr/>
          </a:p>
        </p:txBody>
      </p:sp>
      <p:sp>
        <p:nvSpPr>
          <p:cNvPr id="861" name="Google Shape;861;p6"/>
          <p:cNvSpPr/>
          <p:nvPr/>
        </p:nvSpPr>
        <p:spPr>
          <a:xfrm>
            <a:off x="5403056" y="4906495"/>
            <a:ext cx="5806890" cy="12922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000000"/>
                </a:solidFill>
                <a:latin typeface="Arial"/>
                <a:ea typeface="Arial"/>
                <a:cs typeface="Arial"/>
                <a:sym typeface="Arial"/>
              </a:rPr>
              <a:t>client now knows MAC address of first hop router, so can now send frame containing DNS query </a:t>
            </a:r>
            <a:endParaRPr/>
          </a:p>
        </p:txBody>
      </p:sp>
      <p:grpSp>
        <p:nvGrpSpPr>
          <p:cNvPr id="862" name="Google Shape;862;p6"/>
          <p:cNvGrpSpPr/>
          <p:nvPr/>
        </p:nvGrpSpPr>
        <p:grpSpPr>
          <a:xfrm>
            <a:off x="0" y="2123982"/>
            <a:ext cx="1081088" cy="244475"/>
            <a:chOff x="76" y="2296"/>
            <a:chExt cx="681" cy="154"/>
          </a:xfrm>
        </p:grpSpPr>
        <p:sp>
          <p:nvSpPr>
            <p:cNvPr id="863" name="Google Shape;863;p6"/>
            <p:cNvSpPr/>
            <p:nvPr/>
          </p:nvSpPr>
          <p:spPr>
            <a:xfrm>
              <a:off x="76" y="2305"/>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4" name="Google Shape;864;p6"/>
            <p:cNvSpPr/>
            <p:nvPr/>
          </p:nvSpPr>
          <p:spPr>
            <a:xfrm>
              <a:off x="89" y="2321"/>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5" name="Google Shape;865;p6"/>
            <p:cNvSpPr/>
            <p:nvPr/>
          </p:nvSpPr>
          <p:spPr>
            <a:xfrm>
              <a:off x="687" y="2320"/>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6" name="Google Shape;866;p6"/>
            <p:cNvSpPr/>
            <p:nvPr/>
          </p:nvSpPr>
          <p:spPr>
            <a:xfrm>
              <a:off x="195" y="2319"/>
              <a:ext cx="480" cy="112"/>
            </a:xfrm>
            <a:prstGeom prst="rect">
              <a:avLst/>
            </a:prstGeom>
            <a:solidFill>
              <a:srgbClr val="FFFF00"/>
            </a:solidFill>
            <a:ln cap="flat" cmpd="sng" w="952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7" name="Google Shape;867;p6"/>
            <p:cNvSpPr txBox="1"/>
            <p:nvPr/>
          </p:nvSpPr>
          <p:spPr>
            <a:xfrm>
              <a:off x="182" y="2296"/>
              <a:ext cx="501"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ARP query</a:t>
              </a:r>
              <a:endParaRPr/>
            </a:p>
          </p:txBody>
        </p:sp>
      </p:grpSp>
      <p:grpSp>
        <p:nvGrpSpPr>
          <p:cNvPr id="868" name="Google Shape;868;p6"/>
          <p:cNvGrpSpPr/>
          <p:nvPr/>
        </p:nvGrpSpPr>
        <p:grpSpPr>
          <a:xfrm>
            <a:off x="1271961" y="1949449"/>
            <a:ext cx="444500" cy="244475"/>
            <a:chOff x="161" y="1354"/>
            <a:chExt cx="280" cy="154"/>
          </a:xfrm>
        </p:grpSpPr>
        <p:sp>
          <p:nvSpPr>
            <p:cNvPr id="869" name="Google Shape;869;p6"/>
            <p:cNvSpPr/>
            <p:nvPr/>
          </p:nvSpPr>
          <p:spPr>
            <a:xfrm>
              <a:off x="192" y="1365"/>
              <a:ext cx="228" cy="14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0" name="Google Shape;870;p6"/>
            <p:cNvSpPr txBox="1"/>
            <p:nvPr/>
          </p:nvSpPr>
          <p:spPr>
            <a:xfrm>
              <a:off x="161" y="1354"/>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ARP</a:t>
              </a:r>
              <a:endParaRPr/>
            </a:p>
          </p:txBody>
        </p:sp>
      </p:grpSp>
      <p:grpSp>
        <p:nvGrpSpPr>
          <p:cNvPr id="871" name="Google Shape;871;p6"/>
          <p:cNvGrpSpPr/>
          <p:nvPr/>
        </p:nvGrpSpPr>
        <p:grpSpPr>
          <a:xfrm>
            <a:off x="478678" y="4075206"/>
            <a:ext cx="1081088" cy="244475"/>
            <a:chOff x="76" y="2296"/>
            <a:chExt cx="681" cy="154"/>
          </a:xfrm>
        </p:grpSpPr>
        <p:sp>
          <p:nvSpPr>
            <p:cNvPr id="872" name="Google Shape;872;p6"/>
            <p:cNvSpPr/>
            <p:nvPr/>
          </p:nvSpPr>
          <p:spPr>
            <a:xfrm>
              <a:off x="76" y="2305"/>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3" name="Google Shape;873;p6"/>
            <p:cNvSpPr/>
            <p:nvPr/>
          </p:nvSpPr>
          <p:spPr>
            <a:xfrm>
              <a:off x="89" y="2321"/>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4" name="Google Shape;874;p6"/>
            <p:cNvSpPr/>
            <p:nvPr/>
          </p:nvSpPr>
          <p:spPr>
            <a:xfrm>
              <a:off x="687" y="2320"/>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5" name="Google Shape;875;p6"/>
            <p:cNvSpPr/>
            <p:nvPr/>
          </p:nvSpPr>
          <p:spPr>
            <a:xfrm>
              <a:off x="195" y="2319"/>
              <a:ext cx="480" cy="112"/>
            </a:xfrm>
            <a:prstGeom prst="rect">
              <a:avLst/>
            </a:prstGeom>
            <a:solidFill>
              <a:srgbClr val="FFFF00"/>
            </a:solidFill>
            <a:ln cap="flat" cmpd="sng" w="952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6" name="Google Shape;876;p6"/>
            <p:cNvSpPr txBox="1"/>
            <p:nvPr/>
          </p:nvSpPr>
          <p:spPr>
            <a:xfrm>
              <a:off x="182" y="2296"/>
              <a:ext cx="47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ARP reply</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84"/>
                                        </p:tgtEl>
                                        <p:attrNameLst>
                                          <p:attrName>style.visibility</p:attrName>
                                        </p:attrNameLst>
                                      </p:cBhvr>
                                      <p:to>
                                        <p:strVal val="visible"/>
                                      </p:to>
                                    </p:set>
                                    <p:animEffect filter="fade" transition="in">
                                      <p:cBhvr>
                                        <p:cTn dur="500"/>
                                        <p:tgtEl>
                                          <p:spTgt spid="7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500"/>
                                        <p:tgtEl>
                                          <p:spTgt spid="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500"/>
                                        <p:tgtEl>
                                          <p:spTgt spid="838"/>
                                        </p:tgtEl>
                                      </p:cBhvr>
                                    </p:animEffect>
                                  </p:childTnLst>
                                </p:cTn>
                              </p:par>
                              <p:par>
                                <p:cTn fill="hold" nodeType="with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500"/>
                                        <p:tgtEl>
                                          <p:spTgt spid="868"/>
                                        </p:tgtEl>
                                      </p:cBhvr>
                                    </p:animEffect>
                                  </p:childTnLst>
                                </p:cTn>
                              </p:par>
                              <p:par>
                                <p:cTn fill="hold" nodeType="with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500"/>
                                        <p:tgtEl>
                                          <p:spTgt spid="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500"/>
                                        <p:tgtEl>
                                          <p:spTgt spid="86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500"/>
                                        <p:tgtEl>
                                          <p:spTgt spid="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62"/>
                                        </p:tgtEl>
                                      </p:cBhvr>
                                    </p:animEffect>
                                    <p:set>
                                      <p:cBhvr>
                                        <p:cTn dur="1" fill="hold">
                                          <p:stCondLst>
                                            <p:cond delay="500"/>
                                          </p:stCondLst>
                                        </p:cTn>
                                        <p:tgtEl>
                                          <p:spTgt spid="86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500"/>
                                        <p:tgtEl>
                                          <p:spTgt spid="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71"/>
                                        </p:tgtEl>
                                      </p:cBhvr>
                                    </p:animEffect>
                                    <p:set>
                                      <p:cBhvr>
                                        <p:cTn dur="1" fill="hold">
                                          <p:stCondLst>
                                            <p:cond delay="500"/>
                                          </p:stCondLst>
                                        </p:cTn>
                                        <p:tgtEl>
                                          <p:spTgt spid="87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68"/>
                                        </p:tgtEl>
                                      </p:cBhvr>
                                    </p:animEffect>
                                    <p:set>
                                      <p:cBhvr>
                                        <p:cTn dur="1" fill="hold">
                                          <p:stCondLst>
                                            <p:cond delay="500"/>
                                          </p:stCondLst>
                                        </p:cTn>
                                        <p:tgtEl>
                                          <p:spTgt spid="86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500"/>
                                        <p:tgtEl>
                                          <p:spTgt spid="8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7"/>
          <p:cNvSpPr txBox="1"/>
          <p:nvPr>
            <p:ph type="title"/>
          </p:nvPr>
        </p:nvSpPr>
        <p:spPr>
          <a:xfrm>
            <a:off x="811306" y="30390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900"/>
              <a:buFont typeface="Play"/>
              <a:buNone/>
            </a:pPr>
            <a:r>
              <a:rPr lang="en-US" sz="4900"/>
              <a:t>A day in the life… using DNS</a:t>
            </a:r>
            <a:endParaRPr/>
          </a:p>
        </p:txBody>
      </p:sp>
      <p:sp>
        <p:nvSpPr>
          <p:cNvPr id="882" name="Google Shape;882;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Link Layer: 6-</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
        <p:nvSpPr>
          <p:cNvPr id="883" name="Google Shape;883;p7"/>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84" name="Google Shape;884;p7"/>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885" name="Google Shape;885;p7"/>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886" name="Google Shape;886;p7"/>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887" name="Google Shape;887;p7"/>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grpSp>
        <p:nvGrpSpPr>
          <p:cNvPr id="888" name="Google Shape;888;p7"/>
          <p:cNvGrpSpPr/>
          <p:nvPr/>
        </p:nvGrpSpPr>
        <p:grpSpPr>
          <a:xfrm>
            <a:off x="3087416" y="2965438"/>
            <a:ext cx="960147" cy="436668"/>
            <a:chOff x="3668110" y="2448910"/>
            <a:chExt cx="3794234" cy="2165130"/>
          </a:xfrm>
        </p:grpSpPr>
        <p:sp>
          <p:nvSpPr>
            <p:cNvPr id="889" name="Google Shape;889;p7"/>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90" name="Google Shape;890;p7"/>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891" name="Google Shape;891;p7"/>
            <p:cNvGrpSpPr/>
            <p:nvPr/>
          </p:nvGrpSpPr>
          <p:grpSpPr>
            <a:xfrm>
              <a:off x="3941378" y="2603243"/>
              <a:ext cx="3202061" cy="1066110"/>
              <a:chOff x="7939341" y="3037317"/>
              <a:chExt cx="897649" cy="353919"/>
            </a:xfrm>
          </p:grpSpPr>
          <p:sp>
            <p:nvSpPr>
              <p:cNvPr id="892" name="Google Shape;892;p7"/>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93" name="Google Shape;893;p7"/>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94" name="Google Shape;894;p7"/>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895" name="Google Shape;895;p7"/>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896" name="Google Shape;896;p7"/>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897" name="Google Shape;897;p7"/>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898" name="Google Shape;898;p7"/>
          <p:cNvGrpSpPr/>
          <p:nvPr/>
        </p:nvGrpSpPr>
        <p:grpSpPr>
          <a:xfrm>
            <a:off x="1946552" y="2678242"/>
            <a:ext cx="913139" cy="665131"/>
            <a:chOff x="7455987" y="2414528"/>
            <a:chExt cx="511700" cy="327647"/>
          </a:xfrm>
        </p:grpSpPr>
        <p:pic>
          <p:nvPicPr>
            <p:cNvPr descr="laptop_keyboard" id="899" name="Google Shape;899;p7"/>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900" name="Google Shape;900;p7"/>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901" name="Google Shape;901;p7"/>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902" name="Google Shape;902;p7"/>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3" name="Google Shape;903;p7"/>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4" name="Google Shape;904;p7"/>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5" name="Google Shape;905;p7"/>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6" name="Google Shape;906;p7"/>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7" name="Google Shape;907;p7"/>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908" name="Google Shape;908;p7"/>
            <p:cNvGrpSpPr/>
            <p:nvPr/>
          </p:nvGrpSpPr>
          <p:grpSpPr>
            <a:xfrm>
              <a:off x="7594735" y="2642220"/>
              <a:ext cx="98740" cy="36846"/>
              <a:chOff x="1740" y="2642"/>
              <a:chExt cx="752" cy="327"/>
            </a:xfrm>
          </p:grpSpPr>
          <p:sp>
            <p:nvSpPr>
              <p:cNvPr id="909" name="Google Shape;909;p7"/>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0" name="Google Shape;910;p7"/>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1" name="Google Shape;911;p7"/>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2" name="Google Shape;912;p7"/>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3" name="Google Shape;913;p7"/>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4" name="Google Shape;914;p7"/>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915" name="Google Shape;915;p7"/>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6" name="Google Shape;916;p7"/>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7" name="Google Shape;917;p7"/>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8" name="Google Shape;918;p7"/>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9" name="Google Shape;919;p7"/>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0" name="Google Shape;920;p7"/>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921" name="Google Shape;921;p7"/>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922" name="Google Shape;922;p7"/>
          <p:cNvGrpSpPr/>
          <p:nvPr/>
        </p:nvGrpSpPr>
        <p:grpSpPr>
          <a:xfrm>
            <a:off x="2647027" y="4019872"/>
            <a:ext cx="853832" cy="472456"/>
            <a:chOff x="7493876" y="2774731"/>
            <a:chExt cx="1481958" cy="894622"/>
          </a:xfrm>
        </p:grpSpPr>
        <p:sp>
          <p:nvSpPr>
            <p:cNvPr id="923" name="Google Shape;923;p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24" name="Google Shape;924;p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25" name="Google Shape;925;p7"/>
            <p:cNvGrpSpPr/>
            <p:nvPr/>
          </p:nvGrpSpPr>
          <p:grpSpPr>
            <a:xfrm>
              <a:off x="7713663" y="2848339"/>
              <a:ext cx="1042107" cy="425543"/>
              <a:chOff x="7786941" y="2884917"/>
              <a:chExt cx="897649" cy="353919"/>
            </a:xfrm>
          </p:grpSpPr>
          <p:sp>
            <p:nvSpPr>
              <p:cNvPr id="926" name="Google Shape;926;p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27" name="Google Shape;927;p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28" name="Google Shape;928;p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29" name="Google Shape;929;p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930" name="Google Shape;930;p7"/>
          <p:cNvGrpSpPr/>
          <p:nvPr/>
        </p:nvGrpSpPr>
        <p:grpSpPr>
          <a:xfrm>
            <a:off x="1316411" y="1330325"/>
            <a:ext cx="1014412" cy="1665288"/>
            <a:chOff x="651" y="681"/>
            <a:chExt cx="639" cy="1049"/>
          </a:xfrm>
        </p:grpSpPr>
        <p:sp>
          <p:nvSpPr>
            <p:cNvPr id="931" name="Google Shape;931;p7"/>
            <p:cNvSpPr/>
            <p:nvPr/>
          </p:nvSpPr>
          <p:spPr>
            <a:xfrm>
              <a:off x="662" y="698"/>
              <a:ext cx="628" cy="1032"/>
            </a:xfrm>
            <a:custGeom>
              <a:rect b="b" l="l" r="r" t="t"/>
              <a:pathLst>
                <a:path extrusionOk="0" h="11424" w="1039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a:gsLst>
                <a:gs pos="0">
                  <a:srgbClr val="7F7F7F"/>
                </a:gs>
                <a:gs pos="100000">
                  <a:srgbClr val="FFFFFF"/>
                </a:gs>
              </a:gsLst>
              <a:lin ang="72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32" name="Google Shape;932;p7"/>
            <p:cNvGrpSpPr/>
            <p:nvPr/>
          </p:nvGrpSpPr>
          <p:grpSpPr>
            <a:xfrm>
              <a:off x="651" y="681"/>
              <a:ext cx="500" cy="834"/>
              <a:chOff x="569" y="2954"/>
              <a:chExt cx="500" cy="834"/>
            </a:xfrm>
          </p:grpSpPr>
          <p:sp>
            <p:nvSpPr>
              <p:cNvPr id="933" name="Google Shape;933;p7"/>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4" name="Google Shape;934;p7"/>
              <p:cNvSpPr txBox="1"/>
              <p:nvPr/>
            </p:nvSpPr>
            <p:spPr>
              <a:xfrm>
                <a:off x="638" y="2954"/>
                <a:ext cx="388"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DNS</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935" name="Google Shape;935;p7"/>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936" name="Google Shape;936;p7"/>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937" name="Google Shape;937;p7"/>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938" name="Google Shape;938;p7"/>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939" name="Google Shape;939;p7"/>
          <p:cNvGrpSpPr/>
          <p:nvPr/>
        </p:nvGrpSpPr>
        <p:grpSpPr>
          <a:xfrm>
            <a:off x="2606022" y="3858371"/>
            <a:ext cx="358775" cy="623888"/>
            <a:chOff x="4140" y="429"/>
            <a:chExt cx="1425" cy="2396"/>
          </a:xfrm>
        </p:grpSpPr>
        <p:sp>
          <p:nvSpPr>
            <p:cNvPr id="940" name="Google Shape;940;p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1" name="Google Shape;941;p7"/>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2" name="Google Shape;942;p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3" name="Google Shape;943;p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4" name="Google Shape;944;p7"/>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45" name="Google Shape;945;p7"/>
            <p:cNvGrpSpPr/>
            <p:nvPr/>
          </p:nvGrpSpPr>
          <p:grpSpPr>
            <a:xfrm>
              <a:off x="4751" y="667"/>
              <a:ext cx="580" cy="146"/>
              <a:chOff x="617" y="2567"/>
              <a:chExt cx="724" cy="140"/>
            </a:xfrm>
          </p:grpSpPr>
          <p:sp>
            <p:nvSpPr>
              <p:cNvPr id="946" name="Google Shape;946;p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7" name="Google Shape;947;p7"/>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48" name="Google Shape;948;p7"/>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49" name="Google Shape;949;p7"/>
            <p:cNvGrpSpPr/>
            <p:nvPr/>
          </p:nvGrpSpPr>
          <p:grpSpPr>
            <a:xfrm>
              <a:off x="4745" y="996"/>
              <a:ext cx="580" cy="134"/>
              <a:chOff x="612" y="2570"/>
              <a:chExt cx="724" cy="139"/>
            </a:xfrm>
          </p:grpSpPr>
          <p:sp>
            <p:nvSpPr>
              <p:cNvPr id="950" name="Google Shape;950;p7"/>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7"/>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2" name="Google Shape;952;p7"/>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3" name="Google Shape;953;p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4" name="Google Shape;954;p7"/>
            <p:cNvGrpSpPr/>
            <p:nvPr/>
          </p:nvGrpSpPr>
          <p:grpSpPr>
            <a:xfrm>
              <a:off x="4733" y="1636"/>
              <a:ext cx="586" cy="140"/>
              <a:chOff x="611" y="2576"/>
              <a:chExt cx="730" cy="129"/>
            </a:xfrm>
          </p:grpSpPr>
          <p:sp>
            <p:nvSpPr>
              <p:cNvPr id="955" name="Google Shape;955;p7"/>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6" name="Google Shape;956;p7"/>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7" name="Google Shape;957;p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8" name="Google Shape;958;p7"/>
            <p:cNvGrpSpPr/>
            <p:nvPr/>
          </p:nvGrpSpPr>
          <p:grpSpPr>
            <a:xfrm>
              <a:off x="4739" y="1325"/>
              <a:ext cx="580" cy="140"/>
              <a:chOff x="614" y="2566"/>
              <a:chExt cx="723" cy="140"/>
            </a:xfrm>
          </p:grpSpPr>
          <p:sp>
            <p:nvSpPr>
              <p:cNvPr id="959" name="Google Shape;959;p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0" name="Google Shape;960;p7"/>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1" name="Google Shape;961;p7"/>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2" name="Google Shape;962;p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3" name="Google Shape;963;p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4" name="Google Shape;964;p7"/>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5" name="Google Shape;965;p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6" name="Google Shape;966;p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7" name="Google Shape;967;p7"/>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8" name="Google Shape;968;p7"/>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9" name="Google Shape;969;p7"/>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70" name="Google Shape;970;p7"/>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1" name="Google Shape;971;p7"/>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72" name="Google Shape;972;p7"/>
          <p:cNvGrpSpPr/>
          <p:nvPr/>
        </p:nvGrpSpPr>
        <p:grpSpPr>
          <a:xfrm>
            <a:off x="0" y="-1181562"/>
            <a:ext cx="762000" cy="876300"/>
            <a:chOff x="177" y="729"/>
            <a:chExt cx="480" cy="552"/>
          </a:xfrm>
        </p:grpSpPr>
        <p:grpSp>
          <p:nvGrpSpPr>
            <p:cNvPr id="973" name="Google Shape;973;p7"/>
            <p:cNvGrpSpPr/>
            <p:nvPr/>
          </p:nvGrpSpPr>
          <p:grpSpPr>
            <a:xfrm>
              <a:off x="343" y="732"/>
              <a:ext cx="290" cy="154"/>
              <a:chOff x="844" y="3337"/>
              <a:chExt cx="290" cy="154"/>
            </a:xfrm>
          </p:grpSpPr>
          <p:sp>
            <p:nvSpPr>
              <p:cNvPr id="974" name="Google Shape;974;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5" name="Google Shape;975;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76" name="Google Shape;976;p7"/>
            <p:cNvGrpSpPr/>
            <p:nvPr/>
          </p:nvGrpSpPr>
          <p:grpSpPr>
            <a:xfrm>
              <a:off x="290" y="874"/>
              <a:ext cx="354" cy="154"/>
              <a:chOff x="740" y="3209"/>
              <a:chExt cx="354" cy="154"/>
            </a:xfrm>
          </p:grpSpPr>
          <p:grpSp>
            <p:nvGrpSpPr>
              <p:cNvPr id="977" name="Google Shape;977;p7"/>
              <p:cNvGrpSpPr/>
              <p:nvPr/>
            </p:nvGrpSpPr>
            <p:grpSpPr>
              <a:xfrm>
                <a:off x="794" y="3209"/>
                <a:ext cx="290" cy="154"/>
                <a:chOff x="844" y="3337"/>
                <a:chExt cx="290" cy="154"/>
              </a:xfrm>
            </p:grpSpPr>
            <p:sp>
              <p:nvSpPr>
                <p:cNvPr id="978" name="Google Shape;978;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9" name="Google Shape;979;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980" name="Google Shape;980;p7"/>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1" name="Google Shape;981;p7"/>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82" name="Google Shape;982;p7"/>
            <p:cNvGrpSpPr/>
            <p:nvPr/>
          </p:nvGrpSpPr>
          <p:grpSpPr>
            <a:xfrm>
              <a:off x="290" y="1022"/>
              <a:ext cx="354" cy="154"/>
              <a:chOff x="836" y="3305"/>
              <a:chExt cx="354" cy="154"/>
            </a:xfrm>
          </p:grpSpPr>
          <p:grpSp>
            <p:nvGrpSpPr>
              <p:cNvPr id="983" name="Google Shape;983;p7"/>
              <p:cNvGrpSpPr/>
              <p:nvPr/>
            </p:nvGrpSpPr>
            <p:grpSpPr>
              <a:xfrm>
                <a:off x="890" y="3305"/>
                <a:ext cx="290" cy="154"/>
                <a:chOff x="844" y="3337"/>
                <a:chExt cx="290" cy="154"/>
              </a:xfrm>
            </p:grpSpPr>
            <p:sp>
              <p:nvSpPr>
                <p:cNvPr id="984" name="Google Shape;984;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5" name="Google Shape;985;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986" name="Google Shape;986;p7"/>
              <p:cNvGrpSpPr/>
              <p:nvPr/>
            </p:nvGrpSpPr>
            <p:grpSpPr>
              <a:xfrm>
                <a:off x="836" y="3334"/>
                <a:ext cx="354" cy="94"/>
                <a:chOff x="836" y="3334"/>
                <a:chExt cx="354" cy="94"/>
              </a:xfrm>
            </p:grpSpPr>
            <p:sp>
              <p:nvSpPr>
                <p:cNvPr id="987" name="Google Shape;987;p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8" name="Google Shape;988;p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989" name="Google Shape;989;p7"/>
            <p:cNvGrpSpPr/>
            <p:nvPr/>
          </p:nvGrpSpPr>
          <p:grpSpPr>
            <a:xfrm>
              <a:off x="177" y="1042"/>
              <a:ext cx="480" cy="112"/>
              <a:chOff x="627" y="3377"/>
              <a:chExt cx="480" cy="112"/>
            </a:xfrm>
          </p:grpSpPr>
          <p:sp>
            <p:nvSpPr>
              <p:cNvPr id="990" name="Google Shape;990;p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1" name="Google Shape;991;p7"/>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92" name="Google Shape;992;p7"/>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93" name="Google Shape;993;p7"/>
          <p:cNvSpPr/>
          <p:nvPr/>
        </p:nvSpPr>
        <p:spPr>
          <a:xfrm>
            <a:off x="4781672" y="1792392"/>
            <a:ext cx="3494531"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solidFill>
            <a:srgbClr val="9CE0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94" name="Google Shape;994;p7"/>
          <p:cNvSpPr txBox="1"/>
          <p:nvPr/>
        </p:nvSpPr>
        <p:spPr>
          <a:xfrm>
            <a:off x="5524500" y="3671606"/>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68.80.0.0/13</a:t>
            </a:r>
            <a:endParaRPr/>
          </a:p>
        </p:txBody>
      </p:sp>
      <p:cxnSp>
        <p:nvCxnSpPr>
          <p:cNvPr id="995" name="Google Shape;995;p7"/>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cxnSp>
        <p:nvCxnSpPr>
          <p:cNvPr id="996" name="Google Shape;996;p7"/>
          <p:cNvCxnSpPr/>
          <p:nvPr/>
        </p:nvCxnSpPr>
        <p:spPr>
          <a:xfrm flipH="1">
            <a:off x="6949888" y="2731714"/>
            <a:ext cx="260350" cy="258762"/>
          </a:xfrm>
          <a:prstGeom prst="straightConnector1">
            <a:avLst/>
          </a:prstGeom>
          <a:noFill/>
          <a:ln cap="flat" cmpd="sng" w="9525">
            <a:solidFill>
              <a:srgbClr val="000000"/>
            </a:solidFill>
            <a:prstDash val="solid"/>
            <a:round/>
            <a:headEnd len="med" w="med" type="none"/>
            <a:tailEnd len="med" w="med" type="none"/>
          </a:ln>
        </p:spPr>
      </p:cxnSp>
      <p:sp>
        <p:nvSpPr>
          <p:cNvPr id="997" name="Google Shape;997;p7"/>
          <p:cNvSpPr txBox="1"/>
          <p:nvPr/>
        </p:nvSpPr>
        <p:spPr>
          <a:xfrm>
            <a:off x="7402326" y="2150782"/>
            <a:ext cx="755335" cy="78175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i="0" lang="en-US" sz="1600">
                <a:solidFill>
                  <a:srgbClr val="000000"/>
                </a:solidFill>
                <a:latin typeface="Arial"/>
                <a:ea typeface="Arial"/>
                <a:cs typeface="Arial"/>
                <a:sym typeface="Arial"/>
              </a:rPr>
              <a:t>DNS </a:t>
            </a:r>
            <a:endParaRPr/>
          </a:p>
          <a:p>
            <a:pPr indent="0" lvl="0" marL="0" marR="0" rtl="0" algn="l">
              <a:lnSpc>
                <a:spcPct val="90000"/>
              </a:lnSpc>
              <a:spcBef>
                <a:spcPts val="0"/>
              </a:spcBef>
              <a:spcAft>
                <a:spcPts val="0"/>
              </a:spcAft>
              <a:buNone/>
            </a:pPr>
            <a:r>
              <a:rPr i="0" lang="en-US" sz="1600">
                <a:solidFill>
                  <a:srgbClr val="000000"/>
                </a:solidFill>
                <a:latin typeface="Arial"/>
                <a:ea typeface="Arial"/>
                <a:cs typeface="Arial"/>
                <a:sym typeface="Arial"/>
              </a:rPr>
              <a:t>server</a:t>
            </a:r>
            <a:endParaRPr/>
          </a:p>
          <a:p>
            <a:pPr indent="0" lvl="0" marL="0" marR="0" rtl="0" algn="l">
              <a:spcBef>
                <a:spcPts val="0"/>
              </a:spcBef>
              <a:spcAft>
                <a:spcPts val="0"/>
              </a:spcAft>
              <a:buNone/>
            </a:pPr>
            <a:r>
              <a:t/>
            </a:r>
            <a:endParaRPr i="0" sz="1600">
              <a:solidFill>
                <a:srgbClr val="000000"/>
              </a:solidFill>
              <a:latin typeface="Arial"/>
              <a:ea typeface="Arial"/>
              <a:cs typeface="Arial"/>
              <a:sym typeface="Arial"/>
            </a:endParaRPr>
          </a:p>
        </p:txBody>
      </p:sp>
      <p:grpSp>
        <p:nvGrpSpPr>
          <p:cNvPr id="998" name="Google Shape;998;p7"/>
          <p:cNvGrpSpPr/>
          <p:nvPr/>
        </p:nvGrpSpPr>
        <p:grpSpPr>
          <a:xfrm flipH="1">
            <a:off x="5635438" y="3627064"/>
            <a:ext cx="400050" cy="152400"/>
            <a:chOff x="3228" y="1776"/>
            <a:chExt cx="252" cy="96"/>
          </a:xfrm>
        </p:grpSpPr>
        <p:cxnSp>
          <p:nvCxnSpPr>
            <p:cNvPr id="999" name="Google Shape;999;p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00" name="Google Shape;1000;p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01" name="Google Shape;1001;p7"/>
          <p:cNvGrpSpPr/>
          <p:nvPr/>
        </p:nvGrpSpPr>
        <p:grpSpPr>
          <a:xfrm rot="10800000">
            <a:off x="5787838" y="3103189"/>
            <a:ext cx="400050" cy="152400"/>
            <a:chOff x="3228" y="1776"/>
            <a:chExt cx="252" cy="96"/>
          </a:xfrm>
        </p:grpSpPr>
        <p:cxnSp>
          <p:nvCxnSpPr>
            <p:cNvPr id="1002" name="Google Shape;1002;p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03" name="Google Shape;1003;p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04" name="Google Shape;1004;p7"/>
          <p:cNvGrpSpPr/>
          <p:nvPr/>
        </p:nvGrpSpPr>
        <p:grpSpPr>
          <a:xfrm rot="10800000">
            <a:off x="7888101" y="3793751"/>
            <a:ext cx="400050" cy="152400"/>
            <a:chOff x="3228" y="1776"/>
            <a:chExt cx="252" cy="96"/>
          </a:xfrm>
        </p:grpSpPr>
        <p:cxnSp>
          <p:nvCxnSpPr>
            <p:cNvPr id="1005" name="Google Shape;1005;p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06" name="Google Shape;1006;p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07" name="Google Shape;1007;p7"/>
          <p:cNvGrpSpPr/>
          <p:nvPr/>
        </p:nvGrpSpPr>
        <p:grpSpPr>
          <a:xfrm flipH="1" rot="10800000">
            <a:off x="7064188" y="3812801"/>
            <a:ext cx="295275" cy="114300"/>
            <a:chOff x="3228" y="1776"/>
            <a:chExt cx="252" cy="96"/>
          </a:xfrm>
        </p:grpSpPr>
        <p:cxnSp>
          <p:nvCxnSpPr>
            <p:cNvPr id="1008" name="Google Shape;1008;p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09" name="Google Shape;1009;p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0" name="Google Shape;1010;p7"/>
          <p:cNvGrpSpPr/>
          <p:nvPr/>
        </p:nvGrpSpPr>
        <p:grpSpPr>
          <a:xfrm rot="-10390311">
            <a:off x="7335651" y="3155576"/>
            <a:ext cx="452437" cy="57150"/>
            <a:chOff x="3228" y="1776"/>
            <a:chExt cx="252" cy="96"/>
          </a:xfrm>
        </p:grpSpPr>
        <p:cxnSp>
          <p:nvCxnSpPr>
            <p:cNvPr id="1011" name="Google Shape;1011;p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2" name="Google Shape;1012;p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3" name="Google Shape;1013;p7"/>
          <p:cNvGrpSpPr/>
          <p:nvPr/>
        </p:nvGrpSpPr>
        <p:grpSpPr>
          <a:xfrm>
            <a:off x="6478401" y="3360364"/>
            <a:ext cx="295275" cy="114300"/>
            <a:chOff x="3228" y="1776"/>
            <a:chExt cx="252" cy="96"/>
          </a:xfrm>
        </p:grpSpPr>
        <p:cxnSp>
          <p:nvCxnSpPr>
            <p:cNvPr id="1014" name="Google Shape;1014;p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5" name="Google Shape;1015;p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6" name="Google Shape;1016;p7"/>
          <p:cNvGrpSpPr/>
          <p:nvPr/>
        </p:nvGrpSpPr>
        <p:grpSpPr>
          <a:xfrm flipH="1">
            <a:off x="7116576" y="3360364"/>
            <a:ext cx="295275" cy="114300"/>
            <a:chOff x="3228" y="1776"/>
            <a:chExt cx="252" cy="96"/>
          </a:xfrm>
        </p:grpSpPr>
        <p:cxnSp>
          <p:nvCxnSpPr>
            <p:cNvPr id="1017" name="Google Shape;1017;p7"/>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018" name="Google Shape;1018;p7"/>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019" name="Google Shape;1019;p7"/>
          <p:cNvGrpSpPr/>
          <p:nvPr/>
        </p:nvGrpSpPr>
        <p:grpSpPr>
          <a:xfrm>
            <a:off x="5174932" y="3229968"/>
            <a:ext cx="853832" cy="472456"/>
            <a:chOff x="7493876" y="2774731"/>
            <a:chExt cx="1481958" cy="894622"/>
          </a:xfrm>
        </p:grpSpPr>
        <p:sp>
          <p:nvSpPr>
            <p:cNvPr id="1020" name="Google Shape;1020;p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1" name="Google Shape;1021;p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2" name="Google Shape;1022;p7"/>
            <p:cNvGrpSpPr/>
            <p:nvPr/>
          </p:nvGrpSpPr>
          <p:grpSpPr>
            <a:xfrm>
              <a:off x="7713663" y="2848339"/>
              <a:ext cx="1042107" cy="425543"/>
              <a:chOff x="7786941" y="2884917"/>
              <a:chExt cx="897649" cy="353919"/>
            </a:xfrm>
          </p:grpSpPr>
          <p:sp>
            <p:nvSpPr>
              <p:cNvPr id="1023" name="Google Shape;1023;p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24" name="Google Shape;1024;p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25" name="Google Shape;1025;p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26" name="Google Shape;1026;p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027" name="Google Shape;1027;p7"/>
          <p:cNvGrpSpPr/>
          <p:nvPr/>
        </p:nvGrpSpPr>
        <p:grpSpPr>
          <a:xfrm>
            <a:off x="6497225" y="2978957"/>
            <a:ext cx="853832" cy="472456"/>
            <a:chOff x="7493876" y="2774731"/>
            <a:chExt cx="1481958" cy="894622"/>
          </a:xfrm>
        </p:grpSpPr>
        <p:sp>
          <p:nvSpPr>
            <p:cNvPr id="1028" name="Google Shape;1028;p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9" name="Google Shape;1029;p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0" name="Google Shape;1030;p7"/>
            <p:cNvGrpSpPr/>
            <p:nvPr/>
          </p:nvGrpSpPr>
          <p:grpSpPr>
            <a:xfrm>
              <a:off x="7713663" y="2848339"/>
              <a:ext cx="1042107" cy="425543"/>
              <a:chOff x="7786941" y="2884917"/>
              <a:chExt cx="897649" cy="353919"/>
            </a:xfrm>
          </p:grpSpPr>
          <p:sp>
            <p:nvSpPr>
              <p:cNvPr id="1031" name="Google Shape;1031;p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2" name="Google Shape;1032;p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3" name="Google Shape;1033;p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4" name="Google Shape;1034;p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035" name="Google Shape;1035;p7"/>
          <p:cNvGrpSpPr/>
          <p:nvPr/>
        </p:nvGrpSpPr>
        <p:grpSpPr>
          <a:xfrm>
            <a:off x="7241295" y="3709582"/>
            <a:ext cx="853832" cy="472456"/>
            <a:chOff x="7493876" y="2774731"/>
            <a:chExt cx="1481958" cy="894622"/>
          </a:xfrm>
        </p:grpSpPr>
        <p:sp>
          <p:nvSpPr>
            <p:cNvPr id="1036" name="Google Shape;1036;p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7" name="Google Shape;1037;p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8" name="Google Shape;1038;p7"/>
            <p:cNvGrpSpPr/>
            <p:nvPr/>
          </p:nvGrpSpPr>
          <p:grpSpPr>
            <a:xfrm>
              <a:off x="7713663" y="2848339"/>
              <a:ext cx="1042107" cy="425543"/>
              <a:chOff x="7786941" y="2884917"/>
              <a:chExt cx="897649" cy="353919"/>
            </a:xfrm>
          </p:grpSpPr>
          <p:sp>
            <p:nvSpPr>
              <p:cNvPr id="1039" name="Google Shape;1039;p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0" name="Google Shape;1040;p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1" name="Google Shape;1041;p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2" name="Google Shape;1042;p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043" name="Google Shape;1043;p7"/>
          <p:cNvGrpSpPr/>
          <p:nvPr/>
        </p:nvGrpSpPr>
        <p:grpSpPr>
          <a:xfrm>
            <a:off x="605761" y="1183316"/>
            <a:ext cx="460375" cy="244475"/>
            <a:chOff x="844" y="3337"/>
            <a:chExt cx="290" cy="154"/>
          </a:xfrm>
        </p:grpSpPr>
        <p:sp>
          <p:nvSpPr>
            <p:cNvPr id="1044" name="Google Shape;1044;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5" name="Google Shape;1045;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46" name="Google Shape;1046;p7"/>
          <p:cNvGrpSpPr/>
          <p:nvPr/>
        </p:nvGrpSpPr>
        <p:grpSpPr>
          <a:xfrm>
            <a:off x="545436" y="1408741"/>
            <a:ext cx="561975" cy="244475"/>
            <a:chOff x="740" y="3209"/>
            <a:chExt cx="354" cy="154"/>
          </a:xfrm>
        </p:grpSpPr>
        <p:grpSp>
          <p:nvGrpSpPr>
            <p:cNvPr id="1047" name="Google Shape;1047;p7"/>
            <p:cNvGrpSpPr/>
            <p:nvPr/>
          </p:nvGrpSpPr>
          <p:grpSpPr>
            <a:xfrm>
              <a:off x="794" y="3209"/>
              <a:ext cx="290" cy="154"/>
              <a:chOff x="844" y="3337"/>
              <a:chExt cx="290" cy="154"/>
            </a:xfrm>
          </p:grpSpPr>
          <p:sp>
            <p:nvSpPr>
              <p:cNvPr id="1048" name="Google Shape;1048;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9" name="Google Shape;1049;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050" name="Google Shape;1050;p7"/>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1" name="Google Shape;1051;p7"/>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52" name="Google Shape;1052;p7"/>
          <p:cNvGrpSpPr/>
          <p:nvPr/>
        </p:nvGrpSpPr>
        <p:grpSpPr>
          <a:xfrm>
            <a:off x="545436" y="1643691"/>
            <a:ext cx="561975" cy="244475"/>
            <a:chOff x="836" y="3305"/>
            <a:chExt cx="354" cy="154"/>
          </a:xfrm>
        </p:grpSpPr>
        <p:grpSp>
          <p:nvGrpSpPr>
            <p:cNvPr id="1053" name="Google Shape;1053;p7"/>
            <p:cNvGrpSpPr/>
            <p:nvPr/>
          </p:nvGrpSpPr>
          <p:grpSpPr>
            <a:xfrm>
              <a:off x="890" y="3305"/>
              <a:ext cx="290" cy="154"/>
              <a:chOff x="844" y="3337"/>
              <a:chExt cx="290" cy="154"/>
            </a:xfrm>
          </p:grpSpPr>
          <p:sp>
            <p:nvSpPr>
              <p:cNvPr id="1054" name="Google Shape;1054;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5" name="Google Shape;1055;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56" name="Google Shape;1056;p7"/>
            <p:cNvGrpSpPr/>
            <p:nvPr/>
          </p:nvGrpSpPr>
          <p:grpSpPr>
            <a:xfrm>
              <a:off x="836" y="3334"/>
              <a:ext cx="354" cy="94"/>
              <a:chOff x="836" y="3334"/>
              <a:chExt cx="354" cy="94"/>
            </a:xfrm>
          </p:grpSpPr>
          <p:sp>
            <p:nvSpPr>
              <p:cNvPr id="1057" name="Google Shape;1057;p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8" name="Google Shape;1058;p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059" name="Google Shape;1059;p7"/>
          <p:cNvGrpSpPr/>
          <p:nvPr/>
        </p:nvGrpSpPr>
        <p:grpSpPr>
          <a:xfrm>
            <a:off x="366049" y="1675441"/>
            <a:ext cx="762000" cy="177800"/>
            <a:chOff x="627" y="3377"/>
            <a:chExt cx="480" cy="112"/>
          </a:xfrm>
        </p:grpSpPr>
        <p:sp>
          <p:nvSpPr>
            <p:cNvPr id="1060" name="Google Shape;1060;p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1" name="Google Shape;1061;p7"/>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62" name="Google Shape;1062;p7"/>
          <p:cNvGrpSpPr/>
          <p:nvPr/>
        </p:nvGrpSpPr>
        <p:grpSpPr>
          <a:xfrm>
            <a:off x="170786" y="1907216"/>
            <a:ext cx="1081088" cy="244475"/>
            <a:chOff x="504" y="3523"/>
            <a:chExt cx="681" cy="154"/>
          </a:xfrm>
        </p:grpSpPr>
        <p:grpSp>
          <p:nvGrpSpPr>
            <p:cNvPr id="1063" name="Google Shape;1063;p7"/>
            <p:cNvGrpSpPr/>
            <p:nvPr/>
          </p:nvGrpSpPr>
          <p:grpSpPr>
            <a:xfrm>
              <a:off x="623" y="3523"/>
              <a:ext cx="480" cy="154"/>
              <a:chOff x="723" y="3453"/>
              <a:chExt cx="480" cy="154"/>
            </a:xfrm>
          </p:grpSpPr>
          <p:grpSp>
            <p:nvGrpSpPr>
              <p:cNvPr id="1064" name="Google Shape;1064;p7"/>
              <p:cNvGrpSpPr/>
              <p:nvPr/>
            </p:nvGrpSpPr>
            <p:grpSpPr>
              <a:xfrm>
                <a:off x="836" y="3453"/>
                <a:ext cx="354" cy="154"/>
                <a:chOff x="836" y="3305"/>
                <a:chExt cx="354" cy="154"/>
              </a:xfrm>
            </p:grpSpPr>
            <p:grpSp>
              <p:nvGrpSpPr>
                <p:cNvPr id="1065" name="Google Shape;1065;p7"/>
                <p:cNvGrpSpPr/>
                <p:nvPr/>
              </p:nvGrpSpPr>
              <p:grpSpPr>
                <a:xfrm>
                  <a:off x="890" y="3305"/>
                  <a:ext cx="290" cy="154"/>
                  <a:chOff x="844" y="3337"/>
                  <a:chExt cx="290" cy="154"/>
                </a:xfrm>
              </p:grpSpPr>
              <p:sp>
                <p:nvSpPr>
                  <p:cNvPr id="1066" name="Google Shape;1066;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7" name="Google Shape;1067;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68" name="Google Shape;1068;p7"/>
                <p:cNvGrpSpPr/>
                <p:nvPr/>
              </p:nvGrpSpPr>
              <p:grpSpPr>
                <a:xfrm>
                  <a:off x="836" y="3334"/>
                  <a:ext cx="354" cy="94"/>
                  <a:chOff x="836" y="3334"/>
                  <a:chExt cx="354" cy="94"/>
                </a:xfrm>
              </p:grpSpPr>
              <p:sp>
                <p:nvSpPr>
                  <p:cNvPr id="1069" name="Google Shape;1069;p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0" name="Google Shape;1070;p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071" name="Google Shape;1071;p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2" name="Google Shape;1072;p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73" name="Google Shape;1073;p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4" name="Google Shape;1074;p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5" name="Google Shape;1075;p7"/>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76" name="Google Shape;1076;p7"/>
          <p:cNvSpPr/>
          <p:nvPr/>
        </p:nvSpPr>
        <p:spPr>
          <a:xfrm>
            <a:off x="713711" y="1183316"/>
            <a:ext cx="381000" cy="1166813"/>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077" name="Google Shape;1077;p7"/>
          <p:cNvGrpSpPr/>
          <p:nvPr/>
        </p:nvGrpSpPr>
        <p:grpSpPr>
          <a:xfrm>
            <a:off x="185921" y="2355452"/>
            <a:ext cx="1081088" cy="244475"/>
            <a:chOff x="504" y="3523"/>
            <a:chExt cx="681" cy="154"/>
          </a:xfrm>
        </p:grpSpPr>
        <p:grpSp>
          <p:nvGrpSpPr>
            <p:cNvPr id="1078" name="Google Shape;1078;p7"/>
            <p:cNvGrpSpPr/>
            <p:nvPr/>
          </p:nvGrpSpPr>
          <p:grpSpPr>
            <a:xfrm>
              <a:off x="623" y="3523"/>
              <a:ext cx="480" cy="154"/>
              <a:chOff x="723" y="3453"/>
              <a:chExt cx="480" cy="154"/>
            </a:xfrm>
          </p:grpSpPr>
          <p:grpSp>
            <p:nvGrpSpPr>
              <p:cNvPr id="1079" name="Google Shape;1079;p7"/>
              <p:cNvGrpSpPr/>
              <p:nvPr/>
            </p:nvGrpSpPr>
            <p:grpSpPr>
              <a:xfrm>
                <a:off x="836" y="3453"/>
                <a:ext cx="354" cy="154"/>
                <a:chOff x="836" y="3305"/>
                <a:chExt cx="354" cy="154"/>
              </a:xfrm>
            </p:grpSpPr>
            <p:grpSp>
              <p:nvGrpSpPr>
                <p:cNvPr id="1080" name="Google Shape;1080;p7"/>
                <p:cNvGrpSpPr/>
                <p:nvPr/>
              </p:nvGrpSpPr>
              <p:grpSpPr>
                <a:xfrm>
                  <a:off x="890" y="3305"/>
                  <a:ext cx="290" cy="154"/>
                  <a:chOff x="844" y="3337"/>
                  <a:chExt cx="290" cy="154"/>
                </a:xfrm>
              </p:grpSpPr>
              <p:sp>
                <p:nvSpPr>
                  <p:cNvPr id="1081" name="Google Shape;1081;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2" name="Google Shape;1082;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083" name="Google Shape;1083;p7"/>
                <p:cNvGrpSpPr/>
                <p:nvPr/>
              </p:nvGrpSpPr>
              <p:grpSpPr>
                <a:xfrm>
                  <a:off x="836" y="3334"/>
                  <a:ext cx="354" cy="94"/>
                  <a:chOff x="836" y="3334"/>
                  <a:chExt cx="354" cy="94"/>
                </a:xfrm>
              </p:grpSpPr>
              <p:sp>
                <p:nvSpPr>
                  <p:cNvPr id="1084" name="Google Shape;1084;p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5" name="Google Shape;1085;p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086" name="Google Shape;1086;p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7" name="Google Shape;1087;p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88" name="Google Shape;1088;p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9" name="Google Shape;1089;p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0" name="Google Shape;1090;p7"/>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91" name="Google Shape;1091;p7"/>
          <p:cNvSpPr/>
          <p:nvPr/>
        </p:nvSpPr>
        <p:spPr>
          <a:xfrm>
            <a:off x="402783" y="4451462"/>
            <a:ext cx="3216717" cy="13065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400"/>
              <a:buFont typeface="Noto Sans Symbols"/>
              <a:buChar char="▪"/>
            </a:pPr>
            <a:r>
              <a:rPr lang="en-US" sz="2400">
                <a:solidFill>
                  <a:srgbClr val="000000"/>
                </a:solidFill>
                <a:latin typeface="Arial"/>
                <a:ea typeface="Arial"/>
                <a:cs typeface="Arial"/>
                <a:sym typeface="Arial"/>
              </a:rPr>
              <a:t>IP datagram containing DNS query forwarded via LAN switch from client to 1</a:t>
            </a:r>
            <a:r>
              <a:rPr baseline="30000" lang="en-US" sz="2400">
                <a:solidFill>
                  <a:srgbClr val="000000"/>
                </a:solidFill>
                <a:latin typeface="Arial"/>
                <a:ea typeface="Arial"/>
                <a:cs typeface="Arial"/>
                <a:sym typeface="Arial"/>
              </a:rPr>
              <a:t>st</a:t>
            </a:r>
            <a:r>
              <a:rPr lang="en-US" sz="2400">
                <a:solidFill>
                  <a:srgbClr val="000000"/>
                </a:solidFill>
                <a:latin typeface="Arial"/>
                <a:ea typeface="Arial"/>
                <a:cs typeface="Arial"/>
                <a:sym typeface="Arial"/>
              </a:rPr>
              <a:t> hop router</a:t>
            </a:r>
            <a:endParaRPr/>
          </a:p>
        </p:txBody>
      </p:sp>
      <p:sp>
        <p:nvSpPr>
          <p:cNvPr id="1092" name="Google Shape;1092;p7"/>
          <p:cNvSpPr/>
          <p:nvPr/>
        </p:nvSpPr>
        <p:spPr>
          <a:xfrm>
            <a:off x="4396562" y="4626361"/>
            <a:ext cx="5141138" cy="1482339"/>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0"/>
              </a:buClr>
              <a:buSzPts val="2400"/>
              <a:buFont typeface="Noto Sans Symbols"/>
              <a:buChar char="▪"/>
            </a:pPr>
            <a:r>
              <a:rPr lang="en-US" sz="2400">
                <a:solidFill>
                  <a:srgbClr val="000000"/>
                </a:solidFill>
                <a:latin typeface="Arial"/>
                <a:ea typeface="Arial"/>
                <a:cs typeface="Arial"/>
                <a:sym typeface="Arial"/>
              </a:rPr>
              <a:t>IP datagram forwarded from campus network into Comcast network, routed (tables created by </a:t>
            </a:r>
            <a:r>
              <a:rPr lang="en-US" sz="2400">
                <a:solidFill>
                  <a:srgbClr val="C00000"/>
                </a:solidFill>
                <a:latin typeface="Arial"/>
                <a:ea typeface="Arial"/>
                <a:cs typeface="Arial"/>
                <a:sym typeface="Arial"/>
              </a:rPr>
              <a:t>RIP, OSPF, IS-IS </a:t>
            </a:r>
            <a:r>
              <a:rPr lang="en-US" sz="2400">
                <a:solidFill>
                  <a:srgbClr val="000000"/>
                </a:solidFill>
                <a:latin typeface="Arial"/>
                <a:ea typeface="Arial"/>
                <a:cs typeface="Arial"/>
                <a:sym typeface="Arial"/>
              </a:rPr>
              <a:t>and/or </a:t>
            </a:r>
            <a:r>
              <a:rPr lang="en-US" sz="2400">
                <a:solidFill>
                  <a:srgbClr val="C00000"/>
                </a:solidFill>
                <a:latin typeface="Arial"/>
                <a:ea typeface="Arial"/>
                <a:cs typeface="Arial"/>
                <a:sym typeface="Arial"/>
              </a:rPr>
              <a:t>BGP</a:t>
            </a:r>
            <a:r>
              <a:rPr lang="en-US" sz="2400">
                <a:solidFill>
                  <a:srgbClr val="000000"/>
                </a:solidFill>
                <a:latin typeface="Arial"/>
                <a:ea typeface="Arial"/>
                <a:cs typeface="Arial"/>
                <a:sym typeface="Arial"/>
              </a:rPr>
              <a:t> routing protocols) to DNS server</a:t>
            </a:r>
            <a:endParaRPr/>
          </a:p>
        </p:txBody>
      </p:sp>
      <p:sp>
        <p:nvSpPr>
          <p:cNvPr id="1093" name="Google Shape;1093;p7"/>
          <p:cNvSpPr/>
          <p:nvPr/>
        </p:nvSpPr>
        <p:spPr>
          <a:xfrm>
            <a:off x="8631237" y="1456182"/>
            <a:ext cx="3230563" cy="12922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0"/>
              </a:buClr>
              <a:buSzPts val="2400"/>
              <a:buFont typeface="Noto Sans Symbols"/>
              <a:buChar char="▪"/>
            </a:pPr>
            <a:r>
              <a:rPr lang="en-US" sz="2400">
                <a:solidFill>
                  <a:srgbClr val="000000"/>
                </a:solidFill>
                <a:latin typeface="Arial"/>
                <a:ea typeface="Arial"/>
                <a:cs typeface="Arial"/>
                <a:sym typeface="Arial"/>
              </a:rPr>
              <a:t>de-muxed to DNS</a:t>
            </a:r>
            <a:endParaRPr/>
          </a:p>
          <a:p>
            <a:pPr indent="-342900" lvl="0" marL="342900" marR="0" rtl="0" algn="l">
              <a:lnSpc>
                <a:spcPct val="90000"/>
              </a:lnSpc>
              <a:spcBef>
                <a:spcPts val="480"/>
              </a:spcBef>
              <a:spcAft>
                <a:spcPts val="0"/>
              </a:spcAft>
              <a:buClr>
                <a:srgbClr val="000090"/>
              </a:buClr>
              <a:buSzPts val="2400"/>
              <a:buFont typeface="Noto Sans Symbols"/>
              <a:buChar char="▪"/>
            </a:pPr>
            <a:r>
              <a:rPr lang="en-US" sz="2400">
                <a:solidFill>
                  <a:srgbClr val="000000"/>
                </a:solidFill>
                <a:latin typeface="Arial"/>
                <a:ea typeface="Arial"/>
                <a:cs typeface="Arial"/>
                <a:sym typeface="Arial"/>
              </a:rPr>
              <a:t>DNS replies to client with IP address of www.google.com </a:t>
            </a:r>
            <a:endParaRPr/>
          </a:p>
        </p:txBody>
      </p:sp>
      <p:grpSp>
        <p:nvGrpSpPr>
          <p:cNvPr id="1094" name="Google Shape;1094;p7"/>
          <p:cNvGrpSpPr/>
          <p:nvPr/>
        </p:nvGrpSpPr>
        <p:grpSpPr>
          <a:xfrm>
            <a:off x="5809991" y="1480142"/>
            <a:ext cx="1317624" cy="1314450"/>
            <a:chOff x="931" y="1941"/>
            <a:chExt cx="830" cy="828"/>
          </a:xfrm>
        </p:grpSpPr>
        <p:sp>
          <p:nvSpPr>
            <p:cNvPr id="1095" name="Google Shape;1095;p7"/>
            <p:cNvSpPr/>
            <p:nvPr/>
          </p:nvSpPr>
          <p:spPr>
            <a:xfrm>
              <a:off x="1424" y="1965"/>
              <a:ext cx="337" cy="801"/>
            </a:xfrm>
            <a:custGeom>
              <a:rect b="b" l="l" r="r" t="t"/>
              <a:pathLst>
                <a:path extrusionOk="0" h="10000" w="10024">
                  <a:moveTo>
                    <a:pt x="254" y="0"/>
                  </a:moveTo>
                  <a:cubicBezTo>
                    <a:pt x="3503" y="1673"/>
                    <a:pt x="6158" y="3657"/>
                    <a:pt x="10000" y="5019"/>
                  </a:cubicBezTo>
                  <a:lnTo>
                    <a:pt x="10024" y="6921"/>
                  </a:lnTo>
                  <a:cubicBezTo>
                    <a:pt x="4939" y="8134"/>
                    <a:pt x="3414" y="8974"/>
                    <a:pt x="109" y="10000"/>
                  </a:cubicBezTo>
                  <a:cubicBezTo>
                    <a:pt x="151" y="8893"/>
                    <a:pt x="194" y="7786"/>
                    <a:pt x="236" y="6679"/>
                  </a:cubicBezTo>
                  <a:cubicBezTo>
                    <a:pt x="157" y="5997"/>
                    <a:pt x="79" y="5314"/>
                    <a:pt x="0" y="4632"/>
                  </a:cubicBezTo>
                  <a:cubicBezTo>
                    <a:pt x="85" y="3088"/>
                    <a:pt x="169" y="1544"/>
                    <a:pt x="254" y="0"/>
                  </a:cubicBezTo>
                  <a:close/>
                </a:path>
              </a:pathLst>
            </a:custGeom>
            <a:gradFill>
              <a:gsLst>
                <a:gs pos="0">
                  <a:srgbClr val="D8D8D8"/>
                </a:gs>
                <a:gs pos="99000">
                  <a:schemeClr val="lt1"/>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96" name="Google Shape;1096;p7"/>
            <p:cNvGrpSpPr/>
            <p:nvPr/>
          </p:nvGrpSpPr>
          <p:grpSpPr>
            <a:xfrm>
              <a:off x="931" y="1941"/>
              <a:ext cx="500" cy="828"/>
              <a:chOff x="569" y="2954"/>
              <a:chExt cx="500" cy="828"/>
            </a:xfrm>
          </p:grpSpPr>
          <p:sp>
            <p:nvSpPr>
              <p:cNvPr id="1097" name="Google Shape;1097;p7"/>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8" name="Google Shape;1098;p7"/>
              <p:cNvSpPr txBox="1"/>
              <p:nvPr/>
            </p:nvSpPr>
            <p:spPr>
              <a:xfrm>
                <a:off x="639" y="2954"/>
                <a:ext cx="385"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DNS</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099" name="Google Shape;1099;p7"/>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100" name="Google Shape;1100;p7"/>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101" name="Google Shape;1101;p7"/>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102" name="Google Shape;1102;p7"/>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103" name="Google Shape;1103;p7"/>
          <p:cNvGrpSpPr/>
          <p:nvPr/>
        </p:nvGrpSpPr>
        <p:grpSpPr>
          <a:xfrm>
            <a:off x="4711442" y="1600792"/>
            <a:ext cx="1081087" cy="1217613"/>
            <a:chOff x="1404" y="3105"/>
            <a:chExt cx="681" cy="767"/>
          </a:xfrm>
        </p:grpSpPr>
        <p:grpSp>
          <p:nvGrpSpPr>
            <p:cNvPr id="1104" name="Google Shape;1104;p7"/>
            <p:cNvGrpSpPr/>
            <p:nvPr/>
          </p:nvGrpSpPr>
          <p:grpSpPr>
            <a:xfrm>
              <a:off x="1404" y="3355"/>
              <a:ext cx="681" cy="468"/>
              <a:chOff x="42" y="886"/>
              <a:chExt cx="681" cy="468"/>
            </a:xfrm>
          </p:grpSpPr>
          <p:grpSp>
            <p:nvGrpSpPr>
              <p:cNvPr id="1105" name="Google Shape;1105;p7"/>
              <p:cNvGrpSpPr/>
              <p:nvPr/>
            </p:nvGrpSpPr>
            <p:grpSpPr>
              <a:xfrm>
                <a:off x="278" y="886"/>
                <a:ext cx="354" cy="154"/>
                <a:chOff x="740" y="3209"/>
                <a:chExt cx="354" cy="154"/>
              </a:xfrm>
            </p:grpSpPr>
            <p:grpSp>
              <p:nvGrpSpPr>
                <p:cNvPr id="1106" name="Google Shape;1106;p7"/>
                <p:cNvGrpSpPr/>
                <p:nvPr/>
              </p:nvGrpSpPr>
              <p:grpSpPr>
                <a:xfrm>
                  <a:off x="794" y="3209"/>
                  <a:ext cx="290" cy="154"/>
                  <a:chOff x="844" y="3337"/>
                  <a:chExt cx="290" cy="154"/>
                </a:xfrm>
              </p:grpSpPr>
              <p:sp>
                <p:nvSpPr>
                  <p:cNvPr id="1107" name="Google Shape;1107;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8" name="Google Shape;1108;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109" name="Google Shape;1109;p7"/>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0" name="Google Shape;1110;p7"/>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111" name="Google Shape;1111;p7"/>
              <p:cNvGrpSpPr/>
              <p:nvPr/>
            </p:nvGrpSpPr>
            <p:grpSpPr>
              <a:xfrm>
                <a:off x="278" y="1034"/>
                <a:ext cx="354" cy="154"/>
                <a:chOff x="836" y="3305"/>
                <a:chExt cx="354" cy="154"/>
              </a:xfrm>
            </p:grpSpPr>
            <p:grpSp>
              <p:nvGrpSpPr>
                <p:cNvPr id="1112" name="Google Shape;1112;p7"/>
                <p:cNvGrpSpPr/>
                <p:nvPr/>
              </p:nvGrpSpPr>
              <p:grpSpPr>
                <a:xfrm>
                  <a:off x="890" y="3305"/>
                  <a:ext cx="290" cy="154"/>
                  <a:chOff x="844" y="3337"/>
                  <a:chExt cx="290" cy="154"/>
                </a:xfrm>
              </p:grpSpPr>
              <p:sp>
                <p:nvSpPr>
                  <p:cNvPr id="1113" name="Google Shape;1113;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4" name="Google Shape;1114;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115" name="Google Shape;1115;p7"/>
                <p:cNvGrpSpPr/>
                <p:nvPr/>
              </p:nvGrpSpPr>
              <p:grpSpPr>
                <a:xfrm>
                  <a:off x="836" y="3334"/>
                  <a:ext cx="354" cy="94"/>
                  <a:chOff x="836" y="3334"/>
                  <a:chExt cx="354" cy="94"/>
                </a:xfrm>
              </p:grpSpPr>
              <p:sp>
                <p:nvSpPr>
                  <p:cNvPr id="1116" name="Google Shape;1116;p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7" name="Google Shape;1117;p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118" name="Google Shape;1118;p7"/>
              <p:cNvGrpSpPr/>
              <p:nvPr/>
            </p:nvGrpSpPr>
            <p:grpSpPr>
              <a:xfrm>
                <a:off x="165" y="1054"/>
                <a:ext cx="480" cy="112"/>
                <a:chOff x="627" y="3377"/>
                <a:chExt cx="480" cy="112"/>
              </a:xfrm>
            </p:grpSpPr>
            <p:sp>
              <p:nvSpPr>
                <p:cNvPr id="1119" name="Google Shape;1119;p7"/>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0" name="Google Shape;1120;p7"/>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121" name="Google Shape;1121;p7"/>
              <p:cNvGrpSpPr/>
              <p:nvPr/>
            </p:nvGrpSpPr>
            <p:grpSpPr>
              <a:xfrm>
                <a:off x="42" y="1200"/>
                <a:ext cx="681" cy="154"/>
                <a:chOff x="504" y="3523"/>
                <a:chExt cx="681" cy="154"/>
              </a:xfrm>
            </p:grpSpPr>
            <p:grpSp>
              <p:nvGrpSpPr>
                <p:cNvPr id="1122" name="Google Shape;1122;p7"/>
                <p:cNvGrpSpPr/>
                <p:nvPr/>
              </p:nvGrpSpPr>
              <p:grpSpPr>
                <a:xfrm>
                  <a:off x="623" y="3523"/>
                  <a:ext cx="480" cy="154"/>
                  <a:chOff x="723" y="3453"/>
                  <a:chExt cx="480" cy="154"/>
                </a:xfrm>
              </p:grpSpPr>
              <p:grpSp>
                <p:nvGrpSpPr>
                  <p:cNvPr id="1123" name="Google Shape;1123;p7"/>
                  <p:cNvGrpSpPr/>
                  <p:nvPr/>
                </p:nvGrpSpPr>
                <p:grpSpPr>
                  <a:xfrm>
                    <a:off x="836" y="3453"/>
                    <a:ext cx="354" cy="154"/>
                    <a:chOff x="836" y="3305"/>
                    <a:chExt cx="354" cy="154"/>
                  </a:xfrm>
                </p:grpSpPr>
                <p:grpSp>
                  <p:nvGrpSpPr>
                    <p:cNvPr id="1124" name="Google Shape;1124;p7"/>
                    <p:cNvGrpSpPr/>
                    <p:nvPr/>
                  </p:nvGrpSpPr>
                  <p:grpSpPr>
                    <a:xfrm>
                      <a:off x="890" y="3305"/>
                      <a:ext cx="290" cy="154"/>
                      <a:chOff x="844" y="3337"/>
                      <a:chExt cx="290" cy="154"/>
                    </a:xfrm>
                  </p:grpSpPr>
                  <p:sp>
                    <p:nvSpPr>
                      <p:cNvPr id="1125" name="Google Shape;1125;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6" name="Google Shape;1126;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127" name="Google Shape;1127;p7"/>
                    <p:cNvGrpSpPr/>
                    <p:nvPr/>
                  </p:nvGrpSpPr>
                  <p:grpSpPr>
                    <a:xfrm>
                      <a:off x="836" y="3334"/>
                      <a:ext cx="354" cy="94"/>
                      <a:chOff x="836" y="3334"/>
                      <a:chExt cx="354" cy="94"/>
                    </a:xfrm>
                  </p:grpSpPr>
                  <p:sp>
                    <p:nvSpPr>
                      <p:cNvPr id="1128" name="Google Shape;1128;p7"/>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9" name="Google Shape;1129;p7"/>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130" name="Google Shape;1130;p7"/>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1" name="Google Shape;1131;p7"/>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32" name="Google Shape;1132;p7"/>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3" name="Google Shape;1133;p7"/>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4" name="Google Shape;1134;p7"/>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135" name="Google Shape;1135;p7"/>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36" name="Google Shape;1136;p7"/>
            <p:cNvGrpSpPr/>
            <p:nvPr/>
          </p:nvGrpSpPr>
          <p:grpSpPr>
            <a:xfrm>
              <a:off x="1695" y="3227"/>
              <a:ext cx="290" cy="154"/>
              <a:chOff x="844" y="3337"/>
              <a:chExt cx="290" cy="154"/>
            </a:xfrm>
          </p:grpSpPr>
          <p:sp>
            <p:nvSpPr>
              <p:cNvPr id="1137" name="Google Shape;1137;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8" name="Google Shape;1138;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grpSp>
        <p:nvGrpSpPr>
          <p:cNvPr id="1139" name="Google Shape;1139;p7"/>
          <p:cNvGrpSpPr/>
          <p:nvPr/>
        </p:nvGrpSpPr>
        <p:grpSpPr>
          <a:xfrm>
            <a:off x="7043551" y="2123701"/>
            <a:ext cx="358775" cy="623888"/>
            <a:chOff x="4140" y="429"/>
            <a:chExt cx="1425" cy="2396"/>
          </a:xfrm>
        </p:grpSpPr>
        <p:sp>
          <p:nvSpPr>
            <p:cNvPr id="1140" name="Google Shape;1140;p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1" name="Google Shape;1141;p7"/>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2" name="Google Shape;1142;p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3" name="Google Shape;1143;p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4" name="Google Shape;1144;p7"/>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45" name="Google Shape;1145;p7"/>
            <p:cNvGrpSpPr/>
            <p:nvPr/>
          </p:nvGrpSpPr>
          <p:grpSpPr>
            <a:xfrm>
              <a:off x="4751" y="667"/>
              <a:ext cx="580" cy="146"/>
              <a:chOff x="617" y="2567"/>
              <a:chExt cx="724" cy="140"/>
            </a:xfrm>
          </p:grpSpPr>
          <p:sp>
            <p:nvSpPr>
              <p:cNvPr id="1146" name="Google Shape;1146;p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7" name="Google Shape;1147;p7"/>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48" name="Google Shape;1148;p7"/>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49" name="Google Shape;1149;p7"/>
            <p:cNvGrpSpPr/>
            <p:nvPr/>
          </p:nvGrpSpPr>
          <p:grpSpPr>
            <a:xfrm>
              <a:off x="4745" y="996"/>
              <a:ext cx="580" cy="134"/>
              <a:chOff x="612" y="2570"/>
              <a:chExt cx="724" cy="139"/>
            </a:xfrm>
          </p:grpSpPr>
          <p:sp>
            <p:nvSpPr>
              <p:cNvPr id="1150" name="Google Shape;1150;p7"/>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1" name="Google Shape;1151;p7"/>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52" name="Google Shape;1152;p7"/>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3" name="Google Shape;1153;p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54" name="Google Shape;1154;p7"/>
            <p:cNvGrpSpPr/>
            <p:nvPr/>
          </p:nvGrpSpPr>
          <p:grpSpPr>
            <a:xfrm>
              <a:off x="4733" y="1636"/>
              <a:ext cx="586" cy="140"/>
              <a:chOff x="611" y="2576"/>
              <a:chExt cx="730" cy="129"/>
            </a:xfrm>
          </p:grpSpPr>
          <p:sp>
            <p:nvSpPr>
              <p:cNvPr id="1155" name="Google Shape;1155;p7"/>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6" name="Google Shape;1156;p7"/>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57" name="Google Shape;1157;p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158" name="Google Shape;1158;p7"/>
            <p:cNvGrpSpPr/>
            <p:nvPr/>
          </p:nvGrpSpPr>
          <p:grpSpPr>
            <a:xfrm>
              <a:off x="4739" y="1325"/>
              <a:ext cx="580" cy="140"/>
              <a:chOff x="614" y="2566"/>
              <a:chExt cx="723" cy="140"/>
            </a:xfrm>
          </p:grpSpPr>
          <p:sp>
            <p:nvSpPr>
              <p:cNvPr id="1159" name="Google Shape;1159;p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0" name="Google Shape;1160;p7"/>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61" name="Google Shape;1161;p7"/>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2" name="Google Shape;1162;p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3" name="Google Shape;1163;p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4" name="Google Shape;1164;p7"/>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5" name="Google Shape;1165;p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6" name="Google Shape;1166;p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7" name="Google Shape;1167;p7"/>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8" name="Google Shape;1168;p7"/>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9" name="Google Shape;1169;p7"/>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170" name="Google Shape;1170;p7"/>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1" name="Google Shape;1171;p7"/>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172" name="Google Shape;1172;p7"/>
          <p:cNvGrpSpPr/>
          <p:nvPr/>
        </p:nvGrpSpPr>
        <p:grpSpPr>
          <a:xfrm>
            <a:off x="4395993" y="1490721"/>
            <a:ext cx="460375" cy="487292"/>
            <a:chOff x="4568161" y="1475417"/>
            <a:chExt cx="460375" cy="487292"/>
          </a:xfrm>
        </p:grpSpPr>
        <p:grpSp>
          <p:nvGrpSpPr>
            <p:cNvPr id="1173" name="Google Shape;1173;p7"/>
            <p:cNvGrpSpPr/>
            <p:nvPr/>
          </p:nvGrpSpPr>
          <p:grpSpPr>
            <a:xfrm>
              <a:off x="4568161" y="1500816"/>
              <a:ext cx="460375" cy="244475"/>
              <a:chOff x="844" y="3337"/>
              <a:chExt cx="290" cy="154"/>
            </a:xfrm>
          </p:grpSpPr>
          <p:sp>
            <p:nvSpPr>
              <p:cNvPr id="1174" name="Google Shape;1174;p7"/>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5" name="Google Shape;1175;p7"/>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176" name="Google Shape;1176;p7"/>
            <p:cNvSpPr/>
            <p:nvPr/>
          </p:nvSpPr>
          <p:spPr>
            <a:xfrm>
              <a:off x="4627915" y="1475417"/>
              <a:ext cx="381000" cy="487292"/>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04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1000"/>
                                        <p:tgtEl>
                                          <p:spTgt spid="10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500"/>
                                        <p:tgtEl>
                                          <p:spTgt spid="1094"/>
                                        </p:tgtEl>
                                      </p:cBhvr>
                                    </p:animEffect>
                                  </p:childTnLst>
                                </p:cTn>
                              </p:par>
                              <p:par>
                                <p:cTn fill="hold" nodeType="withEffect" presetClass="entr" presetID="10" presetSubtype="0">
                                  <p:stCondLst>
                                    <p:cond delay="0"/>
                                  </p:stCondLst>
                                  <p:childTnLst>
                                    <p:set>
                                      <p:cBhvr>
                                        <p:cTn dur="1" fill="hold">
                                          <p:stCondLst>
                                            <p:cond delay="0"/>
                                          </p:stCondLst>
                                        </p:cTn>
                                        <p:tgtEl>
                                          <p:spTgt spid="1092"/>
                                        </p:tgtEl>
                                        <p:attrNameLst>
                                          <p:attrName>style.visibility</p:attrName>
                                        </p:attrNameLst>
                                      </p:cBhvr>
                                      <p:to>
                                        <p:strVal val="visible"/>
                                      </p:to>
                                    </p:set>
                                    <p:animEffect filter="fade" transition="in">
                                      <p:cBhvr>
                                        <p:cTn dur="1000"/>
                                        <p:tgtEl>
                                          <p:spTgt spid="10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07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1000"/>
                                        <p:tgtEl>
                                          <p:spTgt spid="1103"/>
                                        </p:tgtEl>
                                      </p:cBhvr>
                                    </p:animEffect>
                                  </p:childTnLst>
                                </p:cTn>
                              </p:par>
                              <p:par>
                                <p:cTn fill="hold" nodeType="withEffect" presetClass="entr" presetID="10" presetSubtype="0">
                                  <p:stCondLst>
                                    <p:cond delay="0"/>
                                  </p:stCondLst>
                                  <p:childTnLst>
                                    <p:set>
                                      <p:cBhvr>
                                        <p:cTn dur="1" fill="hold">
                                          <p:stCondLst>
                                            <p:cond delay="0"/>
                                          </p:stCondLst>
                                        </p:cTn>
                                        <p:tgtEl>
                                          <p:spTgt spid="1093">
                                            <p:txEl>
                                              <p:pRg end="0" st="0"/>
                                            </p:txEl>
                                          </p:spTgt>
                                        </p:tgtEl>
                                        <p:attrNameLst>
                                          <p:attrName>style.visibility</p:attrName>
                                        </p:attrNameLst>
                                      </p:cBhvr>
                                      <p:to>
                                        <p:strVal val="visible"/>
                                      </p:to>
                                    </p:set>
                                    <p:animEffect filter="fade" transition="in">
                                      <p:cBhvr>
                                        <p:cTn dur="1000"/>
                                        <p:tgtEl>
                                          <p:spTgt spid="109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93">
                                            <p:txEl>
                                              <p:pRg end="1" st="1"/>
                                            </p:txEl>
                                          </p:spTgt>
                                        </p:tgtEl>
                                        <p:attrNameLst>
                                          <p:attrName>style.visibility</p:attrName>
                                        </p:attrNameLst>
                                      </p:cBhvr>
                                      <p:to>
                                        <p:strVal val="visible"/>
                                      </p:to>
                                    </p:set>
                                    <p:animEffect filter="fade" transition="in">
                                      <p:cBhvr>
                                        <p:cTn dur="1000"/>
                                        <p:tgtEl>
                                          <p:spTgt spid="10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500"/>
                                        <p:tgtEl>
                                          <p:spTgt spid="1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8"/>
          <p:cNvSpPr txBox="1"/>
          <p:nvPr>
            <p:ph type="title"/>
          </p:nvPr>
        </p:nvSpPr>
        <p:spPr>
          <a:xfrm>
            <a:off x="811306" y="303903"/>
            <a:ext cx="10999694"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Arial"/>
              <a:buNone/>
            </a:pPr>
            <a:r>
              <a:rPr b="0" lang="en-US">
                <a:latin typeface="Arial"/>
                <a:ea typeface="Arial"/>
                <a:cs typeface="Arial"/>
                <a:sym typeface="Arial"/>
              </a:rPr>
              <a:t>A day in the life…TCP connection carrying HTTP</a:t>
            </a:r>
            <a:endParaRPr b="0" sz="3200">
              <a:latin typeface="Arial"/>
              <a:ea typeface="Arial"/>
              <a:cs typeface="Arial"/>
              <a:sym typeface="Arial"/>
            </a:endParaRPr>
          </a:p>
        </p:txBody>
      </p:sp>
      <p:sp>
        <p:nvSpPr>
          <p:cNvPr id="1183" name="Google Shape;1183;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Link Layer: 6-</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
        <p:nvSpPr>
          <p:cNvPr id="1184" name="Google Shape;1184;p8"/>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185" name="Google Shape;1185;p8"/>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1186" name="Google Shape;1186;p8"/>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1187" name="Google Shape;1187;p8"/>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1188" name="Google Shape;1188;p8"/>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grpSp>
        <p:nvGrpSpPr>
          <p:cNvPr id="1189" name="Google Shape;1189;p8"/>
          <p:cNvGrpSpPr/>
          <p:nvPr/>
        </p:nvGrpSpPr>
        <p:grpSpPr>
          <a:xfrm>
            <a:off x="3087416" y="2965438"/>
            <a:ext cx="960147" cy="436668"/>
            <a:chOff x="3668110" y="2448910"/>
            <a:chExt cx="3794234" cy="2165130"/>
          </a:xfrm>
        </p:grpSpPr>
        <p:sp>
          <p:nvSpPr>
            <p:cNvPr id="1190" name="Google Shape;1190;p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91" name="Google Shape;1191;p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192" name="Google Shape;1192;p8"/>
            <p:cNvGrpSpPr/>
            <p:nvPr/>
          </p:nvGrpSpPr>
          <p:grpSpPr>
            <a:xfrm>
              <a:off x="3941378" y="2603243"/>
              <a:ext cx="3202061" cy="1066110"/>
              <a:chOff x="7939341" y="3037317"/>
              <a:chExt cx="897649" cy="353919"/>
            </a:xfrm>
          </p:grpSpPr>
          <p:sp>
            <p:nvSpPr>
              <p:cNvPr id="1193" name="Google Shape;1193;p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94" name="Google Shape;1194;p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95" name="Google Shape;1195;p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96" name="Google Shape;1196;p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1197" name="Google Shape;1197;p8"/>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1198" name="Google Shape;1198;p8"/>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1199" name="Google Shape;1199;p8"/>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1200" name="Google Shape;1200;p8"/>
          <p:cNvGrpSpPr/>
          <p:nvPr/>
        </p:nvGrpSpPr>
        <p:grpSpPr>
          <a:xfrm>
            <a:off x="2647027" y="4019872"/>
            <a:ext cx="853832" cy="472456"/>
            <a:chOff x="7493876" y="2774731"/>
            <a:chExt cx="1481958" cy="894622"/>
          </a:xfrm>
        </p:grpSpPr>
        <p:sp>
          <p:nvSpPr>
            <p:cNvPr id="1201" name="Google Shape;1201;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02" name="Google Shape;1202;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03" name="Google Shape;1203;p8"/>
            <p:cNvGrpSpPr/>
            <p:nvPr/>
          </p:nvGrpSpPr>
          <p:grpSpPr>
            <a:xfrm>
              <a:off x="7713663" y="2848339"/>
              <a:ext cx="1042107" cy="425543"/>
              <a:chOff x="7786941" y="2884917"/>
              <a:chExt cx="897649" cy="353919"/>
            </a:xfrm>
          </p:grpSpPr>
          <p:sp>
            <p:nvSpPr>
              <p:cNvPr id="1204" name="Google Shape;1204;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05" name="Google Shape;1205;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06" name="Google Shape;1206;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07" name="Google Shape;1207;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208" name="Google Shape;1208;p8"/>
          <p:cNvGrpSpPr/>
          <p:nvPr/>
        </p:nvGrpSpPr>
        <p:grpSpPr>
          <a:xfrm>
            <a:off x="2606022" y="3858371"/>
            <a:ext cx="358775" cy="623888"/>
            <a:chOff x="4140" y="429"/>
            <a:chExt cx="1425" cy="2396"/>
          </a:xfrm>
        </p:grpSpPr>
        <p:sp>
          <p:nvSpPr>
            <p:cNvPr id="1209" name="Google Shape;1209;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0" name="Google Shape;1210;p8"/>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1" name="Google Shape;1211;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2" name="Google Shape;1212;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3" name="Google Shape;1213;p8"/>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14" name="Google Shape;1214;p8"/>
            <p:cNvGrpSpPr/>
            <p:nvPr/>
          </p:nvGrpSpPr>
          <p:grpSpPr>
            <a:xfrm>
              <a:off x="4751" y="667"/>
              <a:ext cx="580" cy="146"/>
              <a:chOff x="617" y="2567"/>
              <a:chExt cx="724" cy="140"/>
            </a:xfrm>
          </p:grpSpPr>
          <p:sp>
            <p:nvSpPr>
              <p:cNvPr id="1215" name="Google Shape;1215;p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6" name="Google Shape;1216;p8"/>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17" name="Google Shape;1217;p8"/>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18" name="Google Shape;1218;p8"/>
            <p:cNvGrpSpPr/>
            <p:nvPr/>
          </p:nvGrpSpPr>
          <p:grpSpPr>
            <a:xfrm>
              <a:off x="4745" y="996"/>
              <a:ext cx="580" cy="134"/>
              <a:chOff x="612" y="2570"/>
              <a:chExt cx="724" cy="139"/>
            </a:xfrm>
          </p:grpSpPr>
          <p:sp>
            <p:nvSpPr>
              <p:cNvPr id="1219" name="Google Shape;1219;p8"/>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0" name="Google Shape;1220;p8"/>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21" name="Google Shape;1221;p8"/>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2" name="Google Shape;1222;p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23" name="Google Shape;1223;p8"/>
            <p:cNvGrpSpPr/>
            <p:nvPr/>
          </p:nvGrpSpPr>
          <p:grpSpPr>
            <a:xfrm>
              <a:off x="4733" y="1636"/>
              <a:ext cx="586" cy="140"/>
              <a:chOff x="611" y="2576"/>
              <a:chExt cx="730" cy="129"/>
            </a:xfrm>
          </p:grpSpPr>
          <p:sp>
            <p:nvSpPr>
              <p:cNvPr id="1224" name="Google Shape;1224;p8"/>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5" name="Google Shape;1225;p8"/>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26" name="Google Shape;1226;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27" name="Google Shape;1227;p8"/>
            <p:cNvGrpSpPr/>
            <p:nvPr/>
          </p:nvGrpSpPr>
          <p:grpSpPr>
            <a:xfrm>
              <a:off x="4739" y="1325"/>
              <a:ext cx="580" cy="140"/>
              <a:chOff x="614" y="2566"/>
              <a:chExt cx="723" cy="140"/>
            </a:xfrm>
          </p:grpSpPr>
          <p:sp>
            <p:nvSpPr>
              <p:cNvPr id="1228" name="Google Shape;1228;p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9" name="Google Shape;1229;p8"/>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30" name="Google Shape;1230;p8"/>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1" name="Google Shape;1231;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2" name="Google Shape;1232;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3" name="Google Shape;1233;p8"/>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4" name="Google Shape;1234;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5" name="Google Shape;1235;p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6" name="Google Shape;1236;p8"/>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7" name="Google Shape;1237;p8"/>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8" name="Google Shape;1238;p8"/>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239" name="Google Shape;1239;p8"/>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0" name="Google Shape;1240;p8"/>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41" name="Google Shape;1241;p8"/>
          <p:cNvGrpSpPr/>
          <p:nvPr/>
        </p:nvGrpSpPr>
        <p:grpSpPr>
          <a:xfrm>
            <a:off x="0" y="-1181562"/>
            <a:ext cx="762000" cy="876300"/>
            <a:chOff x="177" y="729"/>
            <a:chExt cx="480" cy="552"/>
          </a:xfrm>
        </p:grpSpPr>
        <p:grpSp>
          <p:nvGrpSpPr>
            <p:cNvPr id="1242" name="Google Shape;1242;p8"/>
            <p:cNvGrpSpPr/>
            <p:nvPr/>
          </p:nvGrpSpPr>
          <p:grpSpPr>
            <a:xfrm>
              <a:off x="343" y="732"/>
              <a:ext cx="290" cy="154"/>
              <a:chOff x="844" y="3337"/>
              <a:chExt cx="290" cy="154"/>
            </a:xfrm>
          </p:grpSpPr>
          <p:sp>
            <p:nvSpPr>
              <p:cNvPr id="1243" name="Google Shape;1243;p8"/>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4" name="Google Shape;1244;p8"/>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245" name="Google Shape;1245;p8"/>
            <p:cNvGrpSpPr/>
            <p:nvPr/>
          </p:nvGrpSpPr>
          <p:grpSpPr>
            <a:xfrm>
              <a:off x="290" y="874"/>
              <a:ext cx="354" cy="154"/>
              <a:chOff x="740" y="3209"/>
              <a:chExt cx="354" cy="154"/>
            </a:xfrm>
          </p:grpSpPr>
          <p:grpSp>
            <p:nvGrpSpPr>
              <p:cNvPr id="1246" name="Google Shape;1246;p8"/>
              <p:cNvGrpSpPr/>
              <p:nvPr/>
            </p:nvGrpSpPr>
            <p:grpSpPr>
              <a:xfrm>
                <a:off x="794" y="3209"/>
                <a:ext cx="290" cy="154"/>
                <a:chOff x="844" y="3337"/>
                <a:chExt cx="290" cy="154"/>
              </a:xfrm>
            </p:grpSpPr>
            <p:sp>
              <p:nvSpPr>
                <p:cNvPr id="1247" name="Google Shape;1247;p8"/>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8" name="Google Shape;1248;p8"/>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249" name="Google Shape;1249;p8"/>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0" name="Google Shape;1250;p8"/>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51" name="Google Shape;1251;p8"/>
            <p:cNvGrpSpPr/>
            <p:nvPr/>
          </p:nvGrpSpPr>
          <p:grpSpPr>
            <a:xfrm>
              <a:off x="290" y="1022"/>
              <a:ext cx="354" cy="154"/>
              <a:chOff x="836" y="3305"/>
              <a:chExt cx="354" cy="154"/>
            </a:xfrm>
          </p:grpSpPr>
          <p:grpSp>
            <p:nvGrpSpPr>
              <p:cNvPr id="1252" name="Google Shape;1252;p8"/>
              <p:cNvGrpSpPr/>
              <p:nvPr/>
            </p:nvGrpSpPr>
            <p:grpSpPr>
              <a:xfrm>
                <a:off x="890" y="3305"/>
                <a:ext cx="290" cy="154"/>
                <a:chOff x="844" y="3337"/>
                <a:chExt cx="290" cy="154"/>
              </a:xfrm>
            </p:grpSpPr>
            <p:sp>
              <p:nvSpPr>
                <p:cNvPr id="1253" name="Google Shape;1253;p8"/>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4" name="Google Shape;1254;p8"/>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255" name="Google Shape;1255;p8"/>
              <p:cNvGrpSpPr/>
              <p:nvPr/>
            </p:nvGrpSpPr>
            <p:grpSpPr>
              <a:xfrm>
                <a:off x="836" y="3334"/>
                <a:ext cx="354" cy="94"/>
                <a:chOff x="836" y="3334"/>
                <a:chExt cx="354" cy="94"/>
              </a:xfrm>
            </p:grpSpPr>
            <p:sp>
              <p:nvSpPr>
                <p:cNvPr id="1256" name="Google Shape;1256;p8"/>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7" name="Google Shape;1257;p8"/>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258" name="Google Shape;1258;p8"/>
            <p:cNvGrpSpPr/>
            <p:nvPr/>
          </p:nvGrpSpPr>
          <p:grpSpPr>
            <a:xfrm>
              <a:off x="177" y="1042"/>
              <a:ext cx="480" cy="112"/>
              <a:chOff x="627" y="3377"/>
              <a:chExt cx="480" cy="112"/>
            </a:xfrm>
          </p:grpSpPr>
          <p:sp>
            <p:nvSpPr>
              <p:cNvPr id="1259" name="Google Shape;1259;p8"/>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0" name="Google Shape;1260;p8"/>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61" name="Google Shape;1261;p8"/>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62" name="Google Shape;1262;p8"/>
          <p:cNvSpPr/>
          <p:nvPr/>
        </p:nvSpPr>
        <p:spPr>
          <a:xfrm>
            <a:off x="4781673" y="1792392"/>
            <a:ext cx="3486028"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gradFill>
            <a:gsLst>
              <a:gs pos="0">
                <a:srgbClr val="9CE0FA"/>
              </a:gs>
              <a:gs pos="65000">
                <a:schemeClr val="lt1"/>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63" name="Google Shape;1263;p8"/>
          <p:cNvSpPr txBox="1"/>
          <p:nvPr/>
        </p:nvSpPr>
        <p:spPr>
          <a:xfrm>
            <a:off x="4838700" y="2566706"/>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68.80.0.0/13</a:t>
            </a:r>
            <a:endParaRPr/>
          </a:p>
        </p:txBody>
      </p:sp>
      <p:cxnSp>
        <p:nvCxnSpPr>
          <p:cNvPr id="1264" name="Google Shape;1264;p8"/>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grpSp>
        <p:nvGrpSpPr>
          <p:cNvPr id="1265" name="Google Shape;1265;p8"/>
          <p:cNvGrpSpPr/>
          <p:nvPr/>
        </p:nvGrpSpPr>
        <p:grpSpPr>
          <a:xfrm flipH="1">
            <a:off x="5635438" y="3627064"/>
            <a:ext cx="400050" cy="152400"/>
            <a:chOff x="3228" y="1776"/>
            <a:chExt cx="252" cy="96"/>
          </a:xfrm>
        </p:grpSpPr>
        <p:cxnSp>
          <p:nvCxnSpPr>
            <p:cNvPr id="1266" name="Google Shape;1266;p8"/>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267" name="Google Shape;1267;p8"/>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268" name="Google Shape;1268;p8"/>
          <p:cNvGrpSpPr/>
          <p:nvPr/>
        </p:nvGrpSpPr>
        <p:grpSpPr>
          <a:xfrm rot="10800000">
            <a:off x="5787838" y="3103189"/>
            <a:ext cx="400050" cy="152400"/>
            <a:chOff x="3228" y="1776"/>
            <a:chExt cx="252" cy="96"/>
          </a:xfrm>
        </p:grpSpPr>
        <p:cxnSp>
          <p:nvCxnSpPr>
            <p:cNvPr id="1269" name="Google Shape;1269;p8"/>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270" name="Google Shape;1270;p8"/>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271" name="Google Shape;1271;p8"/>
          <p:cNvGrpSpPr/>
          <p:nvPr/>
        </p:nvGrpSpPr>
        <p:grpSpPr>
          <a:xfrm>
            <a:off x="5174932" y="3229968"/>
            <a:ext cx="853832" cy="472456"/>
            <a:chOff x="7493876" y="2774731"/>
            <a:chExt cx="1481958" cy="894622"/>
          </a:xfrm>
        </p:grpSpPr>
        <p:sp>
          <p:nvSpPr>
            <p:cNvPr id="1272" name="Google Shape;1272;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73" name="Google Shape;1273;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74" name="Google Shape;1274;p8"/>
            <p:cNvGrpSpPr/>
            <p:nvPr/>
          </p:nvGrpSpPr>
          <p:grpSpPr>
            <a:xfrm>
              <a:off x="7713663" y="2848339"/>
              <a:ext cx="1042107" cy="425543"/>
              <a:chOff x="7786941" y="2884917"/>
              <a:chExt cx="897649" cy="353919"/>
            </a:xfrm>
          </p:grpSpPr>
          <p:sp>
            <p:nvSpPr>
              <p:cNvPr id="1275" name="Google Shape;1275;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76" name="Google Shape;1276;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77" name="Google Shape;1277;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78" name="Google Shape;1278;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1279" name="Google Shape;1279;p8"/>
          <p:cNvSpPr/>
          <p:nvPr/>
        </p:nvSpPr>
        <p:spPr>
          <a:xfrm>
            <a:off x="915707" y="4764367"/>
            <a:ext cx="6419850" cy="1620838"/>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gradFill>
            <a:gsLst>
              <a:gs pos="0">
                <a:srgbClr val="9CE0FA"/>
              </a:gs>
              <a:gs pos="65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280" name="Google Shape;1280;p8"/>
          <p:cNvCxnSpPr/>
          <p:nvPr/>
        </p:nvCxnSpPr>
        <p:spPr>
          <a:xfrm flipH="1" rot="10800000">
            <a:off x="4306607" y="3692805"/>
            <a:ext cx="1174750" cy="1651000"/>
          </a:xfrm>
          <a:prstGeom prst="straightConnector1">
            <a:avLst/>
          </a:prstGeom>
          <a:noFill/>
          <a:ln cap="flat" cmpd="sng" w="9525">
            <a:solidFill>
              <a:srgbClr val="000000"/>
            </a:solidFill>
            <a:prstDash val="solid"/>
            <a:round/>
            <a:headEnd len="med" w="med" type="none"/>
            <a:tailEnd len="med" w="med" type="none"/>
          </a:ln>
        </p:spPr>
      </p:cxnSp>
      <p:cxnSp>
        <p:nvCxnSpPr>
          <p:cNvPr id="1281" name="Google Shape;1281;p8"/>
          <p:cNvCxnSpPr/>
          <p:nvPr/>
        </p:nvCxnSpPr>
        <p:spPr>
          <a:xfrm flipH="1" rot="10800000">
            <a:off x="2885795" y="5512080"/>
            <a:ext cx="942975" cy="1587"/>
          </a:xfrm>
          <a:prstGeom prst="straightConnector1">
            <a:avLst/>
          </a:prstGeom>
          <a:noFill/>
          <a:ln cap="flat" cmpd="sng" w="9525">
            <a:solidFill>
              <a:srgbClr val="000000"/>
            </a:solidFill>
            <a:prstDash val="solid"/>
            <a:round/>
            <a:headEnd len="med" w="med" type="none"/>
            <a:tailEnd len="med" w="med" type="none"/>
          </a:ln>
        </p:spPr>
      </p:cxnSp>
      <p:sp>
        <p:nvSpPr>
          <p:cNvPr id="1282" name="Google Shape;1282;p8"/>
          <p:cNvSpPr txBox="1"/>
          <p:nvPr/>
        </p:nvSpPr>
        <p:spPr>
          <a:xfrm>
            <a:off x="1798357" y="5904192"/>
            <a:ext cx="159543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64.233.169.105</a:t>
            </a:r>
            <a:endParaRPr/>
          </a:p>
        </p:txBody>
      </p:sp>
      <p:sp>
        <p:nvSpPr>
          <p:cNvPr id="1283" name="Google Shape;1283;p8"/>
          <p:cNvSpPr txBox="1"/>
          <p:nvPr/>
        </p:nvSpPr>
        <p:spPr>
          <a:xfrm>
            <a:off x="1779307" y="5648605"/>
            <a:ext cx="19062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Google web server</a:t>
            </a:r>
            <a:endParaRPr/>
          </a:p>
        </p:txBody>
      </p:sp>
      <p:grpSp>
        <p:nvGrpSpPr>
          <p:cNvPr id="1284" name="Google Shape;1284;p8"/>
          <p:cNvGrpSpPr/>
          <p:nvPr/>
        </p:nvGrpSpPr>
        <p:grpSpPr>
          <a:xfrm>
            <a:off x="3765270" y="5718455"/>
            <a:ext cx="295275" cy="114300"/>
            <a:chOff x="3228" y="1776"/>
            <a:chExt cx="252" cy="96"/>
          </a:xfrm>
        </p:grpSpPr>
        <p:cxnSp>
          <p:nvCxnSpPr>
            <p:cNvPr id="1285" name="Google Shape;1285;p8"/>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286" name="Google Shape;1286;p8"/>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287" name="Google Shape;1287;p8"/>
          <p:cNvGrpSpPr/>
          <p:nvPr/>
        </p:nvGrpSpPr>
        <p:grpSpPr>
          <a:xfrm flipH="1">
            <a:off x="4403445" y="5718455"/>
            <a:ext cx="295275" cy="114300"/>
            <a:chOff x="3228" y="1776"/>
            <a:chExt cx="252" cy="96"/>
          </a:xfrm>
        </p:grpSpPr>
        <p:cxnSp>
          <p:nvCxnSpPr>
            <p:cNvPr id="1288" name="Google Shape;1288;p8"/>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289" name="Google Shape;1289;p8"/>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290" name="Google Shape;1290;p8"/>
          <p:cNvGrpSpPr/>
          <p:nvPr/>
        </p:nvGrpSpPr>
        <p:grpSpPr>
          <a:xfrm rot="10800000">
            <a:off x="4608232" y="5423180"/>
            <a:ext cx="295275" cy="114300"/>
            <a:chOff x="3228" y="1776"/>
            <a:chExt cx="252" cy="96"/>
          </a:xfrm>
        </p:grpSpPr>
        <p:cxnSp>
          <p:nvCxnSpPr>
            <p:cNvPr id="1291" name="Google Shape;1291;p8"/>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292" name="Google Shape;1292;p8"/>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293" name="Google Shape;1293;p8"/>
          <p:cNvGrpSpPr/>
          <p:nvPr/>
        </p:nvGrpSpPr>
        <p:grpSpPr>
          <a:xfrm>
            <a:off x="3885507" y="5310841"/>
            <a:ext cx="809010" cy="502026"/>
            <a:chOff x="7493876" y="2774731"/>
            <a:chExt cx="1481958" cy="894622"/>
          </a:xfrm>
        </p:grpSpPr>
        <p:sp>
          <p:nvSpPr>
            <p:cNvPr id="1294" name="Google Shape;1294;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295" name="Google Shape;1295;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296" name="Google Shape;1296;p8"/>
            <p:cNvGrpSpPr/>
            <p:nvPr/>
          </p:nvGrpSpPr>
          <p:grpSpPr>
            <a:xfrm>
              <a:off x="7713663" y="2848339"/>
              <a:ext cx="1042107" cy="425543"/>
              <a:chOff x="7786941" y="2884917"/>
              <a:chExt cx="897649" cy="353919"/>
            </a:xfrm>
          </p:grpSpPr>
          <p:sp>
            <p:nvSpPr>
              <p:cNvPr id="1297" name="Google Shape;1297;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98" name="Google Shape;1298;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99" name="Google Shape;1299;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00" name="Google Shape;1300;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301" name="Google Shape;1301;p8"/>
          <p:cNvGrpSpPr/>
          <p:nvPr/>
        </p:nvGrpSpPr>
        <p:grpSpPr>
          <a:xfrm>
            <a:off x="2703232" y="5072342"/>
            <a:ext cx="358775" cy="623888"/>
            <a:chOff x="4140" y="429"/>
            <a:chExt cx="1425" cy="2396"/>
          </a:xfrm>
        </p:grpSpPr>
        <p:sp>
          <p:nvSpPr>
            <p:cNvPr id="1302" name="Google Shape;1302;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3" name="Google Shape;1303;p8"/>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4" name="Google Shape;1304;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5" name="Google Shape;1305;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6" name="Google Shape;1306;p8"/>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07" name="Google Shape;1307;p8"/>
            <p:cNvGrpSpPr/>
            <p:nvPr/>
          </p:nvGrpSpPr>
          <p:grpSpPr>
            <a:xfrm>
              <a:off x="4751" y="667"/>
              <a:ext cx="580" cy="146"/>
              <a:chOff x="617" y="2567"/>
              <a:chExt cx="724" cy="140"/>
            </a:xfrm>
          </p:grpSpPr>
          <p:sp>
            <p:nvSpPr>
              <p:cNvPr id="1308" name="Google Shape;1308;p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9" name="Google Shape;1309;p8"/>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10" name="Google Shape;1310;p8"/>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11" name="Google Shape;1311;p8"/>
            <p:cNvGrpSpPr/>
            <p:nvPr/>
          </p:nvGrpSpPr>
          <p:grpSpPr>
            <a:xfrm>
              <a:off x="4745" y="996"/>
              <a:ext cx="580" cy="134"/>
              <a:chOff x="612" y="2570"/>
              <a:chExt cx="724" cy="139"/>
            </a:xfrm>
          </p:grpSpPr>
          <p:sp>
            <p:nvSpPr>
              <p:cNvPr id="1312" name="Google Shape;1312;p8"/>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3" name="Google Shape;1313;p8"/>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14" name="Google Shape;1314;p8"/>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5" name="Google Shape;1315;p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16" name="Google Shape;1316;p8"/>
            <p:cNvGrpSpPr/>
            <p:nvPr/>
          </p:nvGrpSpPr>
          <p:grpSpPr>
            <a:xfrm>
              <a:off x="4733" y="1636"/>
              <a:ext cx="586" cy="140"/>
              <a:chOff x="611" y="2576"/>
              <a:chExt cx="730" cy="129"/>
            </a:xfrm>
          </p:grpSpPr>
          <p:sp>
            <p:nvSpPr>
              <p:cNvPr id="1317" name="Google Shape;1317;p8"/>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8" name="Google Shape;1318;p8"/>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19" name="Google Shape;1319;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20" name="Google Shape;1320;p8"/>
            <p:cNvGrpSpPr/>
            <p:nvPr/>
          </p:nvGrpSpPr>
          <p:grpSpPr>
            <a:xfrm>
              <a:off x="4739" y="1325"/>
              <a:ext cx="580" cy="140"/>
              <a:chOff x="614" y="2566"/>
              <a:chExt cx="723" cy="140"/>
            </a:xfrm>
          </p:grpSpPr>
          <p:sp>
            <p:nvSpPr>
              <p:cNvPr id="1321" name="Google Shape;1321;p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2" name="Google Shape;1322;p8"/>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23" name="Google Shape;1323;p8"/>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4" name="Google Shape;1324;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5" name="Google Shape;1325;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6" name="Google Shape;1326;p8"/>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7" name="Google Shape;1327;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8" name="Google Shape;1328;p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9" name="Google Shape;1329;p8"/>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0" name="Google Shape;1330;p8"/>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1" name="Google Shape;1331;p8"/>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332" name="Google Shape;1332;p8"/>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3" name="Google Shape;1333;p8"/>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34" name="Google Shape;1334;p8"/>
          <p:cNvGrpSpPr/>
          <p:nvPr/>
        </p:nvGrpSpPr>
        <p:grpSpPr>
          <a:xfrm>
            <a:off x="1323975" y="1595438"/>
            <a:ext cx="976312" cy="1460500"/>
            <a:chOff x="651" y="681"/>
            <a:chExt cx="615" cy="920"/>
          </a:xfrm>
        </p:grpSpPr>
        <p:sp>
          <p:nvSpPr>
            <p:cNvPr id="1335" name="Google Shape;1335;p8"/>
            <p:cNvSpPr/>
            <p:nvPr/>
          </p:nvSpPr>
          <p:spPr>
            <a:xfrm>
              <a:off x="662" y="698"/>
              <a:ext cx="604" cy="903"/>
            </a:xfrm>
            <a:custGeom>
              <a:rect b="b" l="l" r="r" t="t"/>
              <a:pathLst>
                <a:path extrusionOk="0" h="10000" w="10000">
                  <a:moveTo>
                    <a:pt x="8212" y="0"/>
                  </a:moveTo>
                  <a:lnTo>
                    <a:pt x="10000" y="10000"/>
                  </a:lnTo>
                  <a:lnTo>
                    <a:pt x="0" y="8726"/>
                  </a:lnTo>
                  <a:lnTo>
                    <a:pt x="7951" y="8723"/>
                  </a:lnTo>
                  <a:lnTo>
                    <a:pt x="8212" y="0"/>
                  </a:lnTo>
                  <a:close/>
                </a:path>
              </a:pathLst>
            </a:custGeom>
            <a:gradFill>
              <a:gsLst>
                <a:gs pos="0">
                  <a:srgbClr val="7F7F7F"/>
                </a:gs>
                <a:gs pos="100000">
                  <a:srgbClr val="FFFFFF">
                    <a:alpha val="77647"/>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36" name="Google Shape;1336;p8"/>
            <p:cNvGrpSpPr/>
            <p:nvPr/>
          </p:nvGrpSpPr>
          <p:grpSpPr>
            <a:xfrm>
              <a:off x="651" y="681"/>
              <a:ext cx="500" cy="828"/>
              <a:chOff x="569" y="2954"/>
              <a:chExt cx="500" cy="828"/>
            </a:xfrm>
          </p:grpSpPr>
          <p:sp>
            <p:nvSpPr>
              <p:cNvPr id="1337" name="Google Shape;1337;p8"/>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8" name="Google Shape;1338;p8"/>
              <p:cNvSpPr txBox="1"/>
              <p:nvPr/>
            </p:nvSpPr>
            <p:spPr>
              <a:xfrm>
                <a:off x="607" y="2954"/>
                <a:ext cx="449"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HTTP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339" name="Google Shape;1339;p8"/>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340" name="Google Shape;1340;p8"/>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341" name="Google Shape;1341;p8"/>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342" name="Google Shape;1342;p8"/>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343" name="Google Shape;1343;p8"/>
          <p:cNvGrpSpPr/>
          <p:nvPr/>
        </p:nvGrpSpPr>
        <p:grpSpPr>
          <a:xfrm>
            <a:off x="571500" y="1568450"/>
            <a:ext cx="515937" cy="333375"/>
            <a:chOff x="328" y="678"/>
            <a:chExt cx="325" cy="210"/>
          </a:xfrm>
        </p:grpSpPr>
        <p:grpSp>
          <p:nvGrpSpPr>
            <p:cNvPr id="1344" name="Google Shape;1344;p8"/>
            <p:cNvGrpSpPr/>
            <p:nvPr/>
          </p:nvGrpSpPr>
          <p:grpSpPr>
            <a:xfrm>
              <a:off x="328" y="693"/>
              <a:ext cx="325" cy="154"/>
              <a:chOff x="844" y="3337"/>
              <a:chExt cx="325" cy="154"/>
            </a:xfrm>
          </p:grpSpPr>
          <p:sp>
            <p:nvSpPr>
              <p:cNvPr id="1345" name="Google Shape;1345;p8"/>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6" name="Google Shape;1346;p8"/>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347" name="Google Shape;1347;p8"/>
            <p:cNvSpPr/>
            <p:nvPr/>
          </p:nvSpPr>
          <p:spPr>
            <a:xfrm>
              <a:off x="396" y="678"/>
              <a:ext cx="240" cy="210"/>
            </a:xfrm>
            <a:prstGeom prst="downArrow">
              <a:avLst>
                <a:gd fmla="val 49167" name="adj1"/>
                <a:gd fmla="val 24292"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48" name="Google Shape;1348;p8"/>
          <p:cNvSpPr/>
          <p:nvPr/>
        </p:nvSpPr>
        <p:spPr>
          <a:xfrm>
            <a:off x="7088188" y="1568450"/>
            <a:ext cx="4227512" cy="9509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to send HTTP request, client first opens </a:t>
            </a:r>
            <a:r>
              <a:rPr lang="en-US" sz="2800">
                <a:solidFill>
                  <a:srgbClr val="C00000"/>
                </a:solidFill>
                <a:latin typeface="Arial"/>
                <a:ea typeface="Arial"/>
                <a:cs typeface="Arial"/>
                <a:sym typeface="Arial"/>
              </a:rPr>
              <a:t>TCP socket</a:t>
            </a:r>
            <a:r>
              <a:rPr lang="en-US" sz="2800">
                <a:solidFill>
                  <a:srgbClr val="000000"/>
                </a:solidFill>
                <a:latin typeface="Arial"/>
                <a:ea typeface="Arial"/>
                <a:cs typeface="Arial"/>
                <a:sym typeface="Arial"/>
              </a:rPr>
              <a:t> to web server</a:t>
            </a:r>
            <a:endParaRPr/>
          </a:p>
        </p:txBody>
      </p:sp>
      <p:sp>
        <p:nvSpPr>
          <p:cNvPr id="1349" name="Google Shape;1349;p8"/>
          <p:cNvSpPr/>
          <p:nvPr/>
        </p:nvSpPr>
        <p:spPr>
          <a:xfrm>
            <a:off x="7040562" y="2924175"/>
            <a:ext cx="4783138" cy="985838"/>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TCP </a:t>
            </a:r>
            <a:r>
              <a:rPr lang="en-US" sz="2800">
                <a:solidFill>
                  <a:srgbClr val="C00000"/>
                </a:solidFill>
                <a:latin typeface="Arial"/>
                <a:ea typeface="Arial"/>
                <a:cs typeface="Arial"/>
                <a:sym typeface="Arial"/>
              </a:rPr>
              <a:t>SYN segment </a:t>
            </a:r>
            <a:r>
              <a:rPr lang="en-US" sz="2400">
                <a:solidFill>
                  <a:srgbClr val="000000"/>
                </a:solidFill>
                <a:latin typeface="Arial"/>
                <a:ea typeface="Arial"/>
                <a:cs typeface="Arial"/>
                <a:sym typeface="Arial"/>
              </a:rPr>
              <a:t>(step 1 in TCP 3-way handshake)</a:t>
            </a:r>
            <a:r>
              <a:rPr lang="en-US" sz="2800">
                <a:solidFill>
                  <a:srgbClr val="000000"/>
                </a:solidFill>
                <a:latin typeface="Arial"/>
                <a:ea typeface="Arial"/>
                <a:cs typeface="Arial"/>
                <a:sym typeface="Arial"/>
              </a:rPr>
              <a:t> inter-domain routed to web server</a:t>
            </a:r>
            <a:endParaRPr/>
          </a:p>
        </p:txBody>
      </p:sp>
      <p:sp>
        <p:nvSpPr>
          <p:cNvPr id="1350" name="Google Shape;1350;p8"/>
          <p:cNvSpPr/>
          <p:nvPr/>
        </p:nvSpPr>
        <p:spPr>
          <a:xfrm>
            <a:off x="7081837" y="5397500"/>
            <a:ext cx="4997745" cy="5365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TCP </a:t>
            </a:r>
            <a:r>
              <a:rPr lang="en-US" sz="2800">
                <a:solidFill>
                  <a:srgbClr val="C00000"/>
                </a:solidFill>
                <a:latin typeface="Arial"/>
                <a:ea typeface="Arial"/>
                <a:cs typeface="Arial"/>
                <a:sym typeface="Arial"/>
              </a:rPr>
              <a:t>connection established!</a:t>
            </a:r>
            <a:endParaRPr/>
          </a:p>
        </p:txBody>
      </p:sp>
      <p:grpSp>
        <p:nvGrpSpPr>
          <p:cNvPr id="1351" name="Google Shape;1351;p8"/>
          <p:cNvGrpSpPr/>
          <p:nvPr/>
        </p:nvGrpSpPr>
        <p:grpSpPr>
          <a:xfrm>
            <a:off x="207962" y="2414588"/>
            <a:ext cx="1081088" cy="244475"/>
            <a:chOff x="410" y="1508"/>
            <a:chExt cx="681" cy="154"/>
          </a:xfrm>
        </p:grpSpPr>
        <p:sp>
          <p:nvSpPr>
            <p:cNvPr id="1352" name="Google Shape;1352;p8"/>
            <p:cNvSpPr/>
            <p:nvPr/>
          </p:nvSpPr>
          <p:spPr>
            <a:xfrm>
              <a:off x="410" y="1511"/>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3" name="Google Shape;1353;p8"/>
            <p:cNvSpPr/>
            <p:nvPr/>
          </p:nvSpPr>
          <p:spPr>
            <a:xfrm>
              <a:off x="538" y="1536"/>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4" name="Google Shape;1354;p8"/>
            <p:cNvSpPr/>
            <p:nvPr/>
          </p:nvSpPr>
          <p:spPr>
            <a:xfrm>
              <a:off x="529" y="1525"/>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5" name="Google Shape;1355;p8"/>
            <p:cNvSpPr/>
            <p:nvPr/>
          </p:nvSpPr>
          <p:spPr>
            <a:xfrm>
              <a:off x="423" y="1527"/>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6" name="Google Shape;1356;p8"/>
            <p:cNvSpPr/>
            <p:nvPr/>
          </p:nvSpPr>
          <p:spPr>
            <a:xfrm>
              <a:off x="1021" y="1526"/>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57" name="Google Shape;1357;p8"/>
            <p:cNvGrpSpPr/>
            <p:nvPr/>
          </p:nvGrpSpPr>
          <p:grpSpPr>
            <a:xfrm>
              <a:off x="647" y="1508"/>
              <a:ext cx="354" cy="154"/>
              <a:chOff x="290" y="875"/>
              <a:chExt cx="354" cy="154"/>
            </a:xfrm>
          </p:grpSpPr>
          <p:sp>
            <p:nvSpPr>
              <p:cNvPr id="1358" name="Google Shape;1358;p8"/>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9" name="Google Shape;1359;p8"/>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0" name="Google Shape;1360;p8"/>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grpSp>
        <p:nvGrpSpPr>
          <p:cNvPr id="1361" name="Google Shape;1361;p8"/>
          <p:cNvGrpSpPr/>
          <p:nvPr/>
        </p:nvGrpSpPr>
        <p:grpSpPr>
          <a:xfrm>
            <a:off x="549275" y="4546600"/>
            <a:ext cx="1081088" cy="782638"/>
            <a:chOff x="59" y="863"/>
            <a:chExt cx="681" cy="493"/>
          </a:xfrm>
        </p:grpSpPr>
        <p:grpSp>
          <p:nvGrpSpPr>
            <p:cNvPr id="1362" name="Google Shape;1362;p8"/>
            <p:cNvGrpSpPr/>
            <p:nvPr/>
          </p:nvGrpSpPr>
          <p:grpSpPr>
            <a:xfrm>
              <a:off x="177" y="1042"/>
              <a:ext cx="480" cy="112"/>
              <a:chOff x="627" y="3377"/>
              <a:chExt cx="480" cy="112"/>
            </a:xfrm>
          </p:grpSpPr>
          <p:sp>
            <p:nvSpPr>
              <p:cNvPr id="1363" name="Google Shape;1363;p8"/>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4" name="Google Shape;1364;p8"/>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65" name="Google Shape;1365;p8"/>
            <p:cNvGrpSpPr/>
            <p:nvPr/>
          </p:nvGrpSpPr>
          <p:grpSpPr>
            <a:xfrm>
              <a:off x="290" y="863"/>
              <a:ext cx="354" cy="154"/>
              <a:chOff x="290" y="875"/>
              <a:chExt cx="354" cy="154"/>
            </a:xfrm>
          </p:grpSpPr>
          <p:sp>
            <p:nvSpPr>
              <p:cNvPr id="1366" name="Google Shape;1366;p8"/>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7" name="Google Shape;1367;p8"/>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8" name="Google Shape;1368;p8"/>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369" name="Google Shape;1369;p8"/>
            <p:cNvGrpSpPr/>
            <p:nvPr/>
          </p:nvGrpSpPr>
          <p:grpSpPr>
            <a:xfrm>
              <a:off x="284" y="1022"/>
              <a:ext cx="354" cy="154"/>
              <a:chOff x="290" y="875"/>
              <a:chExt cx="354" cy="154"/>
            </a:xfrm>
          </p:grpSpPr>
          <p:sp>
            <p:nvSpPr>
              <p:cNvPr id="1370" name="Google Shape;1370;p8"/>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1" name="Google Shape;1371;p8"/>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2" name="Google Shape;1372;p8"/>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373" name="Google Shape;1373;p8"/>
            <p:cNvGrpSpPr/>
            <p:nvPr/>
          </p:nvGrpSpPr>
          <p:grpSpPr>
            <a:xfrm>
              <a:off x="59" y="1202"/>
              <a:ext cx="681" cy="154"/>
              <a:chOff x="410" y="1508"/>
              <a:chExt cx="681" cy="154"/>
            </a:xfrm>
          </p:grpSpPr>
          <p:sp>
            <p:nvSpPr>
              <p:cNvPr id="1374" name="Google Shape;1374;p8"/>
              <p:cNvSpPr/>
              <p:nvPr/>
            </p:nvSpPr>
            <p:spPr>
              <a:xfrm>
                <a:off x="410" y="1511"/>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8"/>
              <p:cNvSpPr/>
              <p:nvPr/>
            </p:nvSpPr>
            <p:spPr>
              <a:xfrm>
                <a:off x="538" y="1536"/>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6" name="Google Shape;1376;p8"/>
              <p:cNvSpPr/>
              <p:nvPr/>
            </p:nvSpPr>
            <p:spPr>
              <a:xfrm>
                <a:off x="529" y="1525"/>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7" name="Google Shape;1377;p8"/>
              <p:cNvSpPr/>
              <p:nvPr/>
            </p:nvSpPr>
            <p:spPr>
              <a:xfrm>
                <a:off x="423" y="1527"/>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8" name="Google Shape;1378;p8"/>
              <p:cNvSpPr/>
              <p:nvPr/>
            </p:nvSpPr>
            <p:spPr>
              <a:xfrm>
                <a:off x="1021" y="1526"/>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79" name="Google Shape;1379;p8"/>
              <p:cNvGrpSpPr/>
              <p:nvPr/>
            </p:nvGrpSpPr>
            <p:grpSpPr>
              <a:xfrm>
                <a:off x="647" y="1508"/>
                <a:ext cx="354" cy="154"/>
                <a:chOff x="290" y="875"/>
                <a:chExt cx="354" cy="154"/>
              </a:xfrm>
            </p:grpSpPr>
            <p:sp>
              <p:nvSpPr>
                <p:cNvPr id="1380" name="Google Shape;1380;p8"/>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8"/>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2" name="Google Shape;1382;p8"/>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grpSp>
      <p:grpSp>
        <p:nvGrpSpPr>
          <p:cNvPr id="1383" name="Google Shape;1383;p8"/>
          <p:cNvGrpSpPr/>
          <p:nvPr/>
        </p:nvGrpSpPr>
        <p:grpSpPr>
          <a:xfrm>
            <a:off x="1751013" y="4270375"/>
            <a:ext cx="973137" cy="1416050"/>
            <a:chOff x="4000" y="1895"/>
            <a:chExt cx="613" cy="892"/>
          </a:xfrm>
        </p:grpSpPr>
        <p:sp>
          <p:nvSpPr>
            <p:cNvPr id="1384" name="Google Shape;1384;p8"/>
            <p:cNvSpPr/>
            <p:nvPr/>
          </p:nvSpPr>
          <p:spPr>
            <a:xfrm>
              <a:off x="4011" y="1912"/>
              <a:ext cx="602" cy="875"/>
            </a:xfrm>
            <a:custGeom>
              <a:rect b="b" l="l" r="r" t="t"/>
              <a:pathLst>
                <a:path extrusionOk="0" h="10000" w="10000">
                  <a:moveTo>
                    <a:pt x="8239" y="0"/>
                  </a:moveTo>
                  <a:cubicBezTo>
                    <a:pt x="8793" y="2137"/>
                    <a:pt x="8981" y="4731"/>
                    <a:pt x="9900" y="6411"/>
                  </a:cubicBezTo>
                  <a:cubicBezTo>
                    <a:pt x="10055" y="7271"/>
                    <a:pt x="9844" y="9139"/>
                    <a:pt x="10000" y="10000"/>
                  </a:cubicBezTo>
                  <a:cubicBezTo>
                    <a:pt x="6733" y="9577"/>
                    <a:pt x="3333" y="9337"/>
                    <a:pt x="0" y="9005"/>
                  </a:cubicBezTo>
                  <a:lnTo>
                    <a:pt x="7575" y="8572"/>
                  </a:lnTo>
                  <a:cubicBezTo>
                    <a:pt x="7797" y="5714"/>
                    <a:pt x="8017" y="2858"/>
                    <a:pt x="8239" y="0"/>
                  </a:cubicBezTo>
                  <a:close/>
                </a:path>
              </a:pathLst>
            </a:custGeom>
            <a:gradFill>
              <a:gsLst>
                <a:gs pos="0">
                  <a:srgbClr val="7F7F7F"/>
                </a:gs>
                <a:gs pos="99000">
                  <a:srgbClr val="FFFFFF">
                    <a:alpha val="81960"/>
                  </a:srgbClr>
                </a:gs>
                <a:gs pos="100000">
                  <a:srgbClr val="FFFFFF">
                    <a:alpha val="81960"/>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385" name="Google Shape;1385;p8"/>
            <p:cNvGrpSpPr/>
            <p:nvPr/>
          </p:nvGrpSpPr>
          <p:grpSpPr>
            <a:xfrm>
              <a:off x="4000" y="1895"/>
              <a:ext cx="500" cy="834"/>
              <a:chOff x="569" y="2954"/>
              <a:chExt cx="500" cy="834"/>
            </a:xfrm>
          </p:grpSpPr>
          <p:sp>
            <p:nvSpPr>
              <p:cNvPr id="1386" name="Google Shape;1386;p8"/>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7" name="Google Shape;1387;p8"/>
              <p:cNvSpPr txBox="1"/>
              <p:nvPr/>
            </p:nvSpPr>
            <p:spPr>
              <a:xfrm>
                <a:off x="645" y="2954"/>
                <a:ext cx="374"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Comic Sans MS"/>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388" name="Google Shape;1388;p8"/>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389" name="Google Shape;1389;p8"/>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390" name="Google Shape;1390;p8"/>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391" name="Google Shape;1391;p8"/>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392" name="Google Shape;1392;p8"/>
          <p:cNvGrpSpPr/>
          <p:nvPr/>
        </p:nvGrpSpPr>
        <p:grpSpPr>
          <a:xfrm>
            <a:off x="207962" y="1870075"/>
            <a:ext cx="1081088" cy="782638"/>
            <a:chOff x="59" y="863"/>
            <a:chExt cx="681" cy="493"/>
          </a:xfrm>
        </p:grpSpPr>
        <p:grpSp>
          <p:nvGrpSpPr>
            <p:cNvPr id="1393" name="Google Shape;1393;p8"/>
            <p:cNvGrpSpPr/>
            <p:nvPr/>
          </p:nvGrpSpPr>
          <p:grpSpPr>
            <a:xfrm>
              <a:off x="177" y="1042"/>
              <a:ext cx="480" cy="112"/>
              <a:chOff x="627" y="3377"/>
              <a:chExt cx="480" cy="112"/>
            </a:xfrm>
          </p:grpSpPr>
          <p:sp>
            <p:nvSpPr>
              <p:cNvPr id="1394" name="Google Shape;1394;p8"/>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5" name="Google Shape;1395;p8"/>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96" name="Google Shape;1396;p8"/>
            <p:cNvGrpSpPr/>
            <p:nvPr/>
          </p:nvGrpSpPr>
          <p:grpSpPr>
            <a:xfrm>
              <a:off x="290" y="863"/>
              <a:ext cx="354" cy="154"/>
              <a:chOff x="290" y="875"/>
              <a:chExt cx="354" cy="154"/>
            </a:xfrm>
          </p:grpSpPr>
          <p:sp>
            <p:nvSpPr>
              <p:cNvPr id="1397" name="Google Shape;1397;p8"/>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8" name="Google Shape;1398;p8"/>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9" name="Google Shape;1399;p8"/>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400" name="Google Shape;1400;p8"/>
            <p:cNvGrpSpPr/>
            <p:nvPr/>
          </p:nvGrpSpPr>
          <p:grpSpPr>
            <a:xfrm>
              <a:off x="284" y="1022"/>
              <a:ext cx="354" cy="154"/>
              <a:chOff x="290" y="875"/>
              <a:chExt cx="354" cy="154"/>
            </a:xfrm>
          </p:grpSpPr>
          <p:sp>
            <p:nvSpPr>
              <p:cNvPr id="1401" name="Google Shape;1401;p8"/>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2" name="Google Shape;1402;p8"/>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3" name="Google Shape;1403;p8"/>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nvGrpSpPr>
            <p:cNvPr id="1404" name="Google Shape;1404;p8"/>
            <p:cNvGrpSpPr/>
            <p:nvPr/>
          </p:nvGrpSpPr>
          <p:grpSpPr>
            <a:xfrm>
              <a:off x="59" y="1202"/>
              <a:ext cx="681" cy="154"/>
              <a:chOff x="410" y="1508"/>
              <a:chExt cx="681" cy="154"/>
            </a:xfrm>
          </p:grpSpPr>
          <p:sp>
            <p:nvSpPr>
              <p:cNvPr id="1405" name="Google Shape;1405;p8"/>
              <p:cNvSpPr/>
              <p:nvPr/>
            </p:nvSpPr>
            <p:spPr>
              <a:xfrm>
                <a:off x="410" y="1511"/>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6" name="Google Shape;1406;p8"/>
              <p:cNvSpPr/>
              <p:nvPr/>
            </p:nvSpPr>
            <p:spPr>
              <a:xfrm>
                <a:off x="538" y="1536"/>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7" name="Google Shape;1407;p8"/>
              <p:cNvSpPr/>
              <p:nvPr/>
            </p:nvSpPr>
            <p:spPr>
              <a:xfrm>
                <a:off x="529" y="1525"/>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8" name="Google Shape;1408;p8"/>
              <p:cNvSpPr/>
              <p:nvPr/>
            </p:nvSpPr>
            <p:spPr>
              <a:xfrm>
                <a:off x="423" y="1527"/>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9" name="Google Shape;1409;p8"/>
              <p:cNvSpPr/>
              <p:nvPr/>
            </p:nvSpPr>
            <p:spPr>
              <a:xfrm>
                <a:off x="1021" y="1526"/>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410" name="Google Shape;1410;p8"/>
              <p:cNvGrpSpPr/>
              <p:nvPr/>
            </p:nvGrpSpPr>
            <p:grpSpPr>
              <a:xfrm>
                <a:off x="647" y="1508"/>
                <a:ext cx="354" cy="154"/>
                <a:chOff x="290" y="875"/>
                <a:chExt cx="354" cy="154"/>
              </a:xfrm>
            </p:grpSpPr>
            <p:sp>
              <p:nvSpPr>
                <p:cNvPr id="1411" name="Google Shape;1411;p8"/>
                <p:cNvSpPr/>
                <p:nvPr/>
              </p:nvSpPr>
              <p:spPr>
                <a:xfrm>
                  <a:off x="306" y="909"/>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2" name="Google Shape;1412;p8"/>
                <p:cNvSpPr/>
                <p:nvPr/>
              </p:nvSpPr>
              <p:spPr>
                <a:xfrm>
                  <a:off x="290" y="903"/>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3" name="Google Shape;1413;p8"/>
                <p:cNvSpPr txBox="1"/>
                <p:nvPr/>
              </p:nvSpPr>
              <p:spPr>
                <a:xfrm>
                  <a:off x="332" y="875"/>
                  <a:ext cx="280"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t>
                  </a:r>
                  <a:endParaRPr/>
                </a:p>
              </p:txBody>
            </p:sp>
          </p:grpSp>
        </p:grpSp>
      </p:grpSp>
      <p:sp>
        <p:nvSpPr>
          <p:cNvPr id="1414" name="Google Shape;1414;p8"/>
          <p:cNvSpPr/>
          <p:nvPr/>
        </p:nvSpPr>
        <p:spPr>
          <a:xfrm>
            <a:off x="1220788" y="4757738"/>
            <a:ext cx="184150" cy="244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000">
              <a:solidFill>
                <a:srgbClr val="000000"/>
              </a:solidFill>
              <a:latin typeface="Arial"/>
              <a:ea typeface="Arial"/>
              <a:cs typeface="Arial"/>
              <a:sym typeface="Arial"/>
            </a:endParaRPr>
          </a:p>
        </p:txBody>
      </p:sp>
      <p:grpSp>
        <p:nvGrpSpPr>
          <p:cNvPr id="1415" name="Google Shape;1415;p8"/>
          <p:cNvGrpSpPr/>
          <p:nvPr/>
        </p:nvGrpSpPr>
        <p:grpSpPr>
          <a:xfrm>
            <a:off x="547688" y="4546600"/>
            <a:ext cx="1081087" cy="782638"/>
            <a:chOff x="2675" y="3676"/>
            <a:chExt cx="681" cy="493"/>
          </a:xfrm>
        </p:grpSpPr>
        <p:grpSp>
          <p:nvGrpSpPr>
            <p:cNvPr id="1416" name="Google Shape;1416;p8"/>
            <p:cNvGrpSpPr/>
            <p:nvPr/>
          </p:nvGrpSpPr>
          <p:grpSpPr>
            <a:xfrm>
              <a:off x="2793" y="3855"/>
              <a:ext cx="480" cy="112"/>
              <a:chOff x="627" y="3377"/>
              <a:chExt cx="480" cy="112"/>
            </a:xfrm>
          </p:grpSpPr>
          <p:sp>
            <p:nvSpPr>
              <p:cNvPr id="1417" name="Google Shape;1417;p8"/>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8" name="Google Shape;1418;p8"/>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419" name="Google Shape;1419;p8"/>
            <p:cNvGrpSpPr/>
            <p:nvPr/>
          </p:nvGrpSpPr>
          <p:grpSpPr>
            <a:xfrm>
              <a:off x="2855" y="3676"/>
              <a:ext cx="444" cy="154"/>
              <a:chOff x="2717" y="3676"/>
              <a:chExt cx="444" cy="154"/>
            </a:xfrm>
          </p:grpSpPr>
          <p:sp>
            <p:nvSpPr>
              <p:cNvPr id="1420" name="Google Shape;1420;p8"/>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1" name="Google Shape;1421;p8"/>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2" name="Google Shape;1422;p8"/>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sp>
          <p:nvSpPr>
            <p:cNvPr id="1423" name="Google Shape;1423;p8"/>
            <p:cNvSpPr/>
            <p:nvPr/>
          </p:nvSpPr>
          <p:spPr>
            <a:xfrm>
              <a:off x="2675" y="4018"/>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4" name="Google Shape;1424;p8"/>
            <p:cNvSpPr/>
            <p:nvPr/>
          </p:nvSpPr>
          <p:spPr>
            <a:xfrm>
              <a:off x="2803" y="4043"/>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5" name="Google Shape;1425;p8"/>
            <p:cNvSpPr/>
            <p:nvPr/>
          </p:nvSpPr>
          <p:spPr>
            <a:xfrm>
              <a:off x="2794" y="4032"/>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6" name="Google Shape;1426;p8"/>
            <p:cNvSpPr/>
            <p:nvPr/>
          </p:nvSpPr>
          <p:spPr>
            <a:xfrm>
              <a:off x="2688" y="4034"/>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7" name="Google Shape;1427;p8"/>
            <p:cNvSpPr/>
            <p:nvPr/>
          </p:nvSpPr>
          <p:spPr>
            <a:xfrm>
              <a:off x="3286" y="4033"/>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428" name="Google Shape;1428;p8"/>
            <p:cNvGrpSpPr/>
            <p:nvPr/>
          </p:nvGrpSpPr>
          <p:grpSpPr>
            <a:xfrm>
              <a:off x="2864" y="3835"/>
              <a:ext cx="444" cy="154"/>
              <a:chOff x="2717" y="3676"/>
              <a:chExt cx="444" cy="154"/>
            </a:xfrm>
          </p:grpSpPr>
          <p:sp>
            <p:nvSpPr>
              <p:cNvPr id="1429" name="Google Shape;1429;p8"/>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0" name="Google Shape;1430;p8"/>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1" name="Google Shape;1431;p8"/>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nvGrpSpPr>
            <p:cNvPr id="1432" name="Google Shape;1432;p8"/>
            <p:cNvGrpSpPr/>
            <p:nvPr/>
          </p:nvGrpSpPr>
          <p:grpSpPr>
            <a:xfrm>
              <a:off x="2867" y="4015"/>
              <a:ext cx="444" cy="154"/>
              <a:chOff x="2717" y="3676"/>
              <a:chExt cx="444" cy="154"/>
            </a:xfrm>
          </p:grpSpPr>
          <p:sp>
            <p:nvSpPr>
              <p:cNvPr id="1433" name="Google Shape;1433;p8"/>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4" name="Google Shape;1434;p8"/>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5" name="Google Shape;1435;p8"/>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grpSp>
        <p:nvGrpSpPr>
          <p:cNvPr id="1436" name="Google Shape;1436;p8"/>
          <p:cNvGrpSpPr/>
          <p:nvPr/>
        </p:nvGrpSpPr>
        <p:grpSpPr>
          <a:xfrm>
            <a:off x="211137" y="1868488"/>
            <a:ext cx="1081088" cy="782637"/>
            <a:chOff x="2613" y="3554"/>
            <a:chExt cx="681" cy="493"/>
          </a:xfrm>
        </p:grpSpPr>
        <p:grpSp>
          <p:nvGrpSpPr>
            <p:cNvPr id="1437" name="Google Shape;1437;p8"/>
            <p:cNvGrpSpPr/>
            <p:nvPr/>
          </p:nvGrpSpPr>
          <p:grpSpPr>
            <a:xfrm>
              <a:off x="2731" y="3733"/>
              <a:ext cx="480" cy="112"/>
              <a:chOff x="627" y="3377"/>
              <a:chExt cx="480" cy="112"/>
            </a:xfrm>
          </p:grpSpPr>
          <p:sp>
            <p:nvSpPr>
              <p:cNvPr id="1438" name="Google Shape;1438;p8"/>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9" name="Google Shape;1439;p8"/>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440" name="Google Shape;1440;p8"/>
            <p:cNvGrpSpPr/>
            <p:nvPr/>
          </p:nvGrpSpPr>
          <p:grpSpPr>
            <a:xfrm>
              <a:off x="2793" y="3554"/>
              <a:ext cx="444" cy="154"/>
              <a:chOff x="2717" y="3676"/>
              <a:chExt cx="444" cy="154"/>
            </a:xfrm>
          </p:grpSpPr>
          <p:sp>
            <p:nvSpPr>
              <p:cNvPr id="1441" name="Google Shape;1441;p8"/>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2" name="Google Shape;1442;p8"/>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3" name="Google Shape;1443;p8"/>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sp>
          <p:nvSpPr>
            <p:cNvPr id="1444" name="Google Shape;1444;p8"/>
            <p:cNvSpPr/>
            <p:nvPr/>
          </p:nvSpPr>
          <p:spPr>
            <a:xfrm>
              <a:off x="2613" y="3896"/>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5" name="Google Shape;1445;p8"/>
            <p:cNvSpPr/>
            <p:nvPr/>
          </p:nvSpPr>
          <p:spPr>
            <a:xfrm>
              <a:off x="2741" y="3921"/>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6" name="Google Shape;1446;p8"/>
            <p:cNvSpPr/>
            <p:nvPr/>
          </p:nvSpPr>
          <p:spPr>
            <a:xfrm>
              <a:off x="2732" y="3910"/>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7" name="Google Shape;1447;p8"/>
            <p:cNvSpPr/>
            <p:nvPr/>
          </p:nvSpPr>
          <p:spPr>
            <a:xfrm>
              <a:off x="2626" y="3912"/>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8" name="Google Shape;1448;p8"/>
            <p:cNvSpPr/>
            <p:nvPr/>
          </p:nvSpPr>
          <p:spPr>
            <a:xfrm>
              <a:off x="3224" y="3911"/>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449" name="Google Shape;1449;p8"/>
            <p:cNvGrpSpPr/>
            <p:nvPr/>
          </p:nvGrpSpPr>
          <p:grpSpPr>
            <a:xfrm>
              <a:off x="2802" y="3713"/>
              <a:ext cx="444" cy="154"/>
              <a:chOff x="2717" y="3676"/>
              <a:chExt cx="444" cy="154"/>
            </a:xfrm>
          </p:grpSpPr>
          <p:sp>
            <p:nvSpPr>
              <p:cNvPr id="1450" name="Google Shape;1450;p8"/>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1" name="Google Shape;1451;p8"/>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2" name="Google Shape;1452;p8"/>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nvGrpSpPr>
            <p:cNvPr id="1453" name="Google Shape;1453;p8"/>
            <p:cNvGrpSpPr/>
            <p:nvPr/>
          </p:nvGrpSpPr>
          <p:grpSpPr>
            <a:xfrm>
              <a:off x="2805" y="3893"/>
              <a:ext cx="444" cy="154"/>
              <a:chOff x="2717" y="3676"/>
              <a:chExt cx="444" cy="154"/>
            </a:xfrm>
          </p:grpSpPr>
          <p:sp>
            <p:nvSpPr>
              <p:cNvPr id="1454" name="Google Shape;1454;p8"/>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5" name="Google Shape;1455;p8"/>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6" name="Google Shape;1456;p8"/>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grpSp>
        <p:nvGrpSpPr>
          <p:cNvPr id="1457" name="Google Shape;1457;p8"/>
          <p:cNvGrpSpPr/>
          <p:nvPr/>
        </p:nvGrpSpPr>
        <p:grpSpPr>
          <a:xfrm>
            <a:off x="552450" y="5076825"/>
            <a:ext cx="1081088" cy="244475"/>
            <a:chOff x="2709" y="3989"/>
            <a:chExt cx="681" cy="154"/>
          </a:xfrm>
        </p:grpSpPr>
        <p:sp>
          <p:nvSpPr>
            <p:cNvPr id="1458" name="Google Shape;1458;p8"/>
            <p:cNvSpPr/>
            <p:nvPr/>
          </p:nvSpPr>
          <p:spPr>
            <a:xfrm>
              <a:off x="2709" y="3992"/>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9" name="Google Shape;1459;p8"/>
            <p:cNvSpPr/>
            <p:nvPr/>
          </p:nvSpPr>
          <p:spPr>
            <a:xfrm>
              <a:off x="2837" y="4017"/>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0" name="Google Shape;1460;p8"/>
            <p:cNvSpPr/>
            <p:nvPr/>
          </p:nvSpPr>
          <p:spPr>
            <a:xfrm>
              <a:off x="2828" y="4006"/>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1" name="Google Shape;1461;p8"/>
            <p:cNvSpPr/>
            <p:nvPr/>
          </p:nvSpPr>
          <p:spPr>
            <a:xfrm>
              <a:off x="2722" y="4008"/>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2" name="Google Shape;1462;p8"/>
            <p:cNvSpPr/>
            <p:nvPr/>
          </p:nvSpPr>
          <p:spPr>
            <a:xfrm>
              <a:off x="3320" y="4007"/>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463" name="Google Shape;1463;p8"/>
            <p:cNvGrpSpPr/>
            <p:nvPr/>
          </p:nvGrpSpPr>
          <p:grpSpPr>
            <a:xfrm>
              <a:off x="2901" y="3989"/>
              <a:ext cx="444" cy="154"/>
              <a:chOff x="2717" y="3676"/>
              <a:chExt cx="444" cy="154"/>
            </a:xfrm>
          </p:grpSpPr>
          <p:sp>
            <p:nvSpPr>
              <p:cNvPr id="1464" name="Google Shape;1464;p8"/>
              <p:cNvSpPr/>
              <p:nvPr/>
            </p:nvSpPr>
            <p:spPr>
              <a:xfrm>
                <a:off x="2775" y="3710"/>
                <a:ext cx="32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5" name="Google Shape;1465;p8"/>
              <p:cNvSpPr/>
              <p:nvPr/>
            </p:nvSpPr>
            <p:spPr>
              <a:xfrm>
                <a:off x="2759" y="370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6" name="Google Shape;1466;p8"/>
              <p:cNvSpPr txBox="1"/>
              <p:nvPr/>
            </p:nvSpPr>
            <p:spPr>
              <a:xfrm>
                <a:off x="2717" y="3676"/>
                <a:ext cx="444"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SYNACK</a:t>
                </a:r>
                <a:endParaRPr/>
              </a:p>
            </p:txBody>
          </p:sp>
        </p:grpSp>
      </p:grpSp>
      <p:sp>
        <p:nvSpPr>
          <p:cNvPr id="1467" name="Google Shape;1467;p8"/>
          <p:cNvSpPr/>
          <p:nvPr/>
        </p:nvSpPr>
        <p:spPr>
          <a:xfrm>
            <a:off x="7037388" y="4141788"/>
            <a:ext cx="4652603" cy="9858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lang="en-US" sz="2800">
                <a:solidFill>
                  <a:srgbClr val="000000"/>
                </a:solidFill>
                <a:latin typeface="Arial"/>
                <a:ea typeface="Arial"/>
                <a:cs typeface="Arial"/>
                <a:sym typeface="Arial"/>
              </a:rPr>
              <a:t>web server responds with </a:t>
            </a:r>
            <a:r>
              <a:rPr lang="en-US" sz="2800">
                <a:solidFill>
                  <a:srgbClr val="C00000"/>
                </a:solidFill>
                <a:latin typeface="Arial"/>
                <a:ea typeface="Arial"/>
                <a:cs typeface="Arial"/>
                <a:sym typeface="Arial"/>
              </a:rPr>
              <a:t>TCP SYNACK </a:t>
            </a:r>
            <a:r>
              <a:rPr lang="en-US" sz="2400">
                <a:solidFill>
                  <a:srgbClr val="000000"/>
                </a:solidFill>
                <a:latin typeface="Arial"/>
                <a:ea typeface="Arial"/>
                <a:cs typeface="Arial"/>
                <a:sym typeface="Arial"/>
              </a:rPr>
              <a:t>(step 2 in TCP 3-way handshake)</a:t>
            </a:r>
            <a:endParaRPr sz="2800">
              <a:solidFill>
                <a:srgbClr val="000000"/>
              </a:solidFill>
              <a:latin typeface="Arial"/>
              <a:ea typeface="Arial"/>
              <a:cs typeface="Arial"/>
              <a:sym typeface="Arial"/>
            </a:endParaRPr>
          </a:p>
        </p:txBody>
      </p:sp>
      <p:grpSp>
        <p:nvGrpSpPr>
          <p:cNvPr id="1468" name="Google Shape;1468;p8"/>
          <p:cNvGrpSpPr/>
          <p:nvPr/>
        </p:nvGrpSpPr>
        <p:grpSpPr>
          <a:xfrm>
            <a:off x="1946552" y="2678242"/>
            <a:ext cx="913139" cy="665131"/>
            <a:chOff x="7455987" y="2414528"/>
            <a:chExt cx="511700" cy="327647"/>
          </a:xfrm>
        </p:grpSpPr>
        <p:pic>
          <p:nvPicPr>
            <p:cNvPr descr="laptop_keyboard" id="1469" name="Google Shape;1469;p8"/>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1470" name="Google Shape;1470;p8"/>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1471" name="Google Shape;1471;p8"/>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1472" name="Google Shape;1472;p8"/>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3" name="Google Shape;1473;p8"/>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4" name="Google Shape;1474;p8"/>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5" name="Google Shape;1475;p8"/>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6" name="Google Shape;1476;p8"/>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7" name="Google Shape;1477;p8"/>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478" name="Google Shape;1478;p8"/>
            <p:cNvGrpSpPr/>
            <p:nvPr/>
          </p:nvGrpSpPr>
          <p:grpSpPr>
            <a:xfrm>
              <a:off x="7594735" y="2642220"/>
              <a:ext cx="98740" cy="36846"/>
              <a:chOff x="1740" y="2642"/>
              <a:chExt cx="752" cy="327"/>
            </a:xfrm>
          </p:grpSpPr>
          <p:sp>
            <p:nvSpPr>
              <p:cNvPr id="1479" name="Google Shape;1479;p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0" name="Google Shape;1480;p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1" name="Google Shape;1481;p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2" name="Google Shape;1482;p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3" name="Google Shape;1483;p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4" name="Google Shape;1484;p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485" name="Google Shape;1485;p8"/>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6" name="Google Shape;1486;p8"/>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7" name="Google Shape;1487;p8"/>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8" name="Google Shape;1488;p8"/>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9" name="Google Shape;1489;p8"/>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0" name="Google Shape;1490;p8"/>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500"/>
                                        <p:tgtEl>
                                          <p:spTgt spid="13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43"/>
                                        </p:tgtEl>
                                        <p:attrNameLst>
                                          <p:attrName>style.visibility</p:attrName>
                                        </p:attrNameLst>
                                      </p:cBhvr>
                                      <p:to>
                                        <p:strVal val="visible"/>
                                      </p:to>
                                    </p:set>
                                    <p:animEffect filter="fade" transition="in">
                                      <p:cBhvr>
                                        <p:cTn dur="1000"/>
                                        <p:tgtEl>
                                          <p:spTgt spid="1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500"/>
                                        <p:tgtEl>
                                          <p:spTgt spid="1348"/>
                                        </p:tgtEl>
                                      </p:cBhvr>
                                    </p:animEffect>
                                  </p:childTnLst>
                                </p:cTn>
                              </p:par>
                              <p:par>
                                <p:cTn fill="hold" nodeType="with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1000"/>
                                        <p:tgtEl>
                                          <p:spTgt spid="1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500"/>
                                        <p:tgtEl>
                                          <p:spTgt spid="1349"/>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392"/>
                                        </p:tgtEl>
                                      </p:cBhvr>
                                    </p:animEffect>
                                    <p:set>
                                      <p:cBhvr>
                                        <p:cTn dur="1" fill="hold">
                                          <p:stCondLst>
                                            <p:cond delay="500"/>
                                          </p:stCondLst>
                                        </p:cTn>
                                        <p:tgtEl>
                                          <p:spTgt spid="1392"/>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83"/>
                                        </p:tgtEl>
                                        <p:attrNameLst>
                                          <p:attrName>style.visibility</p:attrName>
                                        </p:attrNameLst>
                                      </p:cBhvr>
                                      <p:to>
                                        <p:strVal val="visible"/>
                                      </p:to>
                                    </p:set>
                                    <p:animEffect filter="fade" transition="in">
                                      <p:cBhvr>
                                        <p:cTn dur="1000"/>
                                        <p:tgtEl>
                                          <p:spTgt spid="1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1"/>
                                        </p:tgtEl>
                                        <p:attrNameLst>
                                          <p:attrName>style.visibility</p:attrName>
                                        </p:attrNameLst>
                                      </p:cBhvr>
                                      <p:to>
                                        <p:strVal val="visible"/>
                                      </p:to>
                                    </p:set>
                                    <p:animEffect filter="fade" transition="in">
                                      <p:cBhvr>
                                        <p:cTn dur="500"/>
                                        <p:tgtEl>
                                          <p:spTgt spid="1361"/>
                                        </p:tgtEl>
                                      </p:cBhvr>
                                    </p:animEffect>
                                  </p:childTnLst>
                                </p:cTn>
                              </p:par>
                              <p:par>
                                <p:cTn fill="hold" nodeType="withEffect" presetClass="exit" presetID="10" presetSubtype="0">
                                  <p:stCondLst>
                                    <p:cond delay="0"/>
                                  </p:stCondLst>
                                  <p:childTnLst>
                                    <p:animEffect filter="fade" transition="out">
                                      <p:cBhvr>
                                        <p:cTn dur="500"/>
                                        <p:tgtEl>
                                          <p:spTgt spid="1351"/>
                                        </p:tgtEl>
                                      </p:cBhvr>
                                    </p:animEffect>
                                    <p:set>
                                      <p:cBhvr>
                                        <p:cTn dur="1" fill="hold">
                                          <p:stCondLst>
                                            <p:cond delay="500"/>
                                          </p:stCondLst>
                                        </p:cTn>
                                        <p:tgtEl>
                                          <p:spTgt spid="13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61"/>
                                        </p:tgtEl>
                                      </p:cBhvr>
                                    </p:animEffect>
                                    <p:set>
                                      <p:cBhvr>
                                        <p:cTn dur="1" fill="hold">
                                          <p:stCondLst>
                                            <p:cond delay="500"/>
                                          </p:stCondLst>
                                        </p:cTn>
                                        <p:tgtEl>
                                          <p:spTgt spid="13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5"/>
                                        </p:tgtEl>
                                        <p:attrNameLst>
                                          <p:attrName>style.visibility</p:attrName>
                                        </p:attrNameLst>
                                      </p:cBhvr>
                                      <p:to>
                                        <p:strVal val="visible"/>
                                      </p:to>
                                    </p:set>
                                    <p:animEffect filter="fade" transition="in">
                                      <p:cBhvr>
                                        <p:cTn dur="500"/>
                                        <p:tgtEl>
                                          <p:spTgt spid="14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67"/>
                                        </p:tgtEl>
                                        <p:attrNameLst>
                                          <p:attrName>style.visibility</p:attrName>
                                        </p:attrNameLst>
                                      </p:cBhvr>
                                      <p:to>
                                        <p:strVal val="visible"/>
                                      </p:to>
                                    </p:set>
                                    <p:animEffect filter="fade" transition="in">
                                      <p:cBhvr>
                                        <p:cTn dur="500"/>
                                        <p:tgtEl>
                                          <p:spTgt spid="1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500"/>
                                        <p:tgtEl>
                                          <p:spTgt spid="145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415"/>
                                        </p:tgtEl>
                                      </p:cBhvr>
                                    </p:animEffect>
                                    <p:set>
                                      <p:cBhvr>
                                        <p:cTn dur="1" fill="hold">
                                          <p:stCondLst>
                                            <p:cond delay="500"/>
                                          </p:stCondLst>
                                        </p:cTn>
                                        <p:tgtEl>
                                          <p:spTgt spid="14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61"/>
                                        </p:tgtEl>
                                      </p:cBhvr>
                                    </p:animEffect>
                                    <p:set>
                                      <p:cBhvr>
                                        <p:cTn dur="1" fill="hold">
                                          <p:stCondLst>
                                            <p:cond delay="500"/>
                                          </p:stCondLst>
                                        </p:cTn>
                                        <p:tgtEl>
                                          <p:spTgt spid="13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83"/>
                                        </p:tgtEl>
                                      </p:cBhvr>
                                    </p:animEffect>
                                    <p:set>
                                      <p:cBhvr>
                                        <p:cTn dur="1" fill="hold">
                                          <p:stCondLst>
                                            <p:cond delay="500"/>
                                          </p:stCondLst>
                                        </p:cTn>
                                        <p:tgtEl>
                                          <p:spTgt spid="13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57"/>
                                        </p:tgtEl>
                                      </p:cBhvr>
                                    </p:animEffect>
                                    <p:set>
                                      <p:cBhvr>
                                        <p:cTn dur="1" fill="hold">
                                          <p:stCondLst>
                                            <p:cond delay="500"/>
                                          </p:stCondLst>
                                        </p:cTn>
                                        <p:tgtEl>
                                          <p:spTgt spid="145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36"/>
                                        </p:tgtEl>
                                        <p:attrNameLst>
                                          <p:attrName>style.visibility</p:attrName>
                                        </p:attrNameLst>
                                      </p:cBhvr>
                                      <p:to>
                                        <p:strVal val="visible"/>
                                      </p:to>
                                    </p:set>
                                    <p:animEffect filter="fade" transition="in">
                                      <p:cBhvr>
                                        <p:cTn dur="1000"/>
                                        <p:tgtEl>
                                          <p:spTgt spid="143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500"/>
                                        <p:tgtEl>
                                          <p:spTgt spid="1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9"/>
          <p:cNvSpPr txBox="1"/>
          <p:nvPr>
            <p:ph type="title"/>
          </p:nvPr>
        </p:nvSpPr>
        <p:spPr>
          <a:xfrm>
            <a:off x="811306" y="303903"/>
            <a:ext cx="10999694" cy="8946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Arial"/>
              <a:buNone/>
            </a:pPr>
            <a:r>
              <a:rPr b="0" lang="en-US">
                <a:latin typeface="Arial"/>
                <a:ea typeface="Arial"/>
                <a:cs typeface="Arial"/>
                <a:sym typeface="Arial"/>
              </a:rPr>
              <a:t>A day in the life… HTTP request/reply </a:t>
            </a:r>
            <a:endParaRPr b="0" sz="3200">
              <a:latin typeface="Arial"/>
              <a:ea typeface="Arial"/>
              <a:cs typeface="Arial"/>
              <a:sym typeface="Arial"/>
            </a:endParaRPr>
          </a:p>
        </p:txBody>
      </p:sp>
      <p:sp>
        <p:nvSpPr>
          <p:cNvPr id="1497" name="Google Shape;1497;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Link Layer: 6-</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
        <p:nvSpPr>
          <p:cNvPr id="1498" name="Google Shape;1498;p9"/>
          <p:cNvSpPr/>
          <p:nvPr/>
        </p:nvSpPr>
        <p:spPr>
          <a:xfrm>
            <a:off x="691870" y="18782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499" name="Google Shape;1499;p9"/>
          <p:cNvCxnSpPr/>
          <p:nvPr/>
        </p:nvCxnSpPr>
        <p:spPr>
          <a:xfrm flipH="1" rot="10800000">
            <a:off x="3693832" y="2949855"/>
            <a:ext cx="155575" cy="142875"/>
          </a:xfrm>
          <a:prstGeom prst="straightConnector1">
            <a:avLst/>
          </a:prstGeom>
          <a:noFill/>
          <a:ln cap="flat" cmpd="sng" w="9525">
            <a:solidFill>
              <a:srgbClr val="000000"/>
            </a:solidFill>
            <a:prstDash val="solid"/>
            <a:round/>
            <a:headEnd len="med" w="med" type="none"/>
            <a:tailEnd len="med" w="med" type="none"/>
          </a:ln>
        </p:spPr>
      </p:cxnSp>
      <p:cxnSp>
        <p:nvCxnSpPr>
          <p:cNvPr id="1500" name="Google Shape;1500;p9"/>
          <p:cNvCxnSpPr/>
          <p:nvPr/>
        </p:nvCxnSpPr>
        <p:spPr>
          <a:xfrm>
            <a:off x="2584170" y="3122892"/>
            <a:ext cx="695325" cy="0"/>
          </a:xfrm>
          <a:prstGeom prst="straightConnector1">
            <a:avLst/>
          </a:prstGeom>
          <a:noFill/>
          <a:ln cap="flat" cmpd="sng" w="9525">
            <a:solidFill>
              <a:srgbClr val="000000"/>
            </a:solidFill>
            <a:prstDash val="solid"/>
            <a:round/>
            <a:headEnd len="med" w="med" type="none"/>
            <a:tailEnd len="med" w="med" type="none"/>
          </a:ln>
        </p:spPr>
      </p:cxnSp>
      <p:cxnSp>
        <p:nvCxnSpPr>
          <p:cNvPr id="1501" name="Google Shape;1501;p9"/>
          <p:cNvCxnSpPr/>
          <p:nvPr/>
        </p:nvCxnSpPr>
        <p:spPr>
          <a:xfrm flipH="1" rot="10800000">
            <a:off x="3843057" y="2806980"/>
            <a:ext cx="138113" cy="142875"/>
          </a:xfrm>
          <a:prstGeom prst="straightConnector1">
            <a:avLst/>
          </a:prstGeom>
          <a:noFill/>
          <a:ln cap="flat" cmpd="sng" w="9525">
            <a:solidFill>
              <a:srgbClr val="000000"/>
            </a:solidFill>
            <a:prstDash val="dash"/>
            <a:round/>
            <a:headEnd len="med" w="med" type="none"/>
            <a:tailEnd len="med" w="med" type="none"/>
          </a:ln>
        </p:spPr>
      </p:cxnSp>
      <p:cxnSp>
        <p:nvCxnSpPr>
          <p:cNvPr id="1502" name="Google Shape;1502;p9"/>
          <p:cNvCxnSpPr/>
          <p:nvPr/>
        </p:nvCxnSpPr>
        <p:spPr>
          <a:xfrm flipH="1" rot="10800000">
            <a:off x="3198532" y="3341967"/>
            <a:ext cx="512763" cy="612775"/>
          </a:xfrm>
          <a:prstGeom prst="straightConnector1">
            <a:avLst/>
          </a:prstGeom>
          <a:noFill/>
          <a:ln cap="flat" cmpd="sng" w="9525">
            <a:solidFill>
              <a:srgbClr val="000000"/>
            </a:solidFill>
            <a:prstDash val="solid"/>
            <a:round/>
            <a:headEnd len="med" w="med" type="none"/>
            <a:tailEnd len="med" w="med" type="none"/>
          </a:ln>
        </p:spPr>
      </p:cxnSp>
      <p:grpSp>
        <p:nvGrpSpPr>
          <p:cNvPr id="1503" name="Google Shape;1503;p9"/>
          <p:cNvGrpSpPr/>
          <p:nvPr/>
        </p:nvGrpSpPr>
        <p:grpSpPr>
          <a:xfrm>
            <a:off x="3087416" y="2965438"/>
            <a:ext cx="960147" cy="436668"/>
            <a:chOff x="3668110" y="2448910"/>
            <a:chExt cx="3794234" cy="2165130"/>
          </a:xfrm>
        </p:grpSpPr>
        <p:sp>
          <p:nvSpPr>
            <p:cNvPr id="1504" name="Google Shape;150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05" name="Google Shape;150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506" name="Google Shape;1506;p9"/>
            <p:cNvGrpSpPr/>
            <p:nvPr/>
          </p:nvGrpSpPr>
          <p:grpSpPr>
            <a:xfrm>
              <a:off x="3941378" y="2603243"/>
              <a:ext cx="3202061" cy="1066110"/>
              <a:chOff x="7939341" y="3037317"/>
              <a:chExt cx="897649" cy="353919"/>
            </a:xfrm>
          </p:grpSpPr>
          <p:sp>
            <p:nvSpPr>
              <p:cNvPr id="1507" name="Google Shape;150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08" name="Google Shape;150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09" name="Google Shape;150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10" name="Google Shape;151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1511" name="Google Shape;1511;p9"/>
          <p:cNvSpPr/>
          <p:nvPr/>
        </p:nvSpPr>
        <p:spPr>
          <a:xfrm rot="5400000">
            <a:off x="2648281" y="3003260"/>
            <a:ext cx="134168" cy="25558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1512" name="Google Shape;1512;p9"/>
          <p:cNvSpPr/>
          <p:nvPr/>
        </p:nvSpPr>
        <p:spPr>
          <a:xfrm rot="5400000">
            <a:off x="3522564" y="4176324"/>
            <a:ext cx="140795" cy="179874"/>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sp>
        <p:nvSpPr>
          <p:cNvPr id="1513" name="Google Shape;1513;p9"/>
          <p:cNvSpPr/>
          <p:nvPr/>
        </p:nvSpPr>
        <p:spPr>
          <a:xfrm rot="2603620">
            <a:off x="3123075" y="3881648"/>
            <a:ext cx="140795" cy="235527"/>
          </a:xfrm>
          <a:prstGeom prst="rect">
            <a:avLst/>
          </a:prstGeom>
          <a:gradFill>
            <a:gsLst>
              <a:gs pos="0">
                <a:srgbClr val="0000A8"/>
              </a:gs>
              <a:gs pos="50000">
                <a:srgbClr val="FFFFFF"/>
              </a:gs>
              <a:gs pos="99000">
                <a:srgbClr val="0000A8"/>
              </a:gs>
              <a:gs pos="100000">
                <a:srgbClr val="0000A8"/>
              </a:gs>
            </a:gsLst>
            <a:lin ang="0" scaled="0"/>
          </a:gradFill>
          <a:ln cap="flat" cmpd="sng" w="9525">
            <a:solidFill>
              <a:srgbClr val="008000">
                <a:alpha val="14901"/>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1514" name="Google Shape;1514;p9"/>
          <p:cNvGrpSpPr/>
          <p:nvPr/>
        </p:nvGrpSpPr>
        <p:grpSpPr>
          <a:xfrm>
            <a:off x="2647027" y="4019872"/>
            <a:ext cx="853832" cy="472456"/>
            <a:chOff x="7493876" y="2774731"/>
            <a:chExt cx="1481958" cy="894622"/>
          </a:xfrm>
        </p:grpSpPr>
        <p:sp>
          <p:nvSpPr>
            <p:cNvPr id="1515" name="Google Shape;1515;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516" name="Google Shape;1516;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517" name="Google Shape;1517;p9"/>
            <p:cNvGrpSpPr/>
            <p:nvPr/>
          </p:nvGrpSpPr>
          <p:grpSpPr>
            <a:xfrm>
              <a:off x="7713663" y="2848339"/>
              <a:ext cx="1042107" cy="425543"/>
              <a:chOff x="7786941" y="2884917"/>
              <a:chExt cx="897649" cy="353919"/>
            </a:xfrm>
          </p:grpSpPr>
          <p:sp>
            <p:nvSpPr>
              <p:cNvPr id="1518" name="Google Shape;1518;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19" name="Google Shape;1519;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20" name="Google Shape;1520;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21" name="Google Shape;1521;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522" name="Google Shape;1522;p9"/>
          <p:cNvGrpSpPr/>
          <p:nvPr/>
        </p:nvGrpSpPr>
        <p:grpSpPr>
          <a:xfrm>
            <a:off x="2606022" y="3858371"/>
            <a:ext cx="358775" cy="623888"/>
            <a:chOff x="4140" y="429"/>
            <a:chExt cx="1425" cy="2396"/>
          </a:xfrm>
        </p:grpSpPr>
        <p:sp>
          <p:nvSpPr>
            <p:cNvPr id="1523" name="Google Shape;152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4" name="Google Shape;1524;p9"/>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5" name="Google Shape;152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6" name="Google Shape;152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7" name="Google Shape;1527;p9"/>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528" name="Google Shape;1528;p9"/>
            <p:cNvGrpSpPr/>
            <p:nvPr/>
          </p:nvGrpSpPr>
          <p:grpSpPr>
            <a:xfrm>
              <a:off x="4751" y="667"/>
              <a:ext cx="580" cy="146"/>
              <a:chOff x="617" y="2567"/>
              <a:chExt cx="724" cy="140"/>
            </a:xfrm>
          </p:grpSpPr>
          <p:sp>
            <p:nvSpPr>
              <p:cNvPr id="1529" name="Google Shape;1529;p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0" name="Google Shape;1530;p9"/>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31" name="Google Shape;1531;p9"/>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532" name="Google Shape;1532;p9"/>
            <p:cNvGrpSpPr/>
            <p:nvPr/>
          </p:nvGrpSpPr>
          <p:grpSpPr>
            <a:xfrm>
              <a:off x="4745" y="996"/>
              <a:ext cx="580" cy="134"/>
              <a:chOff x="612" y="2570"/>
              <a:chExt cx="724" cy="139"/>
            </a:xfrm>
          </p:grpSpPr>
          <p:sp>
            <p:nvSpPr>
              <p:cNvPr id="1533" name="Google Shape;1533;p9"/>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4" name="Google Shape;1534;p9"/>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35" name="Google Shape;1535;p9"/>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6" name="Google Shape;1536;p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537" name="Google Shape;1537;p9"/>
            <p:cNvGrpSpPr/>
            <p:nvPr/>
          </p:nvGrpSpPr>
          <p:grpSpPr>
            <a:xfrm>
              <a:off x="4733" y="1636"/>
              <a:ext cx="586" cy="140"/>
              <a:chOff x="611" y="2576"/>
              <a:chExt cx="730" cy="129"/>
            </a:xfrm>
          </p:grpSpPr>
          <p:sp>
            <p:nvSpPr>
              <p:cNvPr id="1538" name="Google Shape;1538;p9"/>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9" name="Google Shape;1539;p9"/>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40" name="Google Shape;154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541" name="Google Shape;1541;p9"/>
            <p:cNvGrpSpPr/>
            <p:nvPr/>
          </p:nvGrpSpPr>
          <p:grpSpPr>
            <a:xfrm>
              <a:off x="4739" y="1325"/>
              <a:ext cx="580" cy="140"/>
              <a:chOff x="614" y="2566"/>
              <a:chExt cx="723" cy="140"/>
            </a:xfrm>
          </p:grpSpPr>
          <p:sp>
            <p:nvSpPr>
              <p:cNvPr id="1542" name="Google Shape;1542;p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3" name="Google Shape;1543;p9"/>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44" name="Google Shape;1544;p9"/>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5" name="Google Shape;154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6" name="Google Shape;154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7" name="Google Shape;1547;p9"/>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8" name="Google Shape;154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9" name="Google Shape;1549;p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0" name="Google Shape;1550;p9"/>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1" name="Google Shape;1551;p9"/>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2" name="Google Shape;1552;p9"/>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553" name="Google Shape;1553;p9"/>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4" name="Google Shape;1554;p9"/>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55" name="Google Shape;1555;p9"/>
          <p:cNvGrpSpPr/>
          <p:nvPr/>
        </p:nvGrpSpPr>
        <p:grpSpPr>
          <a:xfrm>
            <a:off x="0" y="-1181562"/>
            <a:ext cx="762000" cy="876300"/>
            <a:chOff x="177" y="729"/>
            <a:chExt cx="480" cy="552"/>
          </a:xfrm>
        </p:grpSpPr>
        <p:grpSp>
          <p:nvGrpSpPr>
            <p:cNvPr id="1556" name="Google Shape;1556;p9"/>
            <p:cNvGrpSpPr/>
            <p:nvPr/>
          </p:nvGrpSpPr>
          <p:grpSpPr>
            <a:xfrm>
              <a:off x="343" y="732"/>
              <a:ext cx="290" cy="154"/>
              <a:chOff x="844" y="3337"/>
              <a:chExt cx="290" cy="154"/>
            </a:xfrm>
          </p:grpSpPr>
          <p:sp>
            <p:nvSpPr>
              <p:cNvPr id="1557" name="Google Shape;1557;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8" name="Google Shape;1558;p9"/>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559" name="Google Shape;1559;p9"/>
            <p:cNvGrpSpPr/>
            <p:nvPr/>
          </p:nvGrpSpPr>
          <p:grpSpPr>
            <a:xfrm>
              <a:off x="290" y="874"/>
              <a:ext cx="354" cy="154"/>
              <a:chOff x="740" y="3209"/>
              <a:chExt cx="354" cy="154"/>
            </a:xfrm>
          </p:grpSpPr>
          <p:grpSp>
            <p:nvGrpSpPr>
              <p:cNvPr id="1560" name="Google Shape;1560;p9"/>
              <p:cNvGrpSpPr/>
              <p:nvPr/>
            </p:nvGrpSpPr>
            <p:grpSpPr>
              <a:xfrm>
                <a:off x="794" y="3209"/>
                <a:ext cx="290" cy="154"/>
                <a:chOff x="844" y="3337"/>
                <a:chExt cx="290" cy="154"/>
              </a:xfrm>
            </p:grpSpPr>
            <p:sp>
              <p:nvSpPr>
                <p:cNvPr id="1561" name="Google Shape;1561;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2" name="Google Shape;1562;p9"/>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sp>
            <p:nvSpPr>
              <p:cNvPr id="1563" name="Google Shape;1563;p9"/>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4" name="Google Shape;1564;p9"/>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65" name="Google Shape;1565;p9"/>
            <p:cNvGrpSpPr/>
            <p:nvPr/>
          </p:nvGrpSpPr>
          <p:grpSpPr>
            <a:xfrm>
              <a:off x="290" y="1022"/>
              <a:ext cx="354" cy="154"/>
              <a:chOff x="836" y="3305"/>
              <a:chExt cx="354" cy="154"/>
            </a:xfrm>
          </p:grpSpPr>
          <p:grpSp>
            <p:nvGrpSpPr>
              <p:cNvPr id="1566" name="Google Shape;1566;p9"/>
              <p:cNvGrpSpPr/>
              <p:nvPr/>
            </p:nvGrpSpPr>
            <p:grpSpPr>
              <a:xfrm>
                <a:off x="890" y="3305"/>
                <a:ext cx="290" cy="154"/>
                <a:chOff x="844" y="3337"/>
                <a:chExt cx="290" cy="154"/>
              </a:xfrm>
            </p:grpSpPr>
            <p:sp>
              <p:nvSpPr>
                <p:cNvPr id="1567" name="Google Shape;1567;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8" name="Google Shape;1568;p9"/>
                <p:cNvSpPr txBox="1"/>
                <p:nvPr/>
              </p:nvSpPr>
              <p:spPr>
                <a:xfrm>
                  <a:off x="844" y="3337"/>
                  <a:ext cx="28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DNS</a:t>
                  </a:r>
                  <a:endParaRPr/>
                </a:p>
              </p:txBody>
            </p:sp>
          </p:grpSp>
          <p:grpSp>
            <p:nvGrpSpPr>
              <p:cNvPr id="1569" name="Google Shape;1569;p9"/>
              <p:cNvGrpSpPr/>
              <p:nvPr/>
            </p:nvGrpSpPr>
            <p:grpSpPr>
              <a:xfrm>
                <a:off x="836" y="3334"/>
                <a:ext cx="354" cy="94"/>
                <a:chOff x="836" y="3334"/>
                <a:chExt cx="354" cy="94"/>
              </a:xfrm>
            </p:grpSpPr>
            <p:sp>
              <p:nvSpPr>
                <p:cNvPr id="1570" name="Google Shape;1570;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1" name="Google Shape;1571;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572" name="Google Shape;1572;p9"/>
            <p:cNvGrpSpPr/>
            <p:nvPr/>
          </p:nvGrpSpPr>
          <p:grpSpPr>
            <a:xfrm>
              <a:off x="177" y="1042"/>
              <a:ext cx="480" cy="112"/>
              <a:chOff x="627" y="3377"/>
              <a:chExt cx="480" cy="112"/>
            </a:xfrm>
          </p:grpSpPr>
          <p:sp>
            <p:nvSpPr>
              <p:cNvPr id="1573" name="Google Shape;1573;p9"/>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4" name="Google Shape;1574;p9"/>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75" name="Google Shape;1575;p9"/>
            <p:cNvSpPr/>
            <p:nvPr/>
          </p:nvSpPr>
          <p:spPr>
            <a:xfrm>
              <a:off x="393" y="729"/>
              <a:ext cx="240" cy="552"/>
            </a:xfrm>
            <a:prstGeom prst="downArrow">
              <a:avLst>
                <a:gd fmla="val 54167" name="adj1"/>
                <a:gd fmla="val 36928"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76" name="Google Shape;1576;p9"/>
          <p:cNvSpPr/>
          <p:nvPr/>
        </p:nvSpPr>
        <p:spPr>
          <a:xfrm>
            <a:off x="4781673" y="1792392"/>
            <a:ext cx="3486028" cy="2590938"/>
          </a:xfrm>
          <a:custGeom>
            <a:rect b="b" l="l" r="r" t="t"/>
            <a:pathLst>
              <a:path extrusionOk="0" h="9973" w="10000">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gradFill>
            <a:gsLst>
              <a:gs pos="0">
                <a:srgbClr val="9CE0FA"/>
              </a:gs>
              <a:gs pos="65000">
                <a:schemeClr val="lt1"/>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77" name="Google Shape;1577;p9"/>
          <p:cNvSpPr txBox="1"/>
          <p:nvPr/>
        </p:nvSpPr>
        <p:spPr>
          <a:xfrm>
            <a:off x="4838700" y="2566706"/>
            <a:ext cx="1811337" cy="581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Comcast network </a:t>
            </a:r>
            <a:endParaRPr/>
          </a:p>
          <a:p>
            <a:pPr indent="0" lvl="0" marL="0" marR="0" rtl="0" algn="l">
              <a:spcBef>
                <a:spcPts val="0"/>
              </a:spcBef>
              <a:spcAft>
                <a:spcPts val="0"/>
              </a:spcAft>
              <a:buNone/>
            </a:pPr>
            <a:r>
              <a:rPr i="0" lang="en-US" sz="1600">
                <a:solidFill>
                  <a:srgbClr val="000000"/>
                </a:solidFill>
                <a:latin typeface="Arial"/>
                <a:ea typeface="Arial"/>
                <a:cs typeface="Arial"/>
                <a:sym typeface="Arial"/>
              </a:rPr>
              <a:t>68.80.0.0/13</a:t>
            </a:r>
            <a:endParaRPr/>
          </a:p>
        </p:txBody>
      </p:sp>
      <p:cxnSp>
        <p:nvCxnSpPr>
          <p:cNvPr id="1578" name="Google Shape;1578;p9"/>
          <p:cNvCxnSpPr/>
          <p:nvPr/>
        </p:nvCxnSpPr>
        <p:spPr>
          <a:xfrm flipH="1" rot="10800000">
            <a:off x="3670020" y="3535642"/>
            <a:ext cx="1819275" cy="733425"/>
          </a:xfrm>
          <a:prstGeom prst="straightConnector1">
            <a:avLst/>
          </a:prstGeom>
          <a:noFill/>
          <a:ln cap="flat" cmpd="sng" w="9525">
            <a:solidFill>
              <a:srgbClr val="000000"/>
            </a:solidFill>
            <a:prstDash val="solid"/>
            <a:round/>
            <a:headEnd len="med" w="med" type="none"/>
            <a:tailEnd len="med" w="med" type="none"/>
          </a:ln>
        </p:spPr>
      </p:cxnSp>
      <p:grpSp>
        <p:nvGrpSpPr>
          <p:cNvPr id="1579" name="Google Shape;1579;p9"/>
          <p:cNvGrpSpPr/>
          <p:nvPr/>
        </p:nvGrpSpPr>
        <p:grpSpPr>
          <a:xfrm flipH="1">
            <a:off x="5635438" y="3627064"/>
            <a:ext cx="400050" cy="152400"/>
            <a:chOff x="3228" y="1776"/>
            <a:chExt cx="252" cy="96"/>
          </a:xfrm>
        </p:grpSpPr>
        <p:cxnSp>
          <p:nvCxnSpPr>
            <p:cNvPr id="1580" name="Google Shape;1580;p9"/>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581" name="Google Shape;1581;p9"/>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582" name="Google Shape;1582;p9"/>
          <p:cNvGrpSpPr/>
          <p:nvPr/>
        </p:nvGrpSpPr>
        <p:grpSpPr>
          <a:xfrm rot="10800000">
            <a:off x="5787838" y="3103189"/>
            <a:ext cx="400050" cy="152400"/>
            <a:chOff x="3228" y="1776"/>
            <a:chExt cx="252" cy="96"/>
          </a:xfrm>
        </p:grpSpPr>
        <p:cxnSp>
          <p:nvCxnSpPr>
            <p:cNvPr id="1583" name="Google Shape;1583;p9"/>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584" name="Google Shape;1584;p9"/>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585" name="Google Shape;1585;p9"/>
          <p:cNvGrpSpPr/>
          <p:nvPr/>
        </p:nvGrpSpPr>
        <p:grpSpPr>
          <a:xfrm>
            <a:off x="5174932" y="3229968"/>
            <a:ext cx="853832" cy="472456"/>
            <a:chOff x="7493876" y="2774731"/>
            <a:chExt cx="1481958" cy="894622"/>
          </a:xfrm>
        </p:grpSpPr>
        <p:sp>
          <p:nvSpPr>
            <p:cNvPr id="1586" name="Google Shape;158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587" name="Google Shape;158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588" name="Google Shape;1588;p9"/>
            <p:cNvGrpSpPr/>
            <p:nvPr/>
          </p:nvGrpSpPr>
          <p:grpSpPr>
            <a:xfrm>
              <a:off x="7713663" y="2848339"/>
              <a:ext cx="1042107" cy="425543"/>
              <a:chOff x="7786941" y="2884917"/>
              <a:chExt cx="897649" cy="353919"/>
            </a:xfrm>
          </p:grpSpPr>
          <p:sp>
            <p:nvSpPr>
              <p:cNvPr id="1589" name="Google Shape;158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90" name="Google Shape;159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91" name="Google Shape;159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92" name="Google Shape;159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1593" name="Google Shape;1593;p9"/>
          <p:cNvSpPr/>
          <p:nvPr/>
        </p:nvSpPr>
        <p:spPr>
          <a:xfrm>
            <a:off x="915707" y="4764367"/>
            <a:ext cx="6419850" cy="1620838"/>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gradFill>
            <a:gsLst>
              <a:gs pos="0">
                <a:srgbClr val="9CE0FA"/>
              </a:gs>
              <a:gs pos="65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594" name="Google Shape;1594;p9"/>
          <p:cNvCxnSpPr/>
          <p:nvPr/>
        </p:nvCxnSpPr>
        <p:spPr>
          <a:xfrm flipH="1" rot="10800000">
            <a:off x="4306607" y="3692805"/>
            <a:ext cx="1174750" cy="1651000"/>
          </a:xfrm>
          <a:prstGeom prst="straightConnector1">
            <a:avLst/>
          </a:prstGeom>
          <a:noFill/>
          <a:ln cap="flat" cmpd="sng" w="9525">
            <a:solidFill>
              <a:srgbClr val="000000"/>
            </a:solidFill>
            <a:prstDash val="solid"/>
            <a:round/>
            <a:headEnd len="med" w="med" type="none"/>
            <a:tailEnd len="med" w="med" type="none"/>
          </a:ln>
        </p:spPr>
      </p:cxnSp>
      <p:cxnSp>
        <p:nvCxnSpPr>
          <p:cNvPr id="1595" name="Google Shape;1595;p9"/>
          <p:cNvCxnSpPr/>
          <p:nvPr/>
        </p:nvCxnSpPr>
        <p:spPr>
          <a:xfrm flipH="1" rot="10800000">
            <a:off x="2885795" y="5512080"/>
            <a:ext cx="942975" cy="1587"/>
          </a:xfrm>
          <a:prstGeom prst="straightConnector1">
            <a:avLst/>
          </a:prstGeom>
          <a:noFill/>
          <a:ln cap="flat" cmpd="sng" w="9525">
            <a:solidFill>
              <a:srgbClr val="000000"/>
            </a:solidFill>
            <a:prstDash val="solid"/>
            <a:round/>
            <a:headEnd len="med" w="med" type="none"/>
            <a:tailEnd len="med" w="med" type="none"/>
          </a:ln>
        </p:spPr>
      </p:cxnSp>
      <p:sp>
        <p:nvSpPr>
          <p:cNvPr id="1596" name="Google Shape;1596;p9"/>
          <p:cNvSpPr txBox="1"/>
          <p:nvPr/>
        </p:nvSpPr>
        <p:spPr>
          <a:xfrm>
            <a:off x="1798357" y="5904192"/>
            <a:ext cx="1595438"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64.233.169.105</a:t>
            </a:r>
            <a:endParaRPr/>
          </a:p>
        </p:txBody>
      </p:sp>
      <p:sp>
        <p:nvSpPr>
          <p:cNvPr id="1597" name="Google Shape;1597;p9"/>
          <p:cNvSpPr txBox="1"/>
          <p:nvPr/>
        </p:nvSpPr>
        <p:spPr>
          <a:xfrm>
            <a:off x="1779307" y="5648605"/>
            <a:ext cx="19062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a:solidFill>
                  <a:srgbClr val="000000"/>
                </a:solidFill>
                <a:latin typeface="Arial"/>
                <a:ea typeface="Arial"/>
                <a:cs typeface="Arial"/>
                <a:sym typeface="Arial"/>
              </a:rPr>
              <a:t>Google web server</a:t>
            </a:r>
            <a:endParaRPr/>
          </a:p>
        </p:txBody>
      </p:sp>
      <p:grpSp>
        <p:nvGrpSpPr>
          <p:cNvPr id="1598" name="Google Shape;1598;p9"/>
          <p:cNvGrpSpPr/>
          <p:nvPr/>
        </p:nvGrpSpPr>
        <p:grpSpPr>
          <a:xfrm>
            <a:off x="3765270" y="5718455"/>
            <a:ext cx="295275" cy="114300"/>
            <a:chOff x="3228" y="1776"/>
            <a:chExt cx="252" cy="96"/>
          </a:xfrm>
        </p:grpSpPr>
        <p:cxnSp>
          <p:nvCxnSpPr>
            <p:cNvPr id="1599" name="Google Shape;1599;p9"/>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600" name="Google Shape;1600;p9"/>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601" name="Google Shape;1601;p9"/>
          <p:cNvGrpSpPr/>
          <p:nvPr/>
        </p:nvGrpSpPr>
        <p:grpSpPr>
          <a:xfrm flipH="1">
            <a:off x="4403445" y="5718455"/>
            <a:ext cx="295275" cy="114300"/>
            <a:chOff x="3228" y="1776"/>
            <a:chExt cx="252" cy="96"/>
          </a:xfrm>
        </p:grpSpPr>
        <p:cxnSp>
          <p:nvCxnSpPr>
            <p:cNvPr id="1602" name="Google Shape;1602;p9"/>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603" name="Google Shape;1603;p9"/>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604" name="Google Shape;1604;p9"/>
          <p:cNvGrpSpPr/>
          <p:nvPr/>
        </p:nvGrpSpPr>
        <p:grpSpPr>
          <a:xfrm rot="10800000">
            <a:off x="4608232" y="5423180"/>
            <a:ext cx="295275" cy="114300"/>
            <a:chOff x="3228" y="1776"/>
            <a:chExt cx="252" cy="96"/>
          </a:xfrm>
        </p:grpSpPr>
        <p:cxnSp>
          <p:nvCxnSpPr>
            <p:cNvPr id="1605" name="Google Shape;1605;p9"/>
            <p:cNvCxnSpPr/>
            <p:nvPr/>
          </p:nvCxnSpPr>
          <p:spPr>
            <a:xfrm flipH="1" rot="10800000">
              <a:off x="3339" y="1776"/>
              <a:ext cx="141" cy="51"/>
            </a:xfrm>
            <a:prstGeom prst="straightConnector1">
              <a:avLst/>
            </a:prstGeom>
            <a:noFill/>
            <a:ln cap="flat" cmpd="sng" w="9525">
              <a:solidFill>
                <a:srgbClr val="000000"/>
              </a:solidFill>
              <a:prstDash val="solid"/>
              <a:round/>
              <a:headEnd len="med" w="med" type="none"/>
              <a:tailEnd len="med" w="med" type="none"/>
            </a:ln>
          </p:spPr>
        </p:cxnSp>
        <p:cxnSp>
          <p:nvCxnSpPr>
            <p:cNvPr id="1606" name="Google Shape;1606;p9"/>
            <p:cNvCxnSpPr/>
            <p:nvPr/>
          </p:nvCxnSpPr>
          <p:spPr>
            <a:xfrm flipH="1" rot="10800000">
              <a:off x="3228" y="1833"/>
              <a:ext cx="102" cy="39"/>
            </a:xfrm>
            <a:prstGeom prst="straightConnector1">
              <a:avLst/>
            </a:prstGeom>
            <a:noFill/>
            <a:ln cap="flat" cmpd="sng" w="9525">
              <a:solidFill>
                <a:srgbClr val="000000"/>
              </a:solidFill>
              <a:prstDash val="dash"/>
              <a:round/>
              <a:headEnd len="med" w="med" type="none"/>
              <a:tailEnd len="med" w="med" type="none"/>
            </a:ln>
          </p:spPr>
        </p:cxnSp>
      </p:grpSp>
      <p:grpSp>
        <p:nvGrpSpPr>
          <p:cNvPr id="1607" name="Google Shape;1607;p9"/>
          <p:cNvGrpSpPr/>
          <p:nvPr/>
        </p:nvGrpSpPr>
        <p:grpSpPr>
          <a:xfrm>
            <a:off x="3885507" y="5310841"/>
            <a:ext cx="809010" cy="502026"/>
            <a:chOff x="7493876" y="2774731"/>
            <a:chExt cx="1481958" cy="894622"/>
          </a:xfrm>
        </p:grpSpPr>
        <p:sp>
          <p:nvSpPr>
            <p:cNvPr id="1608" name="Google Shape;160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09" name="Google Shape;160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10" name="Google Shape;1610;p9"/>
            <p:cNvGrpSpPr/>
            <p:nvPr/>
          </p:nvGrpSpPr>
          <p:grpSpPr>
            <a:xfrm>
              <a:off x="7713663" y="2848339"/>
              <a:ext cx="1042107" cy="425543"/>
              <a:chOff x="7786941" y="2884917"/>
              <a:chExt cx="897649" cy="353919"/>
            </a:xfrm>
          </p:grpSpPr>
          <p:sp>
            <p:nvSpPr>
              <p:cNvPr id="1611" name="Google Shape;161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12" name="Google Shape;161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13" name="Google Shape;161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14" name="Google Shape;161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615" name="Google Shape;1615;p9"/>
          <p:cNvGrpSpPr/>
          <p:nvPr/>
        </p:nvGrpSpPr>
        <p:grpSpPr>
          <a:xfrm>
            <a:off x="2703232" y="5072342"/>
            <a:ext cx="358775" cy="623888"/>
            <a:chOff x="4140" y="429"/>
            <a:chExt cx="1425" cy="2396"/>
          </a:xfrm>
        </p:grpSpPr>
        <p:sp>
          <p:nvSpPr>
            <p:cNvPr id="1616" name="Google Shape;1616;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7" name="Google Shape;1617;p9"/>
            <p:cNvSpPr/>
            <p:nvPr/>
          </p:nvSpPr>
          <p:spPr>
            <a:xfrm>
              <a:off x="4203" y="429"/>
              <a:ext cx="1053" cy="2286"/>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8" name="Google Shape;1618;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9" name="Google Shape;1619;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0" name="Google Shape;1620;p9"/>
            <p:cNvSpPr/>
            <p:nvPr/>
          </p:nvSpPr>
          <p:spPr>
            <a:xfrm>
              <a:off x="4209" y="691"/>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21" name="Google Shape;1621;p9"/>
            <p:cNvGrpSpPr/>
            <p:nvPr/>
          </p:nvGrpSpPr>
          <p:grpSpPr>
            <a:xfrm>
              <a:off x="4751" y="667"/>
              <a:ext cx="580" cy="146"/>
              <a:chOff x="617" y="2567"/>
              <a:chExt cx="724" cy="140"/>
            </a:xfrm>
          </p:grpSpPr>
          <p:sp>
            <p:nvSpPr>
              <p:cNvPr id="1622" name="Google Shape;1622;p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3" name="Google Shape;1623;p9"/>
              <p:cNvSpPr/>
              <p:nvPr/>
            </p:nvSpPr>
            <p:spPr>
              <a:xfrm>
                <a:off x="633" y="2584"/>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24" name="Google Shape;1624;p9"/>
            <p:cNvSpPr/>
            <p:nvPr/>
          </p:nvSpPr>
          <p:spPr>
            <a:xfrm>
              <a:off x="4222" y="1020"/>
              <a:ext cx="599"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25" name="Google Shape;1625;p9"/>
            <p:cNvGrpSpPr/>
            <p:nvPr/>
          </p:nvGrpSpPr>
          <p:grpSpPr>
            <a:xfrm>
              <a:off x="4745" y="996"/>
              <a:ext cx="580" cy="134"/>
              <a:chOff x="612" y="2570"/>
              <a:chExt cx="724" cy="139"/>
            </a:xfrm>
          </p:grpSpPr>
          <p:sp>
            <p:nvSpPr>
              <p:cNvPr id="1626" name="Google Shape;1626;p9"/>
              <p:cNvSpPr/>
              <p:nvPr/>
            </p:nvSpPr>
            <p:spPr>
              <a:xfrm>
                <a:off x="612" y="2570"/>
                <a:ext cx="724"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7" name="Google Shape;1627;p9"/>
              <p:cNvSpPr/>
              <p:nvPr/>
            </p:nvSpPr>
            <p:spPr>
              <a:xfrm>
                <a:off x="628" y="2589"/>
                <a:ext cx="692"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28" name="Google Shape;1628;p9"/>
            <p:cNvSpPr/>
            <p:nvPr/>
          </p:nvSpPr>
          <p:spPr>
            <a:xfrm>
              <a:off x="4216" y="1356"/>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9" name="Google Shape;1629;p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30" name="Google Shape;1630;p9"/>
            <p:cNvGrpSpPr/>
            <p:nvPr/>
          </p:nvGrpSpPr>
          <p:grpSpPr>
            <a:xfrm>
              <a:off x="4733" y="1636"/>
              <a:ext cx="586" cy="140"/>
              <a:chOff x="611" y="2576"/>
              <a:chExt cx="730" cy="129"/>
            </a:xfrm>
          </p:grpSpPr>
          <p:sp>
            <p:nvSpPr>
              <p:cNvPr id="1631" name="Google Shape;1631;p9"/>
              <p:cNvSpPr/>
              <p:nvPr/>
            </p:nvSpPr>
            <p:spPr>
              <a:xfrm>
                <a:off x="611" y="2576"/>
                <a:ext cx="730" cy="12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2" name="Google Shape;1632;p9"/>
              <p:cNvSpPr/>
              <p:nvPr/>
            </p:nvSpPr>
            <p:spPr>
              <a:xfrm>
                <a:off x="627" y="2588"/>
                <a:ext cx="69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33" name="Google Shape;1633;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34" name="Google Shape;1634;p9"/>
            <p:cNvGrpSpPr/>
            <p:nvPr/>
          </p:nvGrpSpPr>
          <p:grpSpPr>
            <a:xfrm>
              <a:off x="4739" y="1325"/>
              <a:ext cx="580" cy="140"/>
              <a:chOff x="614" y="2566"/>
              <a:chExt cx="723" cy="140"/>
            </a:xfrm>
          </p:grpSpPr>
          <p:sp>
            <p:nvSpPr>
              <p:cNvPr id="1635" name="Google Shape;1635;p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6" name="Google Shape;1636;p9"/>
              <p:cNvSpPr/>
              <p:nvPr/>
            </p:nvSpPr>
            <p:spPr>
              <a:xfrm>
                <a:off x="630" y="2585"/>
                <a:ext cx="691"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37" name="Google Shape;1637;p9"/>
            <p:cNvSpPr/>
            <p:nvPr/>
          </p:nvSpPr>
          <p:spPr>
            <a:xfrm>
              <a:off x="5250" y="429"/>
              <a:ext cx="69" cy="2286"/>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8" name="Google Shape;1638;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9" name="Google Shape;1639;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9"/>
            <p:cNvSpPr/>
            <p:nvPr/>
          </p:nvSpPr>
          <p:spPr>
            <a:xfrm>
              <a:off x="5515" y="2612"/>
              <a:ext cx="50"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1" name="Google Shape;1641;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2" name="Google Shape;1642;p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3" name="Google Shape;1643;p9"/>
            <p:cNvSpPr/>
            <p:nvPr/>
          </p:nvSpPr>
          <p:spPr>
            <a:xfrm>
              <a:off x="4203" y="2709"/>
              <a:ext cx="1072"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4" name="Google Shape;1644;p9"/>
            <p:cNvSpPr/>
            <p:nvPr/>
          </p:nvSpPr>
          <p:spPr>
            <a:xfrm>
              <a:off x="4310" y="2386"/>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5" name="Google Shape;1645;p9"/>
            <p:cNvSpPr/>
            <p:nvPr/>
          </p:nvSpPr>
          <p:spPr>
            <a:xfrm>
              <a:off x="4487" y="2386"/>
              <a:ext cx="158" cy="14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1646" name="Google Shape;1646;p9"/>
            <p:cNvSpPr/>
            <p:nvPr/>
          </p:nvSpPr>
          <p:spPr>
            <a:xfrm>
              <a:off x="4663" y="2380"/>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7" name="Google Shape;1647;p9"/>
            <p:cNvSpPr/>
            <p:nvPr/>
          </p:nvSpPr>
          <p:spPr>
            <a:xfrm>
              <a:off x="5061" y="1837"/>
              <a:ext cx="88" cy="75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48" name="Google Shape;1648;p9"/>
          <p:cNvGrpSpPr/>
          <p:nvPr/>
        </p:nvGrpSpPr>
        <p:grpSpPr>
          <a:xfrm>
            <a:off x="1323975" y="1595438"/>
            <a:ext cx="976312" cy="1460500"/>
            <a:chOff x="651" y="681"/>
            <a:chExt cx="615" cy="920"/>
          </a:xfrm>
        </p:grpSpPr>
        <p:sp>
          <p:nvSpPr>
            <p:cNvPr id="1649" name="Google Shape;1649;p9"/>
            <p:cNvSpPr/>
            <p:nvPr/>
          </p:nvSpPr>
          <p:spPr>
            <a:xfrm>
              <a:off x="662" y="698"/>
              <a:ext cx="604" cy="903"/>
            </a:xfrm>
            <a:custGeom>
              <a:rect b="b" l="l" r="r" t="t"/>
              <a:pathLst>
                <a:path extrusionOk="0" h="10000" w="10000">
                  <a:moveTo>
                    <a:pt x="8212" y="0"/>
                  </a:moveTo>
                  <a:lnTo>
                    <a:pt x="10000" y="10000"/>
                  </a:lnTo>
                  <a:lnTo>
                    <a:pt x="0" y="8726"/>
                  </a:lnTo>
                  <a:lnTo>
                    <a:pt x="7951" y="8723"/>
                  </a:lnTo>
                  <a:lnTo>
                    <a:pt x="8212" y="0"/>
                  </a:lnTo>
                  <a:close/>
                </a:path>
              </a:pathLst>
            </a:custGeom>
            <a:gradFill>
              <a:gsLst>
                <a:gs pos="0">
                  <a:srgbClr val="7F7F7F"/>
                </a:gs>
                <a:gs pos="100000">
                  <a:srgbClr val="FFFFFF">
                    <a:alpha val="77647"/>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50" name="Google Shape;1650;p9"/>
            <p:cNvGrpSpPr/>
            <p:nvPr/>
          </p:nvGrpSpPr>
          <p:grpSpPr>
            <a:xfrm>
              <a:off x="651" y="681"/>
              <a:ext cx="500" cy="834"/>
              <a:chOff x="569" y="2954"/>
              <a:chExt cx="500" cy="834"/>
            </a:xfrm>
          </p:grpSpPr>
          <p:sp>
            <p:nvSpPr>
              <p:cNvPr id="1651" name="Google Shape;1651;p9"/>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2" name="Google Shape;1652;p9"/>
              <p:cNvSpPr txBox="1"/>
              <p:nvPr/>
            </p:nvSpPr>
            <p:spPr>
              <a:xfrm>
                <a:off x="606" y="2954"/>
                <a:ext cx="453"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HTTP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653" name="Google Shape;1653;p9"/>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654" name="Google Shape;1654;p9"/>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655" name="Google Shape;1655;p9"/>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656" name="Google Shape;1656;p9"/>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657" name="Google Shape;1657;p9"/>
          <p:cNvGrpSpPr/>
          <p:nvPr/>
        </p:nvGrpSpPr>
        <p:grpSpPr>
          <a:xfrm>
            <a:off x="1751013" y="4270375"/>
            <a:ext cx="973137" cy="1416050"/>
            <a:chOff x="4000" y="1895"/>
            <a:chExt cx="613" cy="892"/>
          </a:xfrm>
        </p:grpSpPr>
        <p:sp>
          <p:nvSpPr>
            <p:cNvPr id="1658" name="Google Shape;1658;p9"/>
            <p:cNvSpPr/>
            <p:nvPr/>
          </p:nvSpPr>
          <p:spPr>
            <a:xfrm>
              <a:off x="4011" y="1912"/>
              <a:ext cx="602" cy="875"/>
            </a:xfrm>
            <a:custGeom>
              <a:rect b="b" l="l" r="r" t="t"/>
              <a:pathLst>
                <a:path extrusionOk="0" h="10000" w="10000">
                  <a:moveTo>
                    <a:pt x="8239" y="0"/>
                  </a:moveTo>
                  <a:cubicBezTo>
                    <a:pt x="8793" y="2137"/>
                    <a:pt x="8981" y="4731"/>
                    <a:pt x="9900" y="6411"/>
                  </a:cubicBezTo>
                  <a:cubicBezTo>
                    <a:pt x="10055" y="7271"/>
                    <a:pt x="9844" y="9139"/>
                    <a:pt x="10000" y="10000"/>
                  </a:cubicBezTo>
                  <a:cubicBezTo>
                    <a:pt x="6733" y="9577"/>
                    <a:pt x="3333" y="9337"/>
                    <a:pt x="0" y="9005"/>
                  </a:cubicBezTo>
                  <a:lnTo>
                    <a:pt x="7575" y="8572"/>
                  </a:lnTo>
                  <a:cubicBezTo>
                    <a:pt x="7797" y="5714"/>
                    <a:pt x="8017" y="2858"/>
                    <a:pt x="8239" y="0"/>
                  </a:cubicBezTo>
                  <a:close/>
                </a:path>
              </a:pathLst>
            </a:custGeom>
            <a:gradFill>
              <a:gsLst>
                <a:gs pos="0">
                  <a:srgbClr val="7F7F7F"/>
                </a:gs>
                <a:gs pos="99000">
                  <a:srgbClr val="FFFFFF">
                    <a:alpha val="81960"/>
                  </a:srgbClr>
                </a:gs>
                <a:gs pos="100000">
                  <a:srgbClr val="FFFFFF">
                    <a:alpha val="81960"/>
                  </a:srgbClr>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59" name="Google Shape;1659;p9"/>
            <p:cNvGrpSpPr/>
            <p:nvPr/>
          </p:nvGrpSpPr>
          <p:grpSpPr>
            <a:xfrm>
              <a:off x="4000" y="1895"/>
              <a:ext cx="500" cy="834"/>
              <a:chOff x="569" y="2954"/>
              <a:chExt cx="500" cy="834"/>
            </a:xfrm>
          </p:grpSpPr>
          <p:sp>
            <p:nvSpPr>
              <p:cNvPr id="1660" name="Google Shape;1660;p9"/>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9"/>
              <p:cNvSpPr txBox="1"/>
              <p:nvPr/>
            </p:nvSpPr>
            <p:spPr>
              <a:xfrm>
                <a:off x="606" y="2954"/>
                <a:ext cx="453" cy="8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HTTP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1662" name="Google Shape;1662;p9"/>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1663" name="Google Shape;1663;p9"/>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1664" name="Google Shape;1664;p9"/>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1665" name="Google Shape;1665;p9"/>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1666" name="Google Shape;1666;p9"/>
          <p:cNvGrpSpPr/>
          <p:nvPr/>
        </p:nvGrpSpPr>
        <p:grpSpPr>
          <a:xfrm>
            <a:off x="1946552" y="2678242"/>
            <a:ext cx="913139" cy="665131"/>
            <a:chOff x="7455987" y="2414528"/>
            <a:chExt cx="511700" cy="327647"/>
          </a:xfrm>
        </p:grpSpPr>
        <p:pic>
          <p:nvPicPr>
            <p:cNvPr descr="laptop_keyboard" id="1667" name="Google Shape;1667;p9"/>
            <p:cNvPicPr preferRelativeResize="0"/>
            <p:nvPr/>
          </p:nvPicPr>
          <p:blipFill rotWithShape="1">
            <a:blip r:embed="rId3">
              <a:alphaModFix/>
            </a:blip>
            <a:srcRect b="0" l="0" r="0" t="0"/>
            <a:stretch/>
          </p:blipFill>
          <p:spPr>
            <a:xfrm flipH="1" rot="109064">
              <a:off x="7458407" y="2575770"/>
              <a:ext cx="437221" cy="159511"/>
            </a:xfrm>
            <a:prstGeom prst="rect">
              <a:avLst/>
            </a:prstGeom>
            <a:noFill/>
            <a:ln>
              <a:noFill/>
            </a:ln>
          </p:spPr>
        </p:pic>
        <p:sp>
          <p:nvSpPr>
            <p:cNvPr id="1668" name="Google Shape;1668;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1669" name="Google Shape;1669;p9"/>
            <p:cNvPicPr preferRelativeResize="0"/>
            <p:nvPr/>
          </p:nvPicPr>
          <p:blipFill rotWithShape="1">
            <a:blip r:embed="rId4">
              <a:alphaModFix/>
            </a:blip>
            <a:srcRect b="0" l="0" r="0" t="0"/>
            <a:stretch/>
          </p:blipFill>
          <p:spPr>
            <a:xfrm>
              <a:off x="7620637" y="2426338"/>
              <a:ext cx="319785" cy="189429"/>
            </a:xfrm>
            <a:prstGeom prst="rect">
              <a:avLst/>
            </a:prstGeom>
            <a:noFill/>
            <a:ln>
              <a:noFill/>
            </a:ln>
          </p:spPr>
        </p:pic>
        <p:sp>
          <p:nvSpPr>
            <p:cNvPr id="1670" name="Google Shape;1670;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1" name="Google Shape;1671;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2" name="Google Shape;1672;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3" name="Google Shape;1673;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4" name="Google Shape;1674;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5" name="Google Shape;1675;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676" name="Google Shape;1676;p9"/>
            <p:cNvGrpSpPr/>
            <p:nvPr/>
          </p:nvGrpSpPr>
          <p:grpSpPr>
            <a:xfrm>
              <a:off x="7594735" y="2642220"/>
              <a:ext cx="98740" cy="36846"/>
              <a:chOff x="1740" y="2642"/>
              <a:chExt cx="752" cy="327"/>
            </a:xfrm>
          </p:grpSpPr>
          <p:sp>
            <p:nvSpPr>
              <p:cNvPr id="1677" name="Google Shape;1677;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8" name="Google Shape;1678;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9" name="Google Shape;1679;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0" name="Google Shape;1680;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1" name="Google Shape;1681;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2" name="Google Shape;1682;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683" name="Google Shape;1683;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4" name="Google Shape;1684;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5" name="Google Shape;1685;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6" name="Google Shape;1686;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7" name="Google Shape;1687;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8" name="Google Shape;1688;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89" name="Google Shape;1689;p9"/>
          <p:cNvGrpSpPr/>
          <p:nvPr/>
        </p:nvGrpSpPr>
        <p:grpSpPr>
          <a:xfrm>
            <a:off x="544513" y="1574800"/>
            <a:ext cx="515937" cy="333375"/>
            <a:chOff x="328" y="678"/>
            <a:chExt cx="325" cy="210"/>
          </a:xfrm>
        </p:grpSpPr>
        <p:grpSp>
          <p:nvGrpSpPr>
            <p:cNvPr id="1690" name="Google Shape;1690;p9"/>
            <p:cNvGrpSpPr/>
            <p:nvPr/>
          </p:nvGrpSpPr>
          <p:grpSpPr>
            <a:xfrm>
              <a:off x="328" y="693"/>
              <a:ext cx="325" cy="154"/>
              <a:chOff x="844" y="3337"/>
              <a:chExt cx="325" cy="154"/>
            </a:xfrm>
          </p:grpSpPr>
          <p:sp>
            <p:nvSpPr>
              <p:cNvPr id="1691" name="Google Shape;1691;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2" name="Google Shape;1692;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693" name="Google Shape;1693;p9"/>
            <p:cNvSpPr/>
            <p:nvPr/>
          </p:nvSpPr>
          <p:spPr>
            <a:xfrm>
              <a:off x="396" y="678"/>
              <a:ext cx="240" cy="210"/>
            </a:xfrm>
            <a:prstGeom prst="downArrow">
              <a:avLst>
                <a:gd fmla="val 49167" name="adj1"/>
                <a:gd fmla="val 24292"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94" name="Google Shape;1694;p9"/>
          <p:cNvGrpSpPr/>
          <p:nvPr/>
        </p:nvGrpSpPr>
        <p:grpSpPr>
          <a:xfrm>
            <a:off x="190500" y="1884363"/>
            <a:ext cx="1081088" cy="1058862"/>
            <a:chOff x="56" y="859"/>
            <a:chExt cx="681" cy="667"/>
          </a:xfrm>
        </p:grpSpPr>
        <p:grpSp>
          <p:nvGrpSpPr>
            <p:cNvPr id="1695" name="Google Shape;1695;p9"/>
            <p:cNvGrpSpPr/>
            <p:nvPr/>
          </p:nvGrpSpPr>
          <p:grpSpPr>
            <a:xfrm>
              <a:off x="290" y="874"/>
              <a:ext cx="379" cy="154"/>
              <a:chOff x="740" y="3209"/>
              <a:chExt cx="379" cy="154"/>
            </a:xfrm>
          </p:grpSpPr>
          <p:grpSp>
            <p:nvGrpSpPr>
              <p:cNvPr id="1696" name="Google Shape;1696;p9"/>
              <p:cNvGrpSpPr/>
              <p:nvPr/>
            </p:nvGrpSpPr>
            <p:grpSpPr>
              <a:xfrm>
                <a:off x="794" y="3209"/>
                <a:ext cx="325" cy="154"/>
                <a:chOff x="844" y="3337"/>
                <a:chExt cx="325" cy="154"/>
              </a:xfrm>
            </p:grpSpPr>
            <p:sp>
              <p:nvSpPr>
                <p:cNvPr id="1697" name="Google Shape;1697;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699" name="Google Shape;1699;p9"/>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0" name="Google Shape;1700;p9"/>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01" name="Google Shape;1701;p9"/>
            <p:cNvGrpSpPr/>
            <p:nvPr/>
          </p:nvGrpSpPr>
          <p:grpSpPr>
            <a:xfrm>
              <a:off x="290" y="1022"/>
              <a:ext cx="379" cy="154"/>
              <a:chOff x="836" y="3305"/>
              <a:chExt cx="379" cy="154"/>
            </a:xfrm>
          </p:grpSpPr>
          <p:grpSp>
            <p:nvGrpSpPr>
              <p:cNvPr id="1702" name="Google Shape;1702;p9"/>
              <p:cNvGrpSpPr/>
              <p:nvPr/>
            </p:nvGrpSpPr>
            <p:grpSpPr>
              <a:xfrm>
                <a:off x="890" y="3305"/>
                <a:ext cx="325" cy="154"/>
                <a:chOff x="844" y="3337"/>
                <a:chExt cx="325" cy="154"/>
              </a:xfrm>
            </p:grpSpPr>
            <p:sp>
              <p:nvSpPr>
                <p:cNvPr id="1703" name="Google Shape;1703;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4" name="Google Shape;1704;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705" name="Google Shape;1705;p9"/>
              <p:cNvGrpSpPr/>
              <p:nvPr/>
            </p:nvGrpSpPr>
            <p:grpSpPr>
              <a:xfrm>
                <a:off x="836" y="3334"/>
                <a:ext cx="354" cy="94"/>
                <a:chOff x="836" y="3334"/>
                <a:chExt cx="354" cy="94"/>
              </a:xfrm>
            </p:grpSpPr>
            <p:sp>
              <p:nvSpPr>
                <p:cNvPr id="1706" name="Google Shape;1706;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708" name="Google Shape;1708;p9"/>
            <p:cNvGrpSpPr/>
            <p:nvPr/>
          </p:nvGrpSpPr>
          <p:grpSpPr>
            <a:xfrm>
              <a:off x="177" y="1042"/>
              <a:ext cx="480" cy="112"/>
              <a:chOff x="627" y="3377"/>
              <a:chExt cx="480" cy="112"/>
            </a:xfrm>
          </p:grpSpPr>
          <p:sp>
            <p:nvSpPr>
              <p:cNvPr id="1709" name="Google Shape;1709;p9"/>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0" name="Google Shape;1710;p9"/>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11" name="Google Shape;1711;p9"/>
            <p:cNvGrpSpPr/>
            <p:nvPr/>
          </p:nvGrpSpPr>
          <p:grpSpPr>
            <a:xfrm>
              <a:off x="56" y="1189"/>
              <a:ext cx="681" cy="154"/>
              <a:chOff x="504" y="3523"/>
              <a:chExt cx="681" cy="154"/>
            </a:xfrm>
          </p:grpSpPr>
          <p:grpSp>
            <p:nvGrpSpPr>
              <p:cNvPr id="1712" name="Google Shape;1712;p9"/>
              <p:cNvGrpSpPr/>
              <p:nvPr/>
            </p:nvGrpSpPr>
            <p:grpSpPr>
              <a:xfrm>
                <a:off x="623" y="3523"/>
                <a:ext cx="492" cy="154"/>
                <a:chOff x="723" y="3453"/>
                <a:chExt cx="492" cy="154"/>
              </a:xfrm>
            </p:grpSpPr>
            <p:grpSp>
              <p:nvGrpSpPr>
                <p:cNvPr id="1713" name="Google Shape;1713;p9"/>
                <p:cNvGrpSpPr/>
                <p:nvPr/>
              </p:nvGrpSpPr>
              <p:grpSpPr>
                <a:xfrm>
                  <a:off x="836" y="3453"/>
                  <a:ext cx="379" cy="154"/>
                  <a:chOff x="836" y="3305"/>
                  <a:chExt cx="379" cy="154"/>
                </a:xfrm>
              </p:grpSpPr>
              <p:grpSp>
                <p:nvGrpSpPr>
                  <p:cNvPr id="1714" name="Google Shape;1714;p9"/>
                  <p:cNvGrpSpPr/>
                  <p:nvPr/>
                </p:nvGrpSpPr>
                <p:grpSpPr>
                  <a:xfrm>
                    <a:off x="890" y="3305"/>
                    <a:ext cx="325" cy="154"/>
                    <a:chOff x="844" y="3337"/>
                    <a:chExt cx="325" cy="154"/>
                  </a:xfrm>
                </p:grpSpPr>
                <p:sp>
                  <p:nvSpPr>
                    <p:cNvPr id="1715" name="Google Shape;1715;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6" name="Google Shape;1716;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717" name="Google Shape;1717;p9"/>
                  <p:cNvGrpSpPr/>
                  <p:nvPr/>
                </p:nvGrpSpPr>
                <p:grpSpPr>
                  <a:xfrm>
                    <a:off x="836" y="3334"/>
                    <a:ext cx="354" cy="94"/>
                    <a:chOff x="836" y="3334"/>
                    <a:chExt cx="354" cy="94"/>
                  </a:xfrm>
                </p:grpSpPr>
                <p:sp>
                  <p:nvSpPr>
                    <p:cNvPr id="1718" name="Google Shape;1718;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9" name="Google Shape;1719;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720" name="Google Shape;1720;p9"/>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1" name="Google Shape;1721;p9"/>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22" name="Google Shape;1722;p9"/>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3" name="Google Shape;1723;p9"/>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4" name="Google Shape;1724;p9"/>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25" name="Google Shape;1725;p9"/>
            <p:cNvSpPr/>
            <p:nvPr/>
          </p:nvSpPr>
          <p:spPr>
            <a:xfrm>
              <a:off x="341" y="859"/>
              <a:ext cx="240" cy="667"/>
            </a:xfrm>
            <a:prstGeom prst="downArrow">
              <a:avLst>
                <a:gd fmla="val 49167" name="adj1"/>
                <a:gd fmla="val 675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26" name="Google Shape;1726;p9"/>
          <p:cNvGrpSpPr/>
          <p:nvPr/>
        </p:nvGrpSpPr>
        <p:grpSpPr>
          <a:xfrm>
            <a:off x="193675" y="2411413"/>
            <a:ext cx="1081088" cy="244475"/>
            <a:chOff x="0" y="2762"/>
            <a:chExt cx="681" cy="154"/>
          </a:xfrm>
        </p:grpSpPr>
        <p:sp>
          <p:nvSpPr>
            <p:cNvPr id="1727" name="Google Shape;1727;p9"/>
            <p:cNvSpPr/>
            <p:nvPr/>
          </p:nvSpPr>
          <p:spPr>
            <a:xfrm>
              <a:off x="0" y="2768"/>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28" name="Google Shape;1728;p9"/>
            <p:cNvGrpSpPr/>
            <p:nvPr/>
          </p:nvGrpSpPr>
          <p:grpSpPr>
            <a:xfrm>
              <a:off x="119" y="2762"/>
              <a:ext cx="492" cy="154"/>
              <a:chOff x="723" y="3453"/>
              <a:chExt cx="492" cy="154"/>
            </a:xfrm>
          </p:grpSpPr>
          <p:grpSp>
            <p:nvGrpSpPr>
              <p:cNvPr id="1729" name="Google Shape;1729;p9"/>
              <p:cNvGrpSpPr/>
              <p:nvPr/>
            </p:nvGrpSpPr>
            <p:grpSpPr>
              <a:xfrm>
                <a:off x="836" y="3453"/>
                <a:ext cx="379" cy="154"/>
                <a:chOff x="836" y="3305"/>
                <a:chExt cx="379" cy="154"/>
              </a:xfrm>
            </p:grpSpPr>
            <p:grpSp>
              <p:nvGrpSpPr>
                <p:cNvPr id="1730" name="Google Shape;1730;p9"/>
                <p:cNvGrpSpPr/>
                <p:nvPr/>
              </p:nvGrpSpPr>
              <p:grpSpPr>
                <a:xfrm>
                  <a:off x="890" y="3305"/>
                  <a:ext cx="325" cy="154"/>
                  <a:chOff x="844" y="3337"/>
                  <a:chExt cx="325" cy="154"/>
                </a:xfrm>
              </p:grpSpPr>
              <p:sp>
                <p:nvSpPr>
                  <p:cNvPr id="1731" name="Google Shape;1731;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2" name="Google Shape;1732;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733" name="Google Shape;1733;p9"/>
                <p:cNvGrpSpPr/>
                <p:nvPr/>
              </p:nvGrpSpPr>
              <p:grpSpPr>
                <a:xfrm>
                  <a:off x="836" y="3334"/>
                  <a:ext cx="354" cy="94"/>
                  <a:chOff x="836" y="3334"/>
                  <a:chExt cx="354" cy="94"/>
                </a:xfrm>
              </p:grpSpPr>
              <p:sp>
                <p:nvSpPr>
                  <p:cNvPr id="1734" name="Google Shape;1734;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5" name="Google Shape;1735;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736" name="Google Shape;1736;p9"/>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7" name="Google Shape;1737;p9"/>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38" name="Google Shape;1738;p9"/>
            <p:cNvSpPr/>
            <p:nvPr/>
          </p:nvSpPr>
          <p:spPr>
            <a:xfrm>
              <a:off x="13" y="2784"/>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9" name="Google Shape;1739;p9"/>
            <p:cNvSpPr/>
            <p:nvPr/>
          </p:nvSpPr>
          <p:spPr>
            <a:xfrm>
              <a:off x="611" y="2783"/>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40" name="Google Shape;1740;p9"/>
          <p:cNvGrpSpPr/>
          <p:nvPr/>
        </p:nvGrpSpPr>
        <p:grpSpPr>
          <a:xfrm>
            <a:off x="665163" y="4308475"/>
            <a:ext cx="1081087" cy="949325"/>
            <a:chOff x="2231" y="3555"/>
            <a:chExt cx="681" cy="598"/>
          </a:xfrm>
        </p:grpSpPr>
        <p:grpSp>
          <p:nvGrpSpPr>
            <p:cNvPr id="1741" name="Google Shape;1741;p9"/>
            <p:cNvGrpSpPr/>
            <p:nvPr/>
          </p:nvGrpSpPr>
          <p:grpSpPr>
            <a:xfrm>
              <a:off x="2231" y="3684"/>
              <a:ext cx="681" cy="469"/>
              <a:chOff x="152" y="970"/>
              <a:chExt cx="681" cy="469"/>
            </a:xfrm>
          </p:grpSpPr>
          <p:grpSp>
            <p:nvGrpSpPr>
              <p:cNvPr id="1742" name="Google Shape;1742;p9"/>
              <p:cNvGrpSpPr/>
              <p:nvPr/>
            </p:nvGrpSpPr>
            <p:grpSpPr>
              <a:xfrm>
                <a:off x="386" y="970"/>
                <a:ext cx="379" cy="154"/>
                <a:chOff x="740" y="3209"/>
                <a:chExt cx="379" cy="154"/>
              </a:xfrm>
            </p:grpSpPr>
            <p:grpSp>
              <p:nvGrpSpPr>
                <p:cNvPr id="1743" name="Google Shape;1743;p9"/>
                <p:cNvGrpSpPr/>
                <p:nvPr/>
              </p:nvGrpSpPr>
              <p:grpSpPr>
                <a:xfrm>
                  <a:off x="794" y="3209"/>
                  <a:ext cx="325" cy="154"/>
                  <a:chOff x="844" y="3337"/>
                  <a:chExt cx="325" cy="154"/>
                </a:xfrm>
              </p:grpSpPr>
              <p:sp>
                <p:nvSpPr>
                  <p:cNvPr id="1744" name="Google Shape;1744;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5" name="Google Shape;1745;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746" name="Google Shape;1746;p9"/>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7" name="Google Shape;1747;p9"/>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48" name="Google Shape;1748;p9"/>
              <p:cNvGrpSpPr/>
              <p:nvPr/>
            </p:nvGrpSpPr>
            <p:grpSpPr>
              <a:xfrm>
                <a:off x="386" y="1118"/>
                <a:ext cx="379" cy="154"/>
                <a:chOff x="836" y="3305"/>
                <a:chExt cx="379" cy="154"/>
              </a:xfrm>
            </p:grpSpPr>
            <p:grpSp>
              <p:nvGrpSpPr>
                <p:cNvPr id="1749" name="Google Shape;1749;p9"/>
                <p:cNvGrpSpPr/>
                <p:nvPr/>
              </p:nvGrpSpPr>
              <p:grpSpPr>
                <a:xfrm>
                  <a:off x="890" y="3305"/>
                  <a:ext cx="325" cy="154"/>
                  <a:chOff x="844" y="3337"/>
                  <a:chExt cx="325" cy="154"/>
                </a:xfrm>
              </p:grpSpPr>
              <p:sp>
                <p:nvSpPr>
                  <p:cNvPr id="1750" name="Google Shape;1750;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752" name="Google Shape;1752;p9"/>
                <p:cNvGrpSpPr/>
                <p:nvPr/>
              </p:nvGrpSpPr>
              <p:grpSpPr>
                <a:xfrm>
                  <a:off x="836" y="3334"/>
                  <a:ext cx="354" cy="94"/>
                  <a:chOff x="836" y="3334"/>
                  <a:chExt cx="354" cy="94"/>
                </a:xfrm>
              </p:grpSpPr>
              <p:sp>
                <p:nvSpPr>
                  <p:cNvPr id="1753" name="Google Shape;1753;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4" name="Google Shape;1754;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755" name="Google Shape;1755;p9"/>
              <p:cNvGrpSpPr/>
              <p:nvPr/>
            </p:nvGrpSpPr>
            <p:grpSpPr>
              <a:xfrm>
                <a:off x="273" y="1138"/>
                <a:ext cx="480" cy="112"/>
                <a:chOff x="627" y="3377"/>
                <a:chExt cx="480" cy="112"/>
              </a:xfrm>
            </p:grpSpPr>
            <p:sp>
              <p:nvSpPr>
                <p:cNvPr id="1756" name="Google Shape;1756;p9"/>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7" name="Google Shape;1757;p9"/>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58" name="Google Shape;1758;p9"/>
              <p:cNvGrpSpPr/>
              <p:nvPr/>
            </p:nvGrpSpPr>
            <p:grpSpPr>
              <a:xfrm>
                <a:off x="152" y="1285"/>
                <a:ext cx="681" cy="154"/>
                <a:chOff x="504" y="3523"/>
                <a:chExt cx="681" cy="154"/>
              </a:xfrm>
            </p:grpSpPr>
            <p:grpSp>
              <p:nvGrpSpPr>
                <p:cNvPr id="1759" name="Google Shape;1759;p9"/>
                <p:cNvGrpSpPr/>
                <p:nvPr/>
              </p:nvGrpSpPr>
              <p:grpSpPr>
                <a:xfrm>
                  <a:off x="623" y="3523"/>
                  <a:ext cx="492" cy="154"/>
                  <a:chOff x="723" y="3453"/>
                  <a:chExt cx="492" cy="154"/>
                </a:xfrm>
              </p:grpSpPr>
              <p:grpSp>
                <p:nvGrpSpPr>
                  <p:cNvPr id="1760" name="Google Shape;1760;p9"/>
                  <p:cNvGrpSpPr/>
                  <p:nvPr/>
                </p:nvGrpSpPr>
                <p:grpSpPr>
                  <a:xfrm>
                    <a:off x="836" y="3453"/>
                    <a:ext cx="379" cy="154"/>
                    <a:chOff x="836" y="3305"/>
                    <a:chExt cx="379" cy="154"/>
                  </a:xfrm>
                </p:grpSpPr>
                <p:grpSp>
                  <p:nvGrpSpPr>
                    <p:cNvPr id="1761" name="Google Shape;1761;p9"/>
                    <p:cNvGrpSpPr/>
                    <p:nvPr/>
                  </p:nvGrpSpPr>
                  <p:grpSpPr>
                    <a:xfrm>
                      <a:off x="890" y="3305"/>
                      <a:ext cx="325" cy="154"/>
                      <a:chOff x="844" y="3337"/>
                      <a:chExt cx="325" cy="154"/>
                    </a:xfrm>
                  </p:grpSpPr>
                  <p:sp>
                    <p:nvSpPr>
                      <p:cNvPr id="1762" name="Google Shape;1762;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3" name="Google Shape;1763;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764" name="Google Shape;1764;p9"/>
                    <p:cNvGrpSpPr/>
                    <p:nvPr/>
                  </p:nvGrpSpPr>
                  <p:grpSpPr>
                    <a:xfrm>
                      <a:off x="836" y="3334"/>
                      <a:ext cx="354" cy="94"/>
                      <a:chOff x="836" y="3334"/>
                      <a:chExt cx="354" cy="94"/>
                    </a:xfrm>
                  </p:grpSpPr>
                  <p:sp>
                    <p:nvSpPr>
                      <p:cNvPr id="1765" name="Google Shape;1765;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6" name="Google Shape;1766;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767" name="Google Shape;1767;p9"/>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9"/>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69" name="Google Shape;1769;p9"/>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0" name="Google Shape;1770;p9"/>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1" name="Google Shape;1771;p9"/>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772" name="Google Shape;1772;p9"/>
            <p:cNvGrpSpPr/>
            <p:nvPr/>
          </p:nvGrpSpPr>
          <p:grpSpPr>
            <a:xfrm>
              <a:off x="2517" y="3555"/>
              <a:ext cx="325" cy="154"/>
              <a:chOff x="844" y="3337"/>
              <a:chExt cx="325" cy="154"/>
            </a:xfrm>
          </p:grpSpPr>
          <p:sp>
            <p:nvSpPr>
              <p:cNvPr id="1773" name="Google Shape;1773;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4" name="Google Shape;1774;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grpSp>
        <p:nvGrpSpPr>
          <p:cNvPr id="1775" name="Google Shape;1775;p9"/>
          <p:cNvGrpSpPr/>
          <p:nvPr/>
        </p:nvGrpSpPr>
        <p:grpSpPr>
          <a:xfrm>
            <a:off x="177800" y="1639888"/>
            <a:ext cx="1081088" cy="1016000"/>
            <a:chOff x="2256" y="3531"/>
            <a:chExt cx="681" cy="640"/>
          </a:xfrm>
        </p:grpSpPr>
        <p:grpSp>
          <p:nvGrpSpPr>
            <p:cNvPr id="1776" name="Google Shape;1776;p9"/>
            <p:cNvGrpSpPr/>
            <p:nvPr/>
          </p:nvGrpSpPr>
          <p:grpSpPr>
            <a:xfrm>
              <a:off x="2482" y="3684"/>
              <a:ext cx="379" cy="154"/>
              <a:chOff x="740" y="3209"/>
              <a:chExt cx="379" cy="154"/>
            </a:xfrm>
          </p:grpSpPr>
          <p:grpSp>
            <p:nvGrpSpPr>
              <p:cNvPr id="1777" name="Google Shape;1777;p9"/>
              <p:cNvGrpSpPr/>
              <p:nvPr/>
            </p:nvGrpSpPr>
            <p:grpSpPr>
              <a:xfrm>
                <a:off x="794" y="3209"/>
                <a:ext cx="325" cy="154"/>
                <a:chOff x="844" y="3337"/>
                <a:chExt cx="325" cy="154"/>
              </a:xfrm>
            </p:grpSpPr>
            <p:sp>
              <p:nvSpPr>
                <p:cNvPr id="1778" name="Google Shape;1778;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9" name="Google Shape;1779;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sp>
            <p:nvSpPr>
              <p:cNvPr id="1780" name="Google Shape;1780;p9"/>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1" name="Google Shape;1781;p9"/>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82" name="Google Shape;1782;p9"/>
            <p:cNvGrpSpPr/>
            <p:nvPr/>
          </p:nvGrpSpPr>
          <p:grpSpPr>
            <a:xfrm>
              <a:off x="2482" y="3844"/>
              <a:ext cx="379" cy="154"/>
              <a:chOff x="836" y="3305"/>
              <a:chExt cx="379" cy="154"/>
            </a:xfrm>
          </p:grpSpPr>
          <p:grpSp>
            <p:nvGrpSpPr>
              <p:cNvPr id="1783" name="Google Shape;1783;p9"/>
              <p:cNvGrpSpPr/>
              <p:nvPr/>
            </p:nvGrpSpPr>
            <p:grpSpPr>
              <a:xfrm>
                <a:off x="890" y="3305"/>
                <a:ext cx="325" cy="154"/>
                <a:chOff x="844" y="3337"/>
                <a:chExt cx="325" cy="154"/>
              </a:xfrm>
            </p:grpSpPr>
            <p:sp>
              <p:nvSpPr>
                <p:cNvPr id="1784" name="Google Shape;1784;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5" name="Google Shape;1785;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786" name="Google Shape;1786;p9"/>
              <p:cNvGrpSpPr/>
              <p:nvPr/>
            </p:nvGrpSpPr>
            <p:grpSpPr>
              <a:xfrm>
                <a:off x="836" y="3334"/>
                <a:ext cx="354" cy="94"/>
                <a:chOff x="836" y="3334"/>
                <a:chExt cx="354" cy="94"/>
              </a:xfrm>
            </p:grpSpPr>
            <p:sp>
              <p:nvSpPr>
                <p:cNvPr id="1787" name="Google Shape;1787;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8" name="Google Shape;1788;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789" name="Google Shape;1789;p9"/>
            <p:cNvGrpSpPr/>
            <p:nvPr/>
          </p:nvGrpSpPr>
          <p:grpSpPr>
            <a:xfrm>
              <a:off x="2369" y="3858"/>
              <a:ext cx="480" cy="112"/>
              <a:chOff x="627" y="3377"/>
              <a:chExt cx="480" cy="112"/>
            </a:xfrm>
          </p:grpSpPr>
          <p:sp>
            <p:nvSpPr>
              <p:cNvPr id="1790" name="Google Shape;1790;p9"/>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1" name="Google Shape;1791;p9"/>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92" name="Google Shape;1792;p9"/>
            <p:cNvGrpSpPr/>
            <p:nvPr/>
          </p:nvGrpSpPr>
          <p:grpSpPr>
            <a:xfrm>
              <a:off x="2534" y="3531"/>
              <a:ext cx="325" cy="154"/>
              <a:chOff x="844" y="3337"/>
              <a:chExt cx="325" cy="154"/>
            </a:xfrm>
          </p:grpSpPr>
          <p:sp>
            <p:nvSpPr>
              <p:cNvPr id="1793" name="Google Shape;1793;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4" name="Google Shape;1794;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795" name="Google Shape;1795;p9"/>
            <p:cNvGrpSpPr/>
            <p:nvPr/>
          </p:nvGrpSpPr>
          <p:grpSpPr>
            <a:xfrm>
              <a:off x="2256" y="4017"/>
              <a:ext cx="681" cy="154"/>
              <a:chOff x="-341" y="3180"/>
              <a:chExt cx="681" cy="154"/>
            </a:xfrm>
          </p:grpSpPr>
          <p:sp>
            <p:nvSpPr>
              <p:cNvPr id="1796" name="Google Shape;1796;p9"/>
              <p:cNvSpPr/>
              <p:nvPr/>
            </p:nvSpPr>
            <p:spPr>
              <a:xfrm>
                <a:off x="-341" y="3186"/>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97" name="Google Shape;1797;p9"/>
              <p:cNvGrpSpPr/>
              <p:nvPr/>
            </p:nvGrpSpPr>
            <p:grpSpPr>
              <a:xfrm>
                <a:off x="-222" y="3180"/>
                <a:ext cx="492" cy="154"/>
                <a:chOff x="723" y="3453"/>
                <a:chExt cx="492" cy="154"/>
              </a:xfrm>
            </p:grpSpPr>
            <p:grpSp>
              <p:nvGrpSpPr>
                <p:cNvPr id="1798" name="Google Shape;1798;p9"/>
                <p:cNvGrpSpPr/>
                <p:nvPr/>
              </p:nvGrpSpPr>
              <p:grpSpPr>
                <a:xfrm>
                  <a:off x="836" y="3453"/>
                  <a:ext cx="379" cy="154"/>
                  <a:chOff x="836" y="3305"/>
                  <a:chExt cx="379" cy="154"/>
                </a:xfrm>
              </p:grpSpPr>
              <p:grpSp>
                <p:nvGrpSpPr>
                  <p:cNvPr id="1799" name="Google Shape;1799;p9"/>
                  <p:cNvGrpSpPr/>
                  <p:nvPr/>
                </p:nvGrpSpPr>
                <p:grpSpPr>
                  <a:xfrm>
                    <a:off x="890" y="3305"/>
                    <a:ext cx="325" cy="154"/>
                    <a:chOff x="844" y="3337"/>
                    <a:chExt cx="325" cy="154"/>
                  </a:xfrm>
                </p:grpSpPr>
                <p:sp>
                  <p:nvSpPr>
                    <p:cNvPr id="1800" name="Google Shape;1800;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1" name="Google Shape;1801;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802" name="Google Shape;1802;p9"/>
                  <p:cNvGrpSpPr/>
                  <p:nvPr/>
                </p:nvGrpSpPr>
                <p:grpSpPr>
                  <a:xfrm>
                    <a:off x="836" y="3334"/>
                    <a:ext cx="354" cy="94"/>
                    <a:chOff x="836" y="3334"/>
                    <a:chExt cx="354" cy="94"/>
                  </a:xfrm>
                </p:grpSpPr>
                <p:sp>
                  <p:nvSpPr>
                    <p:cNvPr id="1803" name="Google Shape;1803;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4" name="Google Shape;1804;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805" name="Google Shape;1805;p9"/>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6" name="Google Shape;1806;p9"/>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07" name="Google Shape;1807;p9"/>
              <p:cNvSpPr/>
              <p:nvPr/>
            </p:nvSpPr>
            <p:spPr>
              <a:xfrm>
                <a:off x="-328" y="3202"/>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8" name="Google Shape;1808;p9"/>
              <p:cNvSpPr/>
              <p:nvPr/>
            </p:nvSpPr>
            <p:spPr>
              <a:xfrm>
                <a:off x="270" y="3201"/>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809" name="Google Shape;1809;p9"/>
          <p:cNvGrpSpPr/>
          <p:nvPr/>
        </p:nvGrpSpPr>
        <p:grpSpPr>
          <a:xfrm>
            <a:off x="668338" y="5013325"/>
            <a:ext cx="1081087" cy="244475"/>
            <a:chOff x="-341" y="3180"/>
            <a:chExt cx="681" cy="154"/>
          </a:xfrm>
        </p:grpSpPr>
        <p:sp>
          <p:nvSpPr>
            <p:cNvPr id="1810" name="Google Shape;1810;p9"/>
            <p:cNvSpPr/>
            <p:nvPr/>
          </p:nvSpPr>
          <p:spPr>
            <a:xfrm>
              <a:off x="-341" y="3186"/>
              <a:ext cx="681" cy="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811" name="Google Shape;1811;p9"/>
            <p:cNvGrpSpPr/>
            <p:nvPr/>
          </p:nvGrpSpPr>
          <p:grpSpPr>
            <a:xfrm>
              <a:off x="-222" y="3180"/>
              <a:ext cx="492" cy="154"/>
              <a:chOff x="723" y="3453"/>
              <a:chExt cx="492" cy="154"/>
            </a:xfrm>
          </p:grpSpPr>
          <p:grpSp>
            <p:nvGrpSpPr>
              <p:cNvPr id="1812" name="Google Shape;1812;p9"/>
              <p:cNvGrpSpPr/>
              <p:nvPr/>
            </p:nvGrpSpPr>
            <p:grpSpPr>
              <a:xfrm>
                <a:off x="836" y="3453"/>
                <a:ext cx="379" cy="154"/>
                <a:chOff x="836" y="3305"/>
                <a:chExt cx="379" cy="154"/>
              </a:xfrm>
            </p:grpSpPr>
            <p:grpSp>
              <p:nvGrpSpPr>
                <p:cNvPr id="1813" name="Google Shape;1813;p9"/>
                <p:cNvGrpSpPr/>
                <p:nvPr/>
              </p:nvGrpSpPr>
              <p:grpSpPr>
                <a:xfrm>
                  <a:off x="890" y="3305"/>
                  <a:ext cx="325" cy="154"/>
                  <a:chOff x="844" y="3337"/>
                  <a:chExt cx="325" cy="154"/>
                </a:xfrm>
              </p:grpSpPr>
              <p:sp>
                <p:nvSpPr>
                  <p:cNvPr id="1814" name="Google Shape;1814;p9"/>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5" name="Google Shape;1815;p9"/>
                  <p:cNvSpPr txBox="1"/>
                  <p:nvPr/>
                </p:nvSpPr>
                <p:spPr>
                  <a:xfrm>
                    <a:off x="844" y="3337"/>
                    <a:ext cx="325"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HTTP</a:t>
                    </a:r>
                    <a:endParaRPr/>
                  </a:p>
                </p:txBody>
              </p:sp>
            </p:grpSp>
            <p:grpSp>
              <p:nvGrpSpPr>
                <p:cNvPr id="1816" name="Google Shape;1816;p9"/>
                <p:cNvGrpSpPr/>
                <p:nvPr/>
              </p:nvGrpSpPr>
              <p:grpSpPr>
                <a:xfrm>
                  <a:off x="836" y="3334"/>
                  <a:ext cx="354" cy="94"/>
                  <a:chOff x="836" y="3334"/>
                  <a:chExt cx="354" cy="94"/>
                </a:xfrm>
              </p:grpSpPr>
              <p:sp>
                <p:nvSpPr>
                  <p:cNvPr id="1817" name="Google Shape;1817;p9"/>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8" name="Google Shape;1818;p9"/>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819" name="Google Shape;1819;p9"/>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0" name="Google Shape;1820;p9"/>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821" name="Google Shape;1821;p9"/>
            <p:cNvSpPr/>
            <p:nvPr/>
          </p:nvSpPr>
          <p:spPr>
            <a:xfrm>
              <a:off x="-328" y="3202"/>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2" name="Google Shape;1822;p9"/>
            <p:cNvSpPr/>
            <p:nvPr/>
          </p:nvSpPr>
          <p:spPr>
            <a:xfrm>
              <a:off x="270" y="3201"/>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1823" name="Google Shape;1823;p9"/>
          <p:cNvPicPr preferRelativeResize="0"/>
          <p:nvPr/>
        </p:nvPicPr>
        <p:blipFill rotWithShape="1">
          <a:blip r:embed="rId5">
            <a:alphaModFix/>
          </a:blip>
          <a:srcRect b="0" l="0" r="0" t="0"/>
          <a:stretch/>
        </p:blipFill>
        <p:spPr>
          <a:xfrm>
            <a:off x="2344776" y="2632037"/>
            <a:ext cx="639182" cy="395101"/>
          </a:xfrm>
          <a:prstGeom prst="rect">
            <a:avLst/>
          </a:prstGeom>
          <a:noFill/>
          <a:ln cap="flat" cmpd="sng" w="19050">
            <a:solidFill>
              <a:srgbClr val="FF0000"/>
            </a:solidFill>
            <a:prstDash val="solid"/>
            <a:miter lim="800000"/>
            <a:headEnd len="sm" w="sm" type="none"/>
            <a:tailEnd len="sm" w="sm" type="none"/>
          </a:ln>
          <a:effectLst>
            <a:outerShdw blurRad="50800" rotWithShape="0" algn="bl" dir="18900000" dist="38100">
              <a:srgbClr val="000000">
                <a:alpha val="40000"/>
              </a:srgbClr>
            </a:outerShdw>
          </a:effectLst>
        </p:spPr>
      </p:pic>
      <p:sp>
        <p:nvSpPr>
          <p:cNvPr id="1824" name="Google Shape;1824;p9"/>
          <p:cNvSpPr/>
          <p:nvPr/>
        </p:nvSpPr>
        <p:spPr>
          <a:xfrm>
            <a:off x="2344747" y="1988349"/>
            <a:ext cx="2595553" cy="536575"/>
          </a:xfrm>
          <a:prstGeom prst="rect">
            <a:avLst/>
          </a:prstGeom>
          <a:noFill/>
          <a:ln>
            <a:noFill/>
          </a:ln>
        </p:spPr>
        <p:txBody>
          <a:bodyPr anchorCtr="0" anchor="t" bIns="45700" lIns="91425" spcFirstLastPara="1" rIns="91425" wrap="square" tIns="45700">
            <a:noAutofit/>
          </a:bodyPr>
          <a:lstStyle/>
          <a:p>
            <a:pPr indent="-187325" lvl="0" marL="238125" marR="0" rtl="0" algn="l">
              <a:lnSpc>
                <a:spcPct val="90000"/>
              </a:lnSpc>
              <a:spcBef>
                <a:spcPts val="0"/>
              </a:spcBef>
              <a:spcAft>
                <a:spcPts val="0"/>
              </a:spcAft>
              <a:buClr>
                <a:srgbClr val="000099"/>
              </a:buClr>
              <a:buSzPts val="2000"/>
              <a:buFont typeface="Noto Sans Symbols"/>
              <a:buChar char="▪"/>
            </a:pPr>
            <a:r>
              <a:rPr lang="en-US" sz="2000">
                <a:solidFill>
                  <a:srgbClr val="000000"/>
                </a:solidFill>
                <a:latin typeface="Arial"/>
                <a:ea typeface="Arial"/>
                <a:cs typeface="Arial"/>
                <a:sym typeface="Arial"/>
              </a:rPr>
              <a:t>web page </a:t>
            </a:r>
            <a:r>
              <a:rPr i="1" lang="en-US" sz="2000">
                <a:solidFill>
                  <a:srgbClr val="C00000"/>
                </a:solidFill>
                <a:latin typeface="Arial"/>
                <a:ea typeface="Arial"/>
                <a:cs typeface="Arial"/>
                <a:sym typeface="Arial"/>
              </a:rPr>
              <a:t>finally (!!!) </a:t>
            </a:r>
            <a:r>
              <a:rPr lang="en-US" sz="2000">
                <a:solidFill>
                  <a:srgbClr val="000000"/>
                </a:solidFill>
                <a:latin typeface="Arial"/>
                <a:ea typeface="Arial"/>
                <a:cs typeface="Arial"/>
                <a:sym typeface="Arial"/>
              </a:rPr>
              <a:t>displayed</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8"/>
                                        </p:tgtEl>
                                        <p:attrNameLst>
                                          <p:attrName>style.visibility</p:attrName>
                                        </p:attrNameLst>
                                      </p:cBhvr>
                                      <p:to>
                                        <p:strVal val="visible"/>
                                      </p:to>
                                    </p:set>
                                    <p:animEffect filter="fade" transition="in">
                                      <p:cBhvr>
                                        <p:cTn dur="500"/>
                                        <p:tgtEl>
                                          <p:spTgt spid="16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89"/>
                                        </p:tgtEl>
                                        <p:attrNameLst>
                                          <p:attrName>style.visibility</p:attrName>
                                        </p:attrNameLst>
                                      </p:cBhvr>
                                      <p:to>
                                        <p:strVal val="visible"/>
                                      </p:to>
                                    </p:set>
                                    <p:animEffect filter="fade" transition="in">
                                      <p:cBhvr>
                                        <p:cTn dur="500"/>
                                        <p:tgtEl>
                                          <p:spTgt spid="16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57"/>
                                        </p:tgtEl>
                                        <p:attrNameLst>
                                          <p:attrName>style.visibility</p:attrName>
                                        </p:attrNameLst>
                                      </p:cBhvr>
                                      <p:to>
                                        <p:strVal val="visible"/>
                                      </p:to>
                                    </p:set>
                                    <p:animEffect filter="fade" transition="in">
                                      <p:cBhvr>
                                        <p:cTn dur="1000"/>
                                        <p:tgtEl>
                                          <p:spTgt spid="1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4"/>
                                        </p:tgtEl>
                                        <p:attrNameLst>
                                          <p:attrName>style.visibility</p:attrName>
                                        </p:attrNameLst>
                                      </p:cBhvr>
                                      <p:to>
                                        <p:strVal val="visible"/>
                                      </p:to>
                                    </p:set>
                                    <p:animEffect filter="fade" transition="in">
                                      <p:cBhvr>
                                        <p:cTn dur="500"/>
                                        <p:tgtEl>
                                          <p:spTgt spid="1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par>
                                <p:cTn fill="hold" nodeType="withEffect" presetClass="exit" presetID="10" presetSubtype="0">
                                  <p:stCondLst>
                                    <p:cond delay="0"/>
                                  </p:stCondLst>
                                  <p:childTnLst>
                                    <p:animEffect filter="fade" transition="out">
                                      <p:cBhvr>
                                        <p:cTn dur="500"/>
                                        <p:tgtEl>
                                          <p:spTgt spid="1694"/>
                                        </p:tgtEl>
                                      </p:cBhvr>
                                    </p:animEffect>
                                    <p:set>
                                      <p:cBhvr>
                                        <p:cTn dur="1" fill="hold">
                                          <p:stCondLst>
                                            <p:cond delay="500"/>
                                          </p:stCondLst>
                                        </p:cTn>
                                        <p:tgtEl>
                                          <p:spTgt spid="169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89"/>
                                        </p:tgtEl>
                                      </p:cBhvr>
                                    </p:animEffect>
                                    <p:set>
                                      <p:cBhvr>
                                        <p:cTn dur="1" fill="hold">
                                          <p:stCondLst>
                                            <p:cond delay="500"/>
                                          </p:stCondLst>
                                        </p:cTn>
                                        <p:tgtEl>
                                          <p:spTgt spid="16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0"/>
                                        </p:tgtEl>
                                        <p:attrNameLst>
                                          <p:attrName>style.visibility</p:attrName>
                                        </p:attrNameLst>
                                      </p:cBhvr>
                                      <p:to>
                                        <p:strVal val="visible"/>
                                      </p:to>
                                    </p:set>
                                    <p:animEffect filter="fade" transition="in">
                                      <p:cBhvr>
                                        <p:cTn dur="500"/>
                                        <p:tgtEl>
                                          <p:spTgt spid="1740"/>
                                        </p:tgtEl>
                                      </p:cBhvr>
                                    </p:animEffect>
                                  </p:childTnLst>
                                </p:cTn>
                              </p:par>
                              <p:par>
                                <p:cTn fill="hold" nodeType="withEffect" presetClass="exit" presetID="10" presetSubtype="0">
                                  <p:stCondLst>
                                    <p:cond delay="0"/>
                                  </p:stCondLst>
                                  <p:childTnLst>
                                    <p:animEffect filter="fade" transition="out">
                                      <p:cBhvr>
                                        <p:cTn dur="500"/>
                                        <p:tgtEl>
                                          <p:spTgt spid="1726"/>
                                        </p:tgtEl>
                                      </p:cBhvr>
                                    </p:animEffect>
                                    <p:set>
                                      <p:cBhvr>
                                        <p:cTn dur="1" fill="hold">
                                          <p:stCondLst>
                                            <p:cond delay="500"/>
                                          </p:stCondLst>
                                        </p:cTn>
                                        <p:tgtEl>
                                          <p:spTgt spid="17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40"/>
                                        </p:tgtEl>
                                      </p:cBhvr>
                                    </p:animEffect>
                                    <p:set>
                                      <p:cBhvr>
                                        <p:cTn dur="1" fill="hold">
                                          <p:stCondLst>
                                            <p:cond delay="500"/>
                                          </p:stCondLst>
                                        </p:cTn>
                                        <p:tgtEl>
                                          <p:spTgt spid="1740"/>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40"/>
                                        </p:tgtEl>
                                        <p:attrNameLst>
                                          <p:attrName>style.visibility</p:attrName>
                                        </p:attrNameLst>
                                      </p:cBhvr>
                                      <p:to>
                                        <p:strVal val="visible"/>
                                      </p:to>
                                    </p:set>
                                    <p:animEffect filter="fade" transition="in">
                                      <p:cBhvr>
                                        <p:cTn dur="500"/>
                                        <p:tgtEl>
                                          <p:spTgt spid="1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9"/>
                                        </p:tgtEl>
                                        <p:attrNameLst>
                                          <p:attrName>style.visibility</p:attrName>
                                        </p:attrNameLst>
                                      </p:cBhvr>
                                      <p:to>
                                        <p:strVal val="visible"/>
                                      </p:to>
                                    </p:set>
                                    <p:animEffect filter="fade" transition="in">
                                      <p:cBhvr>
                                        <p:cTn dur="500"/>
                                        <p:tgtEl>
                                          <p:spTgt spid="1809"/>
                                        </p:tgtEl>
                                      </p:cBhvr>
                                    </p:animEffect>
                                  </p:childTnLst>
                                </p:cTn>
                              </p:par>
                              <p:par>
                                <p:cTn fill="hold" nodeType="withEffect" presetClass="exit" presetID="10" presetSubtype="0">
                                  <p:stCondLst>
                                    <p:cond delay="0"/>
                                  </p:stCondLst>
                                  <p:childTnLst>
                                    <p:animEffect filter="fade" transition="out">
                                      <p:cBhvr>
                                        <p:cTn dur="500"/>
                                        <p:tgtEl>
                                          <p:spTgt spid="1740"/>
                                        </p:tgtEl>
                                      </p:cBhvr>
                                    </p:animEffect>
                                    <p:set>
                                      <p:cBhvr>
                                        <p:cTn dur="1" fill="hold">
                                          <p:stCondLst>
                                            <p:cond delay="500"/>
                                          </p:stCondLst>
                                        </p:cTn>
                                        <p:tgtEl>
                                          <p:spTgt spid="17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09"/>
                                        </p:tgtEl>
                                      </p:cBhvr>
                                    </p:animEffect>
                                    <p:set>
                                      <p:cBhvr>
                                        <p:cTn dur="1" fill="hold">
                                          <p:stCondLst>
                                            <p:cond delay="500"/>
                                          </p:stCondLst>
                                        </p:cTn>
                                        <p:tgtEl>
                                          <p:spTgt spid="180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75"/>
                                        </p:tgtEl>
                                        <p:attrNameLst>
                                          <p:attrName>style.visibility</p:attrName>
                                        </p:attrNameLst>
                                      </p:cBhvr>
                                      <p:to>
                                        <p:strVal val="visible"/>
                                      </p:to>
                                    </p:set>
                                    <p:animEffect filter="fade" transition="in">
                                      <p:cBhvr>
                                        <p:cTn dur="500"/>
                                        <p:tgtEl>
                                          <p:spTgt spid="17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23"/>
                                        </p:tgtEl>
                                        <p:attrNameLst>
                                          <p:attrName>style.visibility</p:attrName>
                                        </p:attrNameLst>
                                      </p:cBhvr>
                                      <p:to>
                                        <p:strVal val="visible"/>
                                      </p:to>
                                    </p:set>
                                    <p:animEffect filter="fade" transition="in">
                                      <p:cBhvr>
                                        <p:cTn dur="1000"/>
                                        <p:tgtEl>
                                          <p:spTgt spid="1823"/>
                                        </p:tgtEl>
                                      </p:cBhvr>
                                    </p:animEffect>
                                  </p:childTnLst>
                                </p:cTn>
                              </p:par>
                              <p:par>
                                <p:cTn fill="hold" nodeType="withEffect" presetClass="entr" presetID="1" presetSubtype="0">
                                  <p:stCondLst>
                                    <p:cond delay="0"/>
                                  </p:stCondLst>
                                  <p:childTnLst>
                                    <p:set>
                                      <p:cBhvr>
                                        <p:cTn dur="1" fill="hold">
                                          <p:stCondLst>
                                            <p:cond delay="0"/>
                                          </p:stCondLst>
                                        </p:cTn>
                                        <p:tgtEl>
                                          <p:spTgt spid="1824"/>
                                        </p:tgtEl>
                                        <p:attrNameLst>
                                          <p:attrName>style.visibility</p:attrName>
                                        </p:attrNameLst>
                                      </p:cBhvr>
                                      <p:to>
                                        <p:strVal val="visible"/>
                                      </p:to>
                                    </p:se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824"/>
                                        </p:tgtEl>
                                        <p:attrNameLst>
                                          <p:attrName>style.visibility</p:attrName>
                                        </p:attrNameLst>
                                      </p:cBhvr>
                                      <p:to>
                                        <p:strVal val="visible"/>
                                      </p:to>
                                    </p:set>
                                    <p:animEffect filter="fade" transition="in">
                                      <p:cBhvr>
                                        <p:cTn dur="500"/>
                                        <p:tgtEl>
                                          <p:spTgt spid="18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8" name="Shape 1828"/>
        <p:cNvGrpSpPr/>
        <p:nvPr/>
      </p:nvGrpSpPr>
      <p:grpSpPr>
        <a:xfrm>
          <a:off x="0" y="0"/>
          <a:ext cx="0" cy="0"/>
          <a:chOff x="0" y="0"/>
          <a:chExt cx="0" cy="0"/>
        </a:xfrm>
      </p:grpSpPr>
      <p:sp>
        <p:nvSpPr>
          <p:cNvPr id="1829" name="Google Shape;1829;p10"/>
          <p:cNvSpPr txBox="1"/>
          <p:nvPr>
            <p:ph type="title"/>
          </p:nvPr>
        </p:nvSpPr>
        <p:spPr>
          <a:xfrm>
            <a:off x="5868557" y="1138036"/>
            <a:ext cx="5444382" cy="140247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sz="3200"/>
              <a:t>What is a network program / application?</a:t>
            </a:r>
            <a:endParaRPr/>
          </a:p>
        </p:txBody>
      </p:sp>
      <p:pic>
        <p:nvPicPr>
          <p:cNvPr descr="Person watching empty phone" id="1830" name="Google Shape;1830;p10"/>
          <p:cNvPicPr preferRelativeResize="0"/>
          <p:nvPr/>
        </p:nvPicPr>
        <p:blipFill rotWithShape="1">
          <a:blip r:embed="rId3">
            <a:alphaModFix/>
          </a:blip>
          <a:srcRect b="-1" l="40511" r="9351" t="0"/>
          <a:stretch/>
        </p:blipFill>
        <p:spPr>
          <a:xfrm>
            <a:off x="-1" y="10"/>
            <a:ext cx="5151179" cy="6857990"/>
          </a:xfrm>
          <a:prstGeom prst="rect">
            <a:avLst/>
          </a:prstGeom>
          <a:noFill/>
          <a:ln>
            <a:noFill/>
          </a:ln>
        </p:spPr>
      </p:pic>
      <p:cxnSp>
        <p:nvCxnSpPr>
          <p:cNvPr id="1831" name="Google Shape;1831;p10"/>
          <p:cNvCxnSpPr/>
          <p:nvPr/>
        </p:nvCxnSpPr>
        <p:spPr>
          <a:xfrm>
            <a:off x="5971697" y="871146"/>
            <a:ext cx="736939" cy="0"/>
          </a:xfrm>
          <a:prstGeom prst="straightConnector1">
            <a:avLst/>
          </a:prstGeom>
          <a:noFill/>
          <a:ln cap="flat" cmpd="sng" w="57150">
            <a:solidFill>
              <a:schemeClr val="accent4"/>
            </a:solidFill>
            <a:prstDash val="solid"/>
            <a:miter lim="800000"/>
            <a:headEnd len="sm" w="sm" type="none"/>
            <a:tailEnd len="sm" w="sm" type="none"/>
          </a:ln>
        </p:spPr>
      </p:cxnSp>
      <p:sp>
        <p:nvSpPr>
          <p:cNvPr id="1832" name="Google Shape;1832;p10"/>
          <p:cNvSpPr txBox="1"/>
          <p:nvPr>
            <p:ph idx="1" type="body"/>
          </p:nvPr>
        </p:nvSpPr>
        <p:spPr>
          <a:xfrm>
            <a:off x="5868557" y="2551176"/>
            <a:ext cx="5444382" cy="3591207"/>
          </a:xfrm>
          <a:prstGeom prst="rect">
            <a:avLst/>
          </a:prstGeom>
          <a:noFill/>
          <a:ln>
            <a:noFill/>
          </a:ln>
        </p:spPr>
        <p:txBody>
          <a:bodyPr anchorCtr="0" anchor="t" bIns="45700" lIns="91425" spcFirstLastPara="1" rIns="91425" wrap="square" tIns="45700">
            <a:noAutofit/>
          </a:bodyPr>
          <a:lstStyle/>
          <a:p>
            <a:pPr indent="-311143" lvl="0" marL="311143" rtl="0" algn="l">
              <a:lnSpc>
                <a:spcPct val="90000"/>
              </a:lnSpc>
              <a:spcBef>
                <a:spcPts val="0"/>
              </a:spcBef>
              <a:spcAft>
                <a:spcPts val="0"/>
              </a:spcAft>
              <a:buClr>
                <a:schemeClr val="dk1"/>
              </a:buClr>
              <a:buSzPts val="1600"/>
              <a:buFont typeface="Noto Sans Symbols"/>
              <a:buChar char="▪"/>
            </a:pPr>
            <a:r>
              <a:rPr lang="en-US" sz="1600"/>
              <a:t>The apps are classified broadly into 2 kinds:</a:t>
            </a:r>
            <a:endParaRPr/>
          </a:p>
          <a:p>
            <a:pPr indent="-298442" lvl="0" marL="609585" rtl="0" algn="l">
              <a:lnSpc>
                <a:spcPct val="90000"/>
              </a:lnSpc>
              <a:spcBef>
                <a:spcPts val="1000"/>
              </a:spcBef>
              <a:spcAft>
                <a:spcPts val="0"/>
              </a:spcAft>
              <a:buClr>
                <a:schemeClr val="dk1"/>
              </a:buClr>
              <a:buSzPts val="1600"/>
              <a:buFont typeface="Arial"/>
              <a:buChar char="•"/>
            </a:pPr>
            <a:r>
              <a:rPr b="1" lang="en-US" sz="1600"/>
              <a:t>Client applications </a:t>
            </a:r>
            <a:r>
              <a:rPr lang="en-US" sz="1600"/>
              <a:t>request information</a:t>
            </a:r>
            <a:endParaRPr/>
          </a:p>
          <a:p>
            <a:pPr indent="-298442" lvl="0" marL="609585" rtl="0" algn="l">
              <a:lnSpc>
                <a:spcPct val="90000"/>
              </a:lnSpc>
              <a:spcBef>
                <a:spcPts val="1000"/>
              </a:spcBef>
              <a:spcAft>
                <a:spcPts val="0"/>
              </a:spcAft>
              <a:buClr>
                <a:schemeClr val="dk1"/>
              </a:buClr>
              <a:buSzPts val="1600"/>
              <a:buFont typeface="Arial"/>
              <a:buChar char="•"/>
            </a:pPr>
            <a:r>
              <a:rPr b="1" lang="en-US" sz="1600"/>
              <a:t>Server applications </a:t>
            </a:r>
            <a:r>
              <a:rPr lang="en-US" sz="1600"/>
              <a:t>respond to information requests from clients</a:t>
            </a:r>
            <a:endParaRPr/>
          </a:p>
          <a:p>
            <a:pPr indent="-209543" lvl="0" marL="311143" rtl="0" algn="l">
              <a:lnSpc>
                <a:spcPct val="90000"/>
              </a:lnSpc>
              <a:spcBef>
                <a:spcPts val="1000"/>
              </a:spcBef>
              <a:spcAft>
                <a:spcPts val="0"/>
              </a:spcAft>
              <a:buClr>
                <a:schemeClr val="dk1"/>
              </a:buClr>
              <a:buSzPts val="1600"/>
              <a:buFont typeface="Noto Sans Symbols"/>
              <a:buNone/>
            </a:pPr>
            <a:r>
              <a:t/>
            </a:r>
            <a:endParaRPr sz="1600"/>
          </a:p>
          <a:p>
            <a:pPr indent="-311143" lvl="0" marL="311143" rtl="0" algn="l">
              <a:lnSpc>
                <a:spcPct val="90000"/>
              </a:lnSpc>
              <a:spcBef>
                <a:spcPts val="1000"/>
              </a:spcBef>
              <a:spcAft>
                <a:spcPts val="0"/>
              </a:spcAft>
              <a:buClr>
                <a:schemeClr val="dk1"/>
              </a:buClr>
              <a:buSzPts val="1600"/>
              <a:buFont typeface="Noto Sans Symbols"/>
              <a:buChar char="▪"/>
            </a:pPr>
            <a:r>
              <a:rPr lang="en-US" sz="1600"/>
              <a:t>The client app makes a request by identifying the requested Internet resource and the communication protocol </a:t>
            </a:r>
            <a:endParaRPr/>
          </a:p>
          <a:p>
            <a:pPr indent="-311143" lvl="0" marL="311143" rtl="0" algn="l">
              <a:lnSpc>
                <a:spcPct val="90000"/>
              </a:lnSpc>
              <a:spcBef>
                <a:spcPts val="1000"/>
              </a:spcBef>
              <a:spcAft>
                <a:spcPts val="0"/>
              </a:spcAft>
              <a:buClr>
                <a:schemeClr val="dk1"/>
              </a:buClr>
              <a:buSzPts val="1600"/>
              <a:buFont typeface="Noto Sans Symbols"/>
              <a:buChar char="▪"/>
            </a:pPr>
            <a:r>
              <a:rPr lang="en-US" sz="1600"/>
              <a:t>If necessary, the client also provides any additional data required:</a:t>
            </a:r>
            <a:endParaRPr/>
          </a:p>
          <a:p>
            <a:pPr indent="-298442" lvl="0" marL="609585" rtl="0" algn="l">
              <a:lnSpc>
                <a:spcPct val="90000"/>
              </a:lnSpc>
              <a:spcBef>
                <a:spcPts val="1000"/>
              </a:spcBef>
              <a:spcAft>
                <a:spcPts val="0"/>
              </a:spcAft>
              <a:buClr>
                <a:schemeClr val="dk1"/>
              </a:buClr>
              <a:buSzPts val="1600"/>
              <a:buFont typeface="Arial"/>
              <a:buChar char="•"/>
            </a:pPr>
            <a:r>
              <a:rPr lang="en-US" sz="1600"/>
              <a:t>proxy location</a:t>
            </a:r>
            <a:endParaRPr/>
          </a:p>
          <a:p>
            <a:pPr indent="-298442" lvl="0" marL="609585" rtl="0" algn="l">
              <a:lnSpc>
                <a:spcPct val="90000"/>
              </a:lnSpc>
              <a:spcBef>
                <a:spcPts val="1000"/>
              </a:spcBef>
              <a:spcAft>
                <a:spcPts val="0"/>
              </a:spcAft>
              <a:buClr>
                <a:schemeClr val="dk1"/>
              </a:buClr>
              <a:buSzPts val="1600"/>
              <a:buFont typeface="Arial"/>
              <a:buChar char="•"/>
            </a:pPr>
            <a:r>
              <a:rPr lang="en-US" sz="1600"/>
              <a:t>authentication information</a:t>
            </a:r>
            <a:endParaRPr/>
          </a:p>
        </p:txBody>
      </p:sp>
      <p:sp>
        <p:nvSpPr>
          <p:cNvPr id="1833" name="Google Shape;183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p11"/>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Some </a:t>
            </a:r>
            <a:r>
              <a:rPr lang="en-US"/>
              <a:t>n</a:t>
            </a:r>
            <a:r>
              <a:rPr lang="en-US" sz="4400"/>
              <a:t>etwork apps</a:t>
            </a:r>
            <a:endParaRPr sz="4400"/>
          </a:p>
        </p:txBody>
      </p:sp>
      <p:sp>
        <p:nvSpPr>
          <p:cNvPr id="1840" name="Google Shape;1840;p11"/>
          <p:cNvSpPr txBox="1"/>
          <p:nvPr/>
        </p:nvSpPr>
        <p:spPr>
          <a:xfrm>
            <a:off x="914400" y="1456928"/>
            <a:ext cx="5309184" cy="4351338"/>
          </a:xfrm>
          <a:prstGeom prst="rect">
            <a:avLst/>
          </a:prstGeom>
          <a:noFill/>
          <a:ln>
            <a:noFill/>
          </a:ln>
        </p:spPr>
        <p:txBody>
          <a:bodyPr anchorCtr="0" anchor="t" bIns="45700" lIns="91425" spcFirstLastPara="1" rIns="91425" wrap="square" tIns="45700">
            <a:noAutofit/>
          </a:bodyPr>
          <a:lstStyle/>
          <a:p>
            <a:pPr indent="-331788" lvl="0" marL="346075" marR="0" rtl="0" algn="l">
              <a:lnSpc>
                <a:spcPct val="90000"/>
              </a:lnSpc>
              <a:spcBef>
                <a:spcPts val="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social networking</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Web</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text messaging</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e-mail</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multi-user network games</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streaming stored video (YouTube, Hulu, Netflix) </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P2P file sharing</a:t>
            </a:r>
            <a:endParaRPr/>
          </a:p>
          <a:p>
            <a:pPr indent="0" lvl="0" marL="352425" marR="0" rtl="0" algn="l">
              <a:lnSpc>
                <a:spcPct val="90000"/>
              </a:lnSpc>
              <a:spcBef>
                <a:spcPts val="1000"/>
              </a:spcBef>
              <a:spcAft>
                <a:spcPts val="0"/>
              </a:spcAft>
              <a:buClr>
                <a:srgbClr val="0000A3"/>
              </a:buClr>
              <a:buSzPts val="3600"/>
              <a:buFont typeface="Noto Sans Symbols"/>
              <a:buNone/>
            </a:pPr>
            <a:r>
              <a:t/>
            </a:r>
            <a:endParaRPr b="0" i="0" sz="3600" u="none" cap="none" strike="noStrike">
              <a:solidFill>
                <a:srgbClr val="000000"/>
              </a:solidFill>
              <a:latin typeface="Calibri"/>
              <a:ea typeface="Calibri"/>
              <a:cs typeface="Calibri"/>
              <a:sym typeface="Calibri"/>
            </a:endParaRPr>
          </a:p>
        </p:txBody>
      </p:sp>
      <p:sp>
        <p:nvSpPr>
          <p:cNvPr id="1841" name="Google Shape;1841;p11"/>
          <p:cNvSpPr txBox="1"/>
          <p:nvPr/>
        </p:nvSpPr>
        <p:spPr>
          <a:xfrm>
            <a:off x="6468101" y="1456928"/>
            <a:ext cx="5309184" cy="4351338"/>
          </a:xfrm>
          <a:prstGeom prst="rect">
            <a:avLst/>
          </a:prstGeom>
          <a:noFill/>
          <a:ln>
            <a:noFill/>
          </a:ln>
        </p:spPr>
        <p:txBody>
          <a:bodyPr anchorCtr="0" anchor="t" bIns="45700" lIns="91425" spcFirstLastPara="1" rIns="91425" wrap="square" tIns="45700">
            <a:noAutofit/>
          </a:bodyPr>
          <a:lstStyle/>
          <a:p>
            <a:pPr indent="-331788" lvl="0" marL="346075" marR="0" rtl="0" algn="l">
              <a:lnSpc>
                <a:spcPct val="90000"/>
              </a:lnSpc>
              <a:spcBef>
                <a:spcPts val="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voice over IP (e.g., Skype)</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real-time video conferencing (e.g., Zoom)</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Internet search</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remote login</a:t>
            </a:r>
            <a:endParaRPr/>
          </a:p>
          <a:p>
            <a:pPr indent="-331788" lvl="0" marL="346075" marR="0" rtl="0" algn="l">
              <a:lnSpc>
                <a:spcPct val="90000"/>
              </a:lnSpc>
              <a:spcBef>
                <a:spcPts val="10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a:t>
            </a:r>
            <a:endParaRPr/>
          </a:p>
          <a:p>
            <a:pPr indent="0" lvl="0" marL="14287" marR="0" rtl="0" algn="l">
              <a:lnSpc>
                <a:spcPct val="90000"/>
              </a:lnSpc>
              <a:spcBef>
                <a:spcPts val="1000"/>
              </a:spcBef>
              <a:spcAft>
                <a:spcPts val="0"/>
              </a:spcAft>
              <a:buClr>
                <a:srgbClr val="0000A8"/>
              </a:buClr>
              <a:buSzPts val="3600"/>
              <a:buFont typeface="Noto Sans Symbols"/>
              <a:buNone/>
            </a:pPr>
            <a:r>
              <a:t/>
            </a:r>
            <a:endParaRPr b="0" i="0" sz="3600" u="none" cap="none" strike="noStrike">
              <a:solidFill>
                <a:srgbClr val="000000"/>
              </a:solidFill>
              <a:latin typeface="Calibri"/>
              <a:ea typeface="Calibri"/>
              <a:cs typeface="Calibri"/>
              <a:sym typeface="Calibri"/>
            </a:endParaRPr>
          </a:p>
        </p:txBody>
      </p:sp>
      <p:sp>
        <p:nvSpPr>
          <p:cNvPr id="1842" name="Google Shape;1842;p11"/>
          <p:cNvSpPr txBox="1"/>
          <p:nvPr/>
        </p:nvSpPr>
        <p:spPr>
          <a:xfrm>
            <a:off x="6946490" y="5161935"/>
            <a:ext cx="359874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600"/>
              <a:buFont typeface="Calibri"/>
              <a:buNone/>
            </a:pPr>
            <a:r>
              <a:rPr b="0" i="1" lang="en-US" sz="3600" u="sng" cap="none" strike="noStrike">
                <a:solidFill>
                  <a:srgbClr val="C00000"/>
                </a:solidFill>
                <a:latin typeface="Calibri"/>
                <a:ea typeface="Calibri"/>
                <a:cs typeface="Calibri"/>
                <a:sym typeface="Calibri"/>
              </a:rPr>
              <a:t>Q:</a:t>
            </a:r>
            <a:r>
              <a:rPr b="0" i="1" lang="en-US" sz="3600" u="none" cap="none" strike="noStrike">
                <a:solidFill>
                  <a:srgbClr val="000000"/>
                </a:solidFill>
                <a:latin typeface="Calibri"/>
                <a:ea typeface="Calibri"/>
                <a:cs typeface="Calibri"/>
                <a:sym typeface="Calibri"/>
              </a:rPr>
              <a:t> your</a:t>
            </a:r>
            <a:r>
              <a:rPr b="0" i="0" lang="en-US" sz="3600" u="none" cap="none" strike="noStrike">
                <a:solidFill>
                  <a:srgbClr val="000000"/>
                </a:solidFill>
                <a:latin typeface="Calibri"/>
                <a:ea typeface="Calibri"/>
                <a:cs typeface="Calibri"/>
                <a:sym typeface="Calibri"/>
              </a:rPr>
              <a:t> favorites?</a:t>
            </a:r>
            <a:endParaRPr/>
          </a:p>
        </p:txBody>
      </p:sp>
      <p:sp>
        <p:nvSpPr>
          <p:cNvPr id="1843" name="Google Shape;1843;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0" st="0"/>
                                            </p:txEl>
                                          </p:spTgt>
                                        </p:tgtEl>
                                        <p:attrNameLst>
                                          <p:attrName>style.visibility</p:attrName>
                                        </p:attrNameLst>
                                      </p:cBhvr>
                                      <p:to>
                                        <p:strVal val="visible"/>
                                      </p:to>
                                    </p:set>
                                    <p:animEffect filter="fade" transition="in">
                                      <p:cBhvr>
                                        <p:cTn dur="500"/>
                                        <p:tgtEl>
                                          <p:spTgt spid="18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1" st="1"/>
                                            </p:txEl>
                                          </p:spTgt>
                                        </p:tgtEl>
                                        <p:attrNameLst>
                                          <p:attrName>style.visibility</p:attrName>
                                        </p:attrNameLst>
                                      </p:cBhvr>
                                      <p:to>
                                        <p:strVal val="visible"/>
                                      </p:to>
                                    </p:set>
                                    <p:animEffect filter="fade" transition="in">
                                      <p:cBhvr>
                                        <p:cTn dur="500"/>
                                        <p:tgtEl>
                                          <p:spTgt spid="18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2" st="2"/>
                                            </p:txEl>
                                          </p:spTgt>
                                        </p:tgtEl>
                                        <p:attrNameLst>
                                          <p:attrName>style.visibility</p:attrName>
                                        </p:attrNameLst>
                                      </p:cBhvr>
                                      <p:to>
                                        <p:strVal val="visible"/>
                                      </p:to>
                                    </p:set>
                                    <p:animEffect filter="fade" transition="in">
                                      <p:cBhvr>
                                        <p:cTn dur="500"/>
                                        <p:tgtEl>
                                          <p:spTgt spid="18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3" st="3"/>
                                            </p:txEl>
                                          </p:spTgt>
                                        </p:tgtEl>
                                        <p:attrNameLst>
                                          <p:attrName>style.visibility</p:attrName>
                                        </p:attrNameLst>
                                      </p:cBhvr>
                                      <p:to>
                                        <p:strVal val="visible"/>
                                      </p:to>
                                    </p:set>
                                    <p:animEffect filter="fade" transition="in">
                                      <p:cBhvr>
                                        <p:cTn dur="500"/>
                                        <p:tgtEl>
                                          <p:spTgt spid="18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4" st="4"/>
                                            </p:txEl>
                                          </p:spTgt>
                                        </p:tgtEl>
                                        <p:attrNameLst>
                                          <p:attrName>style.visibility</p:attrName>
                                        </p:attrNameLst>
                                      </p:cBhvr>
                                      <p:to>
                                        <p:strVal val="visible"/>
                                      </p:to>
                                    </p:set>
                                    <p:animEffect filter="fade" transition="in">
                                      <p:cBhvr>
                                        <p:cTn dur="500"/>
                                        <p:tgtEl>
                                          <p:spTgt spid="18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5" st="5"/>
                                            </p:txEl>
                                          </p:spTgt>
                                        </p:tgtEl>
                                        <p:attrNameLst>
                                          <p:attrName>style.visibility</p:attrName>
                                        </p:attrNameLst>
                                      </p:cBhvr>
                                      <p:to>
                                        <p:strVal val="visible"/>
                                      </p:to>
                                    </p:set>
                                    <p:animEffect filter="fade" transition="in">
                                      <p:cBhvr>
                                        <p:cTn dur="500"/>
                                        <p:tgtEl>
                                          <p:spTgt spid="18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6" st="6"/>
                                            </p:txEl>
                                          </p:spTgt>
                                        </p:tgtEl>
                                        <p:attrNameLst>
                                          <p:attrName>style.visibility</p:attrName>
                                        </p:attrNameLst>
                                      </p:cBhvr>
                                      <p:to>
                                        <p:strVal val="visible"/>
                                      </p:to>
                                    </p:set>
                                    <p:animEffect filter="fade" transition="in">
                                      <p:cBhvr>
                                        <p:cTn dur="500"/>
                                        <p:tgtEl>
                                          <p:spTgt spid="184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0">
                                            <p:txEl>
                                              <p:pRg end="7" st="7"/>
                                            </p:txEl>
                                          </p:spTgt>
                                        </p:tgtEl>
                                        <p:attrNameLst>
                                          <p:attrName>style.visibility</p:attrName>
                                        </p:attrNameLst>
                                      </p:cBhvr>
                                      <p:to>
                                        <p:strVal val="visible"/>
                                      </p:to>
                                    </p:set>
                                    <p:animEffect filter="fade" transition="in">
                                      <p:cBhvr>
                                        <p:cTn dur="500"/>
                                        <p:tgtEl>
                                          <p:spTgt spid="184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0" st="0"/>
                                            </p:txEl>
                                          </p:spTgt>
                                        </p:tgtEl>
                                        <p:attrNameLst>
                                          <p:attrName>style.visibility</p:attrName>
                                        </p:attrNameLst>
                                      </p:cBhvr>
                                      <p:to>
                                        <p:strVal val="visible"/>
                                      </p:to>
                                    </p:set>
                                    <p:animEffect filter="fade" transition="in">
                                      <p:cBhvr>
                                        <p:cTn dur="500"/>
                                        <p:tgtEl>
                                          <p:spTgt spid="18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1" st="1"/>
                                            </p:txEl>
                                          </p:spTgt>
                                        </p:tgtEl>
                                        <p:attrNameLst>
                                          <p:attrName>style.visibility</p:attrName>
                                        </p:attrNameLst>
                                      </p:cBhvr>
                                      <p:to>
                                        <p:strVal val="visible"/>
                                      </p:to>
                                    </p:set>
                                    <p:animEffect filter="fade" transition="in">
                                      <p:cBhvr>
                                        <p:cTn dur="500"/>
                                        <p:tgtEl>
                                          <p:spTgt spid="18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2" st="2"/>
                                            </p:txEl>
                                          </p:spTgt>
                                        </p:tgtEl>
                                        <p:attrNameLst>
                                          <p:attrName>style.visibility</p:attrName>
                                        </p:attrNameLst>
                                      </p:cBhvr>
                                      <p:to>
                                        <p:strVal val="visible"/>
                                      </p:to>
                                    </p:set>
                                    <p:animEffect filter="fade" transition="in">
                                      <p:cBhvr>
                                        <p:cTn dur="500"/>
                                        <p:tgtEl>
                                          <p:spTgt spid="18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3" st="3"/>
                                            </p:txEl>
                                          </p:spTgt>
                                        </p:tgtEl>
                                        <p:attrNameLst>
                                          <p:attrName>style.visibility</p:attrName>
                                        </p:attrNameLst>
                                      </p:cBhvr>
                                      <p:to>
                                        <p:strVal val="visible"/>
                                      </p:to>
                                    </p:set>
                                    <p:animEffect filter="fade" transition="in">
                                      <p:cBhvr>
                                        <p:cTn dur="500"/>
                                        <p:tgtEl>
                                          <p:spTgt spid="18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4" st="4"/>
                                            </p:txEl>
                                          </p:spTgt>
                                        </p:tgtEl>
                                        <p:attrNameLst>
                                          <p:attrName>style.visibility</p:attrName>
                                        </p:attrNameLst>
                                      </p:cBhvr>
                                      <p:to>
                                        <p:strVal val="visible"/>
                                      </p:to>
                                    </p:set>
                                    <p:animEffect filter="fade" transition="in">
                                      <p:cBhvr>
                                        <p:cTn dur="500"/>
                                        <p:tgtEl>
                                          <p:spTgt spid="18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xEl>
                                              <p:pRg end="5" st="5"/>
                                            </p:txEl>
                                          </p:spTgt>
                                        </p:tgtEl>
                                        <p:attrNameLst>
                                          <p:attrName>style.visibility</p:attrName>
                                        </p:attrNameLst>
                                      </p:cBhvr>
                                      <p:to>
                                        <p:strVal val="visible"/>
                                      </p:to>
                                    </p:set>
                                    <p:animEffect filter="fade" transition="in">
                                      <p:cBhvr>
                                        <p:cTn dur="500"/>
                                        <p:tgtEl>
                                          <p:spTgt spid="18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2"/>
                                        </p:tgtEl>
                                        <p:attrNameLst>
                                          <p:attrName>style.visibility</p:attrName>
                                        </p:attrNameLst>
                                      </p:cBhvr>
                                      <p:to>
                                        <p:strVal val="visible"/>
                                      </p:to>
                                    </p:set>
                                    <p:animEffect filter="fade" transition="in">
                                      <p:cBhvr>
                                        <p:cTn dur="500"/>
                                        <p:tgtEl>
                                          <p:spTgt spid="18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12"/>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50" name="Google Shape;1850;p12"/>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851" name="Google Shape;1851;p12"/>
          <p:cNvGrpSpPr/>
          <p:nvPr/>
        </p:nvGrpSpPr>
        <p:grpSpPr>
          <a:xfrm>
            <a:off x="7205350" y="3289251"/>
            <a:ext cx="1458912" cy="933450"/>
            <a:chOff x="2889" y="1631"/>
            <a:chExt cx="980" cy="743"/>
          </a:xfrm>
        </p:grpSpPr>
        <p:sp>
          <p:nvSpPr>
            <p:cNvPr id="1852" name="Google Shape;1852;p12"/>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853" name="Google Shape;1853;p12"/>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1854" name="Google Shape;1854;p12"/>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5" name="Google Shape;1855;p12"/>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1856" name="Google Shape;1856;p12"/>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1857" name="Google Shape;1857;p12"/>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1858" name="Google Shape;1858;p12"/>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F2CDED"/>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859" name="Google Shape;1859;p12"/>
          <p:cNvGrpSpPr/>
          <p:nvPr/>
        </p:nvGrpSpPr>
        <p:grpSpPr>
          <a:xfrm>
            <a:off x="10837700" y="3928050"/>
            <a:ext cx="687393" cy="721548"/>
            <a:chOff x="5203089" y="1751190"/>
            <a:chExt cx="858331" cy="662414"/>
          </a:xfrm>
        </p:grpSpPr>
        <p:sp>
          <p:nvSpPr>
            <p:cNvPr id="1860" name="Google Shape;1860;p1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61" name="Google Shape;1861;p1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1862" name="Google Shape;1862;p1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863" name="Google Shape;1863;p1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864" name="Google Shape;1864;p1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865" name="Google Shape;1865;p1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866" name="Google Shape;1866;p1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867" name="Google Shape;1867;p1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868" name="Google Shape;1868;p12"/>
          <p:cNvGrpSpPr/>
          <p:nvPr/>
        </p:nvGrpSpPr>
        <p:grpSpPr>
          <a:xfrm>
            <a:off x="10771171" y="3194171"/>
            <a:ext cx="594613" cy="648336"/>
            <a:chOff x="5203089" y="1751190"/>
            <a:chExt cx="858331" cy="662414"/>
          </a:xfrm>
        </p:grpSpPr>
        <p:sp>
          <p:nvSpPr>
            <p:cNvPr id="1869" name="Google Shape;1869;p1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70" name="Google Shape;1870;p1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1871" name="Google Shape;1871;p1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872" name="Google Shape;1872;p1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873" name="Google Shape;1873;p1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874" name="Google Shape;1874;p1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875" name="Google Shape;1875;p1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876" name="Google Shape;1876;p1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877" name="Google Shape;1877;p12"/>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F2CDED"/>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78" name="Google Shape;1878;p12"/>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1879" name="Google Shape;1879;p12"/>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80" name="Google Shape;1880;p12"/>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1881" name="Google Shape;1881;p12"/>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1882" name="Google Shape;1882;p12"/>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1883" name="Google Shape;1883;p12"/>
          <p:cNvCxnSpPr/>
          <p:nvPr/>
        </p:nvCxnSpPr>
        <p:spPr>
          <a:xfrm rot="10800000">
            <a:off x="10559920" y="3580125"/>
            <a:ext cx="412964" cy="63712"/>
          </a:xfrm>
          <a:prstGeom prst="straightConnector1">
            <a:avLst/>
          </a:prstGeom>
          <a:noFill/>
          <a:ln cap="flat" cmpd="sng" w="12700">
            <a:solidFill>
              <a:schemeClr val="dk1"/>
            </a:solidFill>
            <a:prstDash val="solid"/>
            <a:miter lim="800000"/>
            <a:headEnd len="sm" w="sm" type="none"/>
            <a:tailEnd len="sm" w="sm" type="none"/>
          </a:ln>
        </p:spPr>
      </p:cxnSp>
      <p:cxnSp>
        <p:nvCxnSpPr>
          <p:cNvPr id="1884" name="Google Shape;1884;p12"/>
          <p:cNvCxnSpPr/>
          <p:nvPr/>
        </p:nvCxnSpPr>
        <p:spPr>
          <a:xfrm rot="10800000">
            <a:off x="10660835" y="3640684"/>
            <a:ext cx="345866" cy="738975"/>
          </a:xfrm>
          <a:prstGeom prst="straightConnector1">
            <a:avLst/>
          </a:prstGeom>
          <a:noFill/>
          <a:ln cap="flat" cmpd="sng" w="12700">
            <a:solidFill>
              <a:schemeClr val="dk1"/>
            </a:solidFill>
            <a:prstDash val="solid"/>
            <a:miter lim="800000"/>
            <a:headEnd len="sm" w="sm" type="none"/>
            <a:tailEnd len="sm" w="sm" type="none"/>
          </a:ln>
        </p:spPr>
      </p:cxnSp>
      <p:cxnSp>
        <p:nvCxnSpPr>
          <p:cNvPr id="1885" name="Google Shape;1885;p12"/>
          <p:cNvCxnSpPr/>
          <p:nvPr/>
        </p:nvCxnSpPr>
        <p:spPr>
          <a:xfrm flipH="1" rot="10800000">
            <a:off x="10636897" y="3633421"/>
            <a:ext cx="335987" cy="395340"/>
          </a:xfrm>
          <a:prstGeom prst="straightConnector1">
            <a:avLst/>
          </a:prstGeom>
          <a:noFill/>
          <a:ln cap="flat" cmpd="sng" w="12700">
            <a:solidFill>
              <a:schemeClr val="dk1"/>
            </a:solidFill>
            <a:prstDash val="solid"/>
            <a:miter lim="800000"/>
            <a:headEnd len="sm" w="sm" type="none"/>
            <a:tailEnd len="sm" w="sm" type="none"/>
          </a:ln>
        </p:spPr>
      </p:cxnSp>
      <p:cxnSp>
        <p:nvCxnSpPr>
          <p:cNvPr id="1886" name="Google Shape;1886;p12"/>
          <p:cNvCxnSpPr/>
          <p:nvPr/>
        </p:nvCxnSpPr>
        <p:spPr>
          <a:xfrm rot="10800000">
            <a:off x="10570774" y="3594896"/>
            <a:ext cx="1" cy="485748"/>
          </a:xfrm>
          <a:prstGeom prst="straightConnector1">
            <a:avLst/>
          </a:prstGeom>
          <a:noFill/>
          <a:ln cap="flat" cmpd="sng" w="12700">
            <a:solidFill>
              <a:schemeClr val="dk1"/>
            </a:solidFill>
            <a:prstDash val="solid"/>
            <a:miter lim="800000"/>
            <a:headEnd len="sm" w="sm" type="none"/>
            <a:tailEnd len="sm" w="sm" type="none"/>
          </a:ln>
        </p:spPr>
      </p:cxnSp>
      <p:cxnSp>
        <p:nvCxnSpPr>
          <p:cNvPr id="1887" name="Google Shape;1887;p12"/>
          <p:cNvCxnSpPr/>
          <p:nvPr/>
        </p:nvCxnSpPr>
        <p:spPr>
          <a:xfrm rot="10800000">
            <a:off x="10550620" y="4071642"/>
            <a:ext cx="508543" cy="348647"/>
          </a:xfrm>
          <a:prstGeom prst="straightConnector1">
            <a:avLst/>
          </a:prstGeom>
          <a:noFill/>
          <a:ln cap="flat" cmpd="sng" w="12700">
            <a:solidFill>
              <a:schemeClr val="dk1"/>
            </a:solidFill>
            <a:prstDash val="solid"/>
            <a:miter lim="800000"/>
            <a:headEnd len="sm" w="sm" type="none"/>
            <a:tailEnd len="sm" w="sm" type="none"/>
          </a:ln>
        </p:spPr>
      </p:cxnSp>
      <p:cxnSp>
        <p:nvCxnSpPr>
          <p:cNvPr id="1888" name="Google Shape;1888;p12"/>
          <p:cNvCxnSpPr/>
          <p:nvPr/>
        </p:nvCxnSpPr>
        <p:spPr>
          <a:xfrm rot="10800000">
            <a:off x="9895195" y="4087742"/>
            <a:ext cx="655425" cy="0"/>
          </a:xfrm>
          <a:prstGeom prst="straightConnector1">
            <a:avLst/>
          </a:prstGeom>
          <a:noFill/>
          <a:ln cap="flat" cmpd="sng" w="12700">
            <a:solidFill>
              <a:schemeClr val="dk1"/>
            </a:solidFill>
            <a:prstDash val="solid"/>
            <a:miter lim="800000"/>
            <a:headEnd len="sm" w="sm" type="none"/>
            <a:tailEnd len="sm" w="sm" type="none"/>
          </a:ln>
        </p:spPr>
      </p:cxnSp>
      <p:cxnSp>
        <p:nvCxnSpPr>
          <p:cNvPr id="1889" name="Google Shape;1889;p12"/>
          <p:cNvCxnSpPr/>
          <p:nvPr/>
        </p:nvCxnSpPr>
        <p:spPr>
          <a:xfrm rot="10800000">
            <a:off x="9219616" y="4087742"/>
            <a:ext cx="655425" cy="0"/>
          </a:xfrm>
          <a:prstGeom prst="straightConnector1">
            <a:avLst/>
          </a:prstGeom>
          <a:noFill/>
          <a:ln cap="flat" cmpd="sng" w="12700">
            <a:solidFill>
              <a:schemeClr val="dk1"/>
            </a:solidFill>
            <a:prstDash val="solid"/>
            <a:miter lim="800000"/>
            <a:headEnd len="sm" w="sm" type="none"/>
            <a:tailEnd len="sm" w="sm" type="none"/>
          </a:ln>
        </p:spPr>
      </p:cxnSp>
      <p:cxnSp>
        <p:nvCxnSpPr>
          <p:cNvPr id="1890" name="Google Shape;1890;p12"/>
          <p:cNvCxnSpPr/>
          <p:nvPr/>
        </p:nvCxnSpPr>
        <p:spPr>
          <a:xfrm flipH="1">
            <a:off x="9276868" y="3507672"/>
            <a:ext cx="382424" cy="517050"/>
          </a:xfrm>
          <a:prstGeom prst="straightConnector1">
            <a:avLst/>
          </a:prstGeom>
          <a:noFill/>
          <a:ln cap="flat" cmpd="sng" w="12700">
            <a:solidFill>
              <a:schemeClr val="dk1"/>
            </a:solidFill>
            <a:prstDash val="solid"/>
            <a:miter lim="800000"/>
            <a:headEnd len="sm" w="sm" type="none"/>
            <a:tailEnd len="sm" w="sm" type="none"/>
          </a:ln>
        </p:spPr>
      </p:cxnSp>
      <p:cxnSp>
        <p:nvCxnSpPr>
          <p:cNvPr id="1891" name="Google Shape;1891;p12"/>
          <p:cNvCxnSpPr/>
          <p:nvPr/>
        </p:nvCxnSpPr>
        <p:spPr>
          <a:xfrm>
            <a:off x="9733069" y="3507672"/>
            <a:ext cx="0" cy="540294"/>
          </a:xfrm>
          <a:prstGeom prst="straightConnector1">
            <a:avLst/>
          </a:prstGeom>
          <a:noFill/>
          <a:ln cap="flat" cmpd="sng" w="12700">
            <a:solidFill>
              <a:schemeClr val="dk1"/>
            </a:solidFill>
            <a:prstDash val="solid"/>
            <a:miter lim="800000"/>
            <a:headEnd len="sm" w="sm" type="none"/>
            <a:tailEnd len="sm" w="sm" type="none"/>
          </a:ln>
        </p:spPr>
      </p:cxnSp>
      <p:cxnSp>
        <p:nvCxnSpPr>
          <p:cNvPr id="1892" name="Google Shape;1892;p12"/>
          <p:cNvCxnSpPr/>
          <p:nvPr/>
        </p:nvCxnSpPr>
        <p:spPr>
          <a:xfrm>
            <a:off x="10137668" y="2754692"/>
            <a:ext cx="488174" cy="839333"/>
          </a:xfrm>
          <a:prstGeom prst="straightConnector1">
            <a:avLst/>
          </a:prstGeom>
          <a:noFill/>
          <a:ln cap="flat" cmpd="sng" w="12700">
            <a:solidFill>
              <a:schemeClr val="dk1"/>
            </a:solidFill>
            <a:prstDash val="solid"/>
            <a:miter lim="800000"/>
            <a:headEnd len="sm" w="sm" type="none"/>
            <a:tailEnd len="sm" w="sm" type="none"/>
          </a:ln>
        </p:spPr>
      </p:cxnSp>
      <p:cxnSp>
        <p:nvCxnSpPr>
          <p:cNvPr id="1893" name="Google Shape;1893;p12"/>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894" name="Google Shape;1894;p12"/>
          <p:cNvGrpSpPr/>
          <p:nvPr/>
        </p:nvGrpSpPr>
        <p:grpSpPr>
          <a:xfrm>
            <a:off x="7562238" y="2127325"/>
            <a:ext cx="3578867" cy="3640284"/>
            <a:chOff x="7562238" y="2127325"/>
            <a:chExt cx="3578867" cy="3640284"/>
          </a:xfrm>
        </p:grpSpPr>
        <p:grpSp>
          <p:nvGrpSpPr>
            <p:cNvPr id="1895" name="Google Shape;1895;p12"/>
            <p:cNvGrpSpPr/>
            <p:nvPr/>
          </p:nvGrpSpPr>
          <p:grpSpPr>
            <a:xfrm>
              <a:off x="7857253" y="2127325"/>
              <a:ext cx="3283852" cy="3640284"/>
              <a:chOff x="7881336" y="2104198"/>
              <a:chExt cx="3283852" cy="3640284"/>
            </a:xfrm>
          </p:grpSpPr>
          <p:cxnSp>
            <p:nvCxnSpPr>
              <p:cNvPr id="1896" name="Google Shape;1896;p12"/>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897" name="Google Shape;1897;p12"/>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898" name="Google Shape;1898;p12"/>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899" name="Google Shape;1899;p12"/>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900" name="Google Shape;1900;p12"/>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901" name="Google Shape;1901;p12"/>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902" name="Google Shape;1902;p12"/>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903" name="Google Shape;1903;p12"/>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904" name="Google Shape;1904;p12"/>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905" name="Google Shape;1905;p12"/>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906" name="Google Shape;1906;p12"/>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907" name="Google Shape;1907;p12"/>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908" name="Google Shape;1908;p12"/>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909" name="Google Shape;1909;p12"/>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910" name="Google Shape;1910;p12"/>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911" name="Google Shape;1911;p12"/>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912" name="Google Shape;1912;p12"/>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913" name="Google Shape;1913;p12"/>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914" name="Google Shape;1914;p12"/>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915" name="Google Shape;1915;p12"/>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916" name="Google Shape;1916;p12"/>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917" name="Google Shape;1917;p12"/>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918" name="Google Shape;1918;p12"/>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919" name="Google Shape;1919;p12"/>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920" name="Google Shape;1920;p12"/>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921" name="Google Shape;1921;p12"/>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922" name="Google Shape;1922;p12"/>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923" name="Google Shape;1923;p12"/>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924" name="Google Shape;1924;p12"/>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925" name="Google Shape;1925;p12"/>
          <p:cNvGrpSpPr/>
          <p:nvPr/>
        </p:nvGrpSpPr>
        <p:grpSpPr>
          <a:xfrm>
            <a:off x="8050698" y="2309376"/>
            <a:ext cx="298450" cy="464008"/>
            <a:chOff x="3130" y="3288"/>
            <a:chExt cx="410" cy="742"/>
          </a:xfrm>
        </p:grpSpPr>
        <p:cxnSp>
          <p:nvCxnSpPr>
            <p:cNvPr id="1926" name="Google Shape;1926;p12"/>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927" name="Google Shape;1927;p12"/>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928" name="Google Shape;1928;p12"/>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929" name="Google Shape;1929;p12"/>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930" name="Google Shape;1930;p12"/>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931" name="Google Shape;1931;p12"/>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932" name="Google Shape;1932;p12"/>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933" name="Google Shape;1933;p12"/>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934" name="Google Shape;1934;p12"/>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935" name="Google Shape;1935;p12"/>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936" name="Google Shape;1936;p12"/>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937" name="Google Shape;1937;p12"/>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938" name="Google Shape;1938;p12"/>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939" name="Google Shape;1939;p12"/>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940" name="Google Shape;1940;p12"/>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941" name="Google Shape;1941;p12"/>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942" name="Google Shape;1942;p12"/>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943" name="Google Shape;1943;p12"/>
          <p:cNvGrpSpPr/>
          <p:nvPr/>
        </p:nvGrpSpPr>
        <p:grpSpPr>
          <a:xfrm>
            <a:off x="9783558" y="4989983"/>
            <a:ext cx="393760" cy="218578"/>
            <a:chOff x="7493876" y="2774731"/>
            <a:chExt cx="1481958" cy="894622"/>
          </a:xfrm>
        </p:grpSpPr>
        <p:sp>
          <p:nvSpPr>
            <p:cNvPr id="1944" name="Google Shape;1944;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45" name="Google Shape;1945;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46" name="Google Shape;1946;p12"/>
            <p:cNvGrpSpPr/>
            <p:nvPr/>
          </p:nvGrpSpPr>
          <p:grpSpPr>
            <a:xfrm>
              <a:off x="7713663" y="2848339"/>
              <a:ext cx="1042107" cy="425543"/>
              <a:chOff x="7786941" y="2884917"/>
              <a:chExt cx="897649" cy="353919"/>
            </a:xfrm>
          </p:grpSpPr>
          <p:sp>
            <p:nvSpPr>
              <p:cNvPr id="1947" name="Google Shape;1947;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48" name="Google Shape;1948;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49" name="Google Shape;1949;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50" name="Google Shape;1950;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951" name="Google Shape;1951;p12"/>
          <p:cNvGrpSpPr/>
          <p:nvPr/>
        </p:nvGrpSpPr>
        <p:grpSpPr>
          <a:xfrm>
            <a:off x="9849365" y="5339037"/>
            <a:ext cx="309740" cy="190838"/>
            <a:chOff x="3668110" y="2448910"/>
            <a:chExt cx="3794234" cy="2165130"/>
          </a:xfrm>
        </p:grpSpPr>
        <p:sp>
          <p:nvSpPr>
            <p:cNvPr id="1952" name="Google Shape;1952;p1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53" name="Google Shape;1953;p1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954" name="Google Shape;1954;p12"/>
            <p:cNvGrpSpPr/>
            <p:nvPr/>
          </p:nvGrpSpPr>
          <p:grpSpPr>
            <a:xfrm>
              <a:off x="3941378" y="2603243"/>
              <a:ext cx="3202061" cy="1066110"/>
              <a:chOff x="7939341" y="3037317"/>
              <a:chExt cx="897649" cy="353919"/>
            </a:xfrm>
          </p:grpSpPr>
          <p:sp>
            <p:nvSpPr>
              <p:cNvPr id="1955" name="Google Shape;1955;p1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56" name="Google Shape;1956;p1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57" name="Google Shape;1957;p1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58" name="Google Shape;1958;p1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959" name="Google Shape;1959;p12"/>
          <p:cNvGrpSpPr/>
          <p:nvPr/>
        </p:nvGrpSpPr>
        <p:grpSpPr>
          <a:xfrm>
            <a:off x="8676619" y="4967420"/>
            <a:ext cx="393760" cy="218578"/>
            <a:chOff x="7493876" y="2774731"/>
            <a:chExt cx="1481958" cy="894622"/>
          </a:xfrm>
        </p:grpSpPr>
        <p:sp>
          <p:nvSpPr>
            <p:cNvPr id="1960" name="Google Shape;1960;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61" name="Google Shape;1961;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62" name="Google Shape;1962;p12"/>
            <p:cNvGrpSpPr/>
            <p:nvPr/>
          </p:nvGrpSpPr>
          <p:grpSpPr>
            <a:xfrm>
              <a:off x="7713663" y="2848339"/>
              <a:ext cx="1042107" cy="425543"/>
              <a:chOff x="7786941" y="2884917"/>
              <a:chExt cx="897649" cy="353919"/>
            </a:xfrm>
          </p:grpSpPr>
          <p:sp>
            <p:nvSpPr>
              <p:cNvPr id="1963" name="Google Shape;1963;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64" name="Google Shape;1964;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65" name="Google Shape;1965;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66" name="Google Shape;1966;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967" name="Google Shape;1967;p12"/>
          <p:cNvGrpSpPr/>
          <p:nvPr/>
        </p:nvGrpSpPr>
        <p:grpSpPr>
          <a:xfrm>
            <a:off x="8311520" y="5194433"/>
            <a:ext cx="309740" cy="190838"/>
            <a:chOff x="3668110" y="2448910"/>
            <a:chExt cx="3794234" cy="2165130"/>
          </a:xfrm>
        </p:grpSpPr>
        <p:sp>
          <p:nvSpPr>
            <p:cNvPr id="1968" name="Google Shape;1968;p1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69" name="Google Shape;1969;p1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970" name="Google Shape;1970;p12"/>
            <p:cNvGrpSpPr/>
            <p:nvPr/>
          </p:nvGrpSpPr>
          <p:grpSpPr>
            <a:xfrm>
              <a:off x="3941378" y="2603243"/>
              <a:ext cx="3202061" cy="1066110"/>
              <a:chOff x="7939341" y="3037317"/>
              <a:chExt cx="897649" cy="353919"/>
            </a:xfrm>
          </p:grpSpPr>
          <p:sp>
            <p:nvSpPr>
              <p:cNvPr id="1971" name="Google Shape;1971;p1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72" name="Google Shape;1972;p1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73" name="Google Shape;1973;p1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74" name="Google Shape;1974;p1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975" name="Google Shape;1975;p12"/>
          <p:cNvGrpSpPr/>
          <p:nvPr/>
        </p:nvGrpSpPr>
        <p:grpSpPr>
          <a:xfrm>
            <a:off x="8439827" y="2812309"/>
            <a:ext cx="353678" cy="168275"/>
            <a:chOff x="7493876" y="2774731"/>
            <a:chExt cx="1481958" cy="894622"/>
          </a:xfrm>
        </p:grpSpPr>
        <p:sp>
          <p:nvSpPr>
            <p:cNvPr id="1976" name="Google Shape;1976;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77" name="Google Shape;1977;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78" name="Google Shape;1978;p12"/>
            <p:cNvGrpSpPr/>
            <p:nvPr/>
          </p:nvGrpSpPr>
          <p:grpSpPr>
            <a:xfrm>
              <a:off x="7713663" y="2848339"/>
              <a:ext cx="1042107" cy="425543"/>
              <a:chOff x="7786941" y="2884917"/>
              <a:chExt cx="897649" cy="353919"/>
            </a:xfrm>
          </p:grpSpPr>
          <p:sp>
            <p:nvSpPr>
              <p:cNvPr id="1979" name="Google Shape;1979;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80" name="Google Shape;1980;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81" name="Google Shape;1981;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82" name="Google Shape;1982;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983" name="Google Shape;1983;p12"/>
          <p:cNvGrpSpPr/>
          <p:nvPr/>
        </p:nvGrpSpPr>
        <p:grpSpPr>
          <a:xfrm>
            <a:off x="8050070" y="3965994"/>
            <a:ext cx="354986" cy="175668"/>
            <a:chOff x="7493876" y="2774731"/>
            <a:chExt cx="1481958" cy="894622"/>
          </a:xfrm>
        </p:grpSpPr>
        <p:sp>
          <p:nvSpPr>
            <p:cNvPr id="1984" name="Google Shape;1984;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85" name="Google Shape;1985;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86" name="Google Shape;1986;p12"/>
            <p:cNvGrpSpPr/>
            <p:nvPr/>
          </p:nvGrpSpPr>
          <p:grpSpPr>
            <a:xfrm>
              <a:off x="7713663" y="2848339"/>
              <a:ext cx="1042107" cy="425543"/>
              <a:chOff x="7786941" y="2884917"/>
              <a:chExt cx="897649" cy="353919"/>
            </a:xfrm>
          </p:grpSpPr>
          <p:sp>
            <p:nvSpPr>
              <p:cNvPr id="1987" name="Google Shape;1987;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88" name="Google Shape;1988;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89" name="Google Shape;1989;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90" name="Google Shape;1990;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991" name="Google Shape;1991;p12"/>
          <p:cNvGrpSpPr/>
          <p:nvPr/>
        </p:nvGrpSpPr>
        <p:grpSpPr>
          <a:xfrm>
            <a:off x="10884085" y="3601365"/>
            <a:ext cx="170989" cy="97052"/>
            <a:chOff x="7493876" y="2774731"/>
            <a:chExt cx="1481958" cy="894622"/>
          </a:xfrm>
        </p:grpSpPr>
        <p:sp>
          <p:nvSpPr>
            <p:cNvPr id="1992" name="Google Shape;199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93" name="Google Shape;199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94" name="Google Shape;1994;p12"/>
            <p:cNvGrpSpPr/>
            <p:nvPr/>
          </p:nvGrpSpPr>
          <p:grpSpPr>
            <a:xfrm>
              <a:off x="7713663" y="2848339"/>
              <a:ext cx="1042107" cy="425543"/>
              <a:chOff x="7786941" y="2884917"/>
              <a:chExt cx="897649" cy="353919"/>
            </a:xfrm>
          </p:grpSpPr>
          <p:sp>
            <p:nvSpPr>
              <p:cNvPr id="1995" name="Google Shape;199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96" name="Google Shape;199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97" name="Google Shape;199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98" name="Google Shape;199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1999" name="Google Shape;1999;p12"/>
          <p:cNvGrpSpPr/>
          <p:nvPr/>
        </p:nvGrpSpPr>
        <p:grpSpPr>
          <a:xfrm>
            <a:off x="10410609" y="3496138"/>
            <a:ext cx="353678" cy="198344"/>
            <a:chOff x="7493876" y="2774731"/>
            <a:chExt cx="1481958" cy="894622"/>
          </a:xfrm>
        </p:grpSpPr>
        <p:sp>
          <p:nvSpPr>
            <p:cNvPr id="2000" name="Google Shape;2000;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01" name="Google Shape;2001;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02" name="Google Shape;2002;p12"/>
            <p:cNvGrpSpPr/>
            <p:nvPr/>
          </p:nvGrpSpPr>
          <p:grpSpPr>
            <a:xfrm>
              <a:off x="7713663" y="2848339"/>
              <a:ext cx="1042107" cy="425543"/>
              <a:chOff x="7786941" y="2884917"/>
              <a:chExt cx="897649" cy="353919"/>
            </a:xfrm>
          </p:grpSpPr>
          <p:sp>
            <p:nvSpPr>
              <p:cNvPr id="2003" name="Google Shape;2003;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04" name="Google Shape;2004;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05" name="Google Shape;2005;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06" name="Google Shape;2006;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07" name="Google Shape;2007;p12"/>
          <p:cNvGrpSpPr/>
          <p:nvPr/>
        </p:nvGrpSpPr>
        <p:grpSpPr>
          <a:xfrm>
            <a:off x="9948724" y="2202292"/>
            <a:ext cx="353678" cy="198344"/>
            <a:chOff x="7493876" y="2774731"/>
            <a:chExt cx="1481958" cy="894622"/>
          </a:xfrm>
        </p:grpSpPr>
        <p:sp>
          <p:nvSpPr>
            <p:cNvPr id="2008" name="Google Shape;2008;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09" name="Google Shape;2009;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10" name="Google Shape;2010;p12"/>
            <p:cNvGrpSpPr/>
            <p:nvPr/>
          </p:nvGrpSpPr>
          <p:grpSpPr>
            <a:xfrm>
              <a:off x="7713663" y="2848339"/>
              <a:ext cx="1042107" cy="425543"/>
              <a:chOff x="7786941" y="2884917"/>
              <a:chExt cx="897649" cy="353919"/>
            </a:xfrm>
          </p:grpSpPr>
          <p:sp>
            <p:nvSpPr>
              <p:cNvPr id="2011" name="Google Shape;2011;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12" name="Google Shape;2012;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13" name="Google Shape;2013;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14" name="Google Shape;2014;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15" name="Google Shape;2015;p12"/>
          <p:cNvGrpSpPr/>
          <p:nvPr/>
        </p:nvGrpSpPr>
        <p:grpSpPr>
          <a:xfrm>
            <a:off x="10527214" y="2613367"/>
            <a:ext cx="353678" cy="198344"/>
            <a:chOff x="7493876" y="2774731"/>
            <a:chExt cx="1481958" cy="894622"/>
          </a:xfrm>
        </p:grpSpPr>
        <p:sp>
          <p:nvSpPr>
            <p:cNvPr id="2016" name="Google Shape;2016;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17" name="Google Shape;2017;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18" name="Google Shape;2018;p12"/>
            <p:cNvGrpSpPr/>
            <p:nvPr/>
          </p:nvGrpSpPr>
          <p:grpSpPr>
            <a:xfrm>
              <a:off x="7713663" y="2848339"/>
              <a:ext cx="1042107" cy="425543"/>
              <a:chOff x="7786941" y="2884917"/>
              <a:chExt cx="897649" cy="353919"/>
            </a:xfrm>
          </p:grpSpPr>
          <p:sp>
            <p:nvSpPr>
              <p:cNvPr id="2019" name="Google Shape;2019;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20" name="Google Shape;2020;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21" name="Google Shape;2021;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22" name="Google Shape;2022;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23" name="Google Shape;2023;p12"/>
          <p:cNvGrpSpPr/>
          <p:nvPr/>
        </p:nvGrpSpPr>
        <p:grpSpPr>
          <a:xfrm>
            <a:off x="10643825" y="2107963"/>
            <a:ext cx="353678" cy="198344"/>
            <a:chOff x="7493876" y="2774731"/>
            <a:chExt cx="1481958" cy="894622"/>
          </a:xfrm>
        </p:grpSpPr>
        <p:sp>
          <p:nvSpPr>
            <p:cNvPr id="2024" name="Google Shape;2024;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25" name="Google Shape;2025;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26" name="Google Shape;2026;p12"/>
            <p:cNvGrpSpPr/>
            <p:nvPr/>
          </p:nvGrpSpPr>
          <p:grpSpPr>
            <a:xfrm>
              <a:off x="7713663" y="2848339"/>
              <a:ext cx="1042107" cy="425543"/>
              <a:chOff x="7786941" y="2884917"/>
              <a:chExt cx="897649" cy="353919"/>
            </a:xfrm>
          </p:grpSpPr>
          <p:sp>
            <p:nvSpPr>
              <p:cNvPr id="2027" name="Google Shape;2027;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28" name="Google Shape;2028;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29" name="Google Shape;2029;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0" name="Google Shape;2030;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31" name="Google Shape;2031;p12"/>
          <p:cNvGrpSpPr/>
          <p:nvPr/>
        </p:nvGrpSpPr>
        <p:grpSpPr>
          <a:xfrm>
            <a:off x="9098788" y="3956624"/>
            <a:ext cx="367224" cy="240304"/>
            <a:chOff x="7493876" y="2774731"/>
            <a:chExt cx="1481958" cy="894622"/>
          </a:xfrm>
        </p:grpSpPr>
        <p:sp>
          <p:nvSpPr>
            <p:cNvPr id="2032" name="Google Shape;203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33" name="Google Shape;203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34" name="Google Shape;2034;p12"/>
            <p:cNvGrpSpPr/>
            <p:nvPr/>
          </p:nvGrpSpPr>
          <p:grpSpPr>
            <a:xfrm>
              <a:off x="7713663" y="2848339"/>
              <a:ext cx="1042107" cy="425543"/>
              <a:chOff x="7786941" y="2884917"/>
              <a:chExt cx="897649" cy="353919"/>
            </a:xfrm>
          </p:grpSpPr>
          <p:sp>
            <p:nvSpPr>
              <p:cNvPr id="2035" name="Google Shape;203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6" name="Google Shape;203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7" name="Google Shape;203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8" name="Google Shape;203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39" name="Google Shape;2039;p12"/>
          <p:cNvGrpSpPr/>
          <p:nvPr/>
        </p:nvGrpSpPr>
        <p:grpSpPr>
          <a:xfrm>
            <a:off x="9980126" y="2661565"/>
            <a:ext cx="353678" cy="198344"/>
            <a:chOff x="7493876" y="2774731"/>
            <a:chExt cx="1481958" cy="894622"/>
          </a:xfrm>
        </p:grpSpPr>
        <p:sp>
          <p:nvSpPr>
            <p:cNvPr id="2040" name="Google Shape;2040;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41" name="Google Shape;2041;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42" name="Google Shape;2042;p12"/>
            <p:cNvGrpSpPr/>
            <p:nvPr/>
          </p:nvGrpSpPr>
          <p:grpSpPr>
            <a:xfrm>
              <a:off x="7713663" y="2848339"/>
              <a:ext cx="1042107" cy="425543"/>
              <a:chOff x="7786941" y="2884917"/>
              <a:chExt cx="897649" cy="353919"/>
            </a:xfrm>
          </p:grpSpPr>
          <p:sp>
            <p:nvSpPr>
              <p:cNvPr id="2043" name="Google Shape;2043;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44" name="Google Shape;2044;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45" name="Google Shape;2045;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46" name="Google Shape;2046;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47" name="Google Shape;2047;p12"/>
          <p:cNvGrpSpPr/>
          <p:nvPr/>
        </p:nvGrpSpPr>
        <p:grpSpPr>
          <a:xfrm>
            <a:off x="9497138" y="3394032"/>
            <a:ext cx="367224" cy="240304"/>
            <a:chOff x="7493876" y="2774731"/>
            <a:chExt cx="1481958" cy="894622"/>
          </a:xfrm>
        </p:grpSpPr>
        <p:sp>
          <p:nvSpPr>
            <p:cNvPr id="2048" name="Google Shape;2048;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49" name="Google Shape;2049;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50" name="Google Shape;2050;p12"/>
            <p:cNvGrpSpPr/>
            <p:nvPr/>
          </p:nvGrpSpPr>
          <p:grpSpPr>
            <a:xfrm>
              <a:off x="7713663" y="2848339"/>
              <a:ext cx="1042107" cy="425543"/>
              <a:chOff x="7786941" y="2884917"/>
              <a:chExt cx="897649" cy="353919"/>
            </a:xfrm>
          </p:grpSpPr>
          <p:sp>
            <p:nvSpPr>
              <p:cNvPr id="2051" name="Google Shape;2051;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52" name="Google Shape;2052;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53" name="Google Shape;2053;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54" name="Google Shape;2054;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55" name="Google Shape;2055;p12"/>
          <p:cNvGrpSpPr/>
          <p:nvPr/>
        </p:nvGrpSpPr>
        <p:grpSpPr>
          <a:xfrm>
            <a:off x="9601554" y="3999763"/>
            <a:ext cx="367224" cy="240304"/>
            <a:chOff x="7493876" y="2774731"/>
            <a:chExt cx="1481958" cy="894622"/>
          </a:xfrm>
        </p:grpSpPr>
        <p:sp>
          <p:nvSpPr>
            <p:cNvPr id="2056" name="Google Shape;2056;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57" name="Google Shape;2057;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58" name="Google Shape;2058;p12"/>
            <p:cNvGrpSpPr/>
            <p:nvPr/>
          </p:nvGrpSpPr>
          <p:grpSpPr>
            <a:xfrm>
              <a:off x="7713663" y="2848339"/>
              <a:ext cx="1042107" cy="425543"/>
              <a:chOff x="7786941" y="2884917"/>
              <a:chExt cx="897649" cy="353919"/>
            </a:xfrm>
          </p:grpSpPr>
          <p:sp>
            <p:nvSpPr>
              <p:cNvPr id="2059" name="Google Shape;2059;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0" name="Google Shape;2060;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1" name="Google Shape;2061;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2" name="Google Shape;2062;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63" name="Google Shape;2063;p12"/>
          <p:cNvGrpSpPr/>
          <p:nvPr/>
        </p:nvGrpSpPr>
        <p:grpSpPr>
          <a:xfrm>
            <a:off x="10375259" y="3992325"/>
            <a:ext cx="353678" cy="198344"/>
            <a:chOff x="7493876" y="2774731"/>
            <a:chExt cx="1481958" cy="894622"/>
          </a:xfrm>
        </p:grpSpPr>
        <p:sp>
          <p:nvSpPr>
            <p:cNvPr id="2064" name="Google Shape;2064;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65" name="Google Shape;2065;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66" name="Google Shape;2066;p12"/>
            <p:cNvGrpSpPr/>
            <p:nvPr/>
          </p:nvGrpSpPr>
          <p:grpSpPr>
            <a:xfrm>
              <a:off x="7713663" y="2848339"/>
              <a:ext cx="1042107" cy="425543"/>
              <a:chOff x="7786941" y="2884917"/>
              <a:chExt cx="897649" cy="353919"/>
            </a:xfrm>
          </p:grpSpPr>
          <p:sp>
            <p:nvSpPr>
              <p:cNvPr id="2067" name="Google Shape;2067;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8" name="Google Shape;2068;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9" name="Google Shape;2069;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70" name="Google Shape;2070;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71" name="Google Shape;2071;p12"/>
          <p:cNvGrpSpPr/>
          <p:nvPr/>
        </p:nvGrpSpPr>
        <p:grpSpPr>
          <a:xfrm>
            <a:off x="9247893" y="4775686"/>
            <a:ext cx="393760" cy="218578"/>
            <a:chOff x="7493876" y="2774731"/>
            <a:chExt cx="1481958" cy="894622"/>
          </a:xfrm>
        </p:grpSpPr>
        <p:sp>
          <p:nvSpPr>
            <p:cNvPr id="2072" name="Google Shape;2072;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73" name="Google Shape;2073;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74" name="Google Shape;2074;p12"/>
            <p:cNvGrpSpPr/>
            <p:nvPr/>
          </p:nvGrpSpPr>
          <p:grpSpPr>
            <a:xfrm>
              <a:off x="7713663" y="2848339"/>
              <a:ext cx="1042107" cy="425543"/>
              <a:chOff x="7786941" y="2884917"/>
              <a:chExt cx="897649" cy="353919"/>
            </a:xfrm>
          </p:grpSpPr>
          <p:sp>
            <p:nvSpPr>
              <p:cNvPr id="2075" name="Google Shape;2075;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76" name="Google Shape;2076;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77" name="Google Shape;2077;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78" name="Google Shape;2078;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79" name="Google Shape;2079;p12"/>
          <p:cNvGrpSpPr/>
          <p:nvPr/>
        </p:nvGrpSpPr>
        <p:grpSpPr>
          <a:xfrm>
            <a:off x="10925982" y="4369125"/>
            <a:ext cx="228295" cy="120400"/>
            <a:chOff x="7493876" y="2774731"/>
            <a:chExt cx="1481958" cy="894622"/>
          </a:xfrm>
        </p:grpSpPr>
        <p:sp>
          <p:nvSpPr>
            <p:cNvPr id="2080" name="Google Shape;2080;p1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81" name="Google Shape;2081;p1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82" name="Google Shape;2082;p12"/>
            <p:cNvGrpSpPr/>
            <p:nvPr/>
          </p:nvGrpSpPr>
          <p:grpSpPr>
            <a:xfrm>
              <a:off x="7713663" y="2848339"/>
              <a:ext cx="1042107" cy="425543"/>
              <a:chOff x="7786941" y="2884917"/>
              <a:chExt cx="897649" cy="353919"/>
            </a:xfrm>
          </p:grpSpPr>
          <p:sp>
            <p:nvSpPr>
              <p:cNvPr id="2083" name="Google Shape;2083;p1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84" name="Google Shape;2084;p1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85" name="Google Shape;2085;p1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86" name="Google Shape;2086;p1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087" name="Google Shape;2087;p12"/>
          <p:cNvGrpSpPr/>
          <p:nvPr/>
        </p:nvGrpSpPr>
        <p:grpSpPr>
          <a:xfrm>
            <a:off x="7439074" y="2356613"/>
            <a:ext cx="534987" cy="414882"/>
            <a:chOff x="7432700" y="2327293"/>
            <a:chExt cx="534987" cy="414882"/>
          </a:xfrm>
        </p:grpSpPr>
        <p:pic>
          <p:nvPicPr>
            <p:cNvPr descr="antenna_stylized" id="2088" name="Google Shape;2088;p12"/>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2089" name="Google Shape;2089;p12"/>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2090" name="Google Shape;2090;p12"/>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091" name="Google Shape;2091;p12"/>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2092" name="Google Shape;2092;p12"/>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3" name="Google Shape;2093;p12"/>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4" name="Google Shape;2094;p12"/>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5" name="Google Shape;2095;p12"/>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6" name="Google Shape;2096;p12"/>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7" name="Google Shape;2097;p12"/>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098" name="Google Shape;2098;p12"/>
            <p:cNvGrpSpPr/>
            <p:nvPr/>
          </p:nvGrpSpPr>
          <p:grpSpPr>
            <a:xfrm>
              <a:off x="7594735" y="2642220"/>
              <a:ext cx="98740" cy="36846"/>
              <a:chOff x="1740" y="2642"/>
              <a:chExt cx="752" cy="327"/>
            </a:xfrm>
          </p:grpSpPr>
          <p:sp>
            <p:nvSpPr>
              <p:cNvPr id="2099" name="Google Shape;2099;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0" name="Google Shape;2100;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1" name="Google Shape;2101;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2" name="Google Shape;2102;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3" name="Google Shape;2103;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4" name="Google Shape;2104;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105" name="Google Shape;2105;p12"/>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6" name="Google Shape;2106;p12"/>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7" name="Google Shape;2107;p12"/>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8" name="Google Shape;2108;p12"/>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9" name="Google Shape;2109;p12"/>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10" name="Google Shape;2110;p12"/>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11" name="Google Shape;2111;p12"/>
          <p:cNvGrpSpPr/>
          <p:nvPr/>
        </p:nvGrpSpPr>
        <p:grpSpPr>
          <a:xfrm>
            <a:off x="8637781" y="2319727"/>
            <a:ext cx="530702" cy="478009"/>
            <a:chOff x="8631407" y="2290407"/>
            <a:chExt cx="530702" cy="478009"/>
          </a:xfrm>
        </p:grpSpPr>
        <p:pic>
          <p:nvPicPr>
            <p:cNvPr descr="light2.png" id="2112" name="Google Shape;2112;p12"/>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2113" name="Google Shape;2113;p12"/>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2114" name="Google Shape;2114;p12"/>
          <p:cNvGrpSpPr/>
          <p:nvPr/>
        </p:nvGrpSpPr>
        <p:grpSpPr>
          <a:xfrm>
            <a:off x="8499539" y="2059124"/>
            <a:ext cx="849312" cy="226109"/>
            <a:chOff x="8493165" y="2029804"/>
            <a:chExt cx="849312" cy="226109"/>
          </a:xfrm>
        </p:grpSpPr>
        <p:pic>
          <p:nvPicPr>
            <p:cNvPr descr="car_icon_small" id="2115" name="Google Shape;2115;p12"/>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2116" name="Google Shape;2116;p12"/>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2117" name="Google Shape;2117;p12"/>
          <p:cNvGrpSpPr/>
          <p:nvPr/>
        </p:nvGrpSpPr>
        <p:grpSpPr>
          <a:xfrm>
            <a:off x="7493518" y="3325424"/>
            <a:ext cx="857739" cy="583764"/>
            <a:chOff x="7487144" y="3296104"/>
            <a:chExt cx="857739" cy="583764"/>
          </a:xfrm>
        </p:grpSpPr>
        <p:grpSp>
          <p:nvGrpSpPr>
            <p:cNvPr id="2118" name="Google Shape;2118;p12"/>
            <p:cNvGrpSpPr/>
            <p:nvPr/>
          </p:nvGrpSpPr>
          <p:grpSpPr>
            <a:xfrm>
              <a:off x="7487144" y="3389820"/>
              <a:ext cx="350807" cy="310034"/>
              <a:chOff x="7487144" y="3389820"/>
              <a:chExt cx="350807" cy="310034"/>
            </a:xfrm>
          </p:grpSpPr>
          <p:pic>
            <p:nvPicPr>
              <p:cNvPr descr="antenna_stylized" id="2119" name="Google Shape;2119;p12"/>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2120" name="Google Shape;2120;p12"/>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2121" name="Google Shape;2121;p12"/>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122" name="Google Shape;2122;p12"/>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2123" name="Google Shape;2123;p12"/>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4" name="Google Shape;2124;p12"/>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5" name="Google Shape;2125;p12"/>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6" name="Google Shape;2126;p12"/>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7" name="Google Shape;2127;p12"/>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8" name="Google Shape;2128;p12"/>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129" name="Google Shape;2129;p12"/>
              <p:cNvGrpSpPr/>
              <p:nvPr/>
            </p:nvGrpSpPr>
            <p:grpSpPr>
              <a:xfrm>
                <a:off x="7593395" y="3625649"/>
                <a:ext cx="64747" cy="27592"/>
                <a:chOff x="1740" y="2642"/>
                <a:chExt cx="752" cy="327"/>
              </a:xfrm>
            </p:grpSpPr>
            <p:sp>
              <p:nvSpPr>
                <p:cNvPr id="2130" name="Google Shape;2130;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1" name="Google Shape;2131;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2" name="Google Shape;2132;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3" name="Google Shape;2133;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4" name="Google Shape;2134;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5" name="Google Shape;2135;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136" name="Google Shape;2136;p12"/>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7" name="Google Shape;2137;p12"/>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8" name="Google Shape;2138;p12"/>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9" name="Google Shape;2139;p12"/>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0" name="Google Shape;2140;p12"/>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1" name="Google Shape;2141;p12"/>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42" name="Google Shape;2142;p12"/>
            <p:cNvGrpSpPr/>
            <p:nvPr/>
          </p:nvGrpSpPr>
          <p:grpSpPr>
            <a:xfrm flipH="1">
              <a:off x="7985622" y="3537823"/>
              <a:ext cx="359261" cy="342045"/>
              <a:chOff x="2839" y="3501"/>
              <a:chExt cx="755" cy="803"/>
            </a:xfrm>
          </p:grpSpPr>
          <p:pic>
            <p:nvPicPr>
              <p:cNvPr descr="desktop_computer_stylized_medium" id="2143" name="Google Shape;2143;p12"/>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144" name="Google Shape;2144;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45" name="Google Shape;2145;p12"/>
            <p:cNvGrpSpPr/>
            <p:nvPr/>
          </p:nvGrpSpPr>
          <p:grpSpPr>
            <a:xfrm>
              <a:off x="7797061" y="3296104"/>
              <a:ext cx="347997" cy="396620"/>
              <a:chOff x="7797061" y="3296104"/>
              <a:chExt cx="347997" cy="396620"/>
            </a:xfrm>
          </p:grpSpPr>
          <p:pic>
            <p:nvPicPr>
              <p:cNvPr descr="fridge2.png" id="2146" name="Google Shape;2146;p12"/>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2147" name="Google Shape;2147;p12"/>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2148" name="Google Shape;2148;p12"/>
          <p:cNvGrpSpPr/>
          <p:nvPr/>
        </p:nvGrpSpPr>
        <p:grpSpPr>
          <a:xfrm>
            <a:off x="11064947" y="3428485"/>
            <a:ext cx="518448" cy="1212242"/>
            <a:chOff x="11058573" y="3399165"/>
            <a:chExt cx="518448" cy="1212242"/>
          </a:xfrm>
        </p:grpSpPr>
        <p:grpSp>
          <p:nvGrpSpPr>
            <p:cNvPr id="2149" name="Google Shape;2149;p12"/>
            <p:cNvGrpSpPr/>
            <p:nvPr/>
          </p:nvGrpSpPr>
          <p:grpSpPr>
            <a:xfrm>
              <a:off x="11087182" y="4159591"/>
              <a:ext cx="489839" cy="451816"/>
              <a:chOff x="5103720" y="2693365"/>
              <a:chExt cx="611650" cy="414788"/>
            </a:xfrm>
          </p:grpSpPr>
          <p:cxnSp>
            <p:nvCxnSpPr>
              <p:cNvPr id="2150" name="Google Shape;2150;p12"/>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151" name="Google Shape;2151;p12"/>
              <p:cNvGrpSpPr/>
              <p:nvPr/>
            </p:nvGrpSpPr>
            <p:grpSpPr>
              <a:xfrm>
                <a:off x="5275406" y="2693365"/>
                <a:ext cx="439964" cy="414788"/>
                <a:chOff x="5275406" y="2711455"/>
                <a:chExt cx="452949" cy="405518"/>
              </a:xfrm>
            </p:grpSpPr>
            <p:pic>
              <p:nvPicPr>
                <p:cNvPr descr="server_rack.png" id="2152" name="Google Shape;2152;p12"/>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2153" name="Google Shape;2153;p12"/>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2154" name="Google Shape;2154;p12"/>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2155" name="Google Shape;2155;p12"/>
            <p:cNvGrpSpPr/>
            <p:nvPr/>
          </p:nvGrpSpPr>
          <p:grpSpPr>
            <a:xfrm>
              <a:off x="11058573" y="3399165"/>
              <a:ext cx="423724" cy="405973"/>
              <a:chOff x="5103720" y="2693365"/>
              <a:chExt cx="611650" cy="414788"/>
            </a:xfrm>
          </p:grpSpPr>
          <p:cxnSp>
            <p:nvCxnSpPr>
              <p:cNvPr id="2156" name="Google Shape;2156;p12"/>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157" name="Google Shape;2157;p12"/>
              <p:cNvGrpSpPr/>
              <p:nvPr/>
            </p:nvGrpSpPr>
            <p:grpSpPr>
              <a:xfrm>
                <a:off x="5275406" y="2693365"/>
                <a:ext cx="439964" cy="414788"/>
                <a:chOff x="5275406" y="2711455"/>
                <a:chExt cx="452949" cy="405518"/>
              </a:xfrm>
            </p:grpSpPr>
            <p:pic>
              <p:nvPicPr>
                <p:cNvPr descr="server_rack.png" id="2158" name="Google Shape;2158;p12"/>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2159" name="Google Shape;2159;p12"/>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2160" name="Google Shape;2160;p12"/>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2161" name="Google Shape;2161;p12"/>
          <p:cNvGrpSpPr/>
          <p:nvPr/>
        </p:nvGrpSpPr>
        <p:grpSpPr>
          <a:xfrm>
            <a:off x="10288915" y="5273951"/>
            <a:ext cx="177192" cy="330833"/>
            <a:chOff x="4140" y="429"/>
            <a:chExt cx="1425" cy="2396"/>
          </a:xfrm>
        </p:grpSpPr>
        <p:sp>
          <p:nvSpPr>
            <p:cNvPr id="2162" name="Google Shape;2162;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3" name="Google Shape;2163;p1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64" name="Google Shape;2164;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5" name="Google Shape;2165;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6" name="Google Shape;2166;p1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167" name="Google Shape;2167;p12"/>
            <p:cNvGrpSpPr/>
            <p:nvPr/>
          </p:nvGrpSpPr>
          <p:grpSpPr>
            <a:xfrm>
              <a:off x="4748" y="666"/>
              <a:ext cx="578" cy="150"/>
              <a:chOff x="613" y="2566"/>
              <a:chExt cx="721" cy="144"/>
            </a:xfrm>
          </p:grpSpPr>
          <p:sp>
            <p:nvSpPr>
              <p:cNvPr id="2168" name="Google Shape;2168;p1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69" name="Google Shape;2169;p1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170" name="Google Shape;2170;p1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171" name="Google Shape;2171;p12"/>
            <p:cNvGrpSpPr/>
            <p:nvPr/>
          </p:nvGrpSpPr>
          <p:grpSpPr>
            <a:xfrm>
              <a:off x="4748" y="990"/>
              <a:ext cx="578" cy="134"/>
              <a:chOff x="615" y="2564"/>
              <a:chExt cx="721" cy="139"/>
            </a:xfrm>
          </p:grpSpPr>
          <p:sp>
            <p:nvSpPr>
              <p:cNvPr id="2172" name="Google Shape;2172;p1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73" name="Google Shape;2173;p1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174" name="Google Shape;2174;p1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75" name="Google Shape;2175;p1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176" name="Google Shape;2176;p12"/>
            <p:cNvGrpSpPr/>
            <p:nvPr/>
          </p:nvGrpSpPr>
          <p:grpSpPr>
            <a:xfrm>
              <a:off x="4738" y="1647"/>
              <a:ext cx="578" cy="135"/>
              <a:chOff x="618" y="2586"/>
              <a:chExt cx="720" cy="124"/>
            </a:xfrm>
          </p:grpSpPr>
          <p:sp>
            <p:nvSpPr>
              <p:cNvPr id="2177" name="Google Shape;2177;p1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78" name="Google Shape;2178;p1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179" name="Google Shape;2179;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180" name="Google Shape;2180;p12"/>
            <p:cNvGrpSpPr/>
            <p:nvPr/>
          </p:nvGrpSpPr>
          <p:grpSpPr>
            <a:xfrm>
              <a:off x="4738" y="1330"/>
              <a:ext cx="588" cy="134"/>
              <a:chOff x="613" y="2571"/>
              <a:chExt cx="732" cy="134"/>
            </a:xfrm>
          </p:grpSpPr>
          <p:sp>
            <p:nvSpPr>
              <p:cNvPr id="2181" name="Google Shape;2181;p1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82" name="Google Shape;2182;p1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183" name="Google Shape;2183;p1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84" name="Google Shape;2184;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5" name="Google Shape;2185;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6" name="Google Shape;2186;p1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87" name="Google Shape;2187;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8" name="Google Shape;2188;p1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89" name="Google Shape;2189;p1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90" name="Google Shape;2190;p1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91" name="Google Shape;2191;p1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2192" name="Google Shape;2192;p1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193" name="Google Shape;2193;p1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2194" name="Google Shape;2194;p12"/>
          <p:cNvGrpSpPr/>
          <p:nvPr/>
        </p:nvGrpSpPr>
        <p:grpSpPr>
          <a:xfrm flipH="1">
            <a:off x="7980855" y="4900161"/>
            <a:ext cx="345630" cy="320302"/>
            <a:chOff x="2839" y="3501"/>
            <a:chExt cx="755" cy="803"/>
          </a:xfrm>
        </p:grpSpPr>
        <p:pic>
          <p:nvPicPr>
            <p:cNvPr descr="desktop_computer_stylized_medium" id="2195" name="Google Shape;2195;p1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196" name="Google Shape;2196;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97" name="Google Shape;2197;p12"/>
          <p:cNvGrpSpPr/>
          <p:nvPr/>
        </p:nvGrpSpPr>
        <p:grpSpPr>
          <a:xfrm>
            <a:off x="9201681" y="5852809"/>
            <a:ext cx="310186" cy="312008"/>
            <a:chOff x="877" y="1008"/>
            <a:chExt cx="2747" cy="2626"/>
          </a:xfrm>
        </p:grpSpPr>
        <p:pic>
          <p:nvPicPr>
            <p:cNvPr descr="antenna_stylized" id="2198" name="Google Shape;2198;p12"/>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2199" name="Google Shape;2199;p12"/>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2200" name="Google Shape;2200;p1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201" name="Google Shape;2201;p12"/>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2202" name="Google Shape;2202;p1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3" name="Google Shape;2203;p1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4" name="Google Shape;2204;p1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5" name="Google Shape;2205;p1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6" name="Google Shape;2206;p1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7" name="Google Shape;2207;p1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208" name="Google Shape;2208;p12"/>
            <p:cNvGrpSpPr/>
            <p:nvPr/>
          </p:nvGrpSpPr>
          <p:grpSpPr>
            <a:xfrm>
              <a:off x="1709" y="3008"/>
              <a:ext cx="507" cy="234"/>
              <a:chOff x="1740" y="2642"/>
              <a:chExt cx="752" cy="327"/>
            </a:xfrm>
          </p:grpSpPr>
          <p:sp>
            <p:nvSpPr>
              <p:cNvPr id="2209" name="Google Shape;2209;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0" name="Google Shape;2210;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1" name="Google Shape;2211;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2" name="Google Shape;2212;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3" name="Google Shape;2213;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4" name="Google Shape;2214;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215" name="Google Shape;2215;p1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6" name="Google Shape;2216;p1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7" name="Google Shape;2217;p1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8" name="Google Shape;2218;p1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9" name="Google Shape;2219;p1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0" name="Google Shape;2220;p1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21" name="Google Shape;2221;p12"/>
          <p:cNvGrpSpPr/>
          <p:nvPr/>
        </p:nvGrpSpPr>
        <p:grpSpPr>
          <a:xfrm flipH="1">
            <a:off x="8153909" y="5504657"/>
            <a:ext cx="345630" cy="320302"/>
            <a:chOff x="2839" y="3501"/>
            <a:chExt cx="755" cy="803"/>
          </a:xfrm>
        </p:grpSpPr>
        <p:pic>
          <p:nvPicPr>
            <p:cNvPr descr="desktop_computer_stylized_medium" id="2222" name="Google Shape;2222;p1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223" name="Google Shape;2223;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24" name="Google Shape;2224;p12"/>
          <p:cNvGrpSpPr/>
          <p:nvPr/>
        </p:nvGrpSpPr>
        <p:grpSpPr>
          <a:xfrm flipH="1">
            <a:off x="8552134" y="5526130"/>
            <a:ext cx="345630" cy="320302"/>
            <a:chOff x="2839" y="3501"/>
            <a:chExt cx="755" cy="803"/>
          </a:xfrm>
        </p:grpSpPr>
        <p:pic>
          <p:nvPicPr>
            <p:cNvPr descr="desktop_computer_stylized_medium" id="2225" name="Google Shape;2225;p1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226" name="Google Shape;2226;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227" name="Google Shape;2227;p12"/>
          <p:cNvGrpSpPr/>
          <p:nvPr/>
        </p:nvGrpSpPr>
        <p:grpSpPr>
          <a:xfrm>
            <a:off x="9534746" y="5795138"/>
            <a:ext cx="319264" cy="256836"/>
            <a:chOff x="877" y="1008"/>
            <a:chExt cx="2747" cy="2626"/>
          </a:xfrm>
        </p:grpSpPr>
        <p:pic>
          <p:nvPicPr>
            <p:cNvPr descr="antenna_stylized" id="2228" name="Google Shape;2228;p12"/>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2229" name="Google Shape;2229;p12"/>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2230" name="Google Shape;2230;p1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231" name="Google Shape;2231;p12"/>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2232" name="Google Shape;2232;p1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3" name="Google Shape;2233;p1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4" name="Google Shape;2234;p1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5" name="Google Shape;2235;p1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6" name="Google Shape;2236;p1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7" name="Google Shape;2237;p1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238" name="Google Shape;2238;p12"/>
            <p:cNvGrpSpPr/>
            <p:nvPr/>
          </p:nvGrpSpPr>
          <p:grpSpPr>
            <a:xfrm>
              <a:off x="1709" y="3008"/>
              <a:ext cx="507" cy="234"/>
              <a:chOff x="1740" y="2642"/>
              <a:chExt cx="752" cy="327"/>
            </a:xfrm>
          </p:grpSpPr>
          <p:sp>
            <p:nvSpPr>
              <p:cNvPr id="2239" name="Google Shape;2239;p1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0" name="Google Shape;2240;p1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1" name="Google Shape;2241;p1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2" name="Google Shape;2242;p1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3" name="Google Shape;2243;p1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4" name="Google Shape;2244;p1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245" name="Google Shape;2245;p1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6" name="Google Shape;2246;p1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7" name="Google Shape;2247;p1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8" name="Google Shape;2248;p1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9" name="Google Shape;2249;p1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0" name="Google Shape;2250;p1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251" name="Google Shape;2251;p12"/>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2" name="Google Shape;2252;p12"/>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3" name="Google Shape;2253;p12"/>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4" name="Google Shape;2254;p12"/>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255" name="Google Shape;2255;p12"/>
          <p:cNvGrpSpPr/>
          <p:nvPr/>
        </p:nvGrpSpPr>
        <p:grpSpPr>
          <a:xfrm>
            <a:off x="10091053" y="5670891"/>
            <a:ext cx="69517" cy="21877"/>
            <a:chOff x="613" y="2566"/>
            <a:chExt cx="721" cy="144"/>
          </a:xfrm>
        </p:grpSpPr>
        <p:sp>
          <p:nvSpPr>
            <p:cNvPr id="2256" name="Google Shape;2256;p1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57" name="Google Shape;2257;p1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258" name="Google Shape;2258;p12"/>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259" name="Google Shape;2259;p12"/>
          <p:cNvGrpSpPr/>
          <p:nvPr/>
        </p:nvGrpSpPr>
        <p:grpSpPr>
          <a:xfrm>
            <a:off x="10091005" y="5718110"/>
            <a:ext cx="69517" cy="19515"/>
            <a:chOff x="615" y="2564"/>
            <a:chExt cx="721" cy="139"/>
          </a:xfrm>
        </p:grpSpPr>
        <p:sp>
          <p:nvSpPr>
            <p:cNvPr id="2260" name="Google Shape;2260;p1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61" name="Google Shape;2261;p1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262" name="Google Shape;2262;p12"/>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63" name="Google Shape;2263;p12"/>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264" name="Google Shape;2264;p12"/>
          <p:cNvGrpSpPr/>
          <p:nvPr/>
        </p:nvGrpSpPr>
        <p:grpSpPr>
          <a:xfrm>
            <a:off x="10089851" y="5813708"/>
            <a:ext cx="69541" cy="19618"/>
            <a:chOff x="618" y="2586"/>
            <a:chExt cx="720" cy="124"/>
          </a:xfrm>
        </p:grpSpPr>
        <p:sp>
          <p:nvSpPr>
            <p:cNvPr id="2265" name="Google Shape;2265;p1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66" name="Google Shape;2266;p1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267" name="Google Shape;2267;p12"/>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268" name="Google Shape;2268;p12"/>
          <p:cNvGrpSpPr/>
          <p:nvPr/>
        </p:nvGrpSpPr>
        <p:grpSpPr>
          <a:xfrm>
            <a:off x="10089849" y="5767606"/>
            <a:ext cx="70700" cy="19515"/>
            <a:chOff x="613" y="2571"/>
            <a:chExt cx="732" cy="134"/>
          </a:xfrm>
        </p:grpSpPr>
        <p:sp>
          <p:nvSpPr>
            <p:cNvPr id="2269" name="Google Shape;2269;p1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70" name="Google Shape;2270;p1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271" name="Google Shape;2271;p12"/>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72" name="Google Shape;2272;p12"/>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3" name="Google Shape;2273;p12"/>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4" name="Google Shape;2274;p12"/>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75" name="Google Shape;2275;p12"/>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6" name="Google Shape;2276;p12"/>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77" name="Google Shape;2277;p12"/>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78" name="Google Shape;2278;p12"/>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79" name="Google Shape;2279;p12"/>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2280" name="Google Shape;2280;p12"/>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81" name="Google Shape;2281;p12"/>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282" name="Google Shape;2282;p12"/>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283" name="Google Shape;2283;p12"/>
          <p:cNvGrpSpPr/>
          <p:nvPr/>
        </p:nvGrpSpPr>
        <p:grpSpPr>
          <a:xfrm>
            <a:off x="7680324" y="1814171"/>
            <a:ext cx="2755429" cy="4250670"/>
            <a:chOff x="7680324" y="1814171"/>
            <a:chExt cx="2755429" cy="4250670"/>
          </a:xfrm>
        </p:grpSpPr>
        <p:grpSp>
          <p:nvGrpSpPr>
            <p:cNvPr id="2284" name="Google Shape;2284;p12"/>
            <p:cNvGrpSpPr/>
            <p:nvPr/>
          </p:nvGrpSpPr>
          <p:grpSpPr>
            <a:xfrm>
              <a:off x="7750224" y="1859725"/>
              <a:ext cx="415925" cy="385763"/>
              <a:chOff x="2751" y="1851"/>
              <a:chExt cx="462" cy="478"/>
            </a:xfrm>
          </p:grpSpPr>
          <p:pic>
            <p:nvPicPr>
              <p:cNvPr descr="iphone_stylized_small" id="2285" name="Google Shape;2285;p12"/>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2286" name="Google Shape;2286;p12"/>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2287" name="Google Shape;2287;p12"/>
            <p:cNvGrpSpPr/>
            <p:nvPr/>
          </p:nvGrpSpPr>
          <p:grpSpPr>
            <a:xfrm flipH="1">
              <a:off x="7773981" y="5281060"/>
              <a:ext cx="345630" cy="320302"/>
              <a:chOff x="2839" y="3501"/>
              <a:chExt cx="755" cy="803"/>
            </a:xfrm>
          </p:grpSpPr>
          <p:pic>
            <p:nvPicPr>
              <p:cNvPr descr="desktop_computer_stylized_medium" id="2288" name="Google Shape;2288;p12"/>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289" name="Google Shape;2289;p1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290" name="Google Shape;2290;p12"/>
            <p:cNvSpPr/>
            <p:nvPr/>
          </p:nvSpPr>
          <p:spPr>
            <a:xfrm>
              <a:off x="7689254" y="516084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91" name="Google Shape;2291;p12"/>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92" name="Google Shape;2292;p12"/>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2293" name="Google Shape;2293;p12"/>
          <p:cNvGrpSpPr/>
          <p:nvPr/>
        </p:nvGrpSpPr>
        <p:grpSpPr>
          <a:xfrm>
            <a:off x="8005845" y="1168489"/>
            <a:ext cx="1065213" cy="965200"/>
            <a:chOff x="4047" y="420"/>
            <a:chExt cx="671" cy="608"/>
          </a:xfrm>
        </p:grpSpPr>
        <p:sp>
          <p:nvSpPr>
            <p:cNvPr id="2294" name="Google Shape;2294;p12"/>
            <p:cNvSpPr/>
            <p:nvPr/>
          </p:nvSpPr>
          <p:spPr>
            <a:xfrm>
              <a:off x="4266" y="420"/>
              <a:ext cx="426" cy="489"/>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295" name="Google Shape;2295;p12"/>
            <p:cNvSpPr/>
            <p:nvPr/>
          </p:nvSpPr>
          <p:spPr>
            <a:xfrm>
              <a:off x="4245" y="435"/>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296" name="Google Shape;2296;p12"/>
            <p:cNvSpPr/>
            <p:nvPr/>
          </p:nvSpPr>
          <p:spPr>
            <a:xfrm>
              <a:off x="4251" y="438"/>
              <a:ext cx="426" cy="126"/>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297" name="Google Shape;2297;p12"/>
            <p:cNvSpPr txBox="1"/>
            <p:nvPr/>
          </p:nvSpPr>
          <p:spPr>
            <a:xfrm>
              <a:off x="4205" y="421"/>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application</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2298" name="Google Shape;2298;p12"/>
            <p:cNvCxnSpPr/>
            <p:nvPr/>
          </p:nvCxnSpPr>
          <p:spPr>
            <a:xfrm>
              <a:off x="4245" y="651"/>
              <a:ext cx="435" cy="3"/>
            </a:xfrm>
            <a:prstGeom prst="straightConnector1">
              <a:avLst/>
            </a:prstGeom>
            <a:noFill/>
            <a:ln cap="flat" cmpd="sng" w="12700">
              <a:solidFill>
                <a:schemeClr val="dk1"/>
              </a:solidFill>
              <a:prstDash val="solid"/>
              <a:round/>
              <a:headEnd len="med" w="med" type="none"/>
              <a:tailEnd len="med" w="med" type="none"/>
            </a:ln>
          </p:spPr>
        </p:cxnSp>
        <p:cxnSp>
          <p:nvCxnSpPr>
            <p:cNvPr id="2299" name="Google Shape;2299;p12"/>
            <p:cNvCxnSpPr/>
            <p:nvPr/>
          </p:nvCxnSpPr>
          <p:spPr>
            <a:xfrm>
              <a:off x="4251" y="738"/>
              <a:ext cx="435" cy="3"/>
            </a:xfrm>
            <a:prstGeom prst="straightConnector1">
              <a:avLst/>
            </a:prstGeom>
            <a:noFill/>
            <a:ln cap="flat" cmpd="sng" w="12700">
              <a:solidFill>
                <a:schemeClr val="dk1"/>
              </a:solidFill>
              <a:prstDash val="solid"/>
              <a:round/>
              <a:headEnd len="med" w="med" type="none"/>
              <a:tailEnd len="med" w="med" type="none"/>
            </a:ln>
          </p:spPr>
        </p:cxnSp>
        <p:cxnSp>
          <p:nvCxnSpPr>
            <p:cNvPr id="2300" name="Google Shape;2300;p12"/>
            <p:cNvCxnSpPr/>
            <p:nvPr/>
          </p:nvCxnSpPr>
          <p:spPr>
            <a:xfrm>
              <a:off x="4251" y="825"/>
              <a:ext cx="435" cy="3"/>
            </a:xfrm>
            <a:prstGeom prst="straightConnector1">
              <a:avLst/>
            </a:prstGeom>
            <a:noFill/>
            <a:ln cap="flat" cmpd="sng" w="12700">
              <a:solidFill>
                <a:schemeClr val="dk1"/>
              </a:solidFill>
              <a:prstDash val="solid"/>
              <a:round/>
              <a:headEnd len="med" w="med" type="none"/>
              <a:tailEnd len="med" w="med" type="none"/>
            </a:ln>
          </p:spPr>
        </p:cxnSp>
        <p:sp>
          <p:nvSpPr>
            <p:cNvPr id="2301" name="Google Shape;2301;p12"/>
            <p:cNvSpPr/>
            <p:nvPr/>
          </p:nvSpPr>
          <p:spPr>
            <a:xfrm>
              <a:off x="4047" y="434"/>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302" name="Google Shape;2302;p12"/>
          <p:cNvGrpSpPr/>
          <p:nvPr/>
        </p:nvGrpSpPr>
        <p:grpSpPr>
          <a:xfrm>
            <a:off x="10104523" y="4743539"/>
            <a:ext cx="1050926" cy="974725"/>
            <a:chOff x="4047" y="414"/>
            <a:chExt cx="662" cy="614"/>
          </a:xfrm>
        </p:grpSpPr>
        <p:sp>
          <p:nvSpPr>
            <p:cNvPr id="2303" name="Google Shape;2303;p12"/>
            <p:cNvSpPr/>
            <p:nvPr/>
          </p:nvSpPr>
          <p:spPr>
            <a:xfrm>
              <a:off x="4266" y="420"/>
              <a:ext cx="426" cy="489"/>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04" name="Google Shape;2304;p12"/>
            <p:cNvSpPr/>
            <p:nvPr/>
          </p:nvSpPr>
          <p:spPr>
            <a:xfrm>
              <a:off x="4245" y="435"/>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05" name="Google Shape;2305;p12"/>
            <p:cNvSpPr/>
            <p:nvPr/>
          </p:nvSpPr>
          <p:spPr>
            <a:xfrm>
              <a:off x="4251" y="438"/>
              <a:ext cx="426" cy="126"/>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06" name="Google Shape;2306;p12"/>
            <p:cNvSpPr txBox="1"/>
            <p:nvPr/>
          </p:nvSpPr>
          <p:spPr>
            <a:xfrm>
              <a:off x="4196" y="414"/>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application</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2307" name="Google Shape;2307;p12"/>
            <p:cNvCxnSpPr/>
            <p:nvPr/>
          </p:nvCxnSpPr>
          <p:spPr>
            <a:xfrm>
              <a:off x="4245" y="651"/>
              <a:ext cx="435" cy="3"/>
            </a:xfrm>
            <a:prstGeom prst="straightConnector1">
              <a:avLst/>
            </a:prstGeom>
            <a:noFill/>
            <a:ln cap="flat" cmpd="sng" w="12700">
              <a:solidFill>
                <a:schemeClr val="dk1"/>
              </a:solidFill>
              <a:prstDash val="solid"/>
              <a:round/>
              <a:headEnd len="med" w="med" type="none"/>
              <a:tailEnd len="med" w="med" type="none"/>
            </a:ln>
          </p:spPr>
        </p:cxnSp>
        <p:cxnSp>
          <p:nvCxnSpPr>
            <p:cNvPr id="2308" name="Google Shape;2308;p12"/>
            <p:cNvCxnSpPr/>
            <p:nvPr/>
          </p:nvCxnSpPr>
          <p:spPr>
            <a:xfrm>
              <a:off x="4251" y="738"/>
              <a:ext cx="435" cy="3"/>
            </a:xfrm>
            <a:prstGeom prst="straightConnector1">
              <a:avLst/>
            </a:prstGeom>
            <a:noFill/>
            <a:ln cap="flat" cmpd="sng" w="12700">
              <a:solidFill>
                <a:schemeClr val="dk1"/>
              </a:solidFill>
              <a:prstDash val="solid"/>
              <a:round/>
              <a:headEnd len="med" w="med" type="none"/>
              <a:tailEnd len="med" w="med" type="none"/>
            </a:ln>
          </p:spPr>
        </p:cxnSp>
        <p:cxnSp>
          <p:nvCxnSpPr>
            <p:cNvPr id="2309" name="Google Shape;2309;p12"/>
            <p:cNvCxnSpPr/>
            <p:nvPr/>
          </p:nvCxnSpPr>
          <p:spPr>
            <a:xfrm>
              <a:off x="4251" y="825"/>
              <a:ext cx="435" cy="3"/>
            </a:xfrm>
            <a:prstGeom prst="straightConnector1">
              <a:avLst/>
            </a:prstGeom>
            <a:noFill/>
            <a:ln cap="flat" cmpd="sng" w="12700">
              <a:solidFill>
                <a:schemeClr val="dk1"/>
              </a:solidFill>
              <a:prstDash val="solid"/>
              <a:round/>
              <a:headEnd len="med" w="med" type="none"/>
              <a:tailEnd len="med" w="med" type="none"/>
            </a:ln>
          </p:spPr>
        </p:cxnSp>
        <p:sp>
          <p:nvSpPr>
            <p:cNvPr id="2310" name="Google Shape;2310;p12"/>
            <p:cNvSpPr/>
            <p:nvPr/>
          </p:nvSpPr>
          <p:spPr>
            <a:xfrm>
              <a:off x="4047" y="434"/>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311" name="Google Shape;2311;p12"/>
          <p:cNvGrpSpPr/>
          <p:nvPr/>
        </p:nvGrpSpPr>
        <p:grpSpPr>
          <a:xfrm>
            <a:off x="7962986" y="4374557"/>
            <a:ext cx="1060451" cy="965200"/>
            <a:chOff x="4047" y="420"/>
            <a:chExt cx="668" cy="608"/>
          </a:xfrm>
        </p:grpSpPr>
        <p:sp>
          <p:nvSpPr>
            <p:cNvPr id="2312" name="Google Shape;2312;p12"/>
            <p:cNvSpPr/>
            <p:nvPr/>
          </p:nvSpPr>
          <p:spPr>
            <a:xfrm>
              <a:off x="4266" y="420"/>
              <a:ext cx="426" cy="489"/>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13" name="Google Shape;2313;p12"/>
            <p:cNvSpPr/>
            <p:nvPr/>
          </p:nvSpPr>
          <p:spPr>
            <a:xfrm>
              <a:off x="4245" y="435"/>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14" name="Google Shape;2314;p12"/>
            <p:cNvSpPr/>
            <p:nvPr/>
          </p:nvSpPr>
          <p:spPr>
            <a:xfrm>
              <a:off x="4251" y="438"/>
              <a:ext cx="426" cy="126"/>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315" name="Google Shape;2315;p12"/>
            <p:cNvSpPr txBox="1"/>
            <p:nvPr/>
          </p:nvSpPr>
          <p:spPr>
            <a:xfrm>
              <a:off x="4202" y="423"/>
              <a:ext cx="513"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application</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2316" name="Google Shape;2316;p12"/>
            <p:cNvCxnSpPr/>
            <p:nvPr/>
          </p:nvCxnSpPr>
          <p:spPr>
            <a:xfrm>
              <a:off x="4245" y="651"/>
              <a:ext cx="435" cy="3"/>
            </a:xfrm>
            <a:prstGeom prst="straightConnector1">
              <a:avLst/>
            </a:prstGeom>
            <a:noFill/>
            <a:ln cap="flat" cmpd="sng" w="12700">
              <a:solidFill>
                <a:schemeClr val="dk1"/>
              </a:solidFill>
              <a:prstDash val="solid"/>
              <a:round/>
              <a:headEnd len="med" w="med" type="none"/>
              <a:tailEnd len="med" w="med" type="none"/>
            </a:ln>
          </p:spPr>
        </p:cxnSp>
        <p:cxnSp>
          <p:nvCxnSpPr>
            <p:cNvPr id="2317" name="Google Shape;2317;p12"/>
            <p:cNvCxnSpPr/>
            <p:nvPr/>
          </p:nvCxnSpPr>
          <p:spPr>
            <a:xfrm>
              <a:off x="4251" y="738"/>
              <a:ext cx="435" cy="3"/>
            </a:xfrm>
            <a:prstGeom prst="straightConnector1">
              <a:avLst/>
            </a:prstGeom>
            <a:noFill/>
            <a:ln cap="flat" cmpd="sng" w="12700">
              <a:solidFill>
                <a:schemeClr val="dk1"/>
              </a:solidFill>
              <a:prstDash val="solid"/>
              <a:round/>
              <a:headEnd len="med" w="med" type="none"/>
              <a:tailEnd len="med" w="med" type="none"/>
            </a:ln>
          </p:spPr>
        </p:cxnSp>
        <p:cxnSp>
          <p:nvCxnSpPr>
            <p:cNvPr id="2318" name="Google Shape;2318;p12"/>
            <p:cNvCxnSpPr/>
            <p:nvPr/>
          </p:nvCxnSpPr>
          <p:spPr>
            <a:xfrm>
              <a:off x="4251" y="825"/>
              <a:ext cx="435" cy="3"/>
            </a:xfrm>
            <a:prstGeom prst="straightConnector1">
              <a:avLst/>
            </a:prstGeom>
            <a:noFill/>
            <a:ln cap="flat" cmpd="sng" w="12700">
              <a:solidFill>
                <a:schemeClr val="dk1"/>
              </a:solidFill>
              <a:prstDash val="solid"/>
              <a:round/>
              <a:headEnd len="med" w="med" type="none"/>
              <a:tailEnd len="med" w="med" type="none"/>
            </a:ln>
          </p:spPr>
        </p:cxnSp>
        <p:sp>
          <p:nvSpPr>
            <p:cNvPr id="2319" name="Google Shape;2319;p12"/>
            <p:cNvSpPr/>
            <p:nvPr/>
          </p:nvSpPr>
          <p:spPr>
            <a:xfrm>
              <a:off x="4047" y="434"/>
              <a:ext cx="192" cy="594"/>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cxnSp>
        <p:nvCxnSpPr>
          <p:cNvPr id="2320" name="Google Shape;2320;p12"/>
          <p:cNvCxnSpPr/>
          <p:nvPr/>
        </p:nvCxnSpPr>
        <p:spPr>
          <a:xfrm>
            <a:off x="8998030" y="4451439"/>
            <a:ext cx="1290637" cy="541337"/>
          </a:xfrm>
          <a:prstGeom prst="straightConnector1">
            <a:avLst/>
          </a:prstGeom>
          <a:noFill/>
          <a:ln cap="flat" cmpd="sng" w="76200">
            <a:solidFill>
              <a:srgbClr val="CC0000"/>
            </a:solidFill>
            <a:prstDash val="solid"/>
            <a:round/>
            <a:headEnd len="med" w="med" type="triangle"/>
            <a:tailEnd len="med" w="med" type="triangle"/>
          </a:ln>
        </p:spPr>
      </p:cxnSp>
      <p:cxnSp>
        <p:nvCxnSpPr>
          <p:cNvPr id="2321" name="Google Shape;2321;p12"/>
          <p:cNvCxnSpPr/>
          <p:nvPr/>
        </p:nvCxnSpPr>
        <p:spPr>
          <a:xfrm>
            <a:off x="9093280" y="1325651"/>
            <a:ext cx="1700212" cy="3386138"/>
          </a:xfrm>
          <a:prstGeom prst="straightConnector1">
            <a:avLst/>
          </a:prstGeom>
          <a:noFill/>
          <a:ln cap="flat" cmpd="sng" w="76200">
            <a:solidFill>
              <a:srgbClr val="CC0000"/>
            </a:solidFill>
            <a:prstDash val="solid"/>
            <a:round/>
            <a:headEnd len="med" w="med" type="triangle"/>
            <a:tailEnd len="med" w="med" type="triangle"/>
          </a:ln>
        </p:spPr>
      </p:cxnSp>
      <p:sp>
        <p:nvSpPr>
          <p:cNvPr id="2322" name="Google Shape;2322;p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Creating a network </a:t>
            </a:r>
            <a:r>
              <a:rPr lang="en-US"/>
              <a:t>a</a:t>
            </a:r>
            <a:r>
              <a:rPr lang="en-US" sz="4400"/>
              <a:t>pp</a:t>
            </a:r>
            <a:endParaRPr sz="4400"/>
          </a:p>
        </p:txBody>
      </p:sp>
      <p:sp>
        <p:nvSpPr>
          <p:cNvPr id="2323" name="Google Shape;2323;p12"/>
          <p:cNvSpPr txBox="1"/>
          <p:nvPr/>
        </p:nvSpPr>
        <p:spPr>
          <a:xfrm>
            <a:off x="889178" y="1334086"/>
            <a:ext cx="5309184" cy="4974698"/>
          </a:xfrm>
          <a:prstGeom prst="rect">
            <a:avLst/>
          </a:prstGeom>
          <a:noFill/>
          <a:ln>
            <a:noFill/>
          </a:ln>
        </p:spPr>
        <p:txBody>
          <a:bodyPr anchorCtr="0" anchor="t" bIns="45700" lIns="91425" spcFirstLastPara="1" rIns="91425" wrap="square" tIns="45700">
            <a:noAutofit/>
          </a:bodyPr>
          <a:lstStyle/>
          <a:p>
            <a:pPr indent="0" lvl="0" marL="14287" marR="0" rtl="0" algn="l">
              <a:lnSpc>
                <a:spcPct val="90000"/>
              </a:lnSpc>
              <a:spcBef>
                <a:spcPts val="0"/>
              </a:spcBef>
              <a:spcAft>
                <a:spcPts val="0"/>
              </a:spcAft>
              <a:buClr>
                <a:srgbClr val="0000A8"/>
              </a:buClr>
              <a:buSzPts val="2800"/>
              <a:buFont typeface="Noto Sans Symbols"/>
              <a:buNone/>
            </a:pPr>
            <a:r>
              <a:rPr b="0" i="0" lang="en-US" sz="2800" u="none" cap="none" strike="noStrike">
                <a:solidFill>
                  <a:srgbClr val="C00000"/>
                </a:solidFill>
                <a:latin typeface="Calibri"/>
                <a:ea typeface="Calibri"/>
                <a:cs typeface="Calibri"/>
                <a:sym typeface="Calibri"/>
              </a:rPr>
              <a:t>write programs that:</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run on (different) end systems</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communicate over network</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e.g., web server software communicates with browser software</a:t>
            </a:r>
            <a:endParaRPr/>
          </a:p>
          <a:p>
            <a:pPr indent="0" lvl="0" marL="14287" marR="0" rtl="0" algn="l">
              <a:lnSpc>
                <a:spcPct val="90000"/>
              </a:lnSpc>
              <a:spcBef>
                <a:spcPts val="1000"/>
              </a:spcBef>
              <a:spcAft>
                <a:spcPts val="0"/>
              </a:spcAft>
              <a:buClr>
                <a:srgbClr val="0000A8"/>
              </a:buClr>
              <a:buSzPts val="2800"/>
              <a:buFont typeface="Noto Sans Symbols"/>
              <a:buNone/>
            </a:pPr>
            <a:r>
              <a:rPr b="0" i="0" lang="en-US" sz="2800" u="none" cap="none" strike="noStrike">
                <a:solidFill>
                  <a:srgbClr val="C00000"/>
                </a:solidFill>
                <a:latin typeface="Calibri"/>
                <a:ea typeface="Calibri"/>
                <a:cs typeface="Calibri"/>
                <a:sym typeface="Calibri"/>
              </a:rPr>
              <a:t>no need to write software for network-core devices</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network-core devices do not run user applications </a:t>
            </a:r>
            <a:endParaRPr/>
          </a:p>
          <a:p>
            <a:pPr indent="-231775" lvl="0" marL="3460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applications on end systems  allows for rapid app development, propagation</a:t>
            </a:r>
            <a:endParaRPr/>
          </a:p>
          <a:p>
            <a:pPr indent="-19050" lvl="0" marL="3524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grpSp>
        <p:nvGrpSpPr>
          <p:cNvPr id="2324" name="Google Shape;2324;p12"/>
          <p:cNvGrpSpPr/>
          <p:nvPr/>
        </p:nvGrpSpPr>
        <p:grpSpPr>
          <a:xfrm>
            <a:off x="10002508" y="5616400"/>
            <a:ext cx="214974" cy="403920"/>
            <a:chOff x="4140" y="429"/>
            <a:chExt cx="1425" cy="2396"/>
          </a:xfrm>
        </p:grpSpPr>
        <p:sp>
          <p:nvSpPr>
            <p:cNvPr id="2325" name="Google Shape;2325;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6" name="Google Shape;2326;p1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27" name="Google Shape;2327;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8" name="Google Shape;2328;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9" name="Google Shape;2329;p1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330" name="Google Shape;2330;p12"/>
            <p:cNvGrpSpPr/>
            <p:nvPr/>
          </p:nvGrpSpPr>
          <p:grpSpPr>
            <a:xfrm>
              <a:off x="4748" y="666"/>
              <a:ext cx="578" cy="150"/>
              <a:chOff x="613" y="2566"/>
              <a:chExt cx="721" cy="144"/>
            </a:xfrm>
          </p:grpSpPr>
          <p:sp>
            <p:nvSpPr>
              <p:cNvPr id="2331" name="Google Shape;2331;p1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32" name="Google Shape;2332;p1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333" name="Google Shape;2333;p1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334" name="Google Shape;2334;p12"/>
            <p:cNvGrpSpPr/>
            <p:nvPr/>
          </p:nvGrpSpPr>
          <p:grpSpPr>
            <a:xfrm>
              <a:off x="4748" y="990"/>
              <a:ext cx="578" cy="134"/>
              <a:chOff x="615" y="2564"/>
              <a:chExt cx="721" cy="139"/>
            </a:xfrm>
          </p:grpSpPr>
          <p:sp>
            <p:nvSpPr>
              <p:cNvPr id="2335" name="Google Shape;2335;p1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36" name="Google Shape;2336;p1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337" name="Google Shape;2337;p1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38" name="Google Shape;2338;p1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339" name="Google Shape;2339;p12"/>
            <p:cNvGrpSpPr/>
            <p:nvPr/>
          </p:nvGrpSpPr>
          <p:grpSpPr>
            <a:xfrm>
              <a:off x="4738" y="1647"/>
              <a:ext cx="578" cy="135"/>
              <a:chOff x="618" y="2586"/>
              <a:chExt cx="720" cy="124"/>
            </a:xfrm>
          </p:grpSpPr>
          <p:sp>
            <p:nvSpPr>
              <p:cNvPr id="2340" name="Google Shape;2340;p1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41" name="Google Shape;2341;p1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342" name="Google Shape;2342;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343" name="Google Shape;2343;p12"/>
            <p:cNvGrpSpPr/>
            <p:nvPr/>
          </p:nvGrpSpPr>
          <p:grpSpPr>
            <a:xfrm>
              <a:off x="4738" y="1330"/>
              <a:ext cx="588" cy="134"/>
              <a:chOff x="613" y="2571"/>
              <a:chExt cx="732" cy="134"/>
            </a:xfrm>
          </p:grpSpPr>
          <p:sp>
            <p:nvSpPr>
              <p:cNvPr id="2344" name="Google Shape;2344;p1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45" name="Google Shape;2345;p1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346" name="Google Shape;2346;p1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47" name="Google Shape;2347;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48" name="Google Shape;2348;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49" name="Google Shape;2349;p1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50" name="Google Shape;2350;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51" name="Google Shape;2351;p1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52" name="Google Shape;2352;p1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53" name="Google Shape;2353;p1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54" name="Google Shape;2354;p1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2355" name="Google Shape;2355;p1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56" name="Google Shape;2356;p1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357" name="Google Shape;2357;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2"/>
                                        </p:tgtEl>
                                        <p:attrNameLst>
                                          <p:attrName>style.visibility</p:attrName>
                                        </p:attrNameLst>
                                      </p:cBhvr>
                                      <p:to>
                                        <p:strVal val="visible"/>
                                      </p:to>
                                    </p:set>
                                    <p:animEffect filter="fade" transition="in">
                                      <p:cBhvr>
                                        <p:cTn dur="500"/>
                                        <p:tgtEl>
                                          <p:spTgt spid="2282"/>
                                        </p:tgtEl>
                                      </p:cBhvr>
                                    </p:animEffect>
                                  </p:childTnLst>
                                </p:cTn>
                              </p:par>
                              <p:par>
                                <p:cTn fill="hold" nodeType="withEffect" presetClass="entr" presetID="10" presetSubtype="0">
                                  <p:stCondLst>
                                    <p:cond delay="0"/>
                                  </p:stCondLst>
                                  <p:childTnLst>
                                    <p:set>
                                      <p:cBhvr>
                                        <p:cTn dur="1" fill="hold">
                                          <p:stCondLst>
                                            <p:cond delay="0"/>
                                          </p:stCondLst>
                                        </p:cTn>
                                        <p:tgtEl>
                                          <p:spTgt spid="2293"/>
                                        </p:tgtEl>
                                        <p:attrNameLst>
                                          <p:attrName>style.visibility</p:attrName>
                                        </p:attrNameLst>
                                      </p:cBhvr>
                                      <p:to>
                                        <p:strVal val="visible"/>
                                      </p:to>
                                    </p:set>
                                    <p:animEffect filter="fade" transition="in">
                                      <p:cBhvr>
                                        <p:cTn dur="500"/>
                                        <p:tgtEl>
                                          <p:spTgt spid="2293"/>
                                        </p:tgtEl>
                                      </p:cBhvr>
                                    </p:animEffect>
                                  </p:childTnLst>
                                </p:cTn>
                              </p:par>
                              <p:par>
                                <p:cTn fill="hold" nodeType="withEffect" presetClass="entr" presetID="10" presetSubtype="0">
                                  <p:stCondLst>
                                    <p:cond delay="0"/>
                                  </p:stCondLst>
                                  <p:childTnLst>
                                    <p:set>
                                      <p:cBhvr>
                                        <p:cTn dur="1" fill="hold">
                                          <p:stCondLst>
                                            <p:cond delay="0"/>
                                          </p:stCondLst>
                                        </p:cTn>
                                        <p:tgtEl>
                                          <p:spTgt spid="2302"/>
                                        </p:tgtEl>
                                        <p:attrNameLst>
                                          <p:attrName>style.visibility</p:attrName>
                                        </p:attrNameLst>
                                      </p:cBhvr>
                                      <p:to>
                                        <p:strVal val="visible"/>
                                      </p:to>
                                    </p:set>
                                    <p:animEffect filter="fade" transition="in">
                                      <p:cBhvr>
                                        <p:cTn dur="500"/>
                                        <p:tgtEl>
                                          <p:spTgt spid="2302"/>
                                        </p:tgtEl>
                                      </p:cBhvr>
                                    </p:animEffect>
                                  </p:childTnLst>
                                </p:cTn>
                              </p:par>
                              <p:par>
                                <p:cTn fill="hold" nodeType="withEffect" presetClass="entr" presetID="10" presetSubtype="0">
                                  <p:stCondLst>
                                    <p:cond delay="0"/>
                                  </p:stCondLst>
                                  <p:childTnLst>
                                    <p:set>
                                      <p:cBhvr>
                                        <p:cTn dur="1" fill="hold">
                                          <p:stCondLst>
                                            <p:cond delay="0"/>
                                          </p:stCondLst>
                                        </p:cTn>
                                        <p:tgtEl>
                                          <p:spTgt spid="2311"/>
                                        </p:tgtEl>
                                        <p:attrNameLst>
                                          <p:attrName>style.visibility</p:attrName>
                                        </p:attrNameLst>
                                      </p:cBhvr>
                                      <p:to>
                                        <p:strVal val="visible"/>
                                      </p:to>
                                    </p:set>
                                    <p:animEffect filter="fade" transition="in">
                                      <p:cBhvr>
                                        <p:cTn dur="500"/>
                                        <p:tgtEl>
                                          <p:spTgt spid="2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1"/>
                                        </p:tgtEl>
                                        <p:attrNameLst>
                                          <p:attrName>style.visibility</p:attrName>
                                        </p:attrNameLst>
                                      </p:cBhvr>
                                      <p:to>
                                        <p:strVal val="visible"/>
                                      </p:to>
                                    </p:set>
                                    <p:animEffect filter="fade" transition="in">
                                      <p:cBhvr>
                                        <p:cTn dur="500"/>
                                        <p:tgtEl>
                                          <p:spTgt spid="2321"/>
                                        </p:tgtEl>
                                      </p:cBhvr>
                                    </p:animEffect>
                                  </p:childTnLst>
                                </p:cTn>
                              </p:par>
                              <p:par>
                                <p:cTn fill="hold" nodeType="withEffect" presetClass="entr" presetID="10" presetSubtype="0">
                                  <p:stCondLst>
                                    <p:cond delay="0"/>
                                  </p:stCondLst>
                                  <p:childTnLst>
                                    <p:set>
                                      <p:cBhvr>
                                        <p:cTn dur="1" fill="hold">
                                          <p:stCondLst>
                                            <p:cond delay="0"/>
                                          </p:stCondLst>
                                        </p:cTn>
                                        <p:tgtEl>
                                          <p:spTgt spid="2320"/>
                                        </p:tgtEl>
                                        <p:attrNameLst>
                                          <p:attrName>style.visibility</p:attrName>
                                        </p:attrNameLst>
                                      </p:cBhvr>
                                      <p:to>
                                        <p:strVal val="visible"/>
                                      </p:to>
                                    </p:set>
                                    <p:animEffect filter="fade" transition="in">
                                      <p:cBhvr>
                                        <p:cTn dur="500"/>
                                        <p:tgtEl>
                                          <p:spTgt spid="2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2" name="Shape 2362"/>
        <p:cNvGrpSpPr/>
        <p:nvPr/>
      </p:nvGrpSpPr>
      <p:grpSpPr>
        <a:xfrm>
          <a:off x="0" y="0"/>
          <a:ext cx="0" cy="0"/>
          <a:chOff x="0" y="0"/>
          <a:chExt cx="0" cy="0"/>
        </a:xfrm>
      </p:grpSpPr>
      <p:sp>
        <p:nvSpPr>
          <p:cNvPr id="2363" name="Google Shape;2363;p13"/>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64" name="Google Shape;2364;p13"/>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365" name="Google Shape;2365;p13"/>
          <p:cNvGrpSpPr/>
          <p:nvPr/>
        </p:nvGrpSpPr>
        <p:grpSpPr>
          <a:xfrm>
            <a:off x="7205350" y="3289251"/>
            <a:ext cx="1458912" cy="933450"/>
            <a:chOff x="2889" y="1631"/>
            <a:chExt cx="980" cy="743"/>
          </a:xfrm>
        </p:grpSpPr>
        <p:sp>
          <p:nvSpPr>
            <p:cNvPr id="2366" name="Google Shape;2366;p13"/>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367" name="Google Shape;2367;p13"/>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2368" name="Google Shape;2368;p13"/>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69" name="Google Shape;2369;p13"/>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2370" name="Google Shape;2370;p13"/>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2371" name="Google Shape;2371;p13"/>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2372" name="Google Shape;2372;p13"/>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F2CDED"/>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373" name="Google Shape;2373;p13"/>
          <p:cNvGrpSpPr/>
          <p:nvPr/>
        </p:nvGrpSpPr>
        <p:grpSpPr>
          <a:xfrm>
            <a:off x="10837700" y="3928050"/>
            <a:ext cx="687393" cy="721548"/>
            <a:chOff x="5203089" y="1751190"/>
            <a:chExt cx="858331" cy="662414"/>
          </a:xfrm>
        </p:grpSpPr>
        <p:sp>
          <p:nvSpPr>
            <p:cNvPr id="2374" name="Google Shape;2374;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75" name="Google Shape;2375;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2376" name="Google Shape;2376;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377" name="Google Shape;2377;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378" name="Google Shape;2378;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379" name="Google Shape;2379;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380" name="Google Shape;2380;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381" name="Google Shape;2381;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2382" name="Google Shape;2382;p13"/>
          <p:cNvGrpSpPr/>
          <p:nvPr/>
        </p:nvGrpSpPr>
        <p:grpSpPr>
          <a:xfrm>
            <a:off x="10771171" y="3194171"/>
            <a:ext cx="594613" cy="648336"/>
            <a:chOff x="5203089" y="1751190"/>
            <a:chExt cx="858331" cy="662414"/>
          </a:xfrm>
        </p:grpSpPr>
        <p:sp>
          <p:nvSpPr>
            <p:cNvPr id="2383" name="Google Shape;2383;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84" name="Google Shape;2384;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2385" name="Google Shape;2385;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386" name="Google Shape;2386;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387" name="Google Shape;2387;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388" name="Google Shape;2388;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389" name="Google Shape;2389;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390" name="Google Shape;2390;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2391" name="Google Shape;2391;p13"/>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F2CDED"/>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92" name="Google Shape;2392;p13"/>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2393" name="Google Shape;2393;p13"/>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94" name="Google Shape;2394;p13"/>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2395" name="Google Shape;2395;p13"/>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2396" name="Google Shape;2396;p13"/>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2397" name="Google Shape;2397;p13"/>
          <p:cNvCxnSpPr/>
          <p:nvPr/>
        </p:nvCxnSpPr>
        <p:spPr>
          <a:xfrm rot="10800000">
            <a:off x="10559920" y="3580125"/>
            <a:ext cx="412964" cy="63712"/>
          </a:xfrm>
          <a:prstGeom prst="straightConnector1">
            <a:avLst/>
          </a:prstGeom>
          <a:noFill/>
          <a:ln cap="flat" cmpd="sng" w="12700">
            <a:solidFill>
              <a:schemeClr val="dk1"/>
            </a:solidFill>
            <a:prstDash val="solid"/>
            <a:miter lim="800000"/>
            <a:headEnd len="sm" w="sm" type="none"/>
            <a:tailEnd len="sm" w="sm" type="none"/>
          </a:ln>
        </p:spPr>
      </p:cxnSp>
      <p:cxnSp>
        <p:nvCxnSpPr>
          <p:cNvPr id="2398" name="Google Shape;2398;p13"/>
          <p:cNvCxnSpPr/>
          <p:nvPr/>
        </p:nvCxnSpPr>
        <p:spPr>
          <a:xfrm rot="10800000">
            <a:off x="10660835" y="3640684"/>
            <a:ext cx="345866" cy="738975"/>
          </a:xfrm>
          <a:prstGeom prst="straightConnector1">
            <a:avLst/>
          </a:prstGeom>
          <a:noFill/>
          <a:ln cap="flat" cmpd="sng" w="12700">
            <a:solidFill>
              <a:schemeClr val="dk1"/>
            </a:solidFill>
            <a:prstDash val="solid"/>
            <a:miter lim="800000"/>
            <a:headEnd len="sm" w="sm" type="none"/>
            <a:tailEnd len="sm" w="sm" type="none"/>
          </a:ln>
        </p:spPr>
      </p:cxnSp>
      <p:cxnSp>
        <p:nvCxnSpPr>
          <p:cNvPr id="2399" name="Google Shape;2399;p13"/>
          <p:cNvCxnSpPr/>
          <p:nvPr/>
        </p:nvCxnSpPr>
        <p:spPr>
          <a:xfrm flipH="1" rot="10800000">
            <a:off x="10636897" y="3633421"/>
            <a:ext cx="335987" cy="395340"/>
          </a:xfrm>
          <a:prstGeom prst="straightConnector1">
            <a:avLst/>
          </a:prstGeom>
          <a:noFill/>
          <a:ln cap="flat" cmpd="sng" w="12700">
            <a:solidFill>
              <a:schemeClr val="dk1"/>
            </a:solidFill>
            <a:prstDash val="solid"/>
            <a:miter lim="800000"/>
            <a:headEnd len="sm" w="sm" type="none"/>
            <a:tailEnd len="sm" w="sm" type="none"/>
          </a:ln>
        </p:spPr>
      </p:cxnSp>
      <p:cxnSp>
        <p:nvCxnSpPr>
          <p:cNvPr id="2400" name="Google Shape;2400;p13"/>
          <p:cNvCxnSpPr/>
          <p:nvPr/>
        </p:nvCxnSpPr>
        <p:spPr>
          <a:xfrm rot="10800000">
            <a:off x="10570774" y="3594896"/>
            <a:ext cx="1" cy="485748"/>
          </a:xfrm>
          <a:prstGeom prst="straightConnector1">
            <a:avLst/>
          </a:prstGeom>
          <a:noFill/>
          <a:ln cap="flat" cmpd="sng" w="12700">
            <a:solidFill>
              <a:schemeClr val="dk1"/>
            </a:solidFill>
            <a:prstDash val="solid"/>
            <a:miter lim="800000"/>
            <a:headEnd len="sm" w="sm" type="none"/>
            <a:tailEnd len="sm" w="sm" type="none"/>
          </a:ln>
        </p:spPr>
      </p:cxnSp>
      <p:cxnSp>
        <p:nvCxnSpPr>
          <p:cNvPr id="2401" name="Google Shape;2401;p13"/>
          <p:cNvCxnSpPr/>
          <p:nvPr/>
        </p:nvCxnSpPr>
        <p:spPr>
          <a:xfrm rot="10800000">
            <a:off x="10550620" y="4071642"/>
            <a:ext cx="508543" cy="348647"/>
          </a:xfrm>
          <a:prstGeom prst="straightConnector1">
            <a:avLst/>
          </a:prstGeom>
          <a:noFill/>
          <a:ln cap="flat" cmpd="sng" w="12700">
            <a:solidFill>
              <a:schemeClr val="dk1"/>
            </a:solidFill>
            <a:prstDash val="solid"/>
            <a:miter lim="800000"/>
            <a:headEnd len="sm" w="sm" type="none"/>
            <a:tailEnd len="sm" w="sm" type="none"/>
          </a:ln>
        </p:spPr>
      </p:cxnSp>
      <p:cxnSp>
        <p:nvCxnSpPr>
          <p:cNvPr id="2402" name="Google Shape;2402;p13"/>
          <p:cNvCxnSpPr/>
          <p:nvPr/>
        </p:nvCxnSpPr>
        <p:spPr>
          <a:xfrm rot="10800000">
            <a:off x="9895195" y="4087742"/>
            <a:ext cx="655425" cy="0"/>
          </a:xfrm>
          <a:prstGeom prst="straightConnector1">
            <a:avLst/>
          </a:prstGeom>
          <a:noFill/>
          <a:ln cap="flat" cmpd="sng" w="12700">
            <a:solidFill>
              <a:schemeClr val="dk1"/>
            </a:solidFill>
            <a:prstDash val="solid"/>
            <a:miter lim="800000"/>
            <a:headEnd len="sm" w="sm" type="none"/>
            <a:tailEnd len="sm" w="sm" type="none"/>
          </a:ln>
        </p:spPr>
      </p:cxnSp>
      <p:cxnSp>
        <p:nvCxnSpPr>
          <p:cNvPr id="2403" name="Google Shape;2403;p13"/>
          <p:cNvCxnSpPr/>
          <p:nvPr/>
        </p:nvCxnSpPr>
        <p:spPr>
          <a:xfrm rot="10800000">
            <a:off x="9219616" y="4087742"/>
            <a:ext cx="655425" cy="0"/>
          </a:xfrm>
          <a:prstGeom prst="straightConnector1">
            <a:avLst/>
          </a:prstGeom>
          <a:noFill/>
          <a:ln cap="flat" cmpd="sng" w="12700">
            <a:solidFill>
              <a:schemeClr val="dk1"/>
            </a:solidFill>
            <a:prstDash val="solid"/>
            <a:miter lim="800000"/>
            <a:headEnd len="sm" w="sm" type="none"/>
            <a:tailEnd len="sm" w="sm" type="none"/>
          </a:ln>
        </p:spPr>
      </p:cxnSp>
      <p:cxnSp>
        <p:nvCxnSpPr>
          <p:cNvPr id="2404" name="Google Shape;2404;p13"/>
          <p:cNvCxnSpPr/>
          <p:nvPr/>
        </p:nvCxnSpPr>
        <p:spPr>
          <a:xfrm flipH="1">
            <a:off x="9276868" y="3507672"/>
            <a:ext cx="382424" cy="517050"/>
          </a:xfrm>
          <a:prstGeom prst="straightConnector1">
            <a:avLst/>
          </a:prstGeom>
          <a:noFill/>
          <a:ln cap="flat" cmpd="sng" w="12700">
            <a:solidFill>
              <a:schemeClr val="dk1"/>
            </a:solidFill>
            <a:prstDash val="solid"/>
            <a:miter lim="800000"/>
            <a:headEnd len="sm" w="sm" type="none"/>
            <a:tailEnd len="sm" w="sm" type="none"/>
          </a:ln>
        </p:spPr>
      </p:cxnSp>
      <p:cxnSp>
        <p:nvCxnSpPr>
          <p:cNvPr id="2405" name="Google Shape;2405;p13"/>
          <p:cNvCxnSpPr/>
          <p:nvPr/>
        </p:nvCxnSpPr>
        <p:spPr>
          <a:xfrm>
            <a:off x="9733069" y="3507672"/>
            <a:ext cx="0" cy="540294"/>
          </a:xfrm>
          <a:prstGeom prst="straightConnector1">
            <a:avLst/>
          </a:prstGeom>
          <a:noFill/>
          <a:ln cap="flat" cmpd="sng" w="12700">
            <a:solidFill>
              <a:schemeClr val="dk1"/>
            </a:solidFill>
            <a:prstDash val="solid"/>
            <a:miter lim="800000"/>
            <a:headEnd len="sm" w="sm" type="none"/>
            <a:tailEnd len="sm" w="sm" type="none"/>
          </a:ln>
        </p:spPr>
      </p:cxnSp>
      <p:cxnSp>
        <p:nvCxnSpPr>
          <p:cNvPr id="2406" name="Google Shape;2406;p13"/>
          <p:cNvCxnSpPr/>
          <p:nvPr/>
        </p:nvCxnSpPr>
        <p:spPr>
          <a:xfrm>
            <a:off x="10137668" y="2754692"/>
            <a:ext cx="488174" cy="839333"/>
          </a:xfrm>
          <a:prstGeom prst="straightConnector1">
            <a:avLst/>
          </a:prstGeom>
          <a:noFill/>
          <a:ln cap="flat" cmpd="sng" w="12700">
            <a:solidFill>
              <a:schemeClr val="dk1"/>
            </a:solidFill>
            <a:prstDash val="solid"/>
            <a:miter lim="800000"/>
            <a:headEnd len="sm" w="sm" type="none"/>
            <a:tailEnd len="sm" w="sm" type="none"/>
          </a:ln>
        </p:spPr>
      </p:cxnSp>
      <p:cxnSp>
        <p:nvCxnSpPr>
          <p:cNvPr id="2407" name="Google Shape;2407;p13"/>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2408" name="Google Shape;2408;p13"/>
          <p:cNvGrpSpPr/>
          <p:nvPr/>
        </p:nvGrpSpPr>
        <p:grpSpPr>
          <a:xfrm>
            <a:off x="7562238" y="2127325"/>
            <a:ext cx="3578867" cy="3640284"/>
            <a:chOff x="7562238" y="2127325"/>
            <a:chExt cx="3578867" cy="3640284"/>
          </a:xfrm>
        </p:grpSpPr>
        <p:grpSp>
          <p:nvGrpSpPr>
            <p:cNvPr id="2409" name="Google Shape;2409;p13"/>
            <p:cNvGrpSpPr/>
            <p:nvPr/>
          </p:nvGrpSpPr>
          <p:grpSpPr>
            <a:xfrm>
              <a:off x="7857253" y="2127325"/>
              <a:ext cx="3283852" cy="3640284"/>
              <a:chOff x="7881336" y="2104198"/>
              <a:chExt cx="3283852" cy="3640284"/>
            </a:xfrm>
          </p:grpSpPr>
          <p:cxnSp>
            <p:nvCxnSpPr>
              <p:cNvPr id="2410" name="Google Shape;2410;p13"/>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2411" name="Google Shape;2411;p13"/>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2412" name="Google Shape;2412;p13"/>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2413" name="Google Shape;2413;p13"/>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2414" name="Google Shape;2414;p13"/>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2415" name="Google Shape;2415;p13"/>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2416" name="Google Shape;2416;p13"/>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2417" name="Google Shape;2417;p13"/>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2418" name="Google Shape;2418;p13"/>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2419" name="Google Shape;2419;p13"/>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2420" name="Google Shape;2420;p13"/>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2421" name="Google Shape;2421;p13"/>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2422" name="Google Shape;2422;p13"/>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2423" name="Google Shape;2423;p13"/>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2424" name="Google Shape;2424;p13"/>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425" name="Google Shape;2425;p13"/>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426" name="Google Shape;2426;p13"/>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427" name="Google Shape;2427;p13"/>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428" name="Google Shape;2428;p13"/>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429" name="Google Shape;2429;p13"/>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430" name="Google Shape;2430;p13"/>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431" name="Google Shape;2431;p13"/>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432" name="Google Shape;2432;p13"/>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433" name="Google Shape;2433;p13"/>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2434" name="Google Shape;2434;p13"/>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2435" name="Google Shape;2435;p13"/>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2436" name="Google Shape;2436;p13"/>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2437" name="Google Shape;2437;p1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2438" name="Google Shape;2438;p13"/>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2439" name="Google Shape;2439;p13"/>
          <p:cNvGrpSpPr/>
          <p:nvPr/>
        </p:nvGrpSpPr>
        <p:grpSpPr>
          <a:xfrm>
            <a:off x="8050698" y="2309376"/>
            <a:ext cx="298450" cy="464008"/>
            <a:chOff x="3130" y="3288"/>
            <a:chExt cx="410" cy="742"/>
          </a:xfrm>
        </p:grpSpPr>
        <p:cxnSp>
          <p:nvCxnSpPr>
            <p:cNvPr id="2440" name="Google Shape;2440;p13"/>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2441" name="Google Shape;2441;p13"/>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2442" name="Google Shape;2442;p13"/>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443" name="Google Shape;2443;p13"/>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444" name="Google Shape;2444;p13"/>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2445" name="Google Shape;2445;p13"/>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2446" name="Google Shape;2446;p13"/>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2447" name="Google Shape;2447;p13"/>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2448" name="Google Shape;2448;p13"/>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2449" name="Google Shape;2449;p13"/>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2450" name="Google Shape;2450;p13"/>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2451" name="Google Shape;2451;p13"/>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2452" name="Google Shape;2452;p13"/>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2453" name="Google Shape;2453;p13"/>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2454" name="Google Shape;2454;p13"/>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2455" name="Google Shape;2455;p13"/>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2456" name="Google Shape;2456;p13"/>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2457" name="Google Shape;2457;p13"/>
          <p:cNvGrpSpPr/>
          <p:nvPr/>
        </p:nvGrpSpPr>
        <p:grpSpPr>
          <a:xfrm>
            <a:off x="9783558" y="4989983"/>
            <a:ext cx="393760" cy="218578"/>
            <a:chOff x="7493876" y="2774731"/>
            <a:chExt cx="1481958" cy="894622"/>
          </a:xfrm>
        </p:grpSpPr>
        <p:sp>
          <p:nvSpPr>
            <p:cNvPr id="2458" name="Google Shape;245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59" name="Google Shape;245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60" name="Google Shape;2460;p13"/>
            <p:cNvGrpSpPr/>
            <p:nvPr/>
          </p:nvGrpSpPr>
          <p:grpSpPr>
            <a:xfrm>
              <a:off x="7713663" y="2848339"/>
              <a:ext cx="1042107" cy="425543"/>
              <a:chOff x="7786941" y="2884917"/>
              <a:chExt cx="897649" cy="353919"/>
            </a:xfrm>
          </p:grpSpPr>
          <p:sp>
            <p:nvSpPr>
              <p:cNvPr id="2461" name="Google Shape;246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62" name="Google Shape;246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63" name="Google Shape;246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64" name="Google Shape;246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465" name="Google Shape;2465;p13"/>
          <p:cNvGrpSpPr/>
          <p:nvPr/>
        </p:nvGrpSpPr>
        <p:grpSpPr>
          <a:xfrm>
            <a:off x="9849365" y="5339037"/>
            <a:ext cx="309740" cy="190838"/>
            <a:chOff x="3668110" y="2448910"/>
            <a:chExt cx="3794234" cy="2165130"/>
          </a:xfrm>
        </p:grpSpPr>
        <p:sp>
          <p:nvSpPr>
            <p:cNvPr id="2466" name="Google Shape;2466;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67" name="Google Shape;2467;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468" name="Google Shape;2468;p13"/>
            <p:cNvGrpSpPr/>
            <p:nvPr/>
          </p:nvGrpSpPr>
          <p:grpSpPr>
            <a:xfrm>
              <a:off x="3941378" y="2603243"/>
              <a:ext cx="3202061" cy="1066110"/>
              <a:chOff x="7939341" y="3037317"/>
              <a:chExt cx="897649" cy="353919"/>
            </a:xfrm>
          </p:grpSpPr>
          <p:sp>
            <p:nvSpPr>
              <p:cNvPr id="2469" name="Google Shape;2469;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70" name="Google Shape;2470;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71" name="Google Shape;2471;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72" name="Google Shape;2472;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473" name="Google Shape;2473;p13"/>
          <p:cNvGrpSpPr/>
          <p:nvPr/>
        </p:nvGrpSpPr>
        <p:grpSpPr>
          <a:xfrm>
            <a:off x="8676619" y="4967420"/>
            <a:ext cx="393760" cy="218578"/>
            <a:chOff x="7493876" y="2774731"/>
            <a:chExt cx="1481958" cy="894622"/>
          </a:xfrm>
        </p:grpSpPr>
        <p:sp>
          <p:nvSpPr>
            <p:cNvPr id="2474" name="Google Shape;247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75" name="Google Shape;247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76" name="Google Shape;2476;p13"/>
            <p:cNvGrpSpPr/>
            <p:nvPr/>
          </p:nvGrpSpPr>
          <p:grpSpPr>
            <a:xfrm>
              <a:off x="7713663" y="2848339"/>
              <a:ext cx="1042107" cy="425543"/>
              <a:chOff x="7786941" y="2884917"/>
              <a:chExt cx="897649" cy="353919"/>
            </a:xfrm>
          </p:grpSpPr>
          <p:sp>
            <p:nvSpPr>
              <p:cNvPr id="2477" name="Google Shape;247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78" name="Google Shape;247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79" name="Google Shape;247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80" name="Google Shape;248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481" name="Google Shape;2481;p13"/>
          <p:cNvGrpSpPr/>
          <p:nvPr/>
        </p:nvGrpSpPr>
        <p:grpSpPr>
          <a:xfrm>
            <a:off x="8311520" y="5194433"/>
            <a:ext cx="309740" cy="190838"/>
            <a:chOff x="3668110" y="2448910"/>
            <a:chExt cx="3794234" cy="2165130"/>
          </a:xfrm>
        </p:grpSpPr>
        <p:sp>
          <p:nvSpPr>
            <p:cNvPr id="2482" name="Google Shape;2482;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83" name="Google Shape;2483;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484" name="Google Shape;2484;p13"/>
            <p:cNvGrpSpPr/>
            <p:nvPr/>
          </p:nvGrpSpPr>
          <p:grpSpPr>
            <a:xfrm>
              <a:off x="3941378" y="2603243"/>
              <a:ext cx="3202061" cy="1066110"/>
              <a:chOff x="7939341" y="3037317"/>
              <a:chExt cx="897649" cy="353919"/>
            </a:xfrm>
          </p:grpSpPr>
          <p:sp>
            <p:nvSpPr>
              <p:cNvPr id="2485" name="Google Shape;2485;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86" name="Google Shape;2486;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87" name="Google Shape;2487;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88" name="Google Shape;2488;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489" name="Google Shape;2489;p13"/>
          <p:cNvGrpSpPr/>
          <p:nvPr/>
        </p:nvGrpSpPr>
        <p:grpSpPr>
          <a:xfrm>
            <a:off x="8439827" y="2812309"/>
            <a:ext cx="353678" cy="168275"/>
            <a:chOff x="7493876" y="2774731"/>
            <a:chExt cx="1481958" cy="894622"/>
          </a:xfrm>
        </p:grpSpPr>
        <p:sp>
          <p:nvSpPr>
            <p:cNvPr id="2490" name="Google Shape;249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1" name="Google Shape;249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92" name="Google Shape;2492;p13"/>
            <p:cNvGrpSpPr/>
            <p:nvPr/>
          </p:nvGrpSpPr>
          <p:grpSpPr>
            <a:xfrm>
              <a:off x="7713663" y="2848339"/>
              <a:ext cx="1042107" cy="425543"/>
              <a:chOff x="7786941" y="2884917"/>
              <a:chExt cx="897649" cy="353919"/>
            </a:xfrm>
          </p:grpSpPr>
          <p:sp>
            <p:nvSpPr>
              <p:cNvPr id="2493" name="Google Shape;249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94" name="Google Shape;249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95" name="Google Shape;249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496" name="Google Shape;249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497" name="Google Shape;2497;p13"/>
          <p:cNvGrpSpPr/>
          <p:nvPr/>
        </p:nvGrpSpPr>
        <p:grpSpPr>
          <a:xfrm>
            <a:off x="8050070" y="3965994"/>
            <a:ext cx="354986" cy="175668"/>
            <a:chOff x="7493876" y="2774731"/>
            <a:chExt cx="1481958" cy="894622"/>
          </a:xfrm>
        </p:grpSpPr>
        <p:sp>
          <p:nvSpPr>
            <p:cNvPr id="2498" name="Google Shape;249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99" name="Google Shape;249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0" name="Google Shape;2500;p13"/>
            <p:cNvGrpSpPr/>
            <p:nvPr/>
          </p:nvGrpSpPr>
          <p:grpSpPr>
            <a:xfrm>
              <a:off x="7713663" y="2848339"/>
              <a:ext cx="1042107" cy="425543"/>
              <a:chOff x="7786941" y="2884917"/>
              <a:chExt cx="897649" cy="353919"/>
            </a:xfrm>
          </p:grpSpPr>
          <p:sp>
            <p:nvSpPr>
              <p:cNvPr id="2501" name="Google Shape;250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02" name="Google Shape;250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03" name="Google Shape;250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04" name="Google Shape;250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05" name="Google Shape;2505;p13"/>
          <p:cNvGrpSpPr/>
          <p:nvPr/>
        </p:nvGrpSpPr>
        <p:grpSpPr>
          <a:xfrm>
            <a:off x="10884085" y="3601365"/>
            <a:ext cx="170989" cy="97052"/>
            <a:chOff x="7493876" y="2774731"/>
            <a:chExt cx="1481958" cy="894622"/>
          </a:xfrm>
        </p:grpSpPr>
        <p:sp>
          <p:nvSpPr>
            <p:cNvPr id="2506" name="Google Shape;250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07" name="Google Shape;250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8" name="Google Shape;2508;p13"/>
            <p:cNvGrpSpPr/>
            <p:nvPr/>
          </p:nvGrpSpPr>
          <p:grpSpPr>
            <a:xfrm>
              <a:off x="7713663" y="2848339"/>
              <a:ext cx="1042107" cy="425543"/>
              <a:chOff x="7786941" y="2884917"/>
              <a:chExt cx="897649" cy="353919"/>
            </a:xfrm>
          </p:grpSpPr>
          <p:sp>
            <p:nvSpPr>
              <p:cNvPr id="2509" name="Google Shape;250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10" name="Google Shape;251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11" name="Google Shape;251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12" name="Google Shape;251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13" name="Google Shape;2513;p13"/>
          <p:cNvGrpSpPr/>
          <p:nvPr/>
        </p:nvGrpSpPr>
        <p:grpSpPr>
          <a:xfrm>
            <a:off x="10410609" y="3496138"/>
            <a:ext cx="353678" cy="198344"/>
            <a:chOff x="7493876" y="2774731"/>
            <a:chExt cx="1481958" cy="894622"/>
          </a:xfrm>
        </p:grpSpPr>
        <p:sp>
          <p:nvSpPr>
            <p:cNvPr id="2514" name="Google Shape;251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15" name="Google Shape;251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16" name="Google Shape;2516;p13"/>
            <p:cNvGrpSpPr/>
            <p:nvPr/>
          </p:nvGrpSpPr>
          <p:grpSpPr>
            <a:xfrm>
              <a:off x="7713663" y="2848339"/>
              <a:ext cx="1042107" cy="425543"/>
              <a:chOff x="7786941" y="2884917"/>
              <a:chExt cx="897649" cy="353919"/>
            </a:xfrm>
          </p:grpSpPr>
          <p:sp>
            <p:nvSpPr>
              <p:cNvPr id="2517" name="Google Shape;251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18" name="Google Shape;251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19" name="Google Shape;251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20" name="Google Shape;252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21" name="Google Shape;2521;p13"/>
          <p:cNvGrpSpPr/>
          <p:nvPr/>
        </p:nvGrpSpPr>
        <p:grpSpPr>
          <a:xfrm>
            <a:off x="9948724" y="2202292"/>
            <a:ext cx="353678" cy="198344"/>
            <a:chOff x="7493876" y="2774731"/>
            <a:chExt cx="1481958" cy="894622"/>
          </a:xfrm>
        </p:grpSpPr>
        <p:sp>
          <p:nvSpPr>
            <p:cNvPr id="2522" name="Google Shape;2522;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23" name="Google Shape;2523;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24" name="Google Shape;2524;p13"/>
            <p:cNvGrpSpPr/>
            <p:nvPr/>
          </p:nvGrpSpPr>
          <p:grpSpPr>
            <a:xfrm>
              <a:off x="7713663" y="2848339"/>
              <a:ext cx="1042107" cy="425543"/>
              <a:chOff x="7786941" y="2884917"/>
              <a:chExt cx="897649" cy="353919"/>
            </a:xfrm>
          </p:grpSpPr>
          <p:sp>
            <p:nvSpPr>
              <p:cNvPr id="2525" name="Google Shape;2525;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26" name="Google Shape;2526;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27" name="Google Shape;2527;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28" name="Google Shape;2528;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29" name="Google Shape;2529;p13"/>
          <p:cNvGrpSpPr/>
          <p:nvPr/>
        </p:nvGrpSpPr>
        <p:grpSpPr>
          <a:xfrm>
            <a:off x="10527214" y="2613367"/>
            <a:ext cx="353678" cy="198344"/>
            <a:chOff x="7493876" y="2774731"/>
            <a:chExt cx="1481958" cy="894622"/>
          </a:xfrm>
        </p:grpSpPr>
        <p:sp>
          <p:nvSpPr>
            <p:cNvPr id="2530" name="Google Shape;253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31" name="Google Shape;253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32" name="Google Shape;2532;p13"/>
            <p:cNvGrpSpPr/>
            <p:nvPr/>
          </p:nvGrpSpPr>
          <p:grpSpPr>
            <a:xfrm>
              <a:off x="7713663" y="2848339"/>
              <a:ext cx="1042107" cy="425543"/>
              <a:chOff x="7786941" y="2884917"/>
              <a:chExt cx="897649" cy="353919"/>
            </a:xfrm>
          </p:grpSpPr>
          <p:sp>
            <p:nvSpPr>
              <p:cNvPr id="2533" name="Google Shape;253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34" name="Google Shape;253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35" name="Google Shape;253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36" name="Google Shape;253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37" name="Google Shape;2537;p13"/>
          <p:cNvGrpSpPr/>
          <p:nvPr/>
        </p:nvGrpSpPr>
        <p:grpSpPr>
          <a:xfrm>
            <a:off x="10643825" y="2107963"/>
            <a:ext cx="353678" cy="198344"/>
            <a:chOff x="7493876" y="2774731"/>
            <a:chExt cx="1481958" cy="894622"/>
          </a:xfrm>
        </p:grpSpPr>
        <p:sp>
          <p:nvSpPr>
            <p:cNvPr id="2538" name="Google Shape;253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39" name="Google Shape;253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40" name="Google Shape;2540;p13"/>
            <p:cNvGrpSpPr/>
            <p:nvPr/>
          </p:nvGrpSpPr>
          <p:grpSpPr>
            <a:xfrm>
              <a:off x="7713663" y="2848339"/>
              <a:ext cx="1042107" cy="425543"/>
              <a:chOff x="7786941" y="2884917"/>
              <a:chExt cx="897649" cy="353919"/>
            </a:xfrm>
          </p:grpSpPr>
          <p:sp>
            <p:nvSpPr>
              <p:cNvPr id="2541" name="Google Shape;254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42" name="Google Shape;254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43" name="Google Shape;254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44" name="Google Shape;254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45" name="Google Shape;2545;p13"/>
          <p:cNvGrpSpPr/>
          <p:nvPr/>
        </p:nvGrpSpPr>
        <p:grpSpPr>
          <a:xfrm>
            <a:off x="9098788" y="3956624"/>
            <a:ext cx="367224" cy="240304"/>
            <a:chOff x="7493876" y="2774731"/>
            <a:chExt cx="1481958" cy="894622"/>
          </a:xfrm>
        </p:grpSpPr>
        <p:sp>
          <p:nvSpPr>
            <p:cNvPr id="2546" name="Google Shape;254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47" name="Google Shape;254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48" name="Google Shape;2548;p13"/>
            <p:cNvGrpSpPr/>
            <p:nvPr/>
          </p:nvGrpSpPr>
          <p:grpSpPr>
            <a:xfrm>
              <a:off x="7713663" y="2848339"/>
              <a:ext cx="1042107" cy="425543"/>
              <a:chOff x="7786941" y="2884917"/>
              <a:chExt cx="897649" cy="353919"/>
            </a:xfrm>
          </p:grpSpPr>
          <p:sp>
            <p:nvSpPr>
              <p:cNvPr id="2549" name="Google Shape;254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50" name="Google Shape;255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51" name="Google Shape;255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52" name="Google Shape;255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53" name="Google Shape;2553;p13"/>
          <p:cNvGrpSpPr/>
          <p:nvPr/>
        </p:nvGrpSpPr>
        <p:grpSpPr>
          <a:xfrm>
            <a:off x="9980126" y="2661565"/>
            <a:ext cx="353678" cy="198344"/>
            <a:chOff x="7493876" y="2774731"/>
            <a:chExt cx="1481958" cy="894622"/>
          </a:xfrm>
        </p:grpSpPr>
        <p:sp>
          <p:nvSpPr>
            <p:cNvPr id="2554" name="Google Shape;255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55" name="Google Shape;255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56" name="Google Shape;2556;p13"/>
            <p:cNvGrpSpPr/>
            <p:nvPr/>
          </p:nvGrpSpPr>
          <p:grpSpPr>
            <a:xfrm>
              <a:off x="7713663" y="2848339"/>
              <a:ext cx="1042107" cy="425543"/>
              <a:chOff x="7786941" y="2884917"/>
              <a:chExt cx="897649" cy="353919"/>
            </a:xfrm>
          </p:grpSpPr>
          <p:sp>
            <p:nvSpPr>
              <p:cNvPr id="2557" name="Google Shape;255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58" name="Google Shape;255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59" name="Google Shape;255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60" name="Google Shape;256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61" name="Google Shape;2561;p13"/>
          <p:cNvGrpSpPr/>
          <p:nvPr/>
        </p:nvGrpSpPr>
        <p:grpSpPr>
          <a:xfrm>
            <a:off x="9497138" y="3394032"/>
            <a:ext cx="367224" cy="240304"/>
            <a:chOff x="7493876" y="2774731"/>
            <a:chExt cx="1481958" cy="894622"/>
          </a:xfrm>
        </p:grpSpPr>
        <p:sp>
          <p:nvSpPr>
            <p:cNvPr id="2562" name="Google Shape;2562;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63" name="Google Shape;2563;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64" name="Google Shape;2564;p13"/>
            <p:cNvGrpSpPr/>
            <p:nvPr/>
          </p:nvGrpSpPr>
          <p:grpSpPr>
            <a:xfrm>
              <a:off x="7713663" y="2848339"/>
              <a:ext cx="1042107" cy="425543"/>
              <a:chOff x="7786941" y="2884917"/>
              <a:chExt cx="897649" cy="353919"/>
            </a:xfrm>
          </p:grpSpPr>
          <p:sp>
            <p:nvSpPr>
              <p:cNvPr id="2565" name="Google Shape;2565;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66" name="Google Shape;2566;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67" name="Google Shape;2567;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68" name="Google Shape;2568;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69" name="Google Shape;2569;p13"/>
          <p:cNvGrpSpPr/>
          <p:nvPr/>
        </p:nvGrpSpPr>
        <p:grpSpPr>
          <a:xfrm>
            <a:off x="9601554" y="3999763"/>
            <a:ext cx="367224" cy="240304"/>
            <a:chOff x="7493876" y="2774731"/>
            <a:chExt cx="1481958" cy="894622"/>
          </a:xfrm>
        </p:grpSpPr>
        <p:sp>
          <p:nvSpPr>
            <p:cNvPr id="2570" name="Google Shape;2570;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1" name="Google Shape;2571;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72" name="Google Shape;2572;p13"/>
            <p:cNvGrpSpPr/>
            <p:nvPr/>
          </p:nvGrpSpPr>
          <p:grpSpPr>
            <a:xfrm>
              <a:off x="7713663" y="2848339"/>
              <a:ext cx="1042107" cy="425543"/>
              <a:chOff x="7786941" y="2884917"/>
              <a:chExt cx="897649" cy="353919"/>
            </a:xfrm>
          </p:grpSpPr>
          <p:sp>
            <p:nvSpPr>
              <p:cNvPr id="2573" name="Google Shape;2573;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74" name="Google Shape;2574;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75" name="Google Shape;2575;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76" name="Google Shape;2576;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77" name="Google Shape;2577;p13"/>
          <p:cNvGrpSpPr/>
          <p:nvPr/>
        </p:nvGrpSpPr>
        <p:grpSpPr>
          <a:xfrm>
            <a:off x="10375259" y="3992325"/>
            <a:ext cx="353678" cy="198344"/>
            <a:chOff x="7493876" y="2774731"/>
            <a:chExt cx="1481958" cy="894622"/>
          </a:xfrm>
        </p:grpSpPr>
        <p:sp>
          <p:nvSpPr>
            <p:cNvPr id="2578" name="Google Shape;2578;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79" name="Google Shape;2579;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0" name="Google Shape;2580;p13"/>
            <p:cNvGrpSpPr/>
            <p:nvPr/>
          </p:nvGrpSpPr>
          <p:grpSpPr>
            <a:xfrm>
              <a:off x="7713663" y="2848339"/>
              <a:ext cx="1042107" cy="425543"/>
              <a:chOff x="7786941" y="2884917"/>
              <a:chExt cx="897649" cy="353919"/>
            </a:xfrm>
          </p:grpSpPr>
          <p:sp>
            <p:nvSpPr>
              <p:cNvPr id="2581" name="Google Shape;2581;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82" name="Google Shape;2582;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83" name="Google Shape;2583;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84" name="Google Shape;2584;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85" name="Google Shape;2585;p13"/>
          <p:cNvGrpSpPr/>
          <p:nvPr/>
        </p:nvGrpSpPr>
        <p:grpSpPr>
          <a:xfrm>
            <a:off x="9247893" y="4775686"/>
            <a:ext cx="393760" cy="218578"/>
            <a:chOff x="7493876" y="2774731"/>
            <a:chExt cx="1481958" cy="894622"/>
          </a:xfrm>
        </p:grpSpPr>
        <p:sp>
          <p:nvSpPr>
            <p:cNvPr id="2586" name="Google Shape;2586;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87" name="Google Shape;2587;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88" name="Google Shape;2588;p13"/>
            <p:cNvGrpSpPr/>
            <p:nvPr/>
          </p:nvGrpSpPr>
          <p:grpSpPr>
            <a:xfrm>
              <a:off x="7713663" y="2848339"/>
              <a:ext cx="1042107" cy="425543"/>
              <a:chOff x="7786941" y="2884917"/>
              <a:chExt cx="897649" cy="353919"/>
            </a:xfrm>
          </p:grpSpPr>
          <p:sp>
            <p:nvSpPr>
              <p:cNvPr id="2589" name="Google Shape;2589;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0" name="Google Shape;2590;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1" name="Google Shape;2591;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2" name="Google Shape;2592;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593" name="Google Shape;2593;p13"/>
          <p:cNvGrpSpPr/>
          <p:nvPr/>
        </p:nvGrpSpPr>
        <p:grpSpPr>
          <a:xfrm>
            <a:off x="10925982" y="4369125"/>
            <a:ext cx="228295" cy="120400"/>
            <a:chOff x="7493876" y="2774731"/>
            <a:chExt cx="1481958" cy="894622"/>
          </a:xfrm>
        </p:grpSpPr>
        <p:sp>
          <p:nvSpPr>
            <p:cNvPr id="2594" name="Google Shape;2594;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95" name="Google Shape;2595;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96" name="Google Shape;2596;p13"/>
            <p:cNvGrpSpPr/>
            <p:nvPr/>
          </p:nvGrpSpPr>
          <p:grpSpPr>
            <a:xfrm>
              <a:off x="7713663" y="2848339"/>
              <a:ext cx="1042107" cy="425543"/>
              <a:chOff x="7786941" y="2884917"/>
              <a:chExt cx="897649" cy="353919"/>
            </a:xfrm>
          </p:grpSpPr>
          <p:sp>
            <p:nvSpPr>
              <p:cNvPr id="2597" name="Google Shape;2597;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8" name="Google Shape;2598;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599" name="Google Shape;2599;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0" name="Google Shape;2600;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601" name="Google Shape;2601;p13"/>
          <p:cNvGrpSpPr/>
          <p:nvPr/>
        </p:nvGrpSpPr>
        <p:grpSpPr>
          <a:xfrm>
            <a:off x="7439074" y="2356613"/>
            <a:ext cx="534987" cy="414882"/>
            <a:chOff x="7432700" y="2327293"/>
            <a:chExt cx="534987" cy="414882"/>
          </a:xfrm>
        </p:grpSpPr>
        <p:pic>
          <p:nvPicPr>
            <p:cNvPr descr="antenna_stylized" id="2602" name="Google Shape;2602;p13"/>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2603" name="Google Shape;2603;p13"/>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2604" name="Google Shape;2604;p1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605" name="Google Shape;2605;p13"/>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2606" name="Google Shape;2606;p1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7" name="Google Shape;2607;p1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8" name="Google Shape;2608;p1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9" name="Google Shape;2609;p1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0" name="Google Shape;2610;p1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1" name="Google Shape;2611;p1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612" name="Google Shape;2612;p13"/>
            <p:cNvGrpSpPr/>
            <p:nvPr/>
          </p:nvGrpSpPr>
          <p:grpSpPr>
            <a:xfrm>
              <a:off x="7594735" y="2642220"/>
              <a:ext cx="98740" cy="36846"/>
              <a:chOff x="1740" y="2642"/>
              <a:chExt cx="752" cy="327"/>
            </a:xfrm>
          </p:grpSpPr>
          <p:sp>
            <p:nvSpPr>
              <p:cNvPr id="2613" name="Google Shape;2613;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4" name="Google Shape;2614;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5" name="Google Shape;2615;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6" name="Google Shape;2616;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7" name="Google Shape;2617;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8" name="Google Shape;2618;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619" name="Google Shape;2619;p1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0" name="Google Shape;2620;p1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1" name="Google Shape;2621;p1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2" name="Google Shape;2622;p1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3" name="Google Shape;2623;p1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4" name="Google Shape;2624;p1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625" name="Google Shape;2625;p13"/>
          <p:cNvGrpSpPr/>
          <p:nvPr/>
        </p:nvGrpSpPr>
        <p:grpSpPr>
          <a:xfrm>
            <a:off x="8637781" y="2319727"/>
            <a:ext cx="530702" cy="478009"/>
            <a:chOff x="8631407" y="2290407"/>
            <a:chExt cx="530702" cy="478009"/>
          </a:xfrm>
        </p:grpSpPr>
        <p:pic>
          <p:nvPicPr>
            <p:cNvPr descr="light2.png" id="2626" name="Google Shape;2626;p13"/>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2627" name="Google Shape;2627;p13"/>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2628" name="Google Shape;2628;p13"/>
          <p:cNvGrpSpPr/>
          <p:nvPr/>
        </p:nvGrpSpPr>
        <p:grpSpPr>
          <a:xfrm>
            <a:off x="8499539" y="2059124"/>
            <a:ext cx="849312" cy="226109"/>
            <a:chOff x="8493165" y="2029804"/>
            <a:chExt cx="849312" cy="226109"/>
          </a:xfrm>
        </p:grpSpPr>
        <p:pic>
          <p:nvPicPr>
            <p:cNvPr descr="car_icon_small" id="2629" name="Google Shape;2629;p13"/>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2630" name="Google Shape;2630;p13"/>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2631" name="Google Shape;2631;p13"/>
          <p:cNvGrpSpPr/>
          <p:nvPr/>
        </p:nvGrpSpPr>
        <p:grpSpPr>
          <a:xfrm>
            <a:off x="7493518" y="3325424"/>
            <a:ext cx="857739" cy="583764"/>
            <a:chOff x="7487144" y="3296104"/>
            <a:chExt cx="857739" cy="583764"/>
          </a:xfrm>
        </p:grpSpPr>
        <p:grpSp>
          <p:nvGrpSpPr>
            <p:cNvPr id="2632" name="Google Shape;2632;p13"/>
            <p:cNvGrpSpPr/>
            <p:nvPr/>
          </p:nvGrpSpPr>
          <p:grpSpPr>
            <a:xfrm>
              <a:off x="7487144" y="3389820"/>
              <a:ext cx="350807" cy="310034"/>
              <a:chOff x="7487144" y="3389820"/>
              <a:chExt cx="350807" cy="310034"/>
            </a:xfrm>
          </p:grpSpPr>
          <p:pic>
            <p:nvPicPr>
              <p:cNvPr descr="antenna_stylized" id="2633" name="Google Shape;2633;p13"/>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2634" name="Google Shape;2634;p13"/>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2635" name="Google Shape;2635;p1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636" name="Google Shape;2636;p13"/>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2637" name="Google Shape;2637;p1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38" name="Google Shape;2638;p1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39" name="Google Shape;2639;p1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0" name="Google Shape;2640;p1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1" name="Google Shape;2641;p1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2" name="Google Shape;2642;p1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643" name="Google Shape;2643;p13"/>
              <p:cNvGrpSpPr/>
              <p:nvPr/>
            </p:nvGrpSpPr>
            <p:grpSpPr>
              <a:xfrm>
                <a:off x="7593395" y="3625649"/>
                <a:ext cx="64747" cy="27592"/>
                <a:chOff x="1740" y="2642"/>
                <a:chExt cx="752" cy="327"/>
              </a:xfrm>
            </p:grpSpPr>
            <p:sp>
              <p:nvSpPr>
                <p:cNvPr id="2644" name="Google Shape;2644;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5" name="Google Shape;2645;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6" name="Google Shape;2646;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7" name="Google Shape;2647;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8" name="Google Shape;2648;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9" name="Google Shape;2649;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650" name="Google Shape;2650;p1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1" name="Google Shape;2651;p1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2" name="Google Shape;2652;p1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3" name="Google Shape;2653;p1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4" name="Google Shape;2654;p1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5" name="Google Shape;2655;p1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656" name="Google Shape;2656;p13"/>
            <p:cNvGrpSpPr/>
            <p:nvPr/>
          </p:nvGrpSpPr>
          <p:grpSpPr>
            <a:xfrm flipH="1">
              <a:off x="7985622" y="3537823"/>
              <a:ext cx="359261" cy="342045"/>
              <a:chOff x="2839" y="3501"/>
              <a:chExt cx="755" cy="803"/>
            </a:xfrm>
          </p:grpSpPr>
          <p:pic>
            <p:nvPicPr>
              <p:cNvPr descr="desktop_computer_stylized_medium" id="2657" name="Google Shape;2657;p13"/>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658" name="Google Shape;2658;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659" name="Google Shape;2659;p13"/>
            <p:cNvGrpSpPr/>
            <p:nvPr/>
          </p:nvGrpSpPr>
          <p:grpSpPr>
            <a:xfrm>
              <a:off x="7797061" y="3296104"/>
              <a:ext cx="347997" cy="396620"/>
              <a:chOff x="7797061" y="3296104"/>
              <a:chExt cx="347997" cy="396620"/>
            </a:xfrm>
          </p:grpSpPr>
          <p:pic>
            <p:nvPicPr>
              <p:cNvPr descr="fridge2.png" id="2660" name="Google Shape;2660;p13"/>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2661" name="Google Shape;2661;p13"/>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2662" name="Google Shape;2662;p13"/>
          <p:cNvGrpSpPr/>
          <p:nvPr/>
        </p:nvGrpSpPr>
        <p:grpSpPr>
          <a:xfrm>
            <a:off x="11064947" y="3428485"/>
            <a:ext cx="518448" cy="1212242"/>
            <a:chOff x="11058573" y="3399165"/>
            <a:chExt cx="518448" cy="1212242"/>
          </a:xfrm>
        </p:grpSpPr>
        <p:grpSp>
          <p:nvGrpSpPr>
            <p:cNvPr id="2663" name="Google Shape;2663;p13"/>
            <p:cNvGrpSpPr/>
            <p:nvPr/>
          </p:nvGrpSpPr>
          <p:grpSpPr>
            <a:xfrm>
              <a:off x="11087182" y="4159591"/>
              <a:ext cx="489839" cy="451816"/>
              <a:chOff x="5103720" y="2693365"/>
              <a:chExt cx="611650" cy="414788"/>
            </a:xfrm>
          </p:grpSpPr>
          <p:cxnSp>
            <p:nvCxnSpPr>
              <p:cNvPr id="2664" name="Google Shape;2664;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665" name="Google Shape;2665;p13"/>
              <p:cNvGrpSpPr/>
              <p:nvPr/>
            </p:nvGrpSpPr>
            <p:grpSpPr>
              <a:xfrm>
                <a:off x="5275406" y="2693365"/>
                <a:ext cx="439964" cy="414788"/>
                <a:chOff x="5275406" y="2711455"/>
                <a:chExt cx="452949" cy="405518"/>
              </a:xfrm>
            </p:grpSpPr>
            <p:pic>
              <p:nvPicPr>
                <p:cNvPr descr="server_rack.png" id="2666" name="Google Shape;2666;p1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2667" name="Google Shape;2667;p1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2668" name="Google Shape;2668;p1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2669" name="Google Shape;2669;p13"/>
            <p:cNvGrpSpPr/>
            <p:nvPr/>
          </p:nvGrpSpPr>
          <p:grpSpPr>
            <a:xfrm>
              <a:off x="11058573" y="3399165"/>
              <a:ext cx="423724" cy="405973"/>
              <a:chOff x="5103720" y="2693365"/>
              <a:chExt cx="611650" cy="414788"/>
            </a:xfrm>
          </p:grpSpPr>
          <p:cxnSp>
            <p:nvCxnSpPr>
              <p:cNvPr id="2670" name="Google Shape;2670;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671" name="Google Shape;2671;p13"/>
              <p:cNvGrpSpPr/>
              <p:nvPr/>
            </p:nvGrpSpPr>
            <p:grpSpPr>
              <a:xfrm>
                <a:off x="5275406" y="2693365"/>
                <a:ext cx="439964" cy="414788"/>
                <a:chOff x="5275406" y="2711455"/>
                <a:chExt cx="452949" cy="405518"/>
              </a:xfrm>
            </p:grpSpPr>
            <p:pic>
              <p:nvPicPr>
                <p:cNvPr descr="server_rack.png" id="2672" name="Google Shape;2672;p13"/>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2673" name="Google Shape;2673;p13"/>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2674" name="Google Shape;2674;p13"/>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2675" name="Google Shape;2675;p13"/>
          <p:cNvGrpSpPr/>
          <p:nvPr/>
        </p:nvGrpSpPr>
        <p:grpSpPr>
          <a:xfrm>
            <a:off x="10288915" y="5273951"/>
            <a:ext cx="177192" cy="330833"/>
            <a:chOff x="4140" y="429"/>
            <a:chExt cx="1425" cy="2396"/>
          </a:xfrm>
        </p:grpSpPr>
        <p:sp>
          <p:nvSpPr>
            <p:cNvPr id="2676" name="Google Shape;2676;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77" name="Google Shape;2677;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678" name="Google Shape;2678;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79" name="Google Shape;2679;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80" name="Google Shape;2680;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681" name="Google Shape;2681;p13"/>
            <p:cNvGrpSpPr/>
            <p:nvPr/>
          </p:nvGrpSpPr>
          <p:grpSpPr>
            <a:xfrm>
              <a:off x="4748" y="666"/>
              <a:ext cx="578" cy="150"/>
              <a:chOff x="613" y="2566"/>
              <a:chExt cx="721" cy="144"/>
            </a:xfrm>
          </p:grpSpPr>
          <p:sp>
            <p:nvSpPr>
              <p:cNvPr id="2682" name="Google Shape;2682;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683" name="Google Shape;2683;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684" name="Google Shape;2684;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685" name="Google Shape;2685;p13"/>
            <p:cNvGrpSpPr/>
            <p:nvPr/>
          </p:nvGrpSpPr>
          <p:grpSpPr>
            <a:xfrm>
              <a:off x="4748" y="990"/>
              <a:ext cx="578" cy="134"/>
              <a:chOff x="615" y="2564"/>
              <a:chExt cx="721" cy="139"/>
            </a:xfrm>
          </p:grpSpPr>
          <p:sp>
            <p:nvSpPr>
              <p:cNvPr id="2686" name="Google Shape;2686;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687" name="Google Shape;2687;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688" name="Google Shape;2688;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689" name="Google Shape;2689;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690" name="Google Shape;2690;p13"/>
            <p:cNvGrpSpPr/>
            <p:nvPr/>
          </p:nvGrpSpPr>
          <p:grpSpPr>
            <a:xfrm>
              <a:off x="4738" y="1647"/>
              <a:ext cx="578" cy="135"/>
              <a:chOff x="618" y="2586"/>
              <a:chExt cx="720" cy="124"/>
            </a:xfrm>
          </p:grpSpPr>
          <p:sp>
            <p:nvSpPr>
              <p:cNvPr id="2691" name="Google Shape;2691;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692" name="Google Shape;2692;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693" name="Google Shape;2693;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694" name="Google Shape;2694;p13"/>
            <p:cNvGrpSpPr/>
            <p:nvPr/>
          </p:nvGrpSpPr>
          <p:grpSpPr>
            <a:xfrm>
              <a:off x="4738" y="1330"/>
              <a:ext cx="588" cy="134"/>
              <a:chOff x="613" y="2571"/>
              <a:chExt cx="732" cy="134"/>
            </a:xfrm>
          </p:grpSpPr>
          <p:sp>
            <p:nvSpPr>
              <p:cNvPr id="2695" name="Google Shape;2695;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696" name="Google Shape;2696;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697" name="Google Shape;2697;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698" name="Google Shape;2698;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99" name="Google Shape;2699;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0" name="Google Shape;2700;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01" name="Google Shape;2701;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2" name="Google Shape;2702;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03" name="Google Shape;2703;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04" name="Google Shape;2704;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05" name="Google Shape;2705;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2706" name="Google Shape;2706;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07" name="Google Shape;2707;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2708" name="Google Shape;2708;p13"/>
          <p:cNvGrpSpPr/>
          <p:nvPr/>
        </p:nvGrpSpPr>
        <p:grpSpPr>
          <a:xfrm flipH="1">
            <a:off x="7980855" y="4900161"/>
            <a:ext cx="345630" cy="320302"/>
            <a:chOff x="2839" y="3501"/>
            <a:chExt cx="755" cy="803"/>
          </a:xfrm>
        </p:grpSpPr>
        <p:pic>
          <p:nvPicPr>
            <p:cNvPr descr="desktop_computer_stylized_medium" id="2709" name="Google Shape;2709;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710" name="Google Shape;2710;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711" name="Google Shape;2711;p13"/>
          <p:cNvGrpSpPr/>
          <p:nvPr/>
        </p:nvGrpSpPr>
        <p:grpSpPr>
          <a:xfrm>
            <a:off x="9201681" y="5852809"/>
            <a:ext cx="310186" cy="312008"/>
            <a:chOff x="877" y="1008"/>
            <a:chExt cx="2747" cy="2626"/>
          </a:xfrm>
        </p:grpSpPr>
        <p:pic>
          <p:nvPicPr>
            <p:cNvPr descr="antenna_stylized" id="2712" name="Google Shape;2712;p1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2713" name="Google Shape;2713;p1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2714" name="Google Shape;2714;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715" name="Google Shape;2715;p1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2716" name="Google Shape;2716;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7" name="Google Shape;2717;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8" name="Google Shape;2718;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9" name="Google Shape;2719;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0" name="Google Shape;2720;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1" name="Google Shape;2721;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722" name="Google Shape;2722;p13"/>
            <p:cNvGrpSpPr/>
            <p:nvPr/>
          </p:nvGrpSpPr>
          <p:grpSpPr>
            <a:xfrm>
              <a:off x="1709" y="3008"/>
              <a:ext cx="507" cy="234"/>
              <a:chOff x="1740" y="2642"/>
              <a:chExt cx="752" cy="327"/>
            </a:xfrm>
          </p:grpSpPr>
          <p:sp>
            <p:nvSpPr>
              <p:cNvPr id="2723" name="Google Shape;2723;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4" name="Google Shape;2724;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5" name="Google Shape;2725;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6" name="Google Shape;2726;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7" name="Google Shape;2727;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8" name="Google Shape;2728;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729" name="Google Shape;2729;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0" name="Google Shape;2730;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1" name="Google Shape;2731;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2" name="Google Shape;2732;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3" name="Google Shape;2733;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4" name="Google Shape;2734;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735" name="Google Shape;2735;p13"/>
          <p:cNvGrpSpPr/>
          <p:nvPr/>
        </p:nvGrpSpPr>
        <p:grpSpPr>
          <a:xfrm flipH="1">
            <a:off x="8153909" y="5504657"/>
            <a:ext cx="345630" cy="320302"/>
            <a:chOff x="2839" y="3501"/>
            <a:chExt cx="755" cy="803"/>
          </a:xfrm>
        </p:grpSpPr>
        <p:pic>
          <p:nvPicPr>
            <p:cNvPr descr="desktop_computer_stylized_medium" id="2736" name="Google Shape;2736;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737" name="Google Shape;2737;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738" name="Google Shape;2738;p13"/>
          <p:cNvGrpSpPr/>
          <p:nvPr/>
        </p:nvGrpSpPr>
        <p:grpSpPr>
          <a:xfrm flipH="1">
            <a:off x="8552134" y="5526130"/>
            <a:ext cx="345630" cy="320302"/>
            <a:chOff x="2839" y="3501"/>
            <a:chExt cx="755" cy="803"/>
          </a:xfrm>
        </p:grpSpPr>
        <p:pic>
          <p:nvPicPr>
            <p:cNvPr descr="desktop_computer_stylized_medium" id="2739" name="Google Shape;2739;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740" name="Google Shape;2740;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741" name="Google Shape;2741;p13"/>
          <p:cNvGrpSpPr/>
          <p:nvPr/>
        </p:nvGrpSpPr>
        <p:grpSpPr>
          <a:xfrm>
            <a:off x="9534746" y="5795138"/>
            <a:ext cx="319264" cy="256836"/>
            <a:chOff x="877" y="1008"/>
            <a:chExt cx="2747" cy="2626"/>
          </a:xfrm>
        </p:grpSpPr>
        <p:pic>
          <p:nvPicPr>
            <p:cNvPr descr="antenna_stylized" id="2742" name="Google Shape;2742;p13"/>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2743" name="Google Shape;2743;p13"/>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2744" name="Google Shape;2744;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2745" name="Google Shape;2745;p13"/>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2746" name="Google Shape;2746;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47" name="Google Shape;2747;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48" name="Google Shape;2748;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49" name="Google Shape;2749;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0" name="Google Shape;2750;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1" name="Google Shape;2751;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752" name="Google Shape;2752;p13"/>
            <p:cNvGrpSpPr/>
            <p:nvPr/>
          </p:nvGrpSpPr>
          <p:grpSpPr>
            <a:xfrm>
              <a:off x="1709" y="3008"/>
              <a:ext cx="507" cy="234"/>
              <a:chOff x="1740" y="2642"/>
              <a:chExt cx="752" cy="327"/>
            </a:xfrm>
          </p:grpSpPr>
          <p:sp>
            <p:nvSpPr>
              <p:cNvPr id="2753" name="Google Shape;2753;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4" name="Google Shape;2754;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5" name="Google Shape;2755;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6" name="Google Shape;2756;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7" name="Google Shape;2757;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8" name="Google Shape;2758;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759" name="Google Shape;2759;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0" name="Google Shape;2760;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1" name="Google Shape;2761;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2" name="Google Shape;2762;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3" name="Google Shape;2763;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4" name="Google Shape;2764;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765" name="Google Shape;2765;p13"/>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6" name="Google Shape;2766;p13"/>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7" name="Google Shape;2767;p13"/>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8" name="Google Shape;2768;p13"/>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769" name="Google Shape;2769;p13"/>
          <p:cNvGrpSpPr/>
          <p:nvPr/>
        </p:nvGrpSpPr>
        <p:grpSpPr>
          <a:xfrm>
            <a:off x="10091053" y="5670891"/>
            <a:ext cx="69517" cy="21877"/>
            <a:chOff x="613" y="2566"/>
            <a:chExt cx="721" cy="144"/>
          </a:xfrm>
        </p:grpSpPr>
        <p:sp>
          <p:nvSpPr>
            <p:cNvPr id="2770" name="Google Shape;2770;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71" name="Google Shape;2771;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772" name="Google Shape;2772;p13"/>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773" name="Google Shape;2773;p13"/>
          <p:cNvGrpSpPr/>
          <p:nvPr/>
        </p:nvGrpSpPr>
        <p:grpSpPr>
          <a:xfrm>
            <a:off x="10091005" y="5718110"/>
            <a:ext cx="69517" cy="19515"/>
            <a:chOff x="615" y="2564"/>
            <a:chExt cx="721" cy="139"/>
          </a:xfrm>
        </p:grpSpPr>
        <p:sp>
          <p:nvSpPr>
            <p:cNvPr id="2774" name="Google Shape;2774;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75" name="Google Shape;2775;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776" name="Google Shape;2776;p13"/>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77" name="Google Shape;2777;p13"/>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778" name="Google Shape;2778;p13"/>
          <p:cNvGrpSpPr/>
          <p:nvPr/>
        </p:nvGrpSpPr>
        <p:grpSpPr>
          <a:xfrm>
            <a:off x="10089851" y="5813708"/>
            <a:ext cx="69541" cy="19618"/>
            <a:chOff x="618" y="2586"/>
            <a:chExt cx="720" cy="124"/>
          </a:xfrm>
        </p:grpSpPr>
        <p:sp>
          <p:nvSpPr>
            <p:cNvPr id="2779" name="Google Shape;2779;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80" name="Google Shape;2780;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781" name="Google Shape;2781;p13"/>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782" name="Google Shape;2782;p13"/>
          <p:cNvGrpSpPr/>
          <p:nvPr/>
        </p:nvGrpSpPr>
        <p:grpSpPr>
          <a:xfrm>
            <a:off x="10089849" y="5767606"/>
            <a:ext cx="70700" cy="19515"/>
            <a:chOff x="613" y="2571"/>
            <a:chExt cx="732" cy="134"/>
          </a:xfrm>
        </p:grpSpPr>
        <p:sp>
          <p:nvSpPr>
            <p:cNvPr id="2783" name="Google Shape;2783;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84" name="Google Shape;2784;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785" name="Google Shape;2785;p13"/>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86" name="Google Shape;2786;p13"/>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87" name="Google Shape;2787;p13"/>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88" name="Google Shape;2788;p13"/>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89" name="Google Shape;2789;p13"/>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90" name="Google Shape;2790;p13"/>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91" name="Google Shape;2791;p13"/>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92" name="Google Shape;2792;p13"/>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93" name="Google Shape;2793;p13"/>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2794" name="Google Shape;2794;p13"/>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95" name="Google Shape;2795;p13"/>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796" name="Google Shape;2796;p13"/>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797" name="Google Shape;2797;p13"/>
          <p:cNvGrpSpPr/>
          <p:nvPr/>
        </p:nvGrpSpPr>
        <p:grpSpPr>
          <a:xfrm>
            <a:off x="7680324" y="1814171"/>
            <a:ext cx="2755429" cy="4250670"/>
            <a:chOff x="7680324" y="1814171"/>
            <a:chExt cx="2755429" cy="4250670"/>
          </a:xfrm>
        </p:grpSpPr>
        <p:grpSp>
          <p:nvGrpSpPr>
            <p:cNvPr id="2798" name="Google Shape;2798;p13"/>
            <p:cNvGrpSpPr/>
            <p:nvPr/>
          </p:nvGrpSpPr>
          <p:grpSpPr>
            <a:xfrm>
              <a:off x="7750224" y="1859725"/>
              <a:ext cx="415925" cy="385763"/>
              <a:chOff x="2751" y="1851"/>
              <a:chExt cx="462" cy="478"/>
            </a:xfrm>
          </p:grpSpPr>
          <p:pic>
            <p:nvPicPr>
              <p:cNvPr descr="iphone_stylized_small" id="2799" name="Google Shape;2799;p13"/>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2800" name="Google Shape;2800;p13"/>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2801" name="Google Shape;2801;p13"/>
            <p:cNvGrpSpPr/>
            <p:nvPr/>
          </p:nvGrpSpPr>
          <p:grpSpPr>
            <a:xfrm flipH="1">
              <a:off x="7773981" y="5281060"/>
              <a:ext cx="345630" cy="320302"/>
              <a:chOff x="2839" y="3501"/>
              <a:chExt cx="755" cy="803"/>
            </a:xfrm>
          </p:grpSpPr>
          <p:pic>
            <p:nvPicPr>
              <p:cNvPr descr="desktop_computer_stylized_medium" id="2802" name="Google Shape;2802;p13"/>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2803" name="Google Shape;2803;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804" name="Google Shape;2804;p13"/>
            <p:cNvSpPr/>
            <p:nvPr/>
          </p:nvSpPr>
          <p:spPr>
            <a:xfrm>
              <a:off x="7689254" y="516084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05" name="Google Shape;2805;p13"/>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06" name="Google Shape;2806;p13"/>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cxnSp>
        <p:nvCxnSpPr>
          <p:cNvPr id="2807" name="Google Shape;2807;p13"/>
          <p:cNvCxnSpPr/>
          <p:nvPr/>
        </p:nvCxnSpPr>
        <p:spPr>
          <a:xfrm rot="10800000">
            <a:off x="8310623" y="5474824"/>
            <a:ext cx="1423686" cy="289367"/>
          </a:xfrm>
          <a:prstGeom prst="straightConnector1">
            <a:avLst/>
          </a:prstGeom>
          <a:noFill/>
          <a:ln cap="flat" cmpd="sng" w="76200">
            <a:solidFill>
              <a:srgbClr val="CC0000"/>
            </a:solidFill>
            <a:prstDash val="solid"/>
            <a:round/>
            <a:headEnd len="med" w="med" type="triangle"/>
            <a:tailEnd len="med" w="med" type="triangle"/>
          </a:ln>
        </p:spPr>
      </p:cxnSp>
      <p:cxnSp>
        <p:nvCxnSpPr>
          <p:cNvPr id="2808" name="Google Shape;2808;p13"/>
          <p:cNvCxnSpPr/>
          <p:nvPr/>
        </p:nvCxnSpPr>
        <p:spPr>
          <a:xfrm>
            <a:off x="8370450" y="2297968"/>
            <a:ext cx="1700212" cy="3386138"/>
          </a:xfrm>
          <a:prstGeom prst="straightConnector1">
            <a:avLst/>
          </a:prstGeom>
          <a:noFill/>
          <a:ln cap="flat" cmpd="sng" w="76200">
            <a:solidFill>
              <a:srgbClr val="CC0000"/>
            </a:solidFill>
            <a:prstDash val="solid"/>
            <a:round/>
            <a:headEnd len="med" w="med" type="triangle"/>
            <a:tailEnd len="med" w="med" type="triangle"/>
          </a:ln>
        </p:spPr>
      </p:cxnSp>
      <p:sp>
        <p:nvSpPr>
          <p:cNvPr id="2809" name="Google Shape;2809;p1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Client-server </a:t>
            </a:r>
            <a:r>
              <a:rPr lang="en-US"/>
              <a:t>p</a:t>
            </a:r>
            <a:r>
              <a:rPr lang="en-US" sz="4400"/>
              <a:t>aradigm</a:t>
            </a:r>
            <a:endParaRPr sz="4400"/>
          </a:p>
        </p:txBody>
      </p:sp>
      <p:sp>
        <p:nvSpPr>
          <p:cNvPr id="2810" name="Google Shape;2810;p13"/>
          <p:cNvSpPr txBox="1"/>
          <p:nvPr/>
        </p:nvSpPr>
        <p:spPr>
          <a:xfrm>
            <a:off x="889178" y="1260346"/>
            <a:ext cx="5968498" cy="49746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server: </a:t>
            </a:r>
            <a:endParaRPr/>
          </a:p>
          <a:p>
            <a:pPr indent="-233362" lvl="0" marL="4667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always-on host</a:t>
            </a:r>
            <a:endParaRPr/>
          </a:p>
          <a:p>
            <a:pPr indent="-233362" lvl="0" marL="4667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permanent IP address</a:t>
            </a:r>
            <a:endParaRPr/>
          </a:p>
          <a:p>
            <a:pPr indent="-233362" lvl="0" marL="4667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often in data centers, for scaling</a:t>
            </a:r>
            <a:endParaRPr/>
          </a:p>
          <a:p>
            <a:pPr indent="-222250" lvl="0" marL="352425" marR="0" rtl="0" algn="l">
              <a:lnSpc>
                <a:spcPct val="90000"/>
              </a:lnSpc>
              <a:spcBef>
                <a:spcPts val="210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clients:</a:t>
            </a:r>
            <a:endParaRPr/>
          </a:p>
          <a:p>
            <a:pPr indent="-233362" lvl="0" marL="4667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contact, communicate with server</a:t>
            </a:r>
            <a:endParaRPr/>
          </a:p>
          <a:p>
            <a:pPr indent="-233362" lvl="0" marL="4667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may be intermittently connected</a:t>
            </a:r>
            <a:endParaRPr/>
          </a:p>
          <a:p>
            <a:pPr indent="-233362" lvl="0" marL="4667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may have dynamic IP addresses</a:t>
            </a:r>
            <a:endParaRPr/>
          </a:p>
          <a:p>
            <a:pPr indent="-233362" lvl="0" marL="4667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communicate directly with each other</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examples: HTTP, IMAP, FTP</a:t>
            </a:r>
            <a:endParaRPr/>
          </a:p>
        </p:txBody>
      </p:sp>
      <p:grpSp>
        <p:nvGrpSpPr>
          <p:cNvPr id="2811" name="Google Shape;2811;p13"/>
          <p:cNvGrpSpPr/>
          <p:nvPr/>
        </p:nvGrpSpPr>
        <p:grpSpPr>
          <a:xfrm>
            <a:off x="10002508" y="5616400"/>
            <a:ext cx="214974" cy="403920"/>
            <a:chOff x="4140" y="429"/>
            <a:chExt cx="1425" cy="2396"/>
          </a:xfrm>
        </p:grpSpPr>
        <p:sp>
          <p:nvSpPr>
            <p:cNvPr id="2812" name="Google Shape;2812;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3" name="Google Shape;2813;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14" name="Google Shape;2814;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5" name="Google Shape;2815;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6" name="Google Shape;2816;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817" name="Google Shape;2817;p13"/>
            <p:cNvGrpSpPr/>
            <p:nvPr/>
          </p:nvGrpSpPr>
          <p:grpSpPr>
            <a:xfrm>
              <a:off x="4748" y="666"/>
              <a:ext cx="578" cy="150"/>
              <a:chOff x="613" y="2566"/>
              <a:chExt cx="721" cy="144"/>
            </a:xfrm>
          </p:grpSpPr>
          <p:sp>
            <p:nvSpPr>
              <p:cNvPr id="2818" name="Google Shape;2818;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19" name="Google Shape;2819;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820" name="Google Shape;2820;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821" name="Google Shape;2821;p13"/>
            <p:cNvGrpSpPr/>
            <p:nvPr/>
          </p:nvGrpSpPr>
          <p:grpSpPr>
            <a:xfrm>
              <a:off x="4748" y="990"/>
              <a:ext cx="578" cy="134"/>
              <a:chOff x="615" y="2564"/>
              <a:chExt cx="721" cy="139"/>
            </a:xfrm>
          </p:grpSpPr>
          <p:sp>
            <p:nvSpPr>
              <p:cNvPr id="2822" name="Google Shape;2822;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23" name="Google Shape;2823;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824" name="Google Shape;2824;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25" name="Google Shape;2825;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2826" name="Google Shape;2826;p13"/>
            <p:cNvGrpSpPr/>
            <p:nvPr/>
          </p:nvGrpSpPr>
          <p:grpSpPr>
            <a:xfrm>
              <a:off x="4738" y="1647"/>
              <a:ext cx="578" cy="135"/>
              <a:chOff x="618" y="2586"/>
              <a:chExt cx="720" cy="124"/>
            </a:xfrm>
          </p:grpSpPr>
          <p:sp>
            <p:nvSpPr>
              <p:cNvPr id="2827" name="Google Shape;2827;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28" name="Google Shape;2828;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829" name="Google Shape;2829;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830" name="Google Shape;2830;p13"/>
            <p:cNvGrpSpPr/>
            <p:nvPr/>
          </p:nvGrpSpPr>
          <p:grpSpPr>
            <a:xfrm>
              <a:off x="4738" y="1330"/>
              <a:ext cx="588" cy="134"/>
              <a:chOff x="613" y="2571"/>
              <a:chExt cx="732" cy="134"/>
            </a:xfrm>
          </p:grpSpPr>
          <p:sp>
            <p:nvSpPr>
              <p:cNvPr id="2831" name="Google Shape;2831;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32" name="Google Shape;2832;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833" name="Google Shape;2833;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34" name="Google Shape;2834;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5" name="Google Shape;2835;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6" name="Google Shape;2836;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37" name="Google Shape;2837;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8" name="Google Shape;2838;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39" name="Google Shape;2839;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40" name="Google Shape;2840;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41" name="Google Shape;2841;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2842" name="Google Shape;2842;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43" name="Google Shape;2843;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2844" name="Google Shape;2844;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9" name="Shape 2849"/>
        <p:cNvGrpSpPr/>
        <p:nvPr/>
      </p:nvGrpSpPr>
      <p:grpSpPr>
        <a:xfrm>
          <a:off x="0" y="0"/>
          <a:ext cx="0" cy="0"/>
          <a:chOff x="0" y="0"/>
          <a:chExt cx="0" cy="0"/>
        </a:xfrm>
      </p:grpSpPr>
      <p:sp>
        <p:nvSpPr>
          <p:cNvPr id="2850" name="Google Shape;2850;p1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51" name="Google Shape;2851;p1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52" name="Google Shape;2852;p14"/>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2853" name="Google Shape;2853;p14"/>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sp>
        <p:nvSpPr>
          <p:cNvPr id="2854" name="Google Shape;2854;p1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55" name="Google Shape;2855;p1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2856" name="Google Shape;2856;p1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2857" name="Google Shape;2857;p1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2858" name="Google Shape;2858;p1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F2CDED"/>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859" name="Google Shape;2859;p14"/>
          <p:cNvGrpSpPr/>
          <p:nvPr/>
        </p:nvGrpSpPr>
        <p:grpSpPr>
          <a:xfrm>
            <a:off x="10837700" y="3928050"/>
            <a:ext cx="687393" cy="721548"/>
            <a:chOff x="5203089" y="1751190"/>
            <a:chExt cx="858331" cy="662414"/>
          </a:xfrm>
        </p:grpSpPr>
        <p:sp>
          <p:nvSpPr>
            <p:cNvPr id="2860" name="Google Shape;2860;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61" name="Google Shape;2861;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2862" name="Google Shape;2862;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863" name="Google Shape;2863;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864" name="Google Shape;2864;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865" name="Google Shape;2865;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866" name="Google Shape;2866;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867" name="Google Shape;2867;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2868" name="Google Shape;2868;p14"/>
          <p:cNvGrpSpPr/>
          <p:nvPr/>
        </p:nvGrpSpPr>
        <p:grpSpPr>
          <a:xfrm>
            <a:off x="10771171" y="3194171"/>
            <a:ext cx="594613" cy="648336"/>
            <a:chOff x="5203089" y="1751190"/>
            <a:chExt cx="858331" cy="662414"/>
          </a:xfrm>
        </p:grpSpPr>
        <p:sp>
          <p:nvSpPr>
            <p:cNvPr id="2869" name="Google Shape;2869;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70" name="Google Shape;2870;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2871" name="Google Shape;2871;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872" name="Google Shape;2872;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873" name="Google Shape;2873;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874" name="Google Shape;2874;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875" name="Google Shape;2875;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876" name="Google Shape;2876;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2877" name="Google Shape;2877;p1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F2CDED"/>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78" name="Google Shape;2878;p1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2879" name="Google Shape;2879;p1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0" name="Google Shape;2880;p1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2881" name="Google Shape;2881;p1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2882" name="Google Shape;2882;p1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2883" name="Google Shape;2883;p14"/>
          <p:cNvCxnSpPr/>
          <p:nvPr/>
        </p:nvCxnSpPr>
        <p:spPr>
          <a:xfrm rot="10800000">
            <a:off x="10559920" y="3580125"/>
            <a:ext cx="412964" cy="63712"/>
          </a:xfrm>
          <a:prstGeom prst="straightConnector1">
            <a:avLst/>
          </a:prstGeom>
          <a:noFill/>
          <a:ln cap="flat" cmpd="sng" w="12700">
            <a:solidFill>
              <a:schemeClr val="dk1"/>
            </a:solidFill>
            <a:prstDash val="solid"/>
            <a:miter lim="800000"/>
            <a:headEnd len="sm" w="sm" type="none"/>
            <a:tailEnd len="sm" w="sm" type="none"/>
          </a:ln>
        </p:spPr>
      </p:cxnSp>
      <p:cxnSp>
        <p:nvCxnSpPr>
          <p:cNvPr id="2884" name="Google Shape;2884;p14"/>
          <p:cNvCxnSpPr/>
          <p:nvPr/>
        </p:nvCxnSpPr>
        <p:spPr>
          <a:xfrm rot="10800000">
            <a:off x="10660835" y="3640684"/>
            <a:ext cx="345866" cy="738975"/>
          </a:xfrm>
          <a:prstGeom prst="straightConnector1">
            <a:avLst/>
          </a:prstGeom>
          <a:noFill/>
          <a:ln cap="flat" cmpd="sng" w="12700">
            <a:solidFill>
              <a:schemeClr val="dk1"/>
            </a:solidFill>
            <a:prstDash val="solid"/>
            <a:miter lim="800000"/>
            <a:headEnd len="sm" w="sm" type="none"/>
            <a:tailEnd len="sm" w="sm" type="none"/>
          </a:ln>
        </p:spPr>
      </p:cxnSp>
      <p:cxnSp>
        <p:nvCxnSpPr>
          <p:cNvPr id="2885" name="Google Shape;2885;p14"/>
          <p:cNvCxnSpPr/>
          <p:nvPr/>
        </p:nvCxnSpPr>
        <p:spPr>
          <a:xfrm flipH="1" rot="10800000">
            <a:off x="10636897" y="3633421"/>
            <a:ext cx="335987" cy="395340"/>
          </a:xfrm>
          <a:prstGeom prst="straightConnector1">
            <a:avLst/>
          </a:prstGeom>
          <a:noFill/>
          <a:ln cap="flat" cmpd="sng" w="12700">
            <a:solidFill>
              <a:schemeClr val="dk1"/>
            </a:solidFill>
            <a:prstDash val="solid"/>
            <a:miter lim="800000"/>
            <a:headEnd len="sm" w="sm" type="none"/>
            <a:tailEnd len="sm" w="sm" type="none"/>
          </a:ln>
        </p:spPr>
      </p:cxnSp>
      <p:cxnSp>
        <p:nvCxnSpPr>
          <p:cNvPr id="2886" name="Google Shape;2886;p14"/>
          <p:cNvCxnSpPr/>
          <p:nvPr/>
        </p:nvCxnSpPr>
        <p:spPr>
          <a:xfrm rot="10800000">
            <a:off x="10570774" y="3594896"/>
            <a:ext cx="1" cy="485748"/>
          </a:xfrm>
          <a:prstGeom prst="straightConnector1">
            <a:avLst/>
          </a:prstGeom>
          <a:noFill/>
          <a:ln cap="flat" cmpd="sng" w="12700">
            <a:solidFill>
              <a:schemeClr val="dk1"/>
            </a:solidFill>
            <a:prstDash val="solid"/>
            <a:miter lim="800000"/>
            <a:headEnd len="sm" w="sm" type="none"/>
            <a:tailEnd len="sm" w="sm" type="none"/>
          </a:ln>
        </p:spPr>
      </p:cxnSp>
      <p:cxnSp>
        <p:nvCxnSpPr>
          <p:cNvPr id="2887" name="Google Shape;2887;p14"/>
          <p:cNvCxnSpPr/>
          <p:nvPr/>
        </p:nvCxnSpPr>
        <p:spPr>
          <a:xfrm rot="10800000">
            <a:off x="10550620" y="4071642"/>
            <a:ext cx="508543" cy="348647"/>
          </a:xfrm>
          <a:prstGeom prst="straightConnector1">
            <a:avLst/>
          </a:prstGeom>
          <a:noFill/>
          <a:ln cap="flat" cmpd="sng" w="12700">
            <a:solidFill>
              <a:schemeClr val="dk1"/>
            </a:solidFill>
            <a:prstDash val="solid"/>
            <a:miter lim="800000"/>
            <a:headEnd len="sm" w="sm" type="none"/>
            <a:tailEnd len="sm" w="sm" type="none"/>
          </a:ln>
        </p:spPr>
      </p:cxnSp>
      <p:cxnSp>
        <p:nvCxnSpPr>
          <p:cNvPr id="2888" name="Google Shape;2888;p14"/>
          <p:cNvCxnSpPr/>
          <p:nvPr/>
        </p:nvCxnSpPr>
        <p:spPr>
          <a:xfrm rot="10800000">
            <a:off x="9895195" y="4087742"/>
            <a:ext cx="655425" cy="0"/>
          </a:xfrm>
          <a:prstGeom prst="straightConnector1">
            <a:avLst/>
          </a:prstGeom>
          <a:noFill/>
          <a:ln cap="flat" cmpd="sng" w="12700">
            <a:solidFill>
              <a:schemeClr val="dk1"/>
            </a:solidFill>
            <a:prstDash val="solid"/>
            <a:miter lim="800000"/>
            <a:headEnd len="sm" w="sm" type="none"/>
            <a:tailEnd len="sm" w="sm" type="none"/>
          </a:ln>
        </p:spPr>
      </p:cxnSp>
      <p:cxnSp>
        <p:nvCxnSpPr>
          <p:cNvPr id="2889" name="Google Shape;2889;p14"/>
          <p:cNvCxnSpPr/>
          <p:nvPr/>
        </p:nvCxnSpPr>
        <p:spPr>
          <a:xfrm rot="10800000">
            <a:off x="9219616" y="4087742"/>
            <a:ext cx="655425" cy="0"/>
          </a:xfrm>
          <a:prstGeom prst="straightConnector1">
            <a:avLst/>
          </a:prstGeom>
          <a:noFill/>
          <a:ln cap="flat" cmpd="sng" w="12700">
            <a:solidFill>
              <a:schemeClr val="dk1"/>
            </a:solidFill>
            <a:prstDash val="solid"/>
            <a:miter lim="800000"/>
            <a:headEnd len="sm" w="sm" type="none"/>
            <a:tailEnd len="sm" w="sm" type="none"/>
          </a:ln>
        </p:spPr>
      </p:cxnSp>
      <p:cxnSp>
        <p:nvCxnSpPr>
          <p:cNvPr id="2890" name="Google Shape;2890;p14"/>
          <p:cNvCxnSpPr/>
          <p:nvPr/>
        </p:nvCxnSpPr>
        <p:spPr>
          <a:xfrm flipH="1">
            <a:off x="9276868" y="3507672"/>
            <a:ext cx="382424" cy="517050"/>
          </a:xfrm>
          <a:prstGeom prst="straightConnector1">
            <a:avLst/>
          </a:prstGeom>
          <a:noFill/>
          <a:ln cap="flat" cmpd="sng" w="12700">
            <a:solidFill>
              <a:schemeClr val="dk1"/>
            </a:solidFill>
            <a:prstDash val="solid"/>
            <a:miter lim="800000"/>
            <a:headEnd len="sm" w="sm" type="none"/>
            <a:tailEnd len="sm" w="sm" type="none"/>
          </a:ln>
        </p:spPr>
      </p:cxnSp>
      <p:cxnSp>
        <p:nvCxnSpPr>
          <p:cNvPr id="2891" name="Google Shape;2891;p14"/>
          <p:cNvCxnSpPr/>
          <p:nvPr/>
        </p:nvCxnSpPr>
        <p:spPr>
          <a:xfrm>
            <a:off x="9733069" y="3507672"/>
            <a:ext cx="0" cy="540294"/>
          </a:xfrm>
          <a:prstGeom prst="straightConnector1">
            <a:avLst/>
          </a:prstGeom>
          <a:noFill/>
          <a:ln cap="flat" cmpd="sng" w="12700">
            <a:solidFill>
              <a:schemeClr val="dk1"/>
            </a:solidFill>
            <a:prstDash val="solid"/>
            <a:miter lim="800000"/>
            <a:headEnd len="sm" w="sm" type="none"/>
            <a:tailEnd len="sm" w="sm" type="none"/>
          </a:ln>
        </p:spPr>
      </p:cxnSp>
      <p:cxnSp>
        <p:nvCxnSpPr>
          <p:cNvPr id="2892" name="Google Shape;2892;p14"/>
          <p:cNvCxnSpPr/>
          <p:nvPr/>
        </p:nvCxnSpPr>
        <p:spPr>
          <a:xfrm>
            <a:off x="10137668" y="2754692"/>
            <a:ext cx="488174" cy="839333"/>
          </a:xfrm>
          <a:prstGeom prst="straightConnector1">
            <a:avLst/>
          </a:prstGeom>
          <a:noFill/>
          <a:ln cap="flat" cmpd="sng" w="12700">
            <a:solidFill>
              <a:schemeClr val="dk1"/>
            </a:solidFill>
            <a:prstDash val="solid"/>
            <a:miter lim="800000"/>
            <a:headEnd len="sm" w="sm" type="none"/>
            <a:tailEnd len="sm" w="sm" type="none"/>
          </a:ln>
        </p:spPr>
      </p:cxnSp>
      <p:cxnSp>
        <p:nvCxnSpPr>
          <p:cNvPr id="2893" name="Google Shape;2893;p1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2894" name="Google Shape;2894;p14"/>
          <p:cNvGrpSpPr/>
          <p:nvPr/>
        </p:nvGrpSpPr>
        <p:grpSpPr>
          <a:xfrm>
            <a:off x="7562238" y="2127325"/>
            <a:ext cx="3578867" cy="3640284"/>
            <a:chOff x="7562238" y="2127325"/>
            <a:chExt cx="3578867" cy="3640284"/>
          </a:xfrm>
        </p:grpSpPr>
        <p:grpSp>
          <p:nvGrpSpPr>
            <p:cNvPr id="2895" name="Google Shape;2895;p14"/>
            <p:cNvGrpSpPr/>
            <p:nvPr/>
          </p:nvGrpSpPr>
          <p:grpSpPr>
            <a:xfrm>
              <a:off x="7857253" y="2127325"/>
              <a:ext cx="3283852" cy="3640284"/>
              <a:chOff x="7881336" y="2104198"/>
              <a:chExt cx="3283852" cy="3640284"/>
            </a:xfrm>
          </p:grpSpPr>
          <p:cxnSp>
            <p:nvCxnSpPr>
              <p:cNvPr id="2896" name="Google Shape;2896;p14"/>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2897" name="Google Shape;2897;p1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2898" name="Google Shape;2898;p14"/>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2899" name="Google Shape;2899;p14"/>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2900" name="Google Shape;2900;p14"/>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2901" name="Google Shape;2901;p14"/>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2902" name="Google Shape;2902;p14"/>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2903" name="Google Shape;2903;p14"/>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2904" name="Google Shape;2904;p14"/>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2905" name="Google Shape;2905;p14"/>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2906" name="Google Shape;2906;p14"/>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2907" name="Google Shape;2907;p14"/>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2908" name="Google Shape;2908;p14"/>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2909" name="Google Shape;2909;p14"/>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2910" name="Google Shape;2910;p1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911" name="Google Shape;2911;p1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912" name="Google Shape;2912;p1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913" name="Google Shape;2913;p1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914" name="Google Shape;2914;p1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915" name="Google Shape;2915;p1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916" name="Google Shape;2916;p1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917" name="Google Shape;2917;p1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918" name="Google Shape;2918;p14"/>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919" name="Google Shape;2919;p14"/>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2920" name="Google Shape;2920;p1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2921" name="Google Shape;2921;p1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2922" name="Google Shape;2922;p1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2923" name="Google Shape;2923;p1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2924" name="Google Shape;2924;p14"/>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2925" name="Google Shape;2925;p14"/>
          <p:cNvGrpSpPr/>
          <p:nvPr/>
        </p:nvGrpSpPr>
        <p:grpSpPr>
          <a:xfrm>
            <a:off x="8050698" y="2309376"/>
            <a:ext cx="298450" cy="464008"/>
            <a:chOff x="3130" y="3288"/>
            <a:chExt cx="410" cy="742"/>
          </a:xfrm>
        </p:grpSpPr>
        <p:cxnSp>
          <p:nvCxnSpPr>
            <p:cNvPr id="2926" name="Google Shape;2926;p1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2927" name="Google Shape;2927;p1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2928" name="Google Shape;2928;p1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929" name="Google Shape;2929;p1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930" name="Google Shape;2930;p1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2931" name="Google Shape;2931;p1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2932" name="Google Shape;2932;p1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2933" name="Google Shape;2933;p1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2934" name="Google Shape;2934;p1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2935" name="Google Shape;2935;p1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2936" name="Google Shape;2936;p1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2937" name="Google Shape;2937;p1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2938" name="Google Shape;2938;p1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2939" name="Google Shape;2939;p1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2940" name="Google Shape;2940;p1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2941" name="Google Shape;2941;p1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2942" name="Google Shape;2942;p1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2943" name="Google Shape;2943;p14"/>
          <p:cNvGrpSpPr/>
          <p:nvPr/>
        </p:nvGrpSpPr>
        <p:grpSpPr>
          <a:xfrm>
            <a:off x="9783558" y="4989983"/>
            <a:ext cx="393760" cy="218578"/>
            <a:chOff x="7493876" y="2774731"/>
            <a:chExt cx="1481958" cy="894622"/>
          </a:xfrm>
        </p:grpSpPr>
        <p:sp>
          <p:nvSpPr>
            <p:cNvPr id="2944" name="Google Shape;2944;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45" name="Google Shape;2945;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46" name="Google Shape;2946;p14"/>
            <p:cNvGrpSpPr/>
            <p:nvPr/>
          </p:nvGrpSpPr>
          <p:grpSpPr>
            <a:xfrm>
              <a:off x="7713663" y="2848339"/>
              <a:ext cx="1042107" cy="425543"/>
              <a:chOff x="7786941" y="2884917"/>
              <a:chExt cx="897649" cy="353919"/>
            </a:xfrm>
          </p:grpSpPr>
          <p:sp>
            <p:nvSpPr>
              <p:cNvPr id="2947" name="Google Shape;2947;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48" name="Google Shape;2948;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49" name="Google Shape;2949;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50" name="Google Shape;2950;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951" name="Google Shape;2951;p14"/>
          <p:cNvGrpSpPr/>
          <p:nvPr/>
        </p:nvGrpSpPr>
        <p:grpSpPr>
          <a:xfrm>
            <a:off x="9849365" y="5339037"/>
            <a:ext cx="309740" cy="190838"/>
            <a:chOff x="3668110" y="2448910"/>
            <a:chExt cx="3794234" cy="2165130"/>
          </a:xfrm>
        </p:grpSpPr>
        <p:sp>
          <p:nvSpPr>
            <p:cNvPr id="2952" name="Google Shape;2952;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53" name="Google Shape;2953;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954" name="Google Shape;2954;p14"/>
            <p:cNvGrpSpPr/>
            <p:nvPr/>
          </p:nvGrpSpPr>
          <p:grpSpPr>
            <a:xfrm>
              <a:off x="3941378" y="2603243"/>
              <a:ext cx="3202061" cy="1066110"/>
              <a:chOff x="7939341" y="3037317"/>
              <a:chExt cx="897649" cy="353919"/>
            </a:xfrm>
          </p:grpSpPr>
          <p:sp>
            <p:nvSpPr>
              <p:cNvPr id="2955" name="Google Shape;2955;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56" name="Google Shape;2956;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57" name="Google Shape;2957;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58" name="Google Shape;2958;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959" name="Google Shape;2959;p14"/>
          <p:cNvGrpSpPr/>
          <p:nvPr/>
        </p:nvGrpSpPr>
        <p:grpSpPr>
          <a:xfrm>
            <a:off x="8676619" y="4967420"/>
            <a:ext cx="393760" cy="218578"/>
            <a:chOff x="7493876" y="2774731"/>
            <a:chExt cx="1481958" cy="894622"/>
          </a:xfrm>
        </p:grpSpPr>
        <p:sp>
          <p:nvSpPr>
            <p:cNvPr id="2960" name="Google Shape;296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61" name="Google Shape;296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62" name="Google Shape;2962;p14"/>
            <p:cNvGrpSpPr/>
            <p:nvPr/>
          </p:nvGrpSpPr>
          <p:grpSpPr>
            <a:xfrm>
              <a:off x="7713663" y="2848339"/>
              <a:ext cx="1042107" cy="425543"/>
              <a:chOff x="7786941" y="2884917"/>
              <a:chExt cx="897649" cy="353919"/>
            </a:xfrm>
          </p:grpSpPr>
          <p:sp>
            <p:nvSpPr>
              <p:cNvPr id="2963" name="Google Shape;296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64" name="Google Shape;296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65" name="Google Shape;296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66" name="Google Shape;296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967" name="Google Shape;2967;p14"/>
          <p:cNvGrpSpPr/>
          <p:nvPr/>
        </p:nvGrpSpPr>
        <p:grpSpPr>
          <a:xfrm>
            <a:off x="8311520" y="5194433"/>
            <a:ext cx="309740" cy="190838"/>
            <a:chOff x="3668110" y="2448910"/>
            <a:chExt cx="3794234" cy="2165130"/>
          </a:xfrm>
        </p:grpSpPr>
        <p:sp>
          <p:nvSpPr>
            <p:cNvPr id="2968" name="Google Shape;2968;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69" name="Google Shape;2969;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970" name="Google Shape;2970;p14"/>
            <p:cNvGrpSpPr/>
            <p:nvPr/>
          </p:nvGrpSpPr>
          <p:grpSpPr>
            <a:xfrm>
              <a:off x="3941378" y="2603243"/>
              <a:ext cx="3202061" cy="1066110"/>
              <a:chOff x="7939341" y="3037317"/>
              <a:chExt cx="897649" cy="353919"/>
            </a:xfrm>
          </p:grpSpPr>
          <p:sp>
            <p:nvSpPr>
              <p:cNvPr id="2971" name="Google Shape;2971;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72" name="Google Shape;2972;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73" name="Google Shape;2973;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74" name="Google Shape;2974;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975" name="Google Shape;2975;p14"/>
          <p:cNvGrpSpPr/>
          <p:nvPr/>
        </p:nvGrpSpPr>
        <p:grpSpPr>
          <a:xfrm>
            <a:off x="8439827" y="2812309"/>
            <a:ext cx="353678" cy="168275"/>
            <a:chOff x="7493876" y="2774731"/>
            <a:chExt cx="1481958" cy="894622"/>
          </a:xfrm>
        </p:grpSpPr>
        <p:sp>
          <p:nvSpPr>
            <p:cNvPr id="2976" name="Google Shape;2976;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7" name="Google Shape;2977;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78" name="Google Shape;2978;p14"/>
            <p:cNvGrpSpPr/>
            <p:nvPr/>
          </p:nvGrpSpPr>
          <p:grpSpPr>
            <a:xfrm>
              <a:off x="7713663" y="2848339"/>
              <a:ext cx="1042107" cy="425543"/>
              <a:chOff x="7786941" y="2884917"/>
              <a:chExt cx="897649" cy="353919"/>
            </a:xfrm>
          </p:grpSpPr>
          <p:sp>
            <p:nvSpPr>
              <p:cNvPr id="2979" name="Google Shape;2979;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80" name="Google Shape;2980;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81" name="Google Shape;2981;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82" name="Google Shape;2982;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983" name="Google Shape;2983;p14"/>
          <p:cNvGrpSpPr/>
          <p:nvPr/>
        </p:nvGrpSpPr>
        <p:grpSpPr>
          <a:xfrm>
            <a:off x="8050070" y="3965994"/>
            <a:ext cx="354986" cy="175668"/>
            <a:chOff x="7493876" y="2774731"/>
            <a:chExt cx="1481958" cy="894622"/>
          </a:xfrm>
        </p:grpSpPr>
        <p:sp>
          <p:nvSpPr>
            <p:cNvPr id="2984" name="Google Shape;2984;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85" name="Google Shape;2985;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86" name="Google Shape;2986;p14"/>
            <p:cNvGrpSpPr/>
            <p:nvPr/>
          </p:nvGrpSpPr>
          <p:grpSpPr>
            <a:xfrm>
              <a:off x="7713663" y="2848339"/>
              <a:ext cx="1042107" cy="425543"/>
              <a:chOff x="7786941" y="2884917"/>
              <a:chExt cx="897649" cy="353919"/>
            </a:xfrm>
          </p:grpSpPr>
          <p:sp>
            <p:nvSpPr>
              <p:cNvPr id="2987" name="Google Shape;2987;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88" name="Google Shape;2988;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89" name="Google Shape;2989;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90" name="Google Shape;2990;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991" name="Google Shape;2991;p14"/>
          <p:cNvGrpSpPr/>
          <p:nvPr/>
        </p:nvGrpSpPr>
        <p:grpSpPr>
          <a:xfrm>
            <a:off x="10884085" y="3601365"/>
            <a:ext cx="170989" cy="97052"/>
            <a:chOff x="7493876" y="2774731"/>
            <a:chExt cx="1481958" cy="894622"/>
          </a:xfrm>
        </p:grpSpPr>
        <p:sp>
          <p:nvSpPr>
            <p:cNvPr id="2992" name="Google Shape;2992;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93" name="Google Shape;2993;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94" name="Google Shape;2994;p14"/>
            <p:cNvGrpSpPr/>
            <p:nvPr/>
          </p:nvGrpSpPr>
          <p:grpSpPr>
            <a:xfrm>
              <a:off x="7713663" y="2848339"/>
              <a:ext cx="1042107" cy="425543"/>
              <a:chOff x="7786941" y="2884917"/>
              <a:chExt cx="897649" cy="353919"/>
            </a:xfrm>
          </p:grpSpPr>
          <p:sp>
            <p:nvSpPr>
              <p:cNvPr id="2995" name="Google Shape;2995;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96" name="Google Shape;2996;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97" name="Google Shape;2997;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98" name="Google Shape;2998;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2999" name="Google Shape;2999;p14"/>
          <p:cNvGrpSpPr/>
          <p:nvPr/>
        </p:nvGrpSpPr>
        <p:grpSpPr>
          <a:xfrm>
            <a:off x="10410609" y="3496138"/>
            <a:ext cx="353678" cy="198344"/>
            <a:chOff x="7493876" y="2774731"/>
            <a:chExt cx="1481958" cy="894622"/>
          </a:xfrm>
        </p:grpSpPr>
        <p:sp>
          <p:nvSpPr>
            <p:cNvPr id="3000" name="Google Shape;300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01" name="Google Shape;300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02" name="Google Shape;3002;p14"/>
            <p:cNvGrpSpPr/>
            <p:nvPr/>
          </p:nvGrpSpPr>
          <p:grpSpPr>
            <a:xfrm>
              <a:off x="7713663" y="2848339"/>
              <a:ext cx="1042107" cy="425543"/>
              <a:chOff x="7786941" y="2884917"/>
              <a:chExt cx="897649" cy="353919"/>
            </a:xfrm>
          </p:grpSpPr>
          <p:sp>
            <p:nvSpPr>
              <p:cNvPr id="3003" name="Google Shape;300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04" name="Google Shape;300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05" name="Google Shape;300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06" name="Google Shape;300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07" name="Google Shape;3007;p14"/>
          <p:cNvGrpSpPr/>
          <p:nvPr/>
        </p:nvGrpSpPr>
        <p:grpSpPr>
          <a:xfrm>
            <a:off x="9948724" y="2202292"/>
            <a:ext cx="353678" cy="198344"/>
            <a:chOff x="7493876" y="2774731"/>
            <a:chExt cx="1481958" cy="894622"/>
          </a:xfrm>
        </p:grpSpPr>
        <p:sp>
          <p:nvSpPr>
            <p:cNvPr id="3008" name="Google Shape;3008;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09" name="Google Shape;3009;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10" name="Google Shape;3010;p14"/>
            <p:cNvGrpSpPr/>
            <p:nvPr/>
          </p:nvGrpSpPr>
          <p:grpSpPr>
            <a:xfrm>
              <a:off x="7713663" y="2848339"/>
              <a:ext cx="1042107" cy="425543"/>
              <a:chOff x="7786941" y="2884917"/>
              <a:chExt cx="897649" cy="353919"/>
            </a:xfrm>
          </p:grpSpPr>
          <p:sp>
            <p:nvSpPr>
              <p:cNvPr id="3011" name="Google Shape;3011;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12" name="Google Shape;3012;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13" name="Google Shape;3013;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14" name="Google Shape;3014;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15" name="Google Shape;3015;p14"/>
          <p:cNvGrpSpPr/>
          <p:nvPr/>
        </p:nvGrpSpPr>
        <p:grpSpPr>
          <a:xfrm>
            <a:off x="10527214" y="2613367"/>
            <a:ext cx="353678" cy="198344"/>
            <a:chOff x="7493876" y="2774731"/>
            <a:chExt cx="1481958" cy="894622"/>
          </a:xfrm>
        </p:grpSpPr>
        <p:sp>
          <p:nvSpPr>
            <p:cNvPr id="3016" name="Google Shape;3016;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17" name="Google Shape;3017;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18" name="Google Shape;3018;p14"/>
            <p:cNvGrpSpPr/>
            <p:nvPr/>
          </p:nvGrpSpPr>
          <p:grpSpPr>
            <a:xfrm>
              <a:off x="7713663" y="2848339"/>
              <a:ext cx="1042107" cy="425543"/>
              <a:chOff x="7786941" y="2884917"/>
              <a:chExt cx="897649" cy="353919"/>
            </a:xfrm>
          </p:grpSpPr>
          <p:sp>
            <p:nvSpPr>
              <p:cNvPr id="3019" name="Google Shape;3019;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20" name="Google Shape;3020;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21" name="Google Shape;3021;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22" name="Google Shape;3022;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23" name="Google Shape;3023;p14"/>
          <p:cNvGrpSpPr/>
          <p:nvPr/>
        </p:nvGrpSpPr>
        <p:grpSpPr>
          <a:xfrm>
            <a:off x="10643825" y="2107963"/>
            <a:ext cx="353678" cy="198344"/>
            <a:chOff x="7493876" y="2774731"/>
            <a:chExt cx="1481958" cy="894622"/>
          </a:xfrm>
        </p:grpSpPr>
        <p:sp>
          <p:nvSpPr>
            <p:cNvPr id="3024" name="Google Shape;3024;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25" name="Google Shape;3025;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26" name="Google Shape;3026;p14"/>
            <p:cNvGrpSpPr/>
            <p:nvPr/>
          </p:nvGrpSpPr>
          <p:grpSpPr>
            <a:xfrm>
              <a:off x="7713663" y="2848339"/>
              <a:ext cx="1042107" cy="425543"/>
              <a:chOff x="7786941" y="2884917"/>
              <a:chExt cx="897649" cy="353919"/>
            </a:xfrm>
          </p:grpSpPr>
          <p:sp>
            <p:nvSpPr>
              <p:cNvPr id="3027" name="Google Shape;3027;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28" name="Google Shape;3028;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29" name="Google Shape;3029;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30" name="Google Shape;3030;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31" name="Google Shape;3031;p14"/>
          <p:cNvGrpSpPr/>
          <p:nvPr/>
        </p:nvGrpSpPr>
        <p:grpSpPr>
          <a:xfrm>
            <a:off x="9098788" y="3956624"/>
            <a:ext cx="367224" cy="240304"/>
            <a:chOff x="7493876" y="2774731"/>
            <a:chExt cx="1481958" cy="894622"/>
          </a:xfrm>
        </p:grpSpPr>
        <p:sp>
          <p:nvSpPr>
            <p:cNvPr id="3032" name="Google Shape;3032;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33" name="Google Shape;3033;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34" name="Google Shape;3034;p14"/>
            <p:cNvGrpSpPr/>
            <p:nvPr/>
          </p:nvGrpSpPr>
          <p:grpSpPr>
            <a:xfrm>
              <a:off x="7713663" y="2848339"/>
              <a:ext cx="1042107" cy="425543"/>
              <a:chOff x="7786941" y="2884917"/>
              <a:chExt cx="897649" cy="353919"/>
            </a:xfrm>
          </p:grpSpPr>
          <p:sp>
            <p:nvSpPr>
              <p:cNvPr id="3035" name="Google Shape;3035;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36" name="Google Shape;3036;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37" name="Google Shape;3037;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38" name="Google Shape;3038;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39" name="Google Shape;3039;p14"/>
          <p:cNvGrpSpPr/>
          <p:nvPr/>
        </p:nvGrpSpPr>
        <p:grpSpPr>
          <a:xfrm>
            <a:off x="9980126" y="2661565"/>
            <a:ext cx="353678" cy="198344"/>
            <a:chOff x="7493876" y="2774731"/>
            <a:chExt cx="1481958" cy="894622"/>
          </a:xfrm>
        </p:grpSpPr>
        <p:sp>
          <p:nvSpPr>
            <p:cNvPr id="3040" name="Google Shape;304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41" name="Google Shape;304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42" name="Google Shape;3042;p14"/>
            <p:cNvGrpSpPr/>
            <p:nvPr/>
          </p:nvGrpSpPr>
          <p:grpSpPr>
            <a:xfrm>
              <a:off x="7713663" y="2848339"/>
              <a:ext cx="1042107" cy="425543"/>
              <a:chOff x="7786941" y="2884917"/>
              <a:chExt cx="897649" cy="353919"/>
            </a:xfrm>
          </p:grpSpPr>
          <p:sp>
            <p:nvSpPr>
              <p:cNvPr id="3043" name="Google Shape;304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44" name="Google Shape;304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45" name="Google Shape;304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46" name="Google Shape;304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47" name="Google Shape;3047;p14"/>
          <p:cNvGrpSpPr/>
          <p:nvPr/>
        </p:nvGrpSpPr>
        <p:grpSpPr>
          <a:xfrm>
            <a:off x="9497138" y="3394032"/>
            <a:ext cx="367224" cy="240304"/>
            <a:chOff x="7493876" y="2774731"/>
            <a:chExt cx="1481958" cy="894622"/>
          </a:xfrm>
        </p:grpSpPr>
        <p:sp>
          <p:nvSpPr>
            <p:cNvPr id="3048" name="Google Shape;3048;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49" name="Google Shape;3049;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50" name="Google Shape;3050;p14"/>
            <p:cNvGrpSpPr/>
            <p:nvPr/>
          </p:nvGrpSpPr>
          <p:grpSpPr>
            <a:xfrm>
              <a:off x="7713663" y="2848339"/>
              <a:ext cx="1042107" cy="425543"/>
              <a:chOff x="7786941" y="2884917"/>
              <a:chExt cx="897649" cy="353919"/>
            </a:xfrm>
          </p:grpSpPr>
          <p:sp>
            <p:nvSpPr>
              <p:cNvPr id="3051" name="Google Shape;3051;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52" name="Google Shape;3052;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53" name="Google Shape;3053;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54" name="Google Shape;3054;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55" name="Google Shape;3055;p14"/>
          <p:cNvGrpSpPr/>
          <p:nvPr/>
        </p:nvGrpSpPr>
        <p:grpSpPr>
          <a:xfrm>
            <a:off x="9601554" y="3999763"/>
            <a:ext cx="367224" cy="240304"/>
            <a:chOff x="7493876" y="2774731"/>
            <a:chExt cx="1481958" cy="894622"/>
          </a:xfrm>
        </p:grpSpPr>
        <p:sp>
          <p:nvSpPr>
            <p:cNvPr id="3056" name="Google Shape;3056;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57" name="Google Shape;3057;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58" name="Google Shape;3058;p14"/>
            <p:cNvGrpSpPr/>
            <p:nvPr/>
          </p:nvGrpSpPr>
          <p:grpSpPr>
            <a:xfrm>
              <a:off x="7713663" y="2848339"/>
              <a:ext cx="1042107" cy="425543"/>
              <a:chOff x="7786941" y="2884917"/>
              <a:chExt cx="897649" cy="353919"/>
            </a:xfrm>
          </p:grpSpPr>
          <p:sp>
            <p:nvSpPr>
              <p:cNvPr id="3059" name="Google Shape;3059;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60" name="Google Shape;3060;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61" name="Google Shape;3061;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62" name="Google Shape;3062;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63" name="Google Shape;3063;p14"/>
          <p:cNvGrpSpPr/>
          <p:nvPr/>
        </p:nvGrpSpPr>
        <p:grpSpPr>
          <a:xfrm>
            <a:off x="10375259" y="3992325"/>
            <a:ext cx="353678" cy="198344"/>
            <a:chOff x="7493876" y="2774731"/>
            <a:chExt cx="1481958" cy="894622"/>
          </a:xfrm>
        </p:grpSpPr>
        <p:sp>
          <p:nvSpPr>
            <p:cNvPr id="3064" name="Google Shape;3064;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65" name="Google Shape;3065;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66" name="Google Shape;3066;p14"/>
            <p:cNvGrpSpPr/>
            <p:nvPr/>
          </p:nvGrpSpPr>
          <p:grpSpPr>
            <a:xfrm>
              <a:off x="7713663" y="2848339"/>
              <a:ext cx="1042107" cy="425543"/>
              <a:chOff x="7786941" y="2884917"/>
              <a:chExt cx="897649" cy="353919"/>
            </a:xfrm>
          </p:grpSpPr>
          <p:sp>
            <p:nvSpPr>
              <p:cNvPr id="3067" name="Google Shape;3067;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68" name="Google Shape;3068;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69" name="Google Shape;3069;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70" name="Google Shape;3070;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71" name="Google Shape;3071;p14"/>
          <p:cNvGrpSpPr/>
          <p:nvPr/>
        </p:nvGrpSpPr>
        <p:grpSpPr>
          <a:xfrm>
            <a:off x="9247893" y="4775686"/>
            <a:ext cx="393760" cy="218578"/>
            <a:chOff x="7493876" y="2774731"/>
            <a:chExt cx="1481958" cy="894622"/>
          </a:xfrm>
        </p:grpSpPr>
        <p:sp>
          <p:nvSpPr>
            <p:cNvPr id="3072" name="Google Shape;3072;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73" name="Google Shape;3073;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74" name="Google Shape;3074;p14"/>
            <p:cNvGrpSpPr/>
            <p:nvPr/>
          </p:nvGrpSpPr>
          <p:grpSpPr>
            <a:xfrm>
              <a:off x="7713663" y="2848339"/>
              <a:ext cx="1042107" cy="425543"/>
              <a:chOff x="7786941" y="2884917"/>
              <a:chExt cx="897649" cy="353919"/>
            </a:xfrm>
          </p:grpSpPr>
          <p:sp>
            <p:nvSpPr>
              <p:cNvPr id="3075" name="Google Shape;3075;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76" name="Google Shape;3076;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77" name="Google Shape;3077;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78" name="Google Shape;3078;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79" name="Google Shape;3079;p14"/>
          <p:cNvGrpSpPr/>
          <p:nvPr/>
        </p:nvGrpSpPr>
        <p:grpSpPr>
          <a:xfrm>
            <a:off x="10925982" y="4369125"/>
            <a:ext cx="228295" cy="120400"/>
            <a:chOff x="7493876" y="2774731"/>
            <a:chExt cx="1481958" cy="894622"/>
          </a:xfrm>
        </p:grpSpPr>
        <p:sp>
          <p:nvSpPr>
            <p:cNvPr id="3080" name="Google Shape;308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81" name="Google Shape;308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82" name="Google Shape;3082;p14"/>
            <p:cNvGrpSpPr/>
            <p:nvPr/>
          </p:nvGrpSpPr>
          <p:grpSpPr>
            <a:xfrm>
              <a:off x="7713663" y="2848339"/>
              <a:ext cx="1042107" cy="425543"/>
              <a:chOff x="7786941" y="2884917"/>
              <a:chExt cx="897649" cy="353919"/>
            </a:xfrm>
          </p:grpSpPr>
          <p:sp>
            <p:nvSpPr>
              <p:cNvPr id="3083" name="Google Shape;308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84" name="Google Shape;308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85" name="Google Shape;308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86" name="Google Shape;308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grpSp>
        <p:nvGrpSpPr>
          <p:cNvPr id="3087" name="Google Shape;3087;p14"/>
          <p:cNvGrpSpPr/>
          <p:nvPr/>
        </p:nvGrpSpPr>
        <p:grpSpPr>
          <a:xfrm>
            <a:off x="7439074" y="2356613"/>
            <a:ext cx="534987" cy="414882"/>
            <a:chOff x="7432700" y="2327293"/>
            <a:chExt cx="534987" cy="414882"/>
          </a:xfrm>
        </p:grpSpPr>
        <p:pic>
          <p:nvPicPr>
            <p:cNvPr descr="antenna_stylized" id="3088" name="Google Shape;3088;p1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089" name="Google Shape;3089;p1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090" name="Google Shape;3090;p1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3091" name="Google Shape;3091;p1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092" name="Google Shape;3092;p1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93" name="Google Shape;3093;p1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94" name="Google Shape;3094;p1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95" name="Google Shape;3095;p1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96" name="Google Shape;3096;p1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97" name="Google Shape;3097;p1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098" name="Google Shape;3098;p14"/>
            <p:cNvGrpSpPr/>
            <p:nvPr/>
          </p:nvGrpSpPr>
          <p:grpSpPr>
            <a:xfrm>
              <a:off x="7594735" y="2642220"/>
              <a:ext cx="98740" cy="36846"/>
              <a:chOff x="1740" y="2642"/>
              <a:chExt cx="752" cy="327"/>
            </a:xfrm>
          </p:grpSpPr>
          <p:sp>
            <p:nvSpPr>
              <p:cNvPr id="3099" name="Google Shape;3099;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0" name="Google Shape;3100;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1" name="Google Shape;3101;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2" name="Google Shape;3102;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3" name="Google Shape;3103;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4" name="Google Shape;3104;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105" name="Google Shape;3105;p1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6" name="Google Shape;3106;p1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7" name="Google Shape;3107;p1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8" name="Google Shape;3108;p1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9" name="Google Shape;3109;p1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10" name="Google Shape;3110;p1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11" name="Google Shape;3111;p14"/>
          <p:cNvGrpSpPr/>
          <p:nvPr/>
        </p:nvGrpSpPr>
        <p:grpSpPr>
          <a:xfrm>
            <a:off x="8637781" y="2319727"/>
            <a:ext cx="530702" cy="478009"/>
            <a:chOff x="8631407" y="2290407"/>
            <a:chExt cx="530702" cy="478009"/>
          </a:xfrm>
        </p:grpSpPr>
        <p:pic>
          <p:nvPicPr>
            <p:cNvPr descr="light2.png" id="3112" name="Google Shape;3112;p1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3113" name="Google Shape;3113;p1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3114" name="Google Shape;3114;p14"/>
          <p:cNvGrpSpPr/>
          <p:nvPr/>
        </p:nvGrpSpPr>
        <p:grpSpPr>
          <a:xfrm>
            <a:off x="7493518" y="3419140"/>
            <a:ext cx="350807" cy="310034"/>
            <a:chOff x="7487144" y="3389820"/>
            <a:chExt cx="350807" cy="310034"/>
          </a:xfrm>
        </p:grpSpPr>
        <p:pic>
          <p:nvPicPr>
            <p:cNvPr descr="antenna_stylized" id="3115" name="Google Shape;3115;p14"/>
            <p:cNvPicPr preferRelativeResize="0"/>
            <p:nvPr/>
          </p:nvPicPr>
          <p:blipFill rotWithShape="1">
            <a:blip r:embed="rId11">
              <a:alphaModFix/>
            </a:blip>
            <a:srcRect b="0" l="0" r="0" t="0"/>
            <a:stretch/>
          </p:blipFill>
          <p:spPr>
            <a:xfrm>
              <a:off x="7487144" y="3389820"/>
              <a:ext cx="347997" cy="167557"/>
            </a:xfrm>
            <a:prstGeom prst="rect">
              <a:avLst/>
            </a:prstGeom>
            <a:noFill/>
            <a:ln>
              <a:noFill/>
            </a:ln>
          </p:spPr>
        </p:pic>
        <p:pic>
          <p:nvPicPr>
            <p:cNvPr descr="laptop_keyboard" id="3116" name="Google Shape;3116;p14"/>
            <p:cNvPicPr preferRelativeResize="0"/>
            <p:nvPr/>
          </p:nvPicPr>
          <p:blipFill rotWithShape="1">
            <a:blip r:embed="rId12">
              <a:alphaModFix/>
            </a:blip>
            <a:srcRect b="0" l="0" r="0" t="0"/>
            <a:stretch/>
          </p:blipFill>
          <p:spPr>
            <a:xfrm flipH="1" rot="109064">
              <a:off x="7504001" y="3575889"/>
              <a:ext cx="286699" cy="119448"/>
            </a:xfrm>
            <a:prstGeom prst="rect">
              <a:avLst/>
            </a:prstGeom>
            <a:noFill/>
            <a:ln>
              <a:noFill/>
            </a:ln>
          </p:spPr>
        </p:pic>
        <p:sp>
          <p:nvSpPr>
            <p:cNvPr id="3117" name="Google Shape;3117;p1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3118" name="Google Shape;3118;p14"/>
            <p:cNvPicPr preferRelativeResize="0"/>
            <p:nvPr/>
          </p:nvPicPr>
          <p:blipFill rotWithShape="1">
            <a:blip r:embed="rId13">
              <a:alphaModFix/>
            </a:blip>
            <a:srcRect b="0" l="0" r="0" t="0"/>
            <a:stretch/>
          </p:blipFill>
          <p:spPr>
            <a:xfrm>
              <a:off x="7610380" y="3463988"/>
              <a:ext cx="209692" cy="141851"/>
            </a:xfrm>
            <a:prstGeom prst="rect">
              <a:avLst/>
            </a:prstGeom>
            <a:noFill/>
            <a:ln>
              <a:noFill/>
            </a:ln>
          </p:spPr>
        </p:pic>
        <p:sp>
          <p:nvSpPr>
            <p:cNvPr id="3119" name="Google Shape;3119;p1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0" name="Google Shape;3120;p1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1" name="Google Shape;3121;p1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2" name="Google Shape;3122;p1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3" name="Google Shape;3123;p1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4" name="Google Shape;3124;p1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25" name="Google Shape;3125;p14"/>
            <p:cNvGrpSpPr/>
            <p:nvPr/>
          </p:nvGrpSpPr>
          <p:grpSpPr>
            <a:xfrm>
              <a:off x="7593395" y="3625649"/>
              <a:ext cx="64747" cy="27592"/>
              <a:chOff x="1740" y="2642"/>
              <a:chExt cx="752" cy="327"/>
            </a:xfrm>
          </p:grpSpPr>
          <p:sp>
            <p:nvSpPr>
              <p:cNvPr id="3126" name="Google Shape;3126;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7" name="Google Shape;3127;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8" name="Google Shape;3128;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9" name="Google Shape;3129;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0" name="Google Shape;3130;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1" name="Google Shape;3131;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132" name="Google Shape;3132;p1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3" name="Google Shape;3133;p1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4" name="Google Shape;3134;p1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5" name="Google Shape;3135;p1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6" name="Google Shape;3136;p1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7" name="Google Shape;3137;p1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38" name="Google Shape;3138;p14"/>
          <p:cNvGrpSpPr/>
          <p:nvPr/>
        </p:nvGrpSpPr>
        <p:grpSpPr>
          <a:xfrm>
            <a:off x="7803435" y="3325424"/>
            <a:ext cx="347997" cy="396620"/>
            <a:chOff x="7797061" y="3296104"/>
            <a:chExt cx="347997" cy="396620"/>
          </a:xfrm>
        </p:grpSpPr>
        <p:pic>
          <p:nvPicPr>
            <p:cNvPr descr="fridge2.png" id="3139" name="Google Shape;3139;p14"/>
            <p:cNvPicPr preferRelativeResize="0"/>
            <p:nvPr/>
          </p:nvPicPr>
          <p:blipFill rotWithShape="1">
            <a:blip r:embed="rId14">
              <a:alphaModFix/>
            </a:blip>
            <a:srcRect b="0" l="0" r="0" t="0"/>
            <a:stretch/>
          </p:blipFill>
          <p:spPr>
            <a:xfrm>
              <a:off x="7896825" y="3355697"/>
              <a:ext cx="189578" cy="337027"/>
            </a:xfrm>
            <a:prstGeom prst="rect">
              <a:avLst/>
            </a:prstGeom>
            <a:noFill/>
            <a:ln>
              <a:noFill/>
            </a:ln>
          </p:spPr>
        </p:pic>
        <p:pic>
          <p:nvPicPr>
            <p:cNvPr descr="antenna_stylized" id="3140" name="Google Shape;3140;p14"/>
            <p:cNvPicPr preferRelativeResize="0"/>
            <p:nvPr/>
          </p:nvPicPr>
          <p:blipFill rotWithShape="1">
            <a:blip r:embed="rId11">
              <a:alphaModFix/>
            </a:blip>
            <a:srcRect b="0" l="0" r="0" t="0"/>
            <a:stretch/>
          </p:blipFill>
          <p:spPr>
            <a:xfrm>
              <a:off x="7797061" y="3296104"/>
              <a:ext cx="347997" cy="167557"/>
            </a:xfrm>
            <a:prstGeom prst="rect">
              <a:avLst/>
            </a:prstGeom>
            <a:noFill/>
            <a:ln>
              <a:noFill/>
            </a:ln>
          </p:spPr>
        </p:pic>
      </p:grpSp>
      <p:grpSp>
        <p:nvGrpSpPr>
          <p:cNvPr id="3141" name="Google Shape;3141;p14"/>
          <p:cNvGrpSpPr/>
          <p:nvPr/>
        </p:nvGrpSpPr>
        <p:grpSpPr>
          <a:xfrm>
            <a:off x="11064947" y="3428485"/>
            <a:ext cx="518448" cy="1212242"/>
            <a:chOff x="11058573" y="3399165"/>
            <a:chExt cx="518448" cy="1212242"/>
          </a:xfrm>
        </p:grpSpPr>
        <p:grpSp>
          <p:nvGrpSpPr>
            <p:cNvPr id="3142" name="Google Shape;3142;p14"/>
            <p:cNvGrpSpPr/>
            <p:nvPr/>
          </p:nvGrpSpPr>
          <p:grpSpPr>
            <a:xfrm>
              <a:off x="11087182" y="4159591"/>
              <a:ext cx="489839" cy="451816"/>
              <a:chOff x="5103720" y="2693365"/>
              <a:chExt cx="611650" cy="414788"/>
            </a:xfrm>
          </p:grpSpPr>
          <p:cxnSp>
            <p:nvCxnSpPr>
              <p:cNvPr id="3143" name="Google Shape;3143;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144" name="Google Shape;3144;p14"/>
              <p:cNvGrpSpPr/>
              <p:nvPr/>
            </p:nvGrpSpPr>
            <p:grpSpPr>
              <a:xfrm>
                <a:off x="5275406" y="2693365"/>
                <a:ext cx="439964" cy="414788"/>
                <a:chOff x="5275406" y="2711455"/>
                <a:chExt cx="452949" cy="405518"/>
              </a:xfrm>
            </p:grpSpPr>
            <p:pic>
              <p:nvPicPr>
                <p:cNvPr descr="server_rack.png" id="3145" name="Google Shape;3145;p14"/>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3146" name="Google Shape;3146;p14"/>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3147" name="Google Shape;3147;p14"/>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nvGrpSpPr>
            <p:cNvPr id="3148" name="Google Shape;3148;p14"/>
            <p:cNvGrpSpPr/>
            <p:nvPr/>
          </p:nvGrpSpPr>
          <p:grpSpPr>
            <a:xfrm>
              <a:off x="11058573" y="3399165"/>
              <a:ext cx="423724" cy="405973"/>
              <a:chOff x="5103720" y="2693365"/>
              <a:chExt cx="611650" cy="414788"/>
            </a:xfrm>
          </p:grpSpPr>
          <p:cxnSp>
            <p:nvCxnSpPr>
              <p:cNvPr id="3149" name="Google Shape;3149;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150" name="Google Shape;3150;p14"/>
              <p:cNvGrpSpPr/>
              <p:nvPr/>
            </p:nvGrpSpPr>
            <p:grpSpPr>
              <a:xfrm>
                <a:off x="5275406" y="2693365"/>
                <a:ext cx="439964" cy="414788"/>
                <a:chOff x="5275406" y="2711455"/>
                <a:chExt cx="452949" cy="405518"/>
              </a:xfrm>
            </p:grpSpPr>
            <p:pic>
              <p:nvPicPr>
                <p:cNvPr descr="server_rack.png" id="3151" name="Google Shape;3151;p14"/>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3152" name="Google Shape;3152;p14"/>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3153" name="Google Shape;3153;p14"/>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grpSp>
        <p:nvGrpSpPr>
          <p:cNvPr id="3154" name="Google Shape;3154;p14"/>
          <p:cNvGrpSpPr/>
          <p:nvPr/>
        </p:nvGrpSpPr>
        <p:grpSpPr>
          <a:xfrm>
            <a:off x="10288915" y="5273951"/>
            <a:ext cx="177192" cy="330833"/>
            <a:chOff x="4140" y="429"/>
            <a:chExt cx="1425" cy="2396"/>
          </a:xfrm>
        </p:grpSpPr>
        <p:sp>
          <p:nvSpPr>
            <p:cNvPr id="3155" name="Google Shape;3155;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6" name="Google Shape;3156;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57" name="Google Shape;3157;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8" name="Google Shape;3158;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9" name="Google Shape;3159;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160" name="Google Shape;3160;p14"/>
            <p:cNvGrpSpPr/>
            <p:nvPr/>
          </p:nvGrpSpPr>
          <p:grpSpPr>
            <a:xfrm>
              <a:off x="4748" y="666"/>
              <a:ext cx="578" cy="150"/>
              <a:chOff x="613" y="2566"/>
              <a:chExt cx="721" cy="144"/>
            </a:xfrm>
          </p:grpSpPr>
          <p:sp>
            <p:nvSpPr>
              <p:cNvPr id="3161" name="Google Shape;3161;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62" name="Google Shape;3162;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163" name="Google Shape;3163;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164" name="Google Shape;3164;p14"/>
            <p:cNvGrpSpPr/>
            <p:nvPr/>
          </p:nvGrpSpPr>
          <p:grpSpPr>
            <a:xfrm>
              <a:off x="4748" y="990"/>
              <a:ext cx="578" cy="134"/>
              <a:chOff x="615" y="2564"/>
              <a:chExt cx="721" cy="139"/>
            </a:xfrm>
          </p:grpSpPr>
          <p:sp>
            <p:nvSpPr>
              <p:cNvPr id="3165" name="Google Shape;3165;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66" name="Google Shape;3166;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167" name="Google Shape;3167;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68" name="Google Shape;3168;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169" name="Google Shape;3169;p14"/>
            <p:cNvGrpSpPr/>
            <p:nvPr/>
          </p:nvGrpSpPr>
          <p:grpSpPr>
            <a:xfrm>
              <a:off x="4738" y="1647"/>
              <a:ext cx="578" cy="135"/>
              <a:chOff x="618" y="2586"/>
              <a:chExt cx="720" cy="124"/>
            </a:xfrm>
          </p:grpSpPr>
          <p:sp>
            <p:nvSpPr>
              <p:cNvPr id="3170" name="Google Shape;3170;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71" name="Google Shape;3171;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172" name="Google Shape;3172;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73" name="Google Shape;3173;p14"/>
            <p:cNvGrpSpPr/>
            <p:nvPr/>
          </p:nvGrpSpPr>
          <p:grpSpPr>
            <a:xfrm>
              <a:off x="4738" y="1330"/>
              <a:ext cx="588" cy="134"/>
              <a:chOff x="613" y="2571"/>
              <a:chExt cx="732" cy="134"/>
            </a:xfrm>
          </p:grpSpPr>
          <p:sp>
            <p:nvSpPr>
              <p:cNvPr id="3174" name="Google Shape;3174;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75" name="Google Shape;3175;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176" name="Google Shape;3176;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77" name="Google Shape;3177;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78" name="Google Shape;3178;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79" name="Google Shape;3179;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80" name="Google Shape;3180;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81" name="Google Shape;3181;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82" name="Google Shape;3182;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83" name="Google Shape;3183;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84" name="Google Shape;3184;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185" name="Google Shape;3185;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186" name="Google Shape;3186;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3187" name="Google Shape;3187;p14"/>
          <p:cNvGrpSpPr/>
          <p:nvPr/>
        </p:nvGrpSpPr>
        <p:grpSpPr>
          <a:xfrm flipH="1">
            <a:off x="7980855" y="4900161"/>
            <a:ext cx="345630" cy="320302"/>
            <a:chOff x="2839" y="3501"/>
            <a:chExt cx="755" cy="803"/>
          </a:xfrm>
        </p:grpSpPr>
        <p:pic>
          <p:nvPicPr>
            <p:cNvPr descr="desktop_computer_stylized_medium" id="3188" name="Google Shape;3188;p14"/>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189" name="Google Shape;3189;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90" name="Google Shape;3190;p14"/>
          <p:cNvGrpSpPr/>
          <p:nvPr/>
        </p:nvGrpSpPr>
        <p:grpSpPr>
          <a:xfrm flipH="1">
            <a:off x="8153909" y="5504657"/>
            <a:ext cx="345630" cy="320302"/>
            <a:chOff x="2839" y="3501"/>
            <a:chExt cx="755" cy="803"/>
          </a:xfrm>
        </p:grpSpPr>
        <p:pic>
          <p:nvPicPr>
            <p:cNvPr descr="desktop_computer_stylized_medium" id="3191" name="Google Shape;3191;p14"/>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192" name="Google Shape;3192;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93" name="Google Shape;3193;p14"/>
          <p:cNvGrpSpPr/>
          <p:nvPr/>
        </p:nvGrpSpPr>
        <p:grpSpPr>
          <a:xfrm flipH="1">
            <a:off x="8552134" y="5526130"/>
            <a:ext cx="345630" cy="320302"/>
            <a:chOff x="2839" y="3501"/>
            <a:chExt cx="755" cy="803"/>
          </a:xfrm>
        </p:grpSpPr>
        <p:pic>
          <p:nvPicPr>
            <p:cNvPr descr="desktop_computer_stylized_medium" id="3194" name="Google Shape;3194;p14"/>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195" name="Google Shape;3195;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96" name="Google Shape;3196;p14"/>
          <p:cNvGrpSpPr/>
          <p:nvPr/>
        </p:nvGrpSpPr>
        <p:grpSpPr>
          <a:xfrm>
            <a:off x="9534746" y="5795138"/>
            <a:ext cx="319264" cy="256836"/>
            <a:chOff x="877" y="1008"/>
            <a:chExt cx="2747" cy="2626"/>
          </a:xfrm>
        </p:grpSpPr>
        <p:pic>
          <p:nvPicPr>
            <p:cNvPr descr="antenna_stylized" id="3197" name="Google Shape;3197;p14"/>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3198" name="Google Shape;3198;p14"/>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3199" name="Google Shape;3199;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3200" name="Google Shape;3200;p14"/>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3201" name="Google Shape;3201;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2" name="Google Shape;3202;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3" name="Google Shape;3203;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4" name="Google Shape;3204;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5" name="Google Shape;3205;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6" name="Google Shape;3206;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207" name="Google Shape;3207;p14"/>
            <p:cNvGrpSpPr/>
            <p:nvPr/>
          </p:nvGrpSpPr>
          <p:grpSpPr>
            <a:xfrm>
              <a:off x="1709" y="3008"/>
              <a:ext cx="507" cy="234"/>
              <a:chOff x="1740" y="2642"/>
              <a:chExt cx="752" cy="327"/>
            </a:xfrm>
          </p:grpSpPr>
          <p:sp>
            <p:nvSpPr>
              <p:cNvPr id="3208" name="Google Shape;3208;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9" name="Google Shape;3209;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0" name="Google Shape;3210;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1" name="Google Shape;3211;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2" name="Google Shape;3212;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3" name="Google Shape;3213;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214" name="Google Shape;3214;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5" name="Google Shape;3215;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6" name="Google Shape;3216;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7" name="Google Shape;3217;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8" name="Google Shape;3218;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9" name="Google Shape;3219;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220" name="Google Shape;3220;p14"/>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21" name="Google Shape;3221;p14"/>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22" name="Google Shape;3222;p1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23" name="Google Shape;3223;p14"/>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24" name="Google Shape;3224;p14"/>
          <p:cNvGrpSpPr/>
          <p:nvPr/>
        </p:nvGrpSpPr>
        <p:grpSpPr>
          <a:xfrm>
            <a:off x="10091053" y="5670891"/>
            <a:ext cx="69517" cy="21877"/>
            <a:chOff x="613" y="2566"/>
            <a:chExt cx="721" cy="144"/>
          </a:xfrm>
        </p:grpSpPr>
        <p:sp>
          <p:nvSpPr>
            <p:cNvPr id="3225" name="Google Shape;3225;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26" name="Google Shape;3226;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27" name="Google Shape;3227;p14"/>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28" name="Google Shape;3228;p14"/>
          <p:cNvGrpSpPr/>
          <p:nvPr/>
        </p:nvGrpSpPr>
        <p:grpSpPr>
          <a:xfrm>
            <a:off x="10091005" y="5718110"/>
            <a:ext cx="69517" cy="19515"/>
            <a:chOff x="615" y="2564"/>
            <a:chExt cx="721" cy="139"/>
          </a:xfrm>
        </p:grpSpPr>
        <p:sp>
          <p:nvSpPr>
            <p:cNvPr id="3229" name="Google Shape;3229;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0" name="Google Shape;3230;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31" name="Google Shape;3231;p14"/>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2" name="Google Shape;3232;p14"/>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33" name="Google Shape;3233;p14"/>
          <p:cNvGrpSpPr/>
          <p:nvPr/>
        </p:nvGrpSpPr>
        <p:grpSpPr>
          <a:xfrm>
            <a:off x="10089851" y="5813708"/>
            <a:ext cx="69541" cy="19618"/>
            <a:chOff x="618" y="2586"/>
            <a:chExt cx="720" cy="124"/>
          </a:xfrm>
        </p:grpSpPr>
        <p:sp>
          <p:nvSpPr>
            <p:cNvPr id="3234" name="Google Shape;3234;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5" name="Google Shape;3235;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36" name="Google Shape;3236;p1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237" name="Google Shape;3237;p14"/>
          <p:cNvGrpSpPr/>
          <p:nvPr/>
        </p:nvGrpSpPr>
        <p:grpSpPr>
          <a:xfrm>
            <a:off x="10089849" y="5767606"/>
            <a:ext cx="70700" cy="19515"/>
            <a:chOff x="613" y="2571"/>
            <a:chExt cx="732" cy="134"/>
          </a:xfrm>
        </p:grpSpPr>
        <p:sp>
          <p:nvSpPr>
            <p:cNvPr id="3238" name="Google Shape;3238;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39" name="Google Shape;3239;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40" name="Google Shape;3240;p14"/>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1" name="Google Shape;3241;p1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42" name="Google Shape;3242;p1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43" name="Google Shape;3243;p14"/>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4" name="Google Shape;3244;p1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45" name="Google Shape;3245;p14"/>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6" name="Google Shape;3246;p14"/>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7" name="Google Shape;3247;p14"/>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48" name="Google Shape;3248;p14"/>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249" name="Google Shape;3249;p14"/>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50" name="Google Shape;3250;p14"/>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51" name="Google Shape;3251;p1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Peer-peer </a:t>
            </a:r>
            <a:r>
              <a:rPr lang="en-US"/>
              <a:t>a</a:t>
            </a:r>
            <a:r>
              <a:rPr lang="en-US" sz="4400"/>
              <a:t>rchitecture</a:t>
            </a:r>
            <a:endParaRPr sz="4400"/>
          </a:p>
        </p:txBody>
      </p:sp>
      <p:sp>
        <p:nvSpPr>
          <p:cNvPr id="3252" name="Google Shape;3252;p14"/>
          <p:cNvSpPr txBox="1"/>
          <p:nvPr/>
        </p:nvSpPr>
        <p:spPr>
          <a:xfrm>
            <a:off x="889178" y="1260346"/>
            <a:ext cx="5968498" cy="49746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00"/>
                </a:solidFill>
                <a:latin typeface="Calibri"/>
                <a:ea typeface="Calibri"/>
                <a:cs typeface="Calibri"/>
                <a:sym typeface="Calibri"/>
              </a:rPr>
              <a:t>no</a:t>
            </a:r>
            <a:r>
              <a:rPr b="0" i="0" lang="en-US" sz="2800" u="none" cap="none" strike="noStrike">
                <a:solidFill>
                  <a:srgbClr val="000000"/>
                </a:solidFill>
                <a:latin typeface="Calibri"/>
                <a:ea typeface="Calibri"/>
                <a:cs typeface="Calibri"/>
                <a:sym typeface="Calibri"/>
              </a:rPr>
              <a:t> always-on server</a:t>
            </a:r>
            <a:endParaRPr/>
          </a:p>
          <a:p>
            <a:pPr indent="-222250" lvl="0" marL="3524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arbitrary end systems directly communicate</a:t>
            </a:r>
            <a:endParaRPr/>
          </a:p>
          <a:p>
            <a:pPr indent="-222250" lvl="0" marL="3524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peers request service from other peers, provide service in return to other peers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C00000"/>
                </a:solidFill>
                <a:latin typeface="Calibri"/>
                <a:ea typeface="Calibri"/>
                <a:cs typeface="Calibri"/>
                <a:sym typeface="Calibri"/>
              </a:rPr>
              <a:t>self scalability</a:t>
            </a:r>
            <a:r>
              <a:rPr b="0" i="0" lang="en-US" sz="2400" u="none" cap="none" strike="noStrike">
                <a:solidFill>
                  <a:srgbClr val="C00000"/>
                </a:solidFill>
                <a:latin typeface="Calibri"/>
                <a:ea typeface="Calibri"/>
                <a:cs typeface="Calibri"/>
                <a:sym typeface="Calibri"/>
              </a:rPr>
              <a:t> – new peers bring new service capacity, as well as new service demands</a:t>
            </a:r>
            <a:endParaRPr/>
          </a:p>
          <a:p>
            <a:pPr indent="-222250" lvl="0" marL="3524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peers are intermittently connected and change IP addresses</a:t>
            </a:r>
            <a:endParaRPr/>
          </a:p>
          <a:p>
            <a:pPr indent="-231775" lvl="1" marL="695325" marR="0" rtl="0" algn="l">
              <a:lnSpc>
                <a:spcPct val="90000"/>
              </a:lnSpc>
              <a:spcBef>
                <a:spcPts val="4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complex management</a:t>
            </a:r>
            <a:endParaRPr/>
          </a:p>
          <a:p>
            <a:pPr indent="-222250" lvl="0" marL="352425" marR="0" rtl="0" algn="l">
              <a:lnSpc>
                <a:spcPct val="9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example: P2P file sharing [BitTorrent]</a:t>
            </a:r>
            <a:endParaRPr/>
          </a:p>
        </p:txBody>
      </p:sp>
      <p:grpSp>
        <p:nvGrpSpPr>
          <p:cNvPr id="3253" name="Google Shape;3253;p14"/>
          <p:cNvGrpSpPr/>
          <p:nvPr/>
        </p:nvGrpSpPr>
        <p:grpSpPr>
          <a:xfrm>
            <a:off x="10002508" y="5616400"/>
            <a:ext cx="214974" cy="403920"/>
            <a:chOff x="4140" y="429"/>
            <a:chExt cx="1425" cy="2396"/>
          </a:xfrm>
        </p:grpSpPr>
        <p:sp>
          <p:nvSpPr>
            <p:cNvPr id="3254" name="Google Shape;3254;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5" name="Google Shape;3255;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56" name="Google Shape;3256;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7" name="Google Shape;3257;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8" name="Google Shape;3258;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59" name="Google Shape;3259;p14"/>
            <p:cNvGrpSpPr/>
            <p:nvPr/>
          </p:nvGrpSpPr>
          <p:grpSpPr>
            <a:xfrm>
              <a:off x="4748" y="666"/>
              <a:ext cx="578" cy="150"/>
              <a:chOff x="613" y="2566"/>
              <a:chExt cx="721" cy="144"/>
            </a:xfrm>
          </p:grpSpPr>
          <p:sp>
            <p:nvSpPr>
              <p:cNvPr id="3260" name="Google Shape;3260;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61" name="Google Shape;3261;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62" name="Google Shape;3262;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63" name="Google Shape;3263;p14"/>
            <p:cNvGrpSpPr/>
            <p:nvPr/>
          </p:nvGrpSpPr>
          <p:grpSpPr>
            <a:xfrm>
              <a:off x="4748" y="990"/>
              <a:ext cx="578" cy="134"/>
              <a:chOff x="615" y="2564"/>
              <a:chExt cx="721" cy="139"/>
            </a:xfrm>
          </p:grpSpPr>
          <p:sp>
            <p:nvSpPr>
              <p:cNvPr id="3264" name="Google Shape;3264;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65" name="Google Shape;3265;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66" name="Google Shape;3266;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67" name="Google Shape;3267;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268" name="Google Shape;3268;p14"/>
            <p:cNvGrpSpPr/>
            <p:nvPr/>
          </p:nvGrpSpPr>
          <p:grpSpPr>
            <a:xfrm>
              <a:off x="4738" y="1647"/>
              <a:ext cx="578" cy="135"/>
              <a:chOff x="618" y="2586"/>
              <a:chExt cx="720" cy="124"/>
            </a:xfrm>
          </p:grpSpPr>
          <p:sp>
            <p:nvSpPr>
              <p:cNvPr id="3269" name="Google Shape;3269;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70" name="Google Shape;3270;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71" name="Google Shape;3271;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272" name="Google Shape;3272;p14"/>
            <p:cNvGrpSpPr/>
            <p:nvPr/>
          </p:nvGrpSpPr>
          <p:grpSpPr>
            <a:xfrm>
              <a:off x="4738" y="1330"/>
              <a:ext cx="588" cy="134"/>
              <a:chOff x="613" y="2571"/>
              <a:chExt cx="732" cy="134"/>
            </a:xfrm>
          </p:grpSpPr>
          <p:sp>
            <p:nvSpPr>
              <p:cNvPr id="3273" name="Google Shape;3273;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74" name="Google Shape;3274;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75" name="Google Shape;3275;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76" name="Google Shape;3276;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77" name="Google Shape;3277;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78" name="Google Shape;3278;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79" name="Google Shape;3279;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80" name="Google Shape;3280;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81" name="Google Shape;3281;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82" name="Google Shape;3282;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83" name="Google Shape;3283;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284" name="Google Shape;3284;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285" name="Google Shape;3285;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286" name="Google Shape;3286;p14"/>
          <p:cNvSpPr/>
          <p:nvPr/>
        </p:nvSpPr>
        <p:spPr>
          <a:xfrm>
            <a:off x="6747501" y="148846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3287" name="Google Shape;3287;p14"/>
          <p:cNvGrpSpPr/>
          <p:nvPr/>
        </p:nvGrpSpPr>
        <p:grpSpPr>
          <a:xfrm>
            <a:off x="7680324" y="1814171"/>
            <a:ext cx="1991221" cy="4482411"/>
            <a:chOff x="7680324" y="1814171"/>
            <a:chExt cx="1991221" cy="4482411"/>
          </a:xfrm>
        </p:grpSpPr>
        <p:sp>
          <p:nvSpPr>
            <p:cNvPr id="3288" name="Google Shape;3288;p14"/>
            <p:cNvSpPr/>
            <p:nvPr/>
          </p:nvSpPr>
          <p:spPr>
            <a:xfrm>
              <a:off x="7689254" y="516084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89" name="Google Shape;3289;p14"/>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3290" name="Google Shape;3290;p14"/>
            <p:cNvCxnSpPr/>
            <p:nvPr/>
          </p:nvCxnSpPr>
          <p:spPr>
            <a:xfrm flipH="1">
              <a:off x="8353326" y="2438326"/>
              <a:ext cx="498897" cy="1114752"/>
            </a:xfrm>
            <a:prstGeom prst="straightConnector1">
              <a:avLst/>
            </a:prstGeom>
            <a:noFill/>
            <a:ln cap="flat" cmpd="sng" w="76200">
              <a:solidFill>
                <a:srgbClr val="CC0000"/>
              </a:solidFill>
              <a:prstDash val="solid"/>
              <a:round/>
              <a:headEnd len="med" w="med" type="triangle"/>
              <a:tailEnd len="med" w="med" type="triangle"/>
            </a:ln>
          </p:spPr>
        </p:cxnSp>
        <p:cxnSp>
          <p:nvCxnSpPr>
            <p:cNvPr id="3291" name="Google Shape;3291;p14"/>
            <p:cNvCxnSpPr/>
            <p:nvPr/>
          </p:nvCxnSpPr>
          <p:spPr>
            <a:xfrm>
              <a:off x="7971176" y="2321758"/>
              <a:ext cx="1187" cy="2793530"/>
            </a:xfrm>
            <a:prstGeom prst="straightConnector1">
              <a:avLst/>
            </a:prstGeom>
            <a:noFill/>
            <a:ln cap="flat" cmpd="sng" w="76200">
              <a:solidFill>
                <a:srgbClr val="CC0000"/>
              </a:solidFill>
              <a:prstDash val="solid"/>
              <a:round/>
              <a:headEnd len="med" w="med" type="triangle"/>
              <a:tailEnd len="med" w="med" type="triangle"/>
            </a:ln>
          </p:spPr>
        </p:cxnSp>
        <p:sp>
          <p:nvSpPr>
            <p:cNvPr id="3292" name="Google Shape;3292;p14"/>
            <p:cNvSpPr/>
            <p:nvPr/>
          </p:nvSpPr>
          <p:spPr>
            <a:xfrm>
              <a:off x="8703904" y="1943418"/>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93" name="Google Shape;3293;p14"/>
            <p:cNvSpPr/>
            <p:nvPr/>
          </p:nvSpPr>
          <p:spPr>
            <a:xfrm>
              <a:off x="8013358" y="3440898"/>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94" name="Google Shape;3294;p14"/>
            <p:cNvSpPr/>
            <p:nvPr/>
          </p:nvSpPr>
          <p:spPr>
            <a:xfrm>
              <a:off x="9059242" y="5786513"/>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3295" name="Google Shape;3295;p14"/>
            <p:cNvCxnSpPr/>
            <p:nvPr/>
          </p:nvCxnSpPr>
          <p:spPr>
            <a:xfrm>
              <a:off x="9143664" y="2462348"/>
              <a:ext cx="228982" cy="3299611"/>
            </a:xfrm>
            <a:prstGeom prst="straightConnector1">
              <a:avLst/>
            </a:prstGeom>
            <a:noFill/>
            <a:ln cap="flat" cmpd="sng" w="76200">
              <a:solidFill>
                <a:srgbClr val="CC0000"/>
              </a:solidFill>
              <a:prstDash val="solid"/>
              <a:round/>
              <a:headEnd len="med" w="med" type="triangle"/>
              <a:tailEnd len="med" w="med" type="triangle"/>
            </a:ln>
          </p:spPr>
        </p:cxnSp>
        <p:cxnSp>
          <p:nvCxnSpPr>
            <p:cNvPr id="3296" name="Google Shape;3296;p14"/>
            <p:cNvCxnSpPr/>
            <p:nvPr/>
          </p:nvCxnSpPr>
          <p:spPr>
            <a:xfrm>
              <a:off x="8485044" y="3911282"/>
              <a:ext cx="764880" cy="1866664"/>
            </a:xfrm>
            <a:prstGeom prst="straightConnector1">
              <a:avLst/>
            </a:prstGeom>
            <a:noFill/>
            <a:ln cap="flat" cmpd="sng" w="76200">
              <a:solidFill>
                <a:srgbClr val="CC0000"/>
              </a:solidFill>
              <a:prstDash val="solid"/>
              <a:round/>
              <a:headEnd len="med" w="med" type="triangle"/>
              <a:tailEnd len="med" w="med" type="triangle"/>
            </a:ln>
          </p:spPr>
        </p:cxnSp>
      </p:grpSp>
      <p:grpSp>
        <p:nvGrpSpPr>
          <p:cNvPr id="3297" name="Google Shape;3297;p14"/>
          <p:cNvGrpSpPr/>
          <p:nvPr/>
        </p:nvGrpSpPr>
        <p:grpSpPr>
          <a:xfrm>
            <a:off x="7750224" y="1859725"/>
            <a:ext cx="415925" cy="385763"/>
            <a:chOff x="2751" y="1851"/>
            <a:chExt cx="462" cy="478"/>
          </a:xfrm>
        </p:grpSpPr>
        <p:pic>
          <p:nvPicPr>
            <p:cNvPr descr="iphone_stylized_small" id="3298" name="Google Shape;3298;p14"/>
            <p:cNvPicPr preferRelativeResize="0"/>
            <p:nvPr/>
          </p:nvPicPr>
          <p:blipFill rotWithShape="1">
            <a:blip r:embed="rId20">
              <a:alphaModFix/>
            </a:blip>
            <a:srcRect b="0" l="0" r="0" t="0"/>
            <a:stretch/>
          </p:blipFill>
          <p:spPr>
            <a:xfrm>
              <a:off x="2928" y="1922"/>
              <a:ext cx="152" cy="407"/>
            </a:xfrm>
            <a:prstGeom prst="rect">
              <a:avLst/>
            </a:prstGeom>
            <a:noFill/>
            <a:ln>
              <a:noFill/>
            </a:ln>
          </p:spPr>
        </p:pic>
        <p:pic>
          <p:nvPicPr>
            <p:cNvPr descr="antenna_radiation_stylized" id="3299" name="Google Shape;3299;p14"/>
            <p:cNvPicPr preferRelativeResize="0"/>
            <p:nvPr/>
          </p:nvPicPr>
          <p:blipFill rotWithShape="1">
            <a:blip r:embed="rId21">
              <a:alphaModFix/>
            </a:blip>
            <a:srcRect b="0" l="0" r="0" t="0"/>
            <a:stretch/>
          </p:blipFill>
          <p:spPr>
            <a:xfrm>
              <a:off x="2751" y="1851"/>
              <a:ext cx="462" cy="110"/>
            </a:xfrm>
            <a:prstGeom prst="rect">
              <a:avLst/>
            </a:prstGeom>
            <a:noFill/>
            <a:ln>
              <a:noFill/>
            </a:ln>
          </p:spPr>
        </p:pic>
      </p:grpSp>
      <p:grpSp>
        <p:nvGrpSpPr>
          <p:cNvPr id="3300" name="Google Shape;3300;p14"/>
          <p:cNvGrpSpPr/>
          <p:nvPr/>
        </p:nvGrpSpPr>
        <p:grpSpPr>
          <a:xfrm>
            <a:off x="8499539" y="2059124"/>
            <a:ext cx="849312" cy="226109"/>
            <a:chOff x="8493165" y="2029804"/>
            <a:chExt cx="849312" cy="226109"/>
          </a:xfrm>
        </p:grpSpPr>
        <p:pic>
          <p:nvPicPr>
            <p:cNvPr descr="car_icon_small" id="3301" name="Google Shape;3301;p14"/>
            <p:cNvPicPr preferRelativeResize="0"/>
            <p:nvPr/>
          </p:nvPicPr>
          <p:blipFill rotWithShape="1">
            <a:blip r:embed="rId22">
              <a:alphaModFix/>
            </a:blip>
            <a:srcRect b="0" l="0" r="0" t="0"/>
            <a:stretch/>
          </p:blipFill>
          <p:spPr>
            <a:xfrm>
              <a:off x="8493165" y="2087638"/>
              <a:ext cx="849312" cy="168275"/>
            </a:xfrm>
            <a:prstGeom prst="rect">
              <a:avLst/>
            </a:prstGeom>
            <a:noFill/>
            <a:ln>
              <a:noFill/>
            </a:ln>
          </p:spPr>
        </p:pic>
        <p:pic>
          <p:nvPicPr>
            <p:cNvPr descr="antenna_stylized" id="3302" name="Google Shape;3302;p1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3303" name="Google Shape;3303;p14"/>
          <p:cNvGrpSpPr/>
          <p:nvPr/>
        </p:nvGrpSpPr>
        <p:grpSpPr>
          <a:xfrm flipH="1">
            <a:off x="7991996" y="3567143"/>
            <a:ext cx="359261" cy="342045"/>
            <a:chOff x="2839" y="3501"/>
            <a:chExt cx="755" cy="803"/>
          </a:xfrm>
        </p:grpSpPr>
        <p:pic>
          <p:nvPicPr>
            <p:cNvPr descr="desktop_computer_stylized_medium" id="3304" name="Google Shape;3304;p14"/>
            <p:cNvPicPr preferRelativeResize="0"/>
            <p:nvPr/>
          </p:nvPicPr>
          <p:blipFill rotWithShape="1">
            <a:blip r:embed="rId23">
              <a:alphaModFix/>
            </a:blip>
            <a:srcRect b="0" l="0" r="0" t="0"/>
            <a:stretch/>
          </p:blipFill>
          <p:spPr>
            <a:xfrm>
              <a:off x="2839" y="3501"/>
              <a:ext cx="755" cy="803"/>
            </a:xfrm>
            <a:prstGeom prst="rect">
              <a:avLst/>
            </a:prstGeom>
            <a:noFill/>
            <a:ln>
              <a:noFill/>
            </a:ln>
          </p:spPr>
        </p:pic>
        <p:sp>
          <p:nvSpPr>
            <p:cNvPr id="3305" name="Google Shape;3305;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306" name="Google Shape;3306;p14"/>
          <p:cNvGrpSpPr/>
          <p:nvPr/>
        </p:nvGrpSpPr>
        <p:grpSpPr>
          <a:xfrm flipH="1">
            <a:off x="7773981" y="5281060"/>
            <a:ext cx="345630" cy="320302"/>
            <a:chOff x="2839" y="3501"/>
            <a:chExt cx="755" cy="803"/>
          </a:xfrm>
        </p:grpSpPr>
        <p:pic>
          <p:nvPicPr>
            <p:cNvPr descr="desktop_computer_stylized_medium" id="3307" name="Google Shape;3307;p14"/>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3308" name="Google Shape;3308;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309" name="Google Shape;3309;p14"/>
          <p:cNvGrpSpPr/>
          <p:nvPr/>
        </p:nvGrpSpPr>
        <p:grpSpPr>
          <a:xfrm>
            <a:off x="9201681" y="5852809"/>
            <a:ext cx="310186" cy="312008"/>
            <a:chOff x="877" y="1008"/>
            <a:chExt cx="2747" cy="2626"/>
          </a:xfrm>
        </p:grpSpPr>
        <p:pic>
          <p:nvPicPr>
            <p:cNvPr descr="antenna_stylized" id="3310" name="Google Shape;3310;p14"/>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3311" name="Google Shape;3311;p14"/>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3312" name="Google Shape;3312;p1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screen" id="3313" name="Google Shape;3313;p14"/>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3314" name="Google Shape;3314;p1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5" name="Google Shape;3315;p1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6" name="Google Shape;3316;p1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7" name="Google Shape;3317;p1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8" name="Google Shape;3318;p1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9" name="Google Shape;3319;p1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320" name="Google Shape;3320;p14"/>
            <p:cNvGrpSpPr/>
            <p:nvPr/>
          </p:nvGrpSpPr>
          <p:grpSpPr>
            <a:xfrm>
              <a:off x="1709" y="3008"/>
              <a:ext cx="507" cy="234"/>
              <a:chOff x="1740" y="2642"/>
              <a:chExt cx="752" cy="327"/>
            </a:xfrm>
          </p:grpSpPr>
          <p:sp>
            <p:nvSpPr>
              <p:cNvPr id="3321" name="Google Shape;3321;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2" name="Google Shape;3322;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3" name="Google Shape;3323;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4" name="Google Shape;3324;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5" name="Google Shape;3325;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6" name="Google Shape;3326;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327" name="Google Shape;3327;p1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8" name="Google Shape;3328;p1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9" name="Google Shape;3329;p1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30" name="Google Shape;3330;p1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31" name="Google Shape;3331;p1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32" name="Google Shape;3332;p1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333" name="Google Shape;3333;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2">
                                            <p:txEl>
                                              <p:pRg end="0" st="0"/>
                                            </p:txEl>
                                          </p:spTgt>
                                        </p:tgtEl>
                                        <p:attrNameLst>
                                          <p:attrName>style.visibility</p:attrName>
                                        </p:attrNameLst>
                                      </p:cBhvr>
                                      <p:to>
                                        <p:strVal val="visible"/>
                                      </p:to>
                                    </p:set>
                                    <p:animEffect filter="fade" transition="in">
                                      <p:cBhvr>
                                        <p:cTn dur="500"/>
                                        <p:tgtEl>
                                          <p:spTgt spid="32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2">
                                            <p:txEl>
                                              <p:pRg end="1" st="1"/>
                                            </p:txEl>
                                          </p:spTgt>
                                        </p:tgtEl>
                                        <p:attrNameLst>
                                          <p:attrName>style.visibility</p:attrName>
                                        </p:attrNameLst>
                                      </p:cBhvr>
                                      <p:to>
                                        <p:strVal val="visible"/>
                                      </p:to>
                                    </p:set>
                                    <p:animEffect filter="fade" transition="in">
                                      <p:cBhvr>
                                        <p:cTn dur="500"/>
                                        <p:tgtEl>
                                          <p:spTgt spid="32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2">
                                            <p:txEl>
                                              <p:pRg end="2" st="2"/>
                                            </p:txEl>
                                          </p:spTgt>
                                        </p:tgtEl>
                                        <p:attrNameLst>
                                          <p:attrName>style.visibility</p:attrName>
                                        </p:attrNameLst>
                                      </p:cBhvr>
                                      <p:to>
                                        <p:strVal val="visible"/>
                                      </p:to>
                                    </p:set>
                                    <p:animEffect filter="fade" transition="in">
                                      <p:cBhvr>
                                        <p:cTn dur="500"/>
                                        <p:tgtEl>
                                          <p:spTgt spid="32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2">
                                            <p:txEl>
                                              <p:pRg end="3" st="3"/>
                                            </p:txEl>
                                          </p:spTgt>
                                        </p:tgtEl>
                                        <p:attrNameLst>
                                          <p:attrName>style.visibility</p:attrName>
                                        </p:attrNameLst>
                                      </p:cBhvr>
                                      <p:to>
                                        <p:strVal val="visible"/>
                                      </p:to>
                                    </p:set>
                                    <p:animEffect filter="fade" transition="in">
                                      <p:cBhvr>
                                        <p:cTn dur="500"/>
                                        <p:tgtEl>
                                          <p:spTgt spid="32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2">
                                            <p:txEl>
                                              <p:pRg end="4" st="4"/>
                                            </p:txEl>
                                          </p:spTgt>
                                        </p:tgtEl>
                                        <p:attrNameLst>
                                          <p:attrName>style.visibility</p:attrName>
                                        </p:attrNameLst>
                                      </p:cBhvr>
                                      <p:to>
                                        <p:strVal val="visible"/>
                                      </p:to>
                                    </p:set>
                                    <p:animEffect filter="fade" transition="in">
                                      <p:cBhvr>
                                        <p:cTn dur="500"/>
                                        <p:tgtEl>
                                          <p:spTgt spid="325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2">
                                            <p:txEl>
                                              <p:pRg end="5" st="5"/>
                                            </p:txEl>
                                          </p:spTgt>
                                        </p:tgtEl>
                                        <p:attrNameLst>
                                          <p:attrName>style.visibility</p:attrName>
                                        </p:attrNameLst>
                                      </p:cBhvr>
                                      <p:to>
                                        <p:strVal val="visible"/>
                                      </p:to>
                                    </p:set>
                                    <p:animEffect filter="fade" transition="in">
                                      <p:cBhvr>
                                        <p:cTn dur="500"/>
                                        <p:tgtEl>
                                          <p:spTgt spid="325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2">
                                            <p:txEl>
                                              <p:pRg end="6" st="6"/>
                                            </p:txEl>
                                          </p:spTgt>
                                        </p:tgtEl>
                                        <p:attrNameLst>
                                          <p:attrName>style.visibility</p:attrName>
                                        </p:attrNameLst>
                                      </p:cBhvr>
                                      <p:to>
                                        <p:strVal val="visible"/>
                                      </p:to>
                                    </p:set>
                                    <p:animEffect filter="fade" transition="in">
                                      <p:cBhvr>
                                        <p:cTn dur="500"/>
                                        <p:tgtEl>
                                          <p:spTgt spid="325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8" name="Shape 3338"/>
        <p:cNvGrpSpPr/>
        <p:nvPr/>
      </p:nvGrpSpPr>
      <p:grpSpPr>
        <a:xfrm>
          <a:off x="0" y="0"/>
          <a:ext cx="0" cy="0"/>
          <a:chOff x="0" y="0"/>
          <a:chExt cx="0" cy="0"/>
        </a:xfrm>
      </p:grpSpPr>
      <p:sp>
        <p:nvSpPr>
          <p:cNvPr id="3339" name="Google Shape;3339;p1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Processes communicating</a:t>
            </a:r>
            <a:endParaRPr sz="4400"/>
          </a:p>
        </p:txBody>
      </p:sp>
      <p:sp>
        <p:nvSpPr>
          <p:cNvPr id="3340" name="Google Shape;3340;p15"/>
          <p:cNvSpPr txBox="1"/>
          <p:nvPr/>
        </p:nvSpPr>
        <p:spPr>
          <a:xfrm>
            <a:off x="606042" y="1565977"/>
            <a:ext cx="5309184" cy="435133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00000"/>
                </a:solidFill>
                <a:latin typeface="Calibri"/>
                <a:ea typeface="Calibri"/>
                <a:cs typeface="Calibri"/>
                <a:sym typeface="Calibri"/>
              </a:rPr>
              <a:t>process:</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program running within a host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within same host, two processes communicate using  </a:t>
            </a:r>
            <a:r>
              <a:rPr b="0" i="0" lang="en-US" sz="3200" u="none" cap="none" strike="noStrike">
                <a:solidFill>
                  <a:srgbClr val="C00000"/>
                </a:solidFill>
                <a:latin typeface="Calibri"/>
                <a:ea typeface="Calibri"/>
                <a:cs typeface="Calibri"/>
                <a:sym typeface="Calibri"/>
              </a:rPr>
              <a:t>inter-process communication </a:t>
            </a:r>
            <a:r>
              <a:rPr b="0" i="0" lang="en-US" sz="3200" u="none" cap="none" strike="noStrike">
                <a:solidFill>
                  <a:srgbClr val="000000"/>
                </a:solidFill>
                <a:latin typeface="Calibri"/>
                <a:ea typeface="Calibri"/>
                <a:cs typeface="Calibri"/>
                <a:sym typeface="Calibri"/>
              </a:rPr>
              <a:t>(defined by OS)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processes in different hosts communicate by exchanging </a:t>
            </a:r>
            <a:r>
              <a:rPr b="0" i="0" lang="en-US" sz="3200" u="none" cap="none" strike="noStrike">
                <a:solidFill>
                  <a:srgbClr val="C00000"/>
                </a:solidFill>
                <a:latin typeface="Calibri"/>
                <a:ea typeface="Calibri"/>
                <a:cs typeface="Calibri"/>
                <a:sym typeface="Calibri"/>
              </a:rPr>
              <a:t>messages</a:t>
            </a:r>
            <a:endParaRPr/>
          </a:p>
          <a:p>
            <a:pPr indent="0" lvl="0" marL="352425" marR="0" rtl="0" algn="l">
              <a:lnSpc>
                <a:spcPct val="90000"/>
              </a:lnSpc>
              <a:spcBef>
                <a:spcPts val="1000"/>
              </a:spcBef>
              <a:spcAft>
                <a:spcPts val="0"/>
              </a:spcAft>
              <a:buClr>
                <a:srgbClr val="0000A3"/>
              </a:buClr>
              <a:buSzPts val="3600"/>
              <a:buFont typeface="Noto Sans Symbols"/>
              <a:buNone/>
            </a:pPr>
            <a:r>
              <a:t/>
            </a:r>
            <a:endParaRPr b="0" i="0" sz="3600" u="none" cap="none" strike="noStrike">
              <a:solidFill>
                <a:srgbClr val="000000"/>
              </a:solidFill>
              <a:latin typeface="Calibri"/>
              <a:ea typeface="Calibri"/>
              <a:cs typeface="Calibri"/>
              <a:sym typeface="Calibri"/>
            </a:endParaRPr>
          </a:p>
        </p:txBody>
      </p:sp>
      <p:sp>
        <p:nvSpPr>
          <p:cNvPr id="3341" name="Google Shape;3341;p15"/>
          <p:cNvSpPr/>
          <p:nvPr/>
        </p:nvSpPr>
        <p:spPr>
          <a:xfrm>
            <a:off x="6915273" y="4263451"/>
            <a:ext cx="3989387" cy="183991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note: applications with P2P architectures have client processes &amp; server processes</a:t>
            </a:r>
            <a:endParaRPr/>
          </a:p>
        </p:txBody>
      </p:sp>
      <p:grpSp>
        <p:nvGrpSpPr>
          <p:cNvPr id="3342" name="Google Shape;3342;p15"/>
          <p:cNvGrpSpPr/>
          <p:nvPr/>
        </p:nvGrpSpPr>
        <p:grpSpPr>
          <a:xfrm>
            <a:off x="6974010" y="1488501"/>
            <a:ext cx="4092575" cy="2567781"/>
            <a:chOff x="6974010" y="1488501"/>
            <a:chExt cx="4092575" cy="2567781"/>
          </a:xfrm>
        </p:grpSpPr>
        <p:sp>
          <p:nvSpPr>
            <p:cNvPr id="3343" name="Google Shape;3343;p15"/>
            <p:cNvSpPr txBox="1"/>
            <p:nvPr/>
          </p:nvSpPr>
          <p:spPr>
            <a:xfrm>
              <a:off x="7025603" y="2022695"/>
              <a:ext cx="3989387" cy="2033587"/>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client process:</a:t>
              </a:r>
              <a:r>
                <a:rPr b="0" i="0" lang="en-US" sz="2800" u="none" cap="none" strike="noStrike">
                  <a:solidFill>
                    <a:srgbClr val="C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process that initiates communication</a:t>
              </a:r>
              <a:endParaRPr/>
            </a:p>
            <a:p>
              <a:pPr indent="-222250" lvl="0" marL="352425" marR="0" rtl="0" algn="l">
                <a:lnSpc>
                  <a:spcPct val="90000"/>
                </a:lnSpc>
                <a:spcBef>
                  <a:spcPts val="400"/>
                </a:spcBef>
                <a:spcAft>
                  <a:spcPts val="0"/>
                </a:spcAft>
                <a:buClr>
                  <a:srgbClr val="0000A3"/>
                </a:buClr>
                <a:buSzPts val="2800"/>
                <a:buFont typeface="Noto Sans Symbols"/>
                <a:buNone/>
              </a:pPr>
              <a:r>
                <a:rPr b="0" i="1" lang="en-US" sz="2800" u="none" cap="none" strike="noStrike">
                  <a:solidFill>
                    <a:srgbClr val="C00000"/>
                  </a:solidFill>
                  <a:latin typeface="Calibri"/>
                  <a:ea typeface="Calibri"/>
                  <a:cs typeface="Calibri"/>
                  <a:sym typeface="Calibri"/>
                </a:rPr>
                <a:t>server process:</a:t>
              </a:r>
              <a:r>
                <a:rPr b="0" i="0" lang="en-US" sz="2800" u="none" cap="none" strike="noStrike">
                  <a:solidFill>
                    <a:srgbClr val="C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process that waits to be contacted</a:t>
              </a:r>
              <a:endParaRPr b="0" i="0" sz="28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344" name="Google Shape;3344;p15"/>
            <p:cNvSpPr/>
            <p:nvPr/>
          </p:nvSpPr>
          <p:spPr>
            <a:xfrm>
              <a:off x="6974010" y="1786951"/>
              <a:ext cx="4092575" cy="2062163"/>
            </a:xfrm>
            <a:prstGeom prst="rect">
              <a:avLst/>
            </a:prstGeom>
            <a:no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3345" name="Google Shape;3345;p15"/>
            <p:cNvSpPr txBox="1"/>
            <p:nvPr/>
          </p:nvSpPr>
          <p:spPr>
            <a:xfrm>
              <a:off x="7094660" y="1488501"/>
              <a:ext cx="2325688" cy="519113"/>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clients, servers</a:t>
              </a:r>
              <a:endParaRPr/>
            </a:p>
          </p:txBody>
        </p:sp>
      </p:grpSp>
      <p:sp>
        <p:nvSpPr>
          <p:cNvPr id="3346" name="Google Shape;3346;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2"/>
                                        </p:tgtEl>
                                        <p:attrNameLst>
                                          <p:attrName>style.visibility</p:attrName>
                                        </p:attrNameLst>
                                      </p:cBhvr>
                                      <p:to>
                                        <p:strVal val="visible"/>
                                      </p:to>
                                    </p:set>
                                    <p:animEffect filter="fade" transition="in">
                                      <p:cBhvr>
                                        <p:cTn dur="500"/>
                                        <p:tgtEl>
                                          <p:spTgt spid="3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1"/>
                                        </p:tgtEl>
                                        <p:attrNameLst>
                                          <p:attrName>style.visibility</p:attrName>
                                        </p:attrNameLst>
                                      </p:cBhvr>
                                      <p:to>
                                        <p:strVal val="visible"/>
                                      </p:to>
                                    </p:set>
                                    <p:animEffect filter="fade" transition="in">
                                      <p:cBhvr>
                                        <p:cTn dur="500"/>
                                        <p:tgtEl>
                                          <p:spTgt spid="3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1" name="Shape 3351"/>
        <p:cNvGrpSpPr/>
        <p:nvPr/>
      </p:nvGrpSpPr>
      <p:grpSpPr>
        <a:xfrm>
          <a:off x="0" y="0"/>
          <a:ext cx="0" cy="0"/>
          <a:chOff x="0" y="0"/>
          <a:chExt cx="0" cy="0"/>
        </a:xfrm>
      </p:grpSpPr>
      <p:sp>
        <p:nvSpPr>
          <p:cNvPr id="3352" name="Google Shape;3352;p1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Sockets</a:t>
            </a:r>
            <a:endParaRPr sz="4400"/>
          </a:p>
        </p:txBody>
      </p:sp>
      <p:sp>
        <p:nvSpPr>
          <p:cNvPr id="3353" name="Google Shape;3353;p16"/>
          <p:cNvSpPr txBox="1"/>
          <p:nvPr/>
        </p:nvSpPr>
        <p:spPr>
          <a:xfrm>
            <a:off x="798691" y="1183986"/>
            <a:ext cx="10965041" cy="23288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process sends/receives messages to/from its </a:t>
            </a:r>
            <a:r>
              <a:rPr b="0" i="0" lang="en-US" sz="2800" u="none" cap="none" strike="noStrike">
                <a:solidFill>
                  <a:srgbClr val="CC0000"/>
                </a:solidFill>
                <a:latin typeface="Calibri"/>
                <a:ea typeface="Calibri"/>
                <a:cs typeface="Calibri"/>
                <a:sym typeface="Calibri"/>
              </a:rPr>
              <a:t>socket</a:t>
            </a:r>
            <a:endParaRPr/>
          </a:p>
          <a:p>
            <a:pPr indent="-342900" lvl="0" marL="3429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socket analogous to door</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sending process shoves message out door</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sending process relies on transport infrastructure on other side of door to deliver message to socket at receiving process</a:t>
            </a:r>
            <a:endParaRPr/>
          </a:p>
          <a:p>
            <a:pPr indent="-285750" lvl="1" marL="74295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two sockets involved: one on each side</a:t>
            </a:r>
            <a:endParaRPr/>
          </a:p>
        </p:txBody>
      </p:sp>
      <p:sp>
        <p:nvSpPr>
          <p:cNvPr id="3354" name="Google Shape;3354;p16"/>
          <p:cNvSpPr/>
          <p:nvPr/>
        </p:nvSpPr>
        <p:spPr>
          <a:xfrm>
            <a:off x="8482481" y="4098352"/>
            <a:ext cx="736600" cy="1998662"/>
          </a:xfrm>
          <a:custGeom>
            <a:rect b="b" l="l" r="r" t="t"/>
            <a:pathLst>
              <a:path extrusionOk="0" h="1259" w="464">
                <a:moveTo>
                  <a:pt x="464" y="1060"/>
                </a:moveTo>
                <a:lnTo>
                  <a:pt x="0" y="0"/>
                </a:lnTo>
                <a:lnTo>
                  <a:pt x="6" y="1258"/>
                </a:lnTo>
                <a:lnTo>
                  <a:pt x="382" y="1259"/>
                </a:lnTo>
                <a:lnTo>
                  <a:pt x="464" y="1060"/>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55" name="Google Shape;3355;p16"/>
          <p:cNvSpPr/>
          <p:nvPr/>
        </p:nvSpPr>
        <p:spPr>
          <a:xfrm>
            <a:off x="5167781" y="5395339"/>
            <a:ext cx="1808162" cy="1031875"/>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56" name="Google Shape;3356;p16"/>
          <p:cNvSpPr txBox="1"/>
          <p:nvPr/>
        </p:nvSpPr>
        <p:spPr>
          <a:xfrm>
            <a:off x="5605931" y="5527102"/>
            <a:ext cx="87471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Internet</a:t>
            </a:r>
            <a:endParaRPr/>
          </a:p>
        </p:txBody>
      </p:sp>
      <p:cxnSp>
        <p:nvCxnSpPr>
          <p:cNvPr id="3357" name="Google Shape;3357;p16"/>
          <p:cNvCxnSpPr/>
          <p:nvPr/>
        </p:nvCxnSpPr>
        <p:spPr>
          <a:xfrm>
            <a:off x="4926481" y="5938264"/>
            <a:ext cx="2211387" cy="0"/>
          </a:xfrm>
          <a:prstGeom prst="straightConnector1">
            <a:avLst/>
          </a:prstGeom>
          <a:noFill/>
          <a:ln cap="flat" cmpd="sng" w="9525">
            <a:solidFill>
              <a:srgbClr val="000000"/>
            </a:solidFill>
            <a:prstDash val="solid"/>
            <a:round/>
            <a:headEnd len="med" w="med" type="triangle"/>
            <a:tailEnd len="med" w="med" type="triangle"/>
          </a:ln>
        </p:spPr>
      </p:cxnSp>
      <p:sp>
        <p:nvSpPr>
          <p:cNvPr id="3358" name="Google Shape;3358;p16"/>
          <p:cNvSpPr txBox="1"/>
          <p:nvPr/>
        </p:nvSpPr>
        <p:spPr>
          <a:xfrm>
            <a:off x="8947618" y="5163564"/>
            <a:ext cx="106362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controlled</a:t>
            </a:r>
            <a:endParaRPr/>
          </a:p>
          <a:p>
            <a:pPr indent="0" lvl="0" marL="0" marR="0" rtl="0" algn="l">
              <a:lnSpc>
                <a:spcPct val="10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by OS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CC0000"/>
              </a:solidFill>
              <a:latin typeface="Times New Roman"/>
              <a:ea typeface="Times New Roman"/>
              <a:cs typeface="Times New Roman"/>
              <a:sym typeface="Times New Roman"/>
            </a:endParaRPr>
          </a:p>
        </p:txBody>
      </p:sp>
      <p:sp>
        <p:nvSpPr>
          <p:cNvPr id="3359" name="Google Shape;3359;p16"/>
          <p:cNvSpPr txBox="1"/>
          <p:nvPr/>
        </p:nvSpPr>
        <p:spPr>
          <a:xfrm>
            <a:off x="8925393" y="4263452"/>
            <a:ext cx="1470025" cy="533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controlled by</a:t>
            </a:r>
            <a:endParaRPr/>
          </a:p>
          <a:p>
            <a:pPr indent="0" lvl="0" marL="0" marR="0" rtl="0" algn="l">
              <a:lnSpc>
                <a:spcPct val="90000"/>
              </a:lnSpc>
              <a:spcBef>
                <a:spcPts val="0"/>
              </a:spcBef>
              <a:spcAft>
                <a:spcPts val="0"/>
              </a:spcAft>
              <a:buClr>
                <a:srgbClr val="C00000"/>
              </a:buClr>
              <a:buSzPts val="1600"/>
              <a:buFont typeface="Arial"/>
              <a:buNone/>
            </a:pPr>
            <a:r>
              <a:rPr b="0" i="0" lang="en-US" sz="1600" u="none" cap="none" strike="noStrike">
                <a:solidFill>
                  <a:srgbClr val="C00000"/>
                </a:solidFill>
                <a:latin typeface="Arial"/>
                <a:ea typeface="Arial"/>
                <a:cs typeface="Arial"/>
                <a:sym typeface="Arial"/>
              </a:rPr>
              <a:t>app developer</a:t>
            </a:r>
            <a:endParaRPr/>
          </a:p>
        </p:txBody>
      </p:sp>
      <p:sp>
        <p:nvSpPr>
          <p:cNvPr id="3360" name="Google Shape;3360;p16"/>
          <p:cNvSpPr/>
          <p:nvPr/>
        </p:nvSpPr>
        <p:spPr>
          <a:xfrm>
            <a:off x="2742081" y="4161852"/>
            <a:ext cx="758825" cy="1997075"/>
          </a:xfrm>
          <a:custGeom>
            <a:rect b="b" l="l" r="r" t="t"/>
            <a:pathLst>
              <a:path extrusionOk="0" h="1258" w="478">
                <a:moveTo>
                  <a:pt x="0" y="1040"/>
                </a:moveTo>
                <a:lnTo>
                  <a:pt x="478" y="0"/>
                </a:lnTo>
                <a:lnTo>
                  <a:pt x="472" y="1258"/>
                </a:lnTo>
                <a:lnTo>
                  <a:pt x="41" y="1246"/>
                </a:lnTo>
                <a:lnTo>
                  <a:pt x="0" y="1040"/>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61" name="Google Shape;3361;p16"/>
          <p:cNvSpPr/>
          <p:nvPr/>
        </p:nvSpPr>
        <p:spPr>
          <a:xfrm>
            <a:off x="3545356" y="411740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3362" name="Google Shape;3362;p16"/>
          <p:cNvSpPr/>
          <p:nvPr/>
        </p:nvSpPr>
        <p:spPr>
          <a:xfrm>
            <a:off x="3507256" y="417137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363" name="Google Shape;3363;p16"/>
          <p:cNvCxnSpPr/>
          <p:nvPr/>
        </p:nvCxnSpPr>
        <p:spPr>
          <a:xfrm>
            <a:off x="3516781" y="493178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3364" name="Google Shape;3364;p16"/>
          <p:cNvSpPr txBox="1"/>
          <p:nvPr/>
        </p:nvSpPr>
        <p:spPr>
          <a:xfrm>
            <a:off x="3473918" y="491432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transport</a:t>
            </a:r>
            <a:endParaRPr/>
          </a:p>
        </p:txBody>
      </p:sp>
      <p:cxnSp>
        <p:nvCxnSpPr>
          <p:cNvPr id="3365" name="Google Shape;3365;p16"/>
          <p:cNvCxnSpPr/>
          <p:nvPr/>
        </p:nvCxnSpPr>
        <p:spPr>
          <a:xfrm>
            <a:off x="3524718" y="52524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3366" name="Google Shape;3366;p16"/>
          <p:cNvCxnSpPr/>
          <p:nvPr/>
        </p:nvCxnSpPr>
        <p:spPr>
          <a:xfrm>
            <a:off x="3510431" y="556202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3367" name="Google Shape;3367;p16"/>
          <p:cNvCxnSpPr/>
          <p:nvPr/>
        </p:nvCxnSpPr>
        <p:spPr>
          <a:xfrm>
            <a:off x="3510431" y="584777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3368" name="Google Shape;3368;p16"/>
          <p:cNvSpPr txBox="1"/>
          <p:nvPr/>
        </p:nvSpPr>
        <p:spPr>
          <a:xfrm>
            <a:off x="3508843" y="416185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3369" name="Google Shape;3369;p16"/>
          <p:cNvSpPr txBox="1"/>
          <p:nvPr/>
        </p:nvSpPr>
        <p:spPr>
          <a:xfrm>
            <a:off x="3464393" y="581920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physical</a:t>
            </a:r>
            <a:endParaRPr/>
          </a:p>
        </p:txBody>
      </p:sp>
      <p:sp>
        <p:nvSpPr>
          <p:cNvPr id="3370" name="Google Shape;3370;p16"/>
          <p:cNvSpPr txBox="1"/>
          <p:nvPr/>
        </p:nvSpPr>
        <p:spPr>
          <a:xfrm>
            <a:off x="3483443" y="553345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link</a:t>
            </a:r>
            <a:endParaRPr/>
          </a:p>
        </p:txBody>
      </p:sp>
      <p:sp>
        <p:nvSpPr>
          <p:cNvPr id="3371" name="Google Shape;3371;p16"/>
          <p:cNvSpPr txBox="1"/>
          <p:nvPr/>
        </p:nvSpPr>
        <p:spPr>
          <a:xfrm>
            <a:off x="3473918" y="523817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network</a:t>
            </a:r>
            <a:endParaRPr/>
          </a:p>
        </p:txBody>
      </p:sp>
      <p:sp>
        <p:nvSpPr>
          <p:cNvPr id="3372" name="Google Shape;3372;p16"/>
          <p:cNvSpPr/>
          <p:nvPr/>
        </p:nvSpPr>
        <p:spPr>
          <a:xfrm>
            <a:off x="3642193" y="4436489"/>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3373" name="Google Shape;3373;p16"/>
          <p:cNvGrpSpPr/>
          <p:nvPr/>
        </p:nvGrpSpPr>
        <p:grpSpPr>
          <a:xfrm>
            <a:off x="3889843" y="4796852"/>
            <a:ext cx="546100" cy="225425"/>
            <a:chOff x="1287" y="2524"/>
            <a:chExt cx="260" cy="100"/>
          </a:xfrm>
        </p:grpSpPr>
        <p:sp>
          <p:nvSpPr>
            <p:cNvPr id="3374" name="Google Shape;3374;p16"/>
            <p:cNvSpPr/>
            <p:nvPr/>
          </p:nvSpPr>
          <p:spPr>
            <a:xfrm>
              <a:off x="1287" y="2524"/>
              <a:ext cx="260" cy="100"/>
            </a:xfrm>
            <a:prstGeom prst="rect">
              <a:avLst/>
            </a:prstGeom>
            <a:solidFill>
              <a:srgbClr val="C96B72"/>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75" name="Google Shape;3375;p16"/>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76" name="Google Shape;3376;p16"/>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77" name="Google Shape;3377;p16"/>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378" name="Google Shape;3378;p16"/>
          <p:cNvSpPr/>
          <p:nvPr/>
        </p:nvSpPr>
        <p:spPr>
          <a:xfrm>
            <a:off x="7207718" y="4088827"/>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3379" name="Google Shape;3379;p16"/>
          <p:cNvSpPr/>
          <p:nvPr/>
        </p:nvSpPr>
        <p:spPr>
          <a:xfrm>
            <a:off x="7169618" y="4142802"/>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380" name="Google Shape;3380;p16"/>
          <p:cNvCxnSpPr/>
          <p:nvPr/>
        </p:nvCxnSpPr>
        <p:spPr>
          <a:xfrm>
            <a:off x="7179143" y="490321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3381" name="Google Shape;3381;p16"/>
          <p:cNvSpPr txBox="1"/>
          <p:nvPr/>
        </p:nvSpPr>
        <p:spPr>
          <a:xfrm>
            <a:off x="7136281" y="488575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transport</a:t>
            </a:r>
            <a:endParaRPr/>
          </a:p>
        </p:txBody>
      </p:sp>
      <p:cxnSp>
        <p:nvCxnSpPr>
          <p:cNvPr id="3382" name="Google Shape;3382;p16"/>
          <p:cNvCxnSpPr/>
          <p:nvPr/>
        </p:nvCxnSpPr>
        <p:spPr>
          <a:xfrm>
            <a:off x="7187081" y="522388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3383" name="Google Shape;3383;p16"/>
          <p:cNvCxnSpPr/>
          <p:nvPr/>
        </p:nvCxnSpPr>
        <p:spPr>
          <a:xfrm>
            <a:off x="7172793" y="553345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3384" name="Google Shape;3384;p16"/>
          <p:cNvCxnSpPr/>
          <p:nvPr/>
        </p:nvCxnSpPr>
        <p:spPr>
          <a:xfrm>
            <a:off x="7172793" y="581920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3385" name="Google Shape;3385;p16"/>
          <p:cNvSpPr txBox="1"/>
          <p:nvPr/>
        </p:nvSpPr>
        <p:spPr>
          <a:xfrm>
            <a:off x="7171206" y="413327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3386" name="Google Shape;3386;p16"/>
          <p:cNvSpPr txBox="1"/>
          <p:nvPr/>
        </p:nvSpPr>
        <p:spPr>
          <a:xfrm>
            <a:off x="7126756" y="579062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physical</a:t>
            </a:r>
            <a:endParaRPr/>
          </a:p>
        </p:txBody>
      </p:sp>
      <p:sp>
        <p:nvSpPr>
          <p:cNvPr id="3387" name="Google Shape;3387;p16"/>
          <p:cNvSpPr txBox="1"/>
          <p:nvPr/>
        </p:nvSpPr>
        <p:spPr>
          <a:xfrm>
            <a:off x="7145806" y="550487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link</a:t>
            </a:r>
            <a:endParaRPr/>
          </a:p>
        </p:txBody>
      </p:sp>
      <p:sp>
        <p:nvSpPr>
          <p:cNvPr id="3388" name="Google Shape;3388;p16"/>
          <p:cNvSpPr txBox="1"/>
          <p:nvPr/>
        </p:nvSpPr>
        <p:spPr>
          <a:xfrm>
            <a:off x="7136281" y="520960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network</a:t>
            </a:r>
            <a:endParaRPr/>
          </a:p>
        </p:txBody>
      </p:sp>
      <p:sp>
        <p:nvSpPr>
          <p:cNvPr id="3389" name="Google Shape;3389;p16"/>
          <p:cNvSpPr/>
          <p:nvPr/>
        </p:nvSpPr>
        <p:spPr>
          <a:xfrm>
            <a:off x="7304556" y="4407914"/>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3390" name="Google Shape;3390;p16"/>
          <p:cNvGrpSpPr/>
          <p:nvPr/>
        </p:nvGrpSpPr>
        <p:grpSpPr>
          <a:xfrm>
            <a:off x="7552206" y="4768277"/>
            <a:ext cx="546100" cy="225425"/>
            <a:chOff x="1287" y="2524"/>
            <a:chExt cx="260" cy="100"/>
          </a:xfrm>
        </p:grpSpPr>
        <p:sp>
          <p:nvSpPr>
            <p:cNvPr id="3391" name="Google Shape;3391;p16"/>
            <p:cNvSpPr/>
            <p:nvPr/>
          </p:nvSpPr>
          <p:spPr>
            <a:xfrm>
              <a:off x="1287" y="2524"/>
              <a:ext cx="260" cy="100"/>
            </a:xfrm>
            <a:prstGeom prst="rect">
              <a:avLst/>
            </a:prstGeom>
            <a:solidFill>
              <a:srgbClr val="C96B7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92" name="Google Shape;3392;p16"/>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93" name="Google Shape;3393;p16"/>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3394" name="Google Shape;3394;p16"/>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cxnSp>
        <p:nvCxnSpPr>
          <p:cNvPr id="3395" name="Google Shape;3395;p16"/>
          <p:cNvCxnSpPr/>
          <p:nvPr/>
        </p:nvCxnSpPr>
        <p:spPr>
          <a:xfrm rot="10800000">
            <a:off x="8361831" y="4539677"/>
            <a:ext cx="609600" cy="0"/>
          </a:xfrm>
          <a:prstGeom prst="straightConnector1">
            <a:avLst/>
          </a:prstGeom>
          <a:noFill/>
          <a:ln cap="flat" cmpd="sng" w="19050">
            <a:solidFill>
              <a:srgbClr val="CC0000"/>
            </a:solidFill>
            <a:prstDash val="solid"/>
            <a:round/>
            <a:headEnd len="med" w="med" type="none"/>
            <a:tailEnd len="med" w="med" type="none"/>
          </a:ln>
        </p:spPr>
      </p:cxnSp>
      <p:cxnSp>
        <p:nvCxnSpPr>
          <p:cNvPr id="3396" name="Google Shape;3396;p16"/>
          <p:cNvCxnSpPr/>
          <p:nvPr/>
        </p:nvCxnSpPr>
        <p:spPr>
          <a:xfrm>
            <a:off x="8587256" y="4965127"/>
            <a:ext cx="0" cy="1022350"/>
          </a:xfrm>
          <a:prstGeom prst="straightConnector1">
            <a:avLst/>
          </a:prstGeom>
          <a:noFill/>
          <a:ln cap="flat" cmpd="sng" w="19050">
            <a:solidFill>
              <a:srgbClr val="CC0000"/>
            </a:solidFill>
            <a:prstDash val="solid"/>
            <a:round/>
            <a:headEnd len="med" w="med" type="none"/>
            <a:tailEnd len="med" w="med" type="none"/>
          </a:ln>
        </p:spPr>
      </p:cxnSp>
      <p:cxnSp>
        <p:nvCxnSpPr>
          <p:cNvPr id="3397" name="Google Shape;3397;p16"/>
          <p:cNvCxnSpPr/>
          <p:nvPr/>
        </p:nvCxnSpPr>
        <p:spPr>
          <a:xfrm rot="10800000">
            <a:off x="8611068" y="5465189"/>
            <a:ext cx="609600" cy="0"/>
          </a:xfrm>
          <a:prstGeom prst="straightConnector1">
            <a:avLst/>
          </a:prstGeom>
          <a:noFill/>
          <a:ln cap="flat" cmpd="sng" w="19050">
            <a:solidFill>
              <a:srgbClr val="CC0000"/>
            </a:solidFill>
            <a:prstDash val="solid"/>
            <a:round/>
            <a:headEnd len="med" w="med" type="none"/>
            <a:tailEnd len="med" w="med" type="none"/>
          </a:ln>
        </p:spPr>
      </p:cxnSp>
      <p:sp>
        <p:nvSpPr>
          <p:cNvPr id="3398" name="Google Shape;3398;p16"/>
          <p:cNvSpPr txBox="1"/>
          <p:nvPr/>
        </p:nvSpPr>
        <p:spPr>
          <a:xfrm>
            <a:off x="5524968" y="4220589"/>
            <a:ext cx="917575" cy="36671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socket</a:t>
            </a:r>
            <a:endParaRPr/>
          </a:p>
        </p:txBody>
      </p:sp>
      <p:cxnSp>
        <p:nvCxnSpPr>
          <p:cNvPr id="3399" name="Google Shape;3399;p16"/>
          <p:cNvCxnSpPr/>
          <p:nvPr/>
        </p:nvCxnSpPr>
        <p:spPr>
          <a:xfrm flipH="1" rot="10800000">
            <a:off x="4528018" y="4420614"/>
            <a:ext cx="968375" cy="434975"/>
          </a:xfrm>
          <a:prstGeom prst="straightConnector1">
            <a:avLst/>
          </a:prstGeom>
          <a:noFill/>
          <a:ln cap="flat" cmpd="sng" w="19050">
            <a:solidFill>
              <a:srgbClr val="CC0000"/>
            </a:solidFill>
            <a:prstDash val="solid"/>
            <a:round/>
            <a:headEnd len="med" w="med" type="none"/>
            <a:tailEnd len="med" w="med" type="none"/>
          </a:ln>
        </p:spPr>
      </p:cxnSp>
      <p:cxnSp>
        <p:nvCxnSpPr>
          <p:cNvPr id="3400" name="Google Shape;3400;p16"/>
          <p:cNvCxnSpPr/>
          <p:nvPr/>
        </p:nvCxnSpPr>
        <p:spPr>
          <a:xfrm rot="10800000">
            <a:off x="6463181" y="4409502"/>
            <a:ext cx="968375" cy="434975"/>
          </a:xfrm>
          <a:prstGeom prst="straightConnector1">
            <a:avLst/>
          </a:prstGeom>
          <a:noFill/>
          <a:ln cap="flat" cmpd="sng" w="19050">
            <a:solidFill>
              <a:srgbClr val="CC0000"/>
            </a:solidFill>
            <a:prstDash val="solid"/>
            <a:round/>
            <a:headEnd len="med" w="med" type="none"/>
            <a:tailEnd len="med" w="med" type="none"/>
          </a:ln>
        </p:spPr>
      </p:cxnSp>
      <p:grpSp>
        <p:nvGrpSpPr>
          <p:cNvPr id="3401" name="Google Shape;3401;p16"/>
          <p:cNvGrpSpPr/>
          <p:nvPr/>
        </p:nvGrpSpPr>
        <p:grpSpPr>
          <a:xfrm>
            <a:off x="2318218" y="5474714"/>
            <a:ext cx="719138" cy="773113"/>
            <a:chOff x="-44" y="1473"/>
            <a:chExt cx="981" cy="1105"/>
          </a:xfrm>
        </p:grpSpPr>
        <p:pic>
          <p:nvPicPr>
            <p:cNvPr descr="desktop_computer_stylized_medium" id="3402" name="Google Shape;3402;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03" name="Google Shape;3403;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3404" name="Google Shape;3404;p16"/>
          <p:cNvGrpSpPr/>
          <p:nvPr/>
        </p:nvGrpSpPr>
        <p:grpSpPr>
          <a:xfrm flipH="1">
            <a:off x="9014293" y="5669977"/>
            <a:ext cx="719138" cy="773112"/>
            <a:chOff x="-44" y="1473"/>
            <a:chExt cx="981" cy="1105"/>
          </a:xfrm>
        </p:grpSpPr>
        <p:pic>
          <p:nvPicPr>
            <p:cNvPr descr="desktop_computer_stylized_medium" id="3405" name="Google Shape;3405;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06" name="Google Shape;3406;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3407" name="Google Shape;3407;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2" name="Shape 3412"/>
        <p:cNvGrpSpPr/>
        <p:nvPr/>
      </p:nvGrpSpPr>
      <p:grpSpPr>
        <a:xfrm>
          <a:off x="0" y="0"/>
          <a:ext cx="0" cy="0"/>
          <a:chOff x="0" y="0"/>
          <a:chExt cx="0" cy="0"/>
        </a:xfrm>
      </p:grpSpPr>
      <p:sp>
        <p:nvSpPr>
          <p:cNvPr id="3413" name="Google Shape;3413;p17"/>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Addressing processes</a:t>
            </a:r>
            <a:endParaRPr sz="4400"/>
          </a:p>
        </p:txBody>
      </p:sp>
      <p:sp>
        <p:nvSpPr>
          <p:cNvPr id="3414" name="Google Shape;3414;p17"/>
          <p:cNvSpPr txBox="1"/>
          <p:nvPr/>
        </p:nvSpPr>
        <p:spPr>
          <a:xfrm>
            <a:off x="695101" y="1464896"/>
            <a:ext cx="4964479"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to receive messages, process  must have </a:t>
            </a:r>
            <a:r>
              <a:rPr b="0" i="1" lang="en-US" sz="2800" u="none" cap="none" strike="noStrike">
                <a:solidFill>
                  <a:srgbClr val="C00000"/>
                </a:solidFill>
                <a:latin typeface="Calibri"/>
                <a:ea typeface="Calibri"/>
                <a:cs typeface="Calibri"/>
                <a:sym typeface="Calibri"/>
              </a:rPr>
              <a:t>identifier</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host device has unique 32-bit IP address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sng" cap="none" strike="noStrike">
                <a:solidFill>
                  <a:srgbClr val="C00000"/>
                </a:solidFill>
                <a:latin typeface="Calibri"/>
                <a:ea typeface="Calibri"/>
                <a:cs typeface="Calibri"/>
                <a:sym typeface="Calibri"/>
              </a:rPr>
              <a:t>Q:</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does  IP address of host on which process runs suffice for identifying the process?</a:t>
            </a:r>
            <a:endParaRPr/>
          </a:p>
        </p:txBody>
      </p:sp>
      <p:sp>
        <p:nvSpPr>
          <p:cNvPr id="3415" name="Google Shape;3415;p17"/>
          <p:cNvSpPr txBox="1"/>
          <p:nvPr/>
        </p:nvSpPr>
        <p:spPr>
          <a:xfrm>
            <a:off x="6056491" y="1464896"/>
            <a:ext cx="5573224" cy="5218112"/>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identifier</a:t>
            </a:r>
            <a:r>
              <a:rPr b="0" i="0" lang="en-US" sz="2800" u="none" cap="none" strike="noStrike">
                <a:solidFill>
                  <a:srgbClr val="FF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includes both </a:t>
            </a:r>
            <a:r>
              <a:rPr b="0" i="0" lang="en-US" sz="2800" u="none" cap="none" strike="noStrike">
                <a:solidFill>
                  <a:srgbClr val="C00000"/>
                </a:solidFill>
                <a:latin typeface="Calibri"/>
                <a:ea typeface="Calibri"/>
                <a:cs typeface="Calibri"/>
                <a:sym typeface="Calibri"/>
              </a:rPr>
              <a:t>IP address</a:t>
            </a:r>
            <a:r>
              <a:rPr b="0" i="0" lang="en-US" sz="2800" u="none" cap="none" strike="noStrike">
                <a:solidFill>
                  <a:srgbClr val="000000"/>
                </a:solidFill>
                <a:latin typeface="Calibri"/>
                <a:ea typeface="Calibri"/>
                <a:cs typeface="Calibri"/>
                <a:sym typeface="Calibri"/>
              </a:rPr>
              <a:t> and </a:t>
            </a:r>
            <a:r>
              <a:rPr b="0" i="0" lang="en-US" sz="2800" u="none" cap="none" strike="noStrike">
                <a:solidFill>
                  <a:srgbClr val="C00000"/>
                </a:solidFill>
                <a:latin typeface="Calibri"/>
                <a:ea typeface="Calibri"/>
                <a:cs typeface="Calibri"/>
                <a:sym typeface="Calibri"/>
              </a:rPr>
              <a:t>port numbers </a:t>
            </a:r>
            <a:r>
              <a:rPr b="0" i="0" lang="en-US" sz="2800" u="none" cap="none" strike="noStrike">
                <a:solidFill>
                  <a:srgbClr val="000000"/>
                </a:solidFill>
                <a:latin typeface="Calibri"/>
                <a:ea typeface="Calibri"/>
                <a:cs typeface="Calibri"/>
                <a:sym typeface="Calibri"/>
              </a:rPr>
              <a:t>associated with process on host.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example port numbers: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HTTP server: 80</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mail server: 25</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to send HTTP message to gaia.cs.umass.edu web server: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C00000"/>
                </a:solidFill>
                <a:latin typeface="Calibri"/>
                <a:ea typeface="Calibri"/>
                <a:cs typeface="Calibri"/>
                <a:sym typeface="Calibri"/>
              </a:rPr>
              <a:t>IP address: </a:t>
            </a:r>
            <a:r>
              <a:rPr b="0" i="0" lang="en-US" sz="2400" u="none" cap="none" strike="noStrike">
                <a:solidFill>
                  <a:srgbClr val="000000"/>
                </a:solidFill>
                <a:latin typeface="Calibri"/>
                <a:ea typeface="Calibri"/>
                <a:cs typeface="Calibri"/>
                <a:sym typeface="Calibri"/>
              </a:rPr>
              <a:t>128.119.245.12</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C00000"/>
                </a:solidFill>
                <a:latin typeface="Calibri"/>
                <a:ea typeface="Calibri"/>
                <a:cs typeface="Calibri"/>
                <a:sym typeface="Calibri"/>
              </a:rPr>
              <a:t>port number: </a:t>
            </a:r>
            <a:r>
              <a:rPr b="0" i="0" lang="en-US" sz="2400" u="none" cap="none" strike="noStrike">
                <a:solidFill>
                  <a:srgbClr val="000000"/>
                </a:solidFill>
                <a:latin typeface="Calibri"/>
                <a:ea typeface="Calibri"/>
                <a:cs typeface="Calibri"/>
                <a:sym typeface="Calibri"/>
              </a:rPr>
              <a:t>80</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more shortly…</a:t>
            </a:r>
            <a:endParaRPr/>
          </a:p>
        </p:txBody>
      </p:sp>
      <p:sp>
        <p:nvSpPr>
          <p:cNvPr id="3416" name="Google Shape;3416;p17"/>
          <p:cNvSpPr/>
          <p:nvPr/>
        </p:nvSpPr>
        <p:spPr>
          <a:xfrm>
            <a:off x="562285" y="4507034"/>
            <a:ext cx="4314515" cy="10668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85000"/>
              </a:lnSpc>
              <a:spcBef>
                <a:spcPts val="0"/>
              </a:spcBef>
              <a:spcAft>
                <a:spcPts val="0"/>
              </a:spcAft>
              <a:buClr>
                <a:srgbClr val="000099"/>
              </a:buClr>
              <a:buSzPts val="2800"/>
              <a:buFont typeface="Noto Sans Symbols"/>
              <a:buChar char="▪"/>
            </a:pPr>
            <a:r>
              <a:rPr b="0" i="1" lang="en-US" sz="2800" u="sng" cap="none" strike="noStrike">
                <a:solidFill>
                  <a:srgbClr val="C00000"/>
                </a:solidFill>
                <a:latin typeface="Calibri"/>
                <a:ea typeface="Calibri"/>
                <a:cs typeface="Calibri"/>
                <a:sym typeface="Calibri"/>
              </a:rPr>
              <a:t>A:</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no, </a:t>
            </a:r>
            <a:r>
              <a:rPr b="0" i="1" lang="en-US" sz="2800" u="none" cap="none" strike="noStrike">
                <a:solidFill>
                  <a:srgbClr val="000000"/>
                </a:solidFill>
                <a:latin typeface="Calibri"/>
                <a:ea typeface="Calibri"/>
                <a:cs typeface="Calibri"/>
                <a:sym typeface="Calibri"/>
              </a:rPr>
              <a:t>many</a:t>
            </a:r>
            <a:r>
              <a:rPr b="0" i="0" lang="en-US" sz="2800" u="none" cap="none" strike="noStrike">
                <a:solidFill>
                  <a:srgbClr val="000000"/>
                </a:solidFill>
                <a:latin typeface="Calibri"/>
                <a:ea typeface="Calibri"/>
                <a:cs typeface="Calibri"/>
                <a:sym typeface="Calibri"/>
              </a:rPr>
              <a:t> processes can be running on same host</a:t>
            </a:r>
            <a:endParaRPr/>
          </a:p>
        </p:txBody>
      </p:sp>
      <p:sp>
        <p:nvSpPr>
          <p:cNvPr id="3417" name="Google Shape;3417;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6">
                                            <p:txEl>
                                              <p:pRg end="0" st="0"/>
                                            </p:txEl>
                                          </p:spTgt>
                                        </p:tgtEl>
                                        <p:attrNameLst>
                                          <p:attrName>style.visibility</p:attrName>
                                        </p:attrNameLst>
                                      </p:cBhvr>
                                      <p:to>
                                        <p:strVal val="visible"/>
                                      </p:to>
                                    </p:set>
                                    <p:animEffect filter="fade" transition="in">
                                      <p:cBhvr>
                                        <p:cTn dur="500"/>
                                        <p:tgtEl>
                                          <p:spTgt spid="34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0" st="0"/>
                                            </p:txEl>
                                          </p:spTgt>
                                        </p:tgtEl>
                                        <p:attrNameLst>
                                          <p:attrName>style.visibility</p:attrName>
                                        </p:attrNameLst>
                                      </p:cBhvr>
                                      <p:to>
                                        <p:strVal val="visible"/>
                                      </p:to>
                                    </p:set>
                                    <p:animEffect filter="fade" transition="in">
                                      <p:cBhvr>
                                        <p:cTn dur="500"/>
                                        <p:tgtEl>
                                          <p:spTgt spid="34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1" st="1"/>
                                            </p:txEl>
                                          </p:spTgt>
                                        </p:tgtEl>
                                        <p:attrNameLst>
                                          <p:attrName>style.visibility</p:attrName>
                                        </p:attrNameLst>
                                      </p:cBhvr>
                                      <p:to>
                                        <p:strVal val="visible"/>
                                      </p:to>
                                    </p:set>
                                    <p:animEffect filter="fade" transition="in">
                                      <p:cBhvr>
                                        <p:cTn dur="500"/>
                                        <p:tgtEl>
                                          <p:spTgt spid="34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2" st="2"/>
                                            </p:txEl>
                                          </p:spTgt>
                                        </p:tgtEl>
                                        <p:attrNameLst>
                                          <p:attrName>style.visibility</p:attrName>
                                        </p:attrNameLst>
                                      </p:cBhvr>
                                      <p:to>
                                        <p:strVal val="visible"/>
                                      </p:to>
                                    </p:set>
                                    <p:animEffect filter="fade" transition="in">
                                      <p:cBhvr>
                                        <p:cTn dur="500"/>
                                        <p:tgtEl>
                                          <p:spTgt spid="34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3" st="3"/>
                                            </p:txEl>
                                          </p:spTgt>
                                        </p:tgtEl>
                                        <p:attrNameLst>
                                          <p:attrName>style.visibility</p:attrName>
                                        </p:attrNameLst>
                                      </p:cBhvr>
                                      <p:to>
                                        <p:strVal val="visible"/>
                                      </p:to>
                                    </p:set>
                                    <p:animEffect filter="fade" transition="in">
                                      <p:cBhvr>
                                        <p:cTn dur="500"/>
                                        <p:tgtEl>
                                          <p:spTgt spid="34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4" st="4"/>
                                            </p:txEl>
                                          </p:spTgt>
                                        </p:tgtEl>
                                        <p:attrNameLst>
                                          <p:attrName>style.visibility</p:attrName>
                                        </p:attrNameLst>
                                      </p:cBhvr>
                                      <p:to>
                                        <p:strVal val="visible"/>
                                      </p:to>
                                    </p:set>
                                    <p:animEffect filter="fade" transition="in">
                                      <p:cBhvr>
                                        <p:cTn dur="500"/>
                                        <p:tgtEl>
                                          <p:spTgt spid="34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5" st="5"/>
                                            </p:txEl>
                                          </p:spTgt>
                                        </p:tgtEl>
                                        <p:attrNameLst>
                                          <p:attrName>style.visibility</p:attrName>
                                        </p:attrNameLst>
                                      </p:cBhvr>
                                      <p:to>
                                        <p:strVal val="visible"/>
                                      </p:to>
                                    </p:set>
                                    <p:animEffect filter="fade" transition="in">
                                      <p:cBhvr>
                                        <p:cTn dur="500"/>
                                        <p:tgtEl>
                                          <p:spTgt spid="34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6" st="6"/>
                                            </p:txEl>
                                          </p:spTgt>
                                        </p:tgtEl>
                                        <p:attrNameLst>
                                          <p:attrName>style.visibility</p:attrName>
                                        </p:attrNameLst>
                                      </p:cBhvr>
                                      <p:to>
                                        <p:strVal val="visible"/>
                                      </p:to>
                                    </p:set>
                                    <p:animEffect filter="fade" transition="in">
                                      <p:cBhvr>
                                        <p:cTn dur="500"/>
                                        <p:tgtEl>
                                          <p:spTgt spid="341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5">
                                            <p:txEl>
                                              <p:pRg end="7" st="7"/>
                                            </p:txEl>
                                          </p:spTgt>
                                        </p:tgtEl>
                                        <p:attrNameLst>
                                          <p:attrName>style.visibility</p:attrName>
                                        </p:attrNameLst>
                                      </p:cBhvr>
                                      <p:to>
                                        <p:strVal val="visible"/>
                                      </p:to>
                                    </p:set>
                                    <p:animEffect filter="fade" transition="in">
                                      <p:cBhvr>
                                        <p:cTn dur="500"/>
                                        <p:tgtEl>
                                          <p:spTgt spid="341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2" name="Shape 3422"/>
        <p:cNvGrpSpPr/>
        <p:nvPr/>
      </p:nvGrpSpPr>
      <p:grpSpPr>
        <a:xfrm>
          <a:off x="0" y="0"/>
          <a:ext cx="0" cy="0"/>
          <a:chOff x="0" y="0"/>
          <a:chExt cx="0" cy="0"/>
        </a:xfrm>
      </p:grpSpPr>
      <p:sp>
        <p:nvSpPr>
          <p:cNvPr id="3423" name="Google Shape;3423;p18"/>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Protocol </a:t>
            </a:r>
            <a:r>
              <a:rPr lang="en-US"/>
              <a:t>“l</a:t>
            </a:r>
            <a:r>
              <a:rPr lang="en-US" sz="4400"/>
              <a:t>ayers</a:t>
            </a:r>
            <a:r>
              <a:rPr lang="en-US"/>
              <a:t>”</a:t>
            </a:r>
            <a:r>
              <a:rPr lang="en-US" sz="4400"/>
              <a:t> and reference </a:t>
            </a:r>
            <a:r>
              <a:rPr lang="en-US"/>
              <a:t>m</a:t>
            </a:r>
            <a:r>
              <a:rPr lang="en-US" sz="4400"/>
              <a:t>odels</a:t>
            </a:r>
            <a:endParaRPr sz="4400"/>
          </a:p>
        </p:txBody>
      </p:sp>
      <p:sp>
        <p:nvSpPr>
          <p:cNvPr id="3424" name="Google Shape;3424;p18"/>
          <p:cNvSpPr txBox="1"/>
          <p:nvPr/>
        </p:nvSpPr>
        <p:spPr>
          <a:xfrm>
            <a:off x="800566" y="1575775"/>
            <a:ext cx="5615905" cy="50498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75000"/>
              </a:lnSpc>
              <a:spcBef>
                <a:spcPts val="0"/>
              </a:spcBef>
              <a:spcAft>
                <a:spcPts val="0"/>
              </a:spcAft>
              <a:buClr>
                <a:srgbClr val="0000A3"/>
              </a:buClr>
              <a:buSzPts val="3600"/>
              <a:buFont typeface="Noto Sans Symbols"/>
              <a:buNone/>
            </a:pPr>
            <a:r>
              <a:rPr b="0" lang="en-US" sz="3600" u="none" cap="none" strike="noStrike">
                <a:solidFill>
                  <a:srgbClr val="CC0000"/>
                </a:solidFill>
                <a:latin typeface="Calibri"/>
                <a:ea typeface="Calibri"/>
                <a:cs typeface="Calibri"/>
                <a:sym typeface="Calibri"/>
              </a:rPr>
              <a:t>Networks are complex,</a:t>
            </a:r>
            <a:endParaRPr/>
          </a:p>
          <a:p>
            <a:pPr indent="-222250" lvl="0" marL="352425" marR="0" rtl="0" algn="l">
              <a:lnSpc>
                <a:spcPct val="75000"/>
              </a:lnSpc>
              <a:spcBef>
                <a:spcPts val="1000"/>
              </a:spcBef>
              <a:spcAft>
                <a:spcPts val="0"/>
              </a:spcAft>
              <a:buClr>
                <a:srgbClr val="0000A3"/>
              </a:buClr>
              <a:buSzPts val="3600"/>
              <a:buFont typeface="Noto Sans Symbols"/>
              <a:buNone/>
            </a:pPr>
            <a:r>
              <a:rPr b="0" lang="en-US" sz="3600" u="none" cap="none" strike="noStrike">
                <a:solidFill>
                  <a:srgbClr val="CC0000"/>
                </a:solidFill>
                <a:latin typeface="Calibri"/>
                <a:ea typeface="Calibri"/>
                <a:cs typeface="Calibri"/>
                <a:sym typeface="Calibri"/>
              </a:rPr>
              <a:t>with many “pieces”:</a:t>
            </a:r>
            <a:endParaRPr/>
          </a:p>
          <a:p>
            <a:pPr indent="-231775" lvl="1" marL="695325" marR="0" rtl="0" algn="l">
              <a:lnSpc>
                <a:spcPct val="90000"/>
              </a:lnSpc>
              <a:spcBef>
                <a:spcPts val="5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hosts</a:t>
            </a:r>
            <a:endParaRPr/>
          </a:p>
          <a:p>
            <a:pPr indent="-231775" lvl="1" marL="695325" marR="0" rtl="0" algn="l">
              <a:lnSpc>
                <a:spcPct val="90000"/>
              </a:lnSpc>
              <a:spcBef>
                <a:spcPts val="5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routers</a:t>
            </a:r>
            <a:endParaRPr/>
          </a:p>
          <a:p>
            <a:pPr indent="-231775" lvl="1" marL="695325" marR="0" rtl="0" algn="l">
              <a:lnSpc>
                <a:spcPct val="90000"/>
              </a:lnSpc>
              <a:spcBef>
                <a:spcPts val="5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links of various media</a:t>
            </a:r>
            <a:endParaRPr/>
          </a:p>
          <a:p>
            <a:pPr indent="-231775" lvl="1" marL="695325" marR="0" rtl="0" algn="l">
              <a:lnSpc>
                <a:spcPct val="90000"/>
              </a:lnSpc>
              <a:spcBef>
                <a:spcPts val="5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applications</a:t>
            </a:r>
            <a:endParaRPr/>
          </a:p>
          <a:p>
            <a:pPr indent="-231775" lvl="1" marL="695325" marR="0" rtl="0" algn="l">
              <a:lnSpc>
                <a:spcPct val="90000"/>
              </a:lnSpc>
              <a:spcBef>
                <a:spcPts val="5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protocols</a:t>
            </a:r>
            <a:endParaRPr/>
          </a:p>
          <a:p>
            <a:pPr indent="-231775" lvl="1" marL="695325" marR="0" rtl="0" algn="l">
              <a:lnSpc>
                <a:spcPct val="90000"/>
              </a:lnSpc>
              <a:spcBef>
                <a:spcPts val="500"/>
              </a:spcBef>
              <a:spcAft>
                <a:spcPts val="0"/>
              </a:spcAft>
              <a:buClr>
                <a:srgbClr val="0000A8"/>
              </a:buClr>
              <a:buSzPts val="3200"/>
              <a:buFont typeface="Noto Sans Symbols"/>
              <a:buChar char="▪"/>
            </a:pPr>
            <a:r>
              <a:rPr b="0" i="0" lang="en-US" sz="3200" u="none" cap="none" strike="noStrike">
                <a:solidFill>
                  <a:srgbClr val="000000"/>
                </a:solidFill>
                <a:latin typeface="Calibri"/>
                <a:ea typeface="Calibri"/>
                <a:cs typeface="Calibri"/>
                <a:sym typeface="Calibri"/>
              </a:rPr>
              <a:t>hardware, software</a:t>
            </a:r>
            <a:endParaRPr/>
          </a:p>
          <a:p>
            <a:pPr indent="-222250" lvl="0" marL="352425" marR="0" rtl="0" algn="l">
              <a:lnSpc>
                <a:spcPct val="75000"/>
              </a:lnSpc>
              <a:spcBef>
                <a:spcPts val="1000"/>
              </a:spcBef>
              <a:spcAft>
                <a:spcPts val="0"/>
              </a:spcAft>
              <a:buClr>
                <a:srgbClr val="0000A3"/>
              </a:buClr>
              <a:buSzPts val="3200"/>
              <a:buFont typeface="Noto Sans Symbols"/>
              <a:buNone/>
            </a:pPr>
            <a:r>
              <a:t/>
            </a:r>
            <a:endParaRPr b="0" i="1" sz="3200" u="none" cap="none" strike="noStrike">
              <a:solidFill>
                <a:srgbClr val="CC0000"/>
              </a:solidFill>
              <a:latin typeface="Calibri"/>
              <a:ea typeface="Calibri"/>
              <a:cs typeface="Calibri"/>
              <a:sym typeface="Calibri"/>
            </a:endParaRPr>
          </a:p>
        </p:txBody>
      </p:sp>
      <p:sp>
        <p:nvSpPr>
          <p:cNvPr id="3425" name="Google Shape;3425;p18"/>
          <p:cNvSpPr txBox="1"/>
          <p:nvPr/>
        </p:nvSpPr>
        <p:spPr>
          <a:xfrm>
            <a:off x="6584274" y="1539452"/>
            <a:ext cx="4531739" cy="4343034"/>
          </a:xfrm>
          <a:prstGeom prst="rect">
            <a:avLst/>
          </a:prstGeom>
          <a:noFill/>
          <a:ln>
            <a:noFill/>
          </a:ln>
        </p:spPr>
        <p:txBody>
          <a:bodyPr anchorCtr="0" anchor="t" bIns="45700" lIns="91425" spcFirstLastPara="1" rIns="91425" wrap="square" tIns="45700">
            <a:normAutofit/>
          </a:bodyPr>
          <a:lstStyle/>
          <a:p>
            <a:pPr indent="-47625" lvl="0" marL="1778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Question:</a:t>
            </a:r>
            <a:r>
              <a:rPr b="0" i="0" lang="en-US" sz="2400" u="sng" cap="none" strike="noStrike">
                <a:solidFill>
                  <a:srgbClr val="FF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is there any hope of </a:t>
            </a:r>
            <a:r>
              <a:rPr b="0" i="1" lang="en-US" sz="3200" u="none" cap="none" strike="noStrike">
                <a:solidFill>
                  <a:srgbClr val="000000"/>
                </a:solidFill>
                <a:latin typeface="Calibri"/>
                <a:ea typeface="Calibri"/>
                <a:cs typeface="Calibri"/>
                <a:sym typeface="Calibri"/>
              </a:rPr>
              <a:t>organizing</a:t>
            </a:r>
            <a:r>
              <a:rPr b="0" i="0" lang="en-US" sz="3200" u="none" cap="none" strike="noStrike">
                <a:solidFill>
                  <a:srgbClr val="000000"/>
                </a:solidFill>
                <a:latin typeface="Calibri"/>
                <a:ea typeface="Calibri"/>
                <a:cs typeface="Calibri"/>
                <a:sym typeface="Calibri"/>
              </a:rPr>
              <a:t> structure of network?</a:t>
            </a:r>
            <a:endParaRPr/>
          </a:p>
          <a:p>
            <a:pPr indent="-223837" lvl="0" marL="5222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and/or our </a:t>
            </a:r>
            <a:r>
              <a:rPr b="0" i="1" lang="en-US" sz="3200" u="none" cap="none" strike="noStrike">
                <a:solidFill>
                  <a:srgbClr val="000000"/>
                </a:solidFill>
                <a:latin typeface="Calibri"/>
                <a:ea typeface="Calibri"/>
                <a:cs typeface="Calibri"/>
                <a:sym typeface="Calibri"/>
              </a:rPr>
              <a:t>discussion</a:t>
            </a:r>
            <a:r>
              <a:rPr b="0" i="0" lang="en-US" sz="3200" u="none" cap="none" strike="noStrike">
                <a:solidFill>
                  <a:srgbClr val="000000"/>
                </a:solidFill>
                <a:latin typeface="Calibri"/>
                <a:ea typeface="Calibri"/>
                <a:cs typeface="Calibri"/>
                <a:sym typeface="Calibri"/>
              </a:rPr>
              <a:t> of networks?</a:t>
            </a:r>
            <a:endParaRPr/>
          </a:p>
        </p:txBody>
      </p:sp>
      <p:sp>
        <p:nvSpPr>
          <p:cNvPr id="3426" name="Google Shape;3426;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5"/>
                                        </p:tgtEl>
                                        <p:attrNameLst>
                                          <p:attrName>style.visibility</p:attrName>
                                        </p:attrNameLst>
                                      </p:cBhvr>
                                      <p:to>
                                        <p:strVal val="visible"/>
                                      </p:to>
                                    </p:set>
                                    <p:animEffect filter="fade" transition="in">
                                      <p:cBhvr>
                                        <p:cTn dur="1000"/>
                                        <p:tgtEl>
                                          <p:spTgt spid="3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1" name="Shape 3431"/>
        <p:cNvGrpSpPr/>
        <p:nvPr/>
      </p:nvGrpSpPr>
      <p:grpSpPr>
        <a:xfrm>
          <a:off x="0" y="0"/>
          <a:ext cx="0" cy="0"/>
          <a:chOff x="0" y="0"/>
          <a:chExt cx="0" cy="0"/>
        </a:xfrm>
      </p:grpSpPr>
      <p:sp>
        <p:nvSpPr>
          <p:cNvPr id="3432" name="Google Shape;3432;p1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What’s a protocol?</a:t>
            </a:r>
            <a:endParaRPr/>
          </a:p>
        </p:txBody>
      </p:sp>
      <p:sp>
        <p:nvSpPr>
          <p:cNvPr id="3433" name="Google Shape;3433;p19"/>
          <p:cNvSpPr txBox="1"/>
          <p:nvPr/>
        </p:nvSpPr>
        <p:spPr>
          <a:xfrm>
            <a:off x="844202" y="1490089"/>
            <a:ext cx="3581400" cy="4648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Arial"/>
                <a:ea typeface="Arial"/>
                <a:cs typeface="Arial"/>
                <a:sym typeface="Arial"/>
              </a:rPr>
              <a:t>Human protocols:</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Arial"/>
                <a:ea typeface="Arial"/>
                <a:cs typeface="Arial"/>
                <a:sym typeface="Arial"/>
              </a:rPr>
              <a:t>“what’s the time?”</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Arial"/>
                <a:ea typeface="Arial"/>
                <a:cs typeface="Arial"/>
                <a:sym typeface="Arial"/>
              </a:rPr>
              <a:t>“I have a question”</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Arial"/>
                <a:ea typeface="Arial"/>
                <a:cs typeface="Arial"/>
                <a:sym typeface="Arial"/>
              </a:rPr>
              <a:t>introductions</a:t>
            </a:r>
            <a:endParaRPr sz="2800">
              <a:solidFill>
                <a:schemeClr val="dk1"/>
              </a:solidFill>
              <a:latin typeface="Arial"/>
              <a:ea typeface="Arial"/>
              <a:cs typeface="Arial"/>
              <a:sym typeface="Arial"/>
            </a:endParaRPr>
          </a:p>
        </p:txBody>
      </p:sp>
      <p:sp>
        <p:nvSpPr>
          <p:cNvPr id="3434" name="Google Shape;3434;p19"/>
          <p:cNvSpPr txBox="1"/>
          <p:nvPr/>
        </p:nvSpPr>
        <p:spPr>
          <a:xfrm>
            <a:off x="5182172" y="1500137"/>
            <a:ext cx="5780439" cy="2590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Network protocols:</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Calibri"/>
                <a:ea typeface="Calibri"/>
                <a:cs typeface="Calibri"/>
                <a:sym typeface="Calibri"/>
              </a:rPr>
              <a:t>computers (devices) rather than humans</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Calibri"/>
                <a:ea typeface="Calibri"/>
                <a:cs typeface="Calibri"/>
                <a:sym typeface="Calibri"/>
              </a:rPr>
              <a:t>all communication activity in Internet governed by protocols</a:t>
            </a:r>
            <a:endParaRPr/>
          </a:p>
        </p:txBody>
      </p:sp>
      <p:grpSp>
        <p:nvGrpSpPr>
          <p:cNvPr id="3435" name="Google Shape;3435;p19"/>
          <p:cNvGrpSpPr/>
          <p:nvPr/>
        </p:nvGrpSpPr>
        <p:grpSpPr>
          <a:xfrm>
            <a:off x="5192221" y="3708643"/>
            <a:ext cx="5860823" cy="2568587"/>
            <a:chOff x="5573361" y="3999310"/>
            <a:chExt cx="5860823" cy="2568587"/>
          </a:xfrm>
        </p:grpSpPr>
        <p:sp>
          <p:nvSpPr>
            <p:cNvPr id="3436" name="Google Shape;3436;p19"/>
            <p:cNvSpPr/>
            <p:nvPr/>
          </p:nvSpPr>
          <p:spPr>
            <a:xfrm>
              <a:off x="5573361" y="4205697"/>
              <a:ext cx="5720151" cy="2362200"/>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Clr>
                  <a:schemeClr val="accent2"/>
                </a:buClr>
                <a:buSzPts val="2380"/>
                <a:buFont typeface="Noto Sans Symbols"/>
                <a:buNone/>
              </a:pPr>
              <a:r>
                <a:rPr i="1" lang="en-US" sz="2800">
                  <a:solidFill>
                    <a:srgbClr val="CC0000"/>
                  </a:solidFill>
                  <a:latin typeface="Arial"/>
                  <a:ea typeface="Arial"/>
                  <a:cs typeface="Arial"/>
                  <a:sym typeface="Arial"/>
                </a:rPr>
                <a:t>Protocols</a:t>
              </a:r>
              <a:r>
                <a:rPr i="1" lang="en-US" sz="2800">
                  <a:solidFill>
                    <a:schemeClr val="dk1"/>
                  </a:solidFill>
                  <a:latin typeface="Arial"/>
                  <a:ea typeface="Arial"/>
                  <a:cs typeface="Arial"/>
                  <a:sym typeface="Arial"/>
                </a:rPr>
                <a:t> define the </a:t>
              </a:r>
              <a:r>
                <a:rPr i="1" lang="en-US" sz="2800">
                  <a:solidFill>
                    <a:srgbClr val="CC0000"/>
                  </a:solidFill>
                  <a:latin typeface="Arial"/>
                  <a:ea typeface="Arial"/>
                  <a:cs typeface="Arial"/>
                  <a:sym typeface="Arial"/>
                </a:rPr>
                <a:t>format</a:t>
              </a:r>
              <a:r>
                <a:rPr i="1" lang="en-US" sz="2800">
                  <a:solidFill>
                    <a:schemeClr val="dk1"/>
                  </a:solidFill>
                  <a:latin typeface="Arial"/>
                  <a:ea typeface="Arial"/>
                  <a:cs typeface="Arial"/>
                  <a:sym typeface="Arial"/>
                </a:rPr>
                <a:t>, </a:t>
              </a:r>
              <a:r>
                <a:rPr i="1" lang="en-US" sz="2800">
                  <a:solidFill>
                    <a:srgbClr val="CC0000"/>
                  </a:solidFill>
                  <a:latin typeface="Arial"/>
                  <a:ea typeface="Arial"/>
                  <a:cs typeface="Arial"/>
                  <a:sym typeface="Arial"/>
                </a:rPr>
                <a:t>order</a:t>
              </a:r>
              <a:r>
                <a:rPr i="1" lang="en-US" sz="2800">
                  <a:solidFill>
                    <a:schemeClr val="dk1"/>
                  </a:solidFill>
                  <a:latin typeface="Arial"/>
                  <a:ea typeface="Arial"/>
                  <a:cs typeface="Arial"/>
                  <a:sym typeface="Arial"/>
                </a:rPr>
                <a:t> of </a:t>
              </a:r>
              <a:r>
                <a:rPr i="1" lang="en-US" sz="2800">
                  <a:solidFill>
                    <a:srgbClr val="CC0000"/>
                  </a:solidFill>
                  <a:latin typeface="Arial"/>
                  <a:ea typeface="Arial"/>
                  <a:cs typeface="Arial"/>
                  <a:sym typeface="Arial"/>
                </a:rPr>
                <a:t>messages sent and received</a:t>
              </a:r>
              <a:r>
                <a:rPr i="1" lang="en-US" sz="2800">
                  <a:solidFill>
                    <a:schemeClr val="dk1"/>
                  </a:solidFill>
                  <a:latin typeface="Arial"/>
                  <a:ea typeface="Arial"/>
                  <a:cs typeface="Arial"/>
                  <a:sym typeface="Arial"/>
                </a:rPr>
                <a:t> among network entities, and </a:t>
              </a:r>
              <a:r>
                <a:rPr i="1" lang="en-US" sz="2800">
                  <a:solidFill>
                    <a:srgbClr val="CC0000"/>
                  </a:solidFill>
                  <a:latin typeface="Arial"/>
                  <a:ea typeface="Arial"/>
                  <a:cs typeface="Arial"/>
                  <a:sym typeface="Arial"/>
                </a:rPr>
                <a:t>actions taken</a:t>
              </a:r>
              <a:r>
                <a:rPr i="1" lang="en-US" sz="2800">
                  <a:solidFill>
                    <a:schemeClr val="dk1"/>
                  </a:solidFill>
                  <a:latin typeface="Arial"/>
                  <a:ea typeface="Arial"/>
                  <a:cs typeface="Arial"/>
                  <a:sym typeface="Arial"/>
                </a:rPr>
                <a:t> on message transmission, receipt</a:t>
              </a:r>
              <a:r>
                <a:rPr i="1" lang="en-US" sz="2400">
                  <a:solidFill>
                    <a:srgbClr val="FF0000"/>
                  </a:solidFill>
                  <a:latin typeface="Arial"/>
                  <a:ea typeface="Arial"/>
                  <a:cs typeface="Arial"/>
                  <a:sym typeface="Arial"/>
                </a:rPr>
                <a:t> </a:t>
              </a:r>
              <a:endParaRPr/>
            </a:p>
          </p:txBody>
        </p:sp>
        <p:sp>
          <p:nvSpPr>
            <p:cNvPr id="3437" name="Google Shape;3437;p19"/>
            <p:cNvSpPr/>
            <p:nvPr/>
          </p:nvSpPr>
          <p:spPr>
            <a:xfrm>
              <a:off x="5653745" y="3999310"/>
              <a:ext cx="5780439" cy="2362200"/>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
        <p:nvSpPr>
          <p:cNvPr id="3438" name="Google Shape;3438;p19"/>
          <p:cNvSpPr txBox="1"/>
          <p:nvPr/>
        </p:nvSpPr>
        <p:spPr>
          <a:xfrm>
            <a:off x="952500" y="3843823"/>
            <a:ext cx="3581400" cy="2065910"/>
          </a:xfrm>
          <a:prstGeom prst="rect">
            <a:avLst/>
          </a:prstGeom>
          <a:noFill/>
          <a:ln>
            <a:noFill/>
          </a:ln>
        </p:spPr>
        <p:txBody>
          <a:bodyPr anchorCtr="0" anchor="t" bIns="45700" lIns="91425" spcFirstLastPara="1" rIns="91425" wrap="square" tIns="45700">
            <a:normAutofit fontScale="92500"/>
          </a:bodyPr>
          <a:lstStyle/>
          <a:p>
            <a:pPr indent="-228600" lvl="0" marL="228600" marR="0" rtl="0" algn="l">
              <a:lnSpc>
                <a:spcPct val="90000"/>
              </a:lnSpc>
              <a:spcBef>
                <a:spcPts val="0"/>
              </a:spcBef>
              <a:spcAft>
                <a:spcPts val="0"/>
              </a:spcAft>
              <a:buClr>
                <a:srgbClr val="0000A3"/>
              </a:buClr>
              <a:buSzPct val="100000"/>
              <a:buFont typeface="Noto Sans Symbols"/>
              <a:buNone/>
            </a:pPr>
            <a:r>
              <a:rPr lang="en-US" sz="2400">
                <a:solidFill>
                  <a:schemeClr val="dk1"/>
                </a:solidFill>
                <a:latin typeface="Arial"/>
                <a:ea typeface="Arial"/>
                <a:cs typeface="Arial"/>
                <a:sym typeface="Arial"/>
              </a:rPr>
              <a:t>Rules for:</a:t>
            </a:r>
            <a:endParaRPr/>
          </a:p>
          <a:p>
            <a:pPr indent="-228600" lvl="0" marL="228600" marR="0" rtl="0" algn="l">
              <a:lnSpc>
                <a:spcPct val="90000"/>
              </a:lnSpc>
              <a:spcBef>
                <a:spcPts val="1000"/>
              </a:spcBef>
              <a:spcAft>
                <a:spcPts val="0"/>
              </a:spcAft>
              <a:buClr>
                <a:srgbClr val="0000A3"/>
              </a:buClr>
              <a:buSzPct val="100000"/>
              <a:buFont typeface="Noto Sans Symbols"/>
              <a:buNone/>
            </a:pPr>
            <a:r>
              <a:rPr lang="en-US" sz="2400">
                <a:solidFill>
                  <a:schemeClr val="dk1"/>
                </a:solidFill>
                <a:latin typeface="Arial"/>
                <a:ea typeface="Arial"/>
                <a:cs typeface="Arial"/>
                <a:sym typeface="Arial"/>
              </a:rPr>
              <a:t>… specific messages sent</a:t>
            </a:r>
            <a:endParaRPr/>
          </a:p>
          <a:p>
            <a:pPr indent="-228600" lvl="0" marL="228600" marR="0" rtl="0" algn="l">
              <a:lnSpc>
                <a:spcPct val="90000"/>
              </a:lnSpc>
              <a:spcBef>
                <a:spcPts val="1000"/>
              </a:spcBef>
              <a:spcAft>
                <a:spcPts val="0"/>
              </a:spcAft>
              <a:buClr>
                <a:srgbClr val="0000A3"/>
              </a:buClr>
              <a:buSzPct val="100000"/>
              <a:buFont typeface="Noto Sans Symbols"/>
              <a:buNone/>
            </a:pPr>
            <a:r>
              <a:rPr lang="en-US" sz="2400">
                <a:solidFill>
                  <a:schemeClr val="dk1"/>
                </a:solidFill>
                <a:latin typeface="Arial"/>
                <a:ea typeface="Arial"/>
                <a:cs typeface="Arial"/>
                <a:sym typeface="Arial"/>
              </a:rPr>
              <a:t>… specific actions taken when message received, or other events</a:t>
            </a:r>
            <a:endParaRPr/>
          </a:p>
        </p:txBody>
      </p:sp>
      <p:sp>
        <p:nvSpPr>
          <p:cNvPr id="3439" name="Google Shape;3439;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8"/>
                                        </p:tgtEl>
                                        <p:attrNameLst>
                                          <p:attrName>style.visibility</p:attrName>
                                        </p:attrNameLst>
                                      </p:cBhvr>
                                      <p:to>
                                        <p:strVal val="visible"/>
                                      </p:to>
                                    </p:set>
                                    <p:animEffect filter="fade" transition="in">
                                      <p:cBhvr>
                                        <p:cTn dur="500"/>
                                        <p:tgtEl>
                                          <p:spTgt spid="3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4"/>
                                        </p:tgtEl>
                                        <p:attrNameLst>
                                          <p:attrName>style.visibility</p:attrName>
                                        </p:attrNameLst>
                                      </p:cBhvr>
                                      <p:to>
                                        <p:strVal val="visible"/>
                                      </p:to>
                                    </p:set>
                                    <p:animEffect filter="fade" transition="in">
                                      <p:cBhvr>
                                        <p:cTn dur="500"/>
                                        <p:tgtEl>
                                          <p:spTgt spid="3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5"/>
                                        </p:tgtEl>
                                        <p:attrNameLst>
                                          <p:attrName>style.visibility</p:attrName>
                                        </p:attrNameLst>
                                      </p:cBhvr>
                                      <p:to>
                                        <p:strVal val="visible"/>
                                      </p:to>
                                    </p:set>
                                    <p:animEffect filter="fade" transition="in">
                                      <p:cBhvr>
                                        <p:cTn dur="500"/>
                                        <p:tgtEl>
                                          <p:spTgt spid="3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4" name="Shape 3444"/>
        <p:cNvGrpSpPr/>
        <p:nvPr/>
      </p:nvGrpSpPr>
      <p:grpSpPr>
        <a:xfrm>
          <a:off x="0" y="0"/>
          <a:ext cx="0" cy="0"/>
          <a:chOff x="0" y="0"/>
          <a:chExt cx="0" cy="0"/>
        </a:xfrm>
      </p:grpSpPr>
      <p:sp>
        <p:nvSpPr>
          <p:cNvPr id="3445" name="Google Shape;3445;p2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What’s a protocol?</a:t>
            </a:r>
            <a:endParaRPr/>
          </a:p>
        </p:txBody>
      </p:sp>
      <p:sp>
        <p:nvSpPr>
          <p:cNvPr id="3446" name="Google Shape;3446;p20"/>
          <p:cNvSpPr txBox="1"/>
          <p:nvPr/>
        </p:nvSpPr>
        <p:spPr>
          <a:xfrm>
            <a:off x="885095" y="1371600"/>
            <a:ext cx="8153400" cy="685800"/>
          </a:xfrm>
          <a:prstGeom prst="rect">
            <a:avLst/>
          </a:prstGeom>
          <a:noFill/>
          <a:ln>
            <a:noFill/>
          </a:ln>
        </p:spPr>
        <p:txBody>
          <a:bodyPr anchorCtr="0" anchor="t" bIns="45700" lIns="91425" spcFirstLastPara="1" rIns="91425" wrap="square" tIns="45700">
            <a:normAutofit fontScale="92500"/>
          </a:bodyPr>
          <a:lstStyle/>
          <a:p>
            <a:pPr indent="-228600" lvl="0" marL="228600" marR="0" rtl="0" algn="l">
              <a:lnSpc>
                <a:spcPct val="90000"/>
              </a:lnSpc>
              <a:spcBef>
                <a:spcPts val="0"/>
              </a:spcBef>
              <a:spcAft>
                <a:spcPts val="0"/>
              </a:spcAft>
              <a:buClr>
                <a:srgbClr val="0000A3"/>
              </a:buClr>
              <a:buSzPct val="100000"/>
              <a:buFont typeface="Noto Sans Symbols"/>
              <a:buNone/>
            </a:pPr>
            <a:r>
              <a:rPr lang="en-US" sz="2800">
                <a:solidFill>
                  <a:schemeClr val="dk1"/>
                </a:solidFill>
                <a:latin typeface="Arial"/>
                <a:ea typeface="Arial"/>
                <a:cs typeface="Arial"/>
                <a:sym typeface="Arial"/>
              </a:rPr>
              <a:t>A human protocol and a computer network protocol:</a:t>
            </a:r>
            <a:endParaRPr/>
          </a:p>
          <a:p>
            <a:pPr indent="-228600" lvl="0" marL="228600" marR="0" rtl="0" algn="l">
              <a:lnSpc>
                <a:spcPct val="90000"/>
              </a:lnSpc>
              <a:spcBef>
                <a:spcPts val="1000"/>
              </a:spcBef>
              <a:spcAft>
                <a:spcPts val="0"/>
              </a:spcAft>
              <a:buClr>
                <a:srgbClr val="0000A3"/>
              </a:buClr>
              <a:buSzPct val="100000"/>
              <a:buFont typeface="Noto Sans Symbols"/>
              <a:buNone/>
            </a:pPr>
            <a:r>
              <a:t/>
            </a:r>
            <a:endParaRPr sz="2800">
              <a:solidFill>
                <a:schemeClr val="dk1"/>
              </a:solidFill>
              <a:latin typeface="Arial"/>
              <a:ea typeface="Arial"/>
              <a:cs typeface="Arial"/>
              <a:sym typeface="Arial"/>
            </a:endParaRPr>
          </a:p>
        </p:txBody>
      </p:sp>
      <p:sp>
        <p:nvSpPr>
          <p:cNvPr id="3447" name="Google Shape;3447;p20"/>
          <p:cNvSpPr/>
          <p:nvPr/>
        </p:nvSpPr>
        <p:spPr>
          <a:xfrm>
            <a:off x="980344" y="5862638"/>
            <a:ext cx="5511891" cy="533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accent2"/>
              </a:buClr>
              <a:buSzPts val="2720"/>
              <a:buFont typeface="Noto Sans Symbols"/>
              <a:buNone/>
            </a:pPr>
            <a:r>
              <a:rPr i="1" lang="en-US" sz="3200">
                <a:solidFill>
                  <a:srgbClr val="CC0000"/>
                </a:solidFill>
                <a:latin typeface="Calibri"/>
                <a:ea typeface="Calibri"/>
                <a:cs typeface="Calibri"/>
                <a:sym typeface="Calibri"/>
              </a:rPr>
              <a:t>Q:</a:t>
            </a:r>
            <a:r>
              <a:rPr lang="en-US" sz="3200">
                <a:solidFill>
                  <a:schemeClr val="dk1"/>
                </a:solidFill>
                <a:latin typeface="Calibri"/>
                <a:ea typeface="Calibri"/>
                <a:cs typeface="Calibri"/>
                <a:sym typeface="Calibri"/>
              </a:rPr>
              <a:t> other human protocols? </a:t>
            </a:r>
            <a:endParaRPr/>
          </a:p>
        </p:txBody>
      </p:sp>
      <p:pic>
        <p:nvPicPr>
          <p:cNvPr descr="Alice" id="3448" name="Google Shape;3448;p20"/>
          <p:cNvPicPr preferRelativeResize="0"/>
          <p:nvPr/>
        </p:nvPicPr>
        <p:blipFill rotWithShape="1">
          <a:blip r:embed="rId3">
            <a:alphaModFix/>
          </a:blip>
          <a:srcRect b="0" l="0" r="0" t="0"/>
          <a:stretch/>
        </p:blipFill>
        <p:spPr>
          <a:xfrm>
            <a:off x="2377642" y="2314576"/>
            <a:ext cx="561975" cy="693737"/>
          </a:xfrm>
          <a:prstGeom prst="rect">
            <a:avLst/>
          </a:prstGeom>
          <a:noFill/>
          <a:ln>
            <a:noFill/>
          </a:ln>
        </p:spPr>
      </p:pic>
      <p:pic>
        <p:nvPicPr>
          <p:cNvPr descr="Bob" id="3449" name="Google Shape;3449;p20"/>
          <p:cNvPicPr preferRelativeResize="0"/>
          <p:nvPr/>
        </p:nvPicPr>
        <p:blipFill rotWithShape="1">
          <a:blip r:embed="rId4">
            <a:alphaModFix/>
          </a:blip>
          <a:srcRect b="0" l="0" r="0" t="0"/>
          <a:stretch/>
        </p:blipFill>
        <p:spPr>
          <a:xfrm>
            <a:off x="4796992" y="2709863"/>
            <a:ext cx="676275" cy="690563"/>
          </a:xfrm>
          <a:prstGeom prst="rect">
            <a:avLst/>
          </a:prstGeom>
          <a:noFill/>
          <a:ln>
            <a:noFill/>
          </a:ln>
        </p:spPr>
      </p:pic>
      <p:grpSp>
        <p:nvGrpSpPr>
          <p:cNvPr id="3450" name="Google Shape;3450;p20"/>
          <p:cNvGrpSpPr/>
          <p:nvPr/>
        </p:nvGrpSpPr>
        <p:grpSpPr>
          <a:xfrm>
            <a:off x="2925329" y="2422526"/>
            <a:ext cx="1762125" cy="563562"/>
            <a:chOff x="2925329" y="2422526"/>
            <a:chExt cx="1762125" cy="563562"/>
          </a:xfrm>
        </p:grpSpPr>
        <p:cxnSp>
          <p:nvCxnSpPr>
            <p:cNvPr id="3451" name="Google Shape;3451;p20"/>
            <p:cNvCxnSpPr/>
            <p:nvPr/>
          </p:nvCxnSpPr>
          <p:spPr>
            <a:xfrm>
              <a:off x="2925329" y="2709863"/>
              <a:ext cx="1762125" cy="276225"/>
            </a:xfrm>
            <a:prstGeom prst="straightConnector1">
              <a:avLst/>
            </a:prstGeom>
            <a:noFill/>
            <a:ln cap="flat" cmpd="sng" w="28575">
              <a:solidFill>
                <a:srgbClr val="0000A8"/>
              </a:solidFill>
              <a:prstDash val="solid"/>
              <a:round/>
              <a:headEnd len="med" w="med" type="none"/>
              <a:tailEnd len="med" w="med" type="triangle"/>
            </a:ln>
          </p:spPr>
        </p:cxnSp>
        <p:sp>
          <p:nvSpPr>
            <p:cNvPr id="3452" name="Google Shape;3452;p20"/>
            <p:cNvSpPr txBox="1"/>
            <p:nvPr/>
          </p:nvSpPr>
          <p:spPr>
            <a:xfrm>
              <a:off x="3366654" y="2422526"/>
              <a:ext cx="4475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Hi</a:t>
              </a:r>
              <a:endParaRPr/>
            </a:p>
          </p:txBody>
        </p:sp>
      </p:grpSp>
      <p:grpSp>
        <p:nvGrpSpPr>
          <p:cNvPr id="3453" name="Google Shape;3453;p20"/>
          <p:cNvGrpSpPr/>
          <p:nvPr/>
        </p:nvGrpSpPr>
        <p:grpSpPr>
          <a:xfrm>
            <a:off x="2617354" y="3046413"/>
            <a:ext cx="2085975" cy="584200"/>
            <a:chOff x="2617354" y="3046413"/>
            <a:chExt cx="2085975" cy="584200"/>
          </a:xfrm>
        </p:grpSpPr>
        <p:cxnSp>
          <p:nvCxnSpPr>
            <p:cNvPr id="3454" name="Google Shape;3454;p20"/>
            <p:cNvCxnSpPr/>
            <p:nvPr/>
          </p:nvCxnSpPr>
          <p:spPr>
            <a:xfrm flipH="1" rot="10800000">
              <a:off x="2617354" y="3268663"/>
              <a:ext cx="2085975" cy="361950"/>
            </a:xfrm>
            <a:prstGeom prst="straightConnector1">
              <a:avLst/>
            </a:prstGeom>
            <a:noFill/>
            <a:ln cap="flat" cmpd="sng" w="28575">
              <a:solidFill>
                <a:srgbClr val="0000A8"/>
              </a:solidFill>
              <a:prstDash val="solid"/>
              <a:round/>
              <a:headEnd len="med" w="med" type="triangle"/>
              <a:tailEnd len="med" w="med" type="none"/>
            </a:ln>
          </p:spPr>
        </p:cxnSp>
        <p:sp>
          <p:nvSpPr>
            <p:cNvPr id="3455" name="Google Shape;3455;p20"/>
            <p:cNvSpPr txBox="1"/>
            <p:nvPr/>
          </p:nvSpPr>
          <p:spPr>
            <a:xfrm>
              <a:off x="3357129" y="3046413"/>
              <a:ext cx="4475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Hi</a:t>
              </a:r>
              <a:endParaRPr/>
            </a:p>
          </p:txBody>
        </p:sp>
      </p:grpSp>
      <p:grpSp>
        <p:nvGrpSpPr>
          <p:cNvPr id="3456" name="Google Shape;3456;p20"/>
          <p:cNvGrpSpPr/>
          <p:nvPr/>
        </p:nvGrpSpPr>
        <p:grpSpPr>
          <a:xfrm>
            <a:off x="2601479" y="3632201"/>
            <a:ext cx="2162175" cy="708025"/>
            <a:chOff x="2601479" y="3632201"/>
            <a:chExt cx="2162175" cy="708025"/>
          </a:xfrm>
        </p:grpSpPr>
        <p:cxnSp>
          <p:nvCxnSpPr>
            <p:cNvPr id="3457" name="Google Shape;3457;p20"/>
            <p:cNvCxnSpPr/>
            <p:nvPr/>
          </p:nvCxnSpPr>
          <p:spPr>
            <a:xfrm>
              <a:off x="2601479" y="3700463"/>
              <a:ext cx="2162175" cy="438150"/>
            </a:xfrm>
            <a:prstGeom prst="straightConnector1">
              <a:avLst/>
            </a:prstGeom>
            <a:noFill/>
            <a:ln cap="flat" cmpd="sng" w="28575">
              <a:solidFill>
                <a:srgbClr val="0000A8"/>
              </a:solidFill>
              <a:prstDash val="solid"/>
              <a:round/>
              <a:headEnd len="med" w="med" type="none"/>
              <a:tailEnd len="med" w="med" type="triangle"/>
            </a:ln>
          </p:spPr>
        </p:cxnSp>
        <p:grpSp>
          <p:nvGrpSpPr>
            <p:cNvPr id="3458" name="Google Shape;3458;p20"/>
            <p:cNvGrpSpPr/>
            <p:nvPr/>
          </p:nvGrpSpPr>
          <p:grpSpPr>
            <a:xfrm>
              <a:off x="3158693" y="3632201"/>
              <a:ext cx="974725" cy="708025"/>
              <a:chOff x="773" y="2747"/>
              <a:chExt cx="614" cy="446"/>
            </a:xfrm>
          </p:grpSpPr>
          <p:sp>
            <p:nvSpPr>
              <p:cNvPr id="3459" name="Google Shape;3459;p20"/>
              <p:cNvSpPr/>
              <p:nvPr/>
            </p:nvSpPr>
            <p:spPr>
              <a:xfrm>
                <a:off x="786" y="2790"/>
                <a:ext cx="588" cy="3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60" name="Google Shape;3460;p20"/>
              <p:cNvSpPr txBox="1"/>
              <p:nvPr/>
            </p:nvSpPr>
            <p:spPr>
              <a:xfrm>
                <a:off x="773" y="2747"/>
                <a:ext cx="614" cy="446"/>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Got the</a:t>
                </a:r>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time?</a:t>
                </a:r>
                <a:endParaRPr/>
              </a:p>
            </p:txBody>
          </p:sp>
        </p:grpSp>
      </p:grpSp>
      <p:grpSp>
        <p:nvGrpSpPr>
          <p:cNvPr id="3461" name="Google Shape;3461;p20"/>
          <p:cNvGrpSpPr/>
          <p:nvPr/>
        </p:nvGrpSpPr>
        <p:grpSpPr>
          <a:xfrm>
            <a:off x="2763404" y="4271963"/>
            <a:ext cx="1952625" cy="466731"/>
            <a:chOff x="2763404" y="4271963"/>
            <a:chExt cx="1952625" cy="466731"/>
          </a:xfrm>
        </p:grpSpPr>
        <p:cxnSp>
          <p:nvCxnSpPr>
            <p:cNvPr id="3462" name="Google Shape;3462;p20"/>
            <p:cNvCxnSpPr/>
            <p:nvPr/>
          </p:nvCxnSpPr>
          <p:spPr>
            <a:xfrm flipH="1" rot="10800000">
              <a:off x="2763404" y="4271963"/>
              <a:ext cx="1952625" cy="333375"/>
            </a:xfrm>
            <a:prstGeom prst="straightConnector1">
              <a:avLst/>
            </a:prstGeom>
            <a:noFill/>
            <a:ln cap="flat" cmpd="sng" w="28575">
              <a:solidFill>
                <a:srgbClr val="0000A8"/>
              </a:solidFill>
              <a:prstDash val="solid"/>
              <a:round/>
              <a:headEnd len="med" w="med" type="triangle"/>
              <a:tailEnd len="med" w="med" type="none"/>
            </a:ln>
          </p:spPr>
        </p:cxnSp>
        <p:grpSp>
          <p:nvGrpSpPr>
            <p:cNvPr id="3463" name="Google Shape;3463;p20"/>
            <p:cNvGrpSpPr/>
            <p:nvPr/>
          </p:nvGrpSpPr>
          <p:grpSpPr>
            <a:xfrm>
              <a:off x="3233304" y="4276731"/>
              <a:ext cx="796925" cy="461963"/>
              <a:chOff x="1046" y="2771"/>
              <a:chExt cx="502" cy="291"/>
            </a:xfrm>
          </p:grpSpPr>
          <p:sp>
            <p:nvSpPr>
              <p:cNvPr id="3464" name="Google Shape;3464;p20"/>
              <p:cNvSpPr/>
              <p:nvPr/>
            </p:nvSpPr>
            <p:spPr>
              <a:xfrm>
                <a:off x="1104" y="2820"/>
                <a:ext cx="444" cy="18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65" name="Google Shape;3465;p20"/>
              <p:cNvSpPr txBox="1"/>
              <p:nvPr/>
            </p:nvSpPr>
            <p:spPr>
              <a:xfrm>
                <a:off x="1046" y="2771"/>
                <a:ext cx="46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2:00</a:t>
                </a:r>
                <a:endParaRPr/>
              </a:p>
            </p:txBody>
          </p:sp>
        </p:grpSp>
      </p:grpSp>
      <p:cxnSp>
        <p:nvCxnSpPr>
          <p:cNvPr id="3466" name="Google Shape;3466;p20"/>
          <p:cNvCxnSpPr/>
          <p:nvPr/>
        </p:nvCxnSpPr>
        <p:spPr>
          <a:xfrm>
            <a:off x="5730145" y="2115345"/>
            <a:ext cx="0" cy="3573462"/>
          </a:xfrm>
          <a:prstGeom prst="straightConnector1">
            <a:avLst/>
          </a:prstGeom>
          <a:noFill/>
          <a:ln cap="flat" cmpd="sng" w="19050">
            <a:solidFill>
              <a:srgbClr val="BFBFBF"/>
            </a:solidFill>
            <a:prstDash val="solid"/>
            <a:round/>
            <a:headEnd len="med" w="med" type="none"/>
            <a:tailEnd len="med" w="med" type="triangle"/>
          </a:ln>
        </p:spPr>
      </p:cxnSp>
      <p:grpSp>
        <p:nvGrpSpPr>
          <p:cNvPr id="3467" name="Google Shape;3467;p20"/>
          <p:cNvGrpSpPr/>
          <p:nvPr/>
        </p:nvGrpSpPr>
        <p:grpSpPr>
          <a:xfrm>
            <a:off x="5403417" y="4910138"/>
            <a:ext cx="720725" cy="396875"/>
            <a:chOff x="2198" y="3221"/>
            <a:chExt cx="454" cy="250"/>
          </a:xfrm>
        </p:grpSpPr>
        <p:sp>
          <p:nvSpPr>
            <p:cNvPr id="3468" name="Google Shape;3468;p20"/>
            <p:cNvSpPr/>
            <p:nvPr/>
          </p:nvSpPr>
          <p:spPr>
            <a:xfrm>
              <a:off x="2244" y="3282"/>
              <a:ext cx="408" cy="1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69" name="Google Shape;3469;p20"/>
            <p:cNvSpPr txBox="1"/>
            <p:nvPr/>
          </p:nvSpPr>
          <p:spPr>
            <a:xfrm>
              <a:off x="2198" y="3221"/>
              <a:ext cx="418"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time</a:t>
              </a:r>
              <a:endParaRPr/>
            </a:p>
          </p:txBody>
        </p:sp>
      </p:grpSp>
      <p:grpSp>
        <p:nvGrpSpPr>
          <p:cNvPr id="3470" name="Google Shape;3470;p20"/>
          <p:cNvGrpSpPr/>
          <p:nvPr/>
        </p:nvGrpSpPr>
        <p:grpSpPr>
          <a:xfrm>
            <a:off x="6786129" y="3255963"/>
            <a:ext cx="2216150" cy="589096"/>
            <a:chOff x="6786129" y="3255963"/>
            <a:chExt cx="2216150" cy="589096"/>
          </a:xfrm>
        </p:grpSpPr>
        <p:cxnSp>
          <p:nvCxnSpPr>
            <p:cNvPr id="3471" name="Google Shape;3471;p20"/>
            <p:cNvCxnSpPr/>
            <p:nvPr/>
          </p:nvCxnSpPr>
          <p:spPr>
            <a:xfrm flipH="1" rot="10800000">
              <a:off x="6786129" y="3255963"/>
              <a:ext cx="2216150" cy="398463"/>
            </a:xfrm>
            <a:prstGeom prst="straightConnector1">
              <a:avLst/>
            </a:prstGeom>
            <a:noFill/>
            <a:ln cap="flat" cmpd="sng" w="28575">
              <a:solidFill>
                <a:srgbClr val="0000A8"/>
              </a:solidFill>
              <a:prstDash val="solid"/>
              <a:round/>
              <a:headEnd len="med" w="med" type="triangle"/>
              <a:tailEnd len="med" w="med" type="none"/>
            </a:ln>
          </p:spPr>
        </p:cxnSp>
        <p:sp>
          <p:nvSpPr>
            <p:cNvPr id="3472" name="Google Shape;3472;p20"/>
            <p:cNvSpPr/>
            <p:nvPr/>
          </p:nvSpPr>
          <p:spPr>
            <a:xfrm>
              <a:off x="7221104" y="3278188"/>
              <a:ext cx="1438275" cy="393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73" name="Google Shape;3473;p20"/>
            <p:cNvSpPr txBox="1"/>
            <p:nvPr/>
          </p:nvSpPr>
          <p:spPr>
            <a:xfrm>
              <a:off x="7125853" y="3279776"/>
              <a:ext cx="163512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TCP connection</a:t>
              </a:r>
              <a:endParaRPr/>
            </a:p>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response</a:t>
              </a:r>
              <a:endParaRPr/>
            </a:p>
          </p:txBody>
        </p:sp>
      </p:grpSp>
      <p:grpSp>
        <p:nvGrpSpPr>
          <p:cNvPr id="3474" name="Google Shape;3474;p20"/>
          <p:cNvGrpSpPr/>
          <p:nvPr/>
        </p:nvGrpSpPr>
        <p:grpSpPr>
          <a:xfrm>
            <a:off x="6833754" y="4448176"/>
            <a:ext cx="2343150" cy="461665"/>
            <a:chOff x="6833754" y="4448176"/>
            <a:chExt cx="2343150" cy="461665"/>
          </a:xfrm>
        </p:grpSpPr>
        <p:cxnSp>
          <p:nvCxnSpPr>
            <p:cNvPr id="3475" name="Google Shape;3475;p20"/>
            <p:cNvCxnSpPr/>
            <p:nvPr/>
          </p:nvCxnSpPr>
          <p:spPr>
            <a:xfrm flipH="1" rot="10800000">
              <a:off x="6833754" y="4464051"/>
              <a:ext cx="2343150" cy="428625"/>
            </a:xfrm>
            <a:prstGeom prst="straightConnector1">
              <a:avLst/>
            </a:prstGeom>
            <a:noFill/>
            <a:ln cap="flat" cmpd="sng" w="28575">
              <a:solidFill>
                <a:srgbClr val="0000A8"/>
              </a:solidFill>
              <a:prstDash val="solid"/>
              <a:round/>
              <a:headEnd len="med" w="med" type="triangle"/>
              <a:tailEnd len="med" w="med" type="none"/>
            </a:ln>
          </p:spPr>
        </p:cxnSp>
        <p:sp>
          <p:nvSpPr>
            <p:cNvPr id="3476" name="Google Shape;3476;p20"/>
            <p:cNvSpPr/>
            <p:nvPr/>
          </p:nvSpPr>
          <p:spPr>
            <a:xfrm>
              <a:off x="7602104" y="4562476"/>
              <a:ext cx="919163" cy="2952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77" name="Google Shape;3477;p20"/>
            <p:cNvSpPr txBox="1"/>
            <p:nvPr/>
          </p:nvSpPr>
          <p:spPr>
            <a:xfrm>
              <a:off x="7568767" y="4448176"/>
              <a:ext cx="8819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&lt;file&gt;</a:t>
              </a:r>
              <a:endParaRPr/>
            </a:p>
          </p:txBody>
        </p:sp>
      </p:grpSp>
      <p:grpSp>
        <p:nvGrpSpPr>
          <p:cNvPr id="3478" name="Google Shape;3478;p20"/>
          <p:cNvGrpSpPr/>
          <p:nvPr/>
        </p:nvGrpSpPr>
        <p:grpSpPr>
          <a:xfrm>
            <a:off x="6848042" y="2620963"/>
            <a:ext cx="2176462" cy="565283"/>
            <a:chOff x="6848042" y="2620963"/>
            <a:chExt cx="2176462" cy="565283"/>
          </a:xfrm>
        </p:grpSpPr>
        <p:cxnSp>
          <p:nvCxnSpPr>
            <p:cNvPr id="3479" name="Google Shape;3479;p20"/>
            <p:cNvCxnSpPr/>
            <p:nvPr/>
          </p:nvCxnSpPr>
          <p:spPr>
            <a:xfrm>
              <a:off x="6848042" y="2749551"/>
              <a:ext cx="2176462" cy="347662"/>
            </a:xfrm>
            <a:prstGeom prst="straightConnector1">
              <a:avLst/>
            </a:prstGeom>
            <a:noFill/>
            <a:ln cap="flat" cmpd="sng" w="28575">
              <a:solidFill>
                <a:srgbClr val="0000A8"/>
              </a:solidFill>
              <a:prstDash val="solid"/>
              <a:round/>
              <a:headEnd len="med" w="med" type="none"/>
              <a:tailEnd len="med" w="med" type="triangle"/>
            </a:ln>
          </p:spPr>
        </p:cxnSp>
        <p:sp>
          <p:nvSpPr>
            <p:cNvPr id="3480" name="Google Shape;3480;p20"/>
            <p:cNvSpPr/>
            <p:nvPr/>
          </p:nvSpPr>
          <p:spPr>
            <a:xfrm>
              <a:off x="7133792" y="2689226"/>
              <a:ext cx="1365250" cy="4397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81" name="Google Shape;3481;p20"/>
            <p:cNvSpPr txBox="1"/>
            <p:nvPr/>
          </p:nvSpPr>
          <p:spPr>
            <a:xfrm>
              <a:off x="7170303" y="2620963"/>
              <a:ext cx="163512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TCP connection</a:t>
              </a:r>
              <a:endParaRPr/>
            </a:p>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request</a:t>
              </a:r>
              <a:endParaRPr/>
            </a:p>
          </p:txBody>
        </p:sp>
      </p:grpSp>
      <p:grpSp>
        <p:nvGrpSpPr>
          <p:cNvPr id="3482" name="Google Shape;3482;p20"/>
          <p:cNvGrpSpPr/>
          <p:nvPr/>
        </p:nvGrpSpPr>
        <p:grpSpPr>
          <a:xfrm>
            <a:off x="9080067" y="2720976"/>
            <a:ext cx="357186" cy="755650"/>
            <a:chOff x="4140" y="429"/>
            <a:chExt cx="1425" cy="2396"/>
          </a:xfrm>
        </p:grpSpPr>
        <p:sp>
          <p:nvSpPr>
            <p:cNvPr id="3483" name="Google Shape;3483;p2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4" name="Google Shape;3484;p20"/>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85" name="Google Shape;3485;p2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6" name="Google Shape;3486;p2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7" name="Google Shape;3487;p20"/>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3488" name="Google Shape;3488;p20"/>
            <p:cNvGrpSpPr/>
            <p:nvPr/>
          </p:nvGrpSpPr>
          <p:grpSpPr>
            <a:xfrm>
              <a:off x="4747" y="666"/>
              <a:ext cx="582" cy="146"/>
              <a:chOff x="612" y="2566"/>
              <a:chExt cx="726" cy="140"/>
            </a:xfrm>
          </p:grpSpPr>
          <p:sp>
            <p:nvSpPr>
              <p:cNvPr id="3489" name="Google Shape;3489;p20"/>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90" name="Google Shape;3490;p20"/>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3491" name="Google Shape;3491;p20"/>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3492" name="Google Shape;3492;p20"/>
            <p:cNvGrpSpPr/>
            <p:nvPr/>
          </p:nvGrpSpPr>
          <p:grpSpPr>
            <a:xfrm>
              <a:off x="4748" y="993"/>
              <a:ext cx="582" cy="136"/>
              <a:chOff x="615" y="2567"/>
              <a:chExt cx="726" cy="141"/>
            </a:xfrm>
          </p:grpSpPr>
          <p:sp>
            <p:nvSpPr>
              <p:cNvPr id="3493" name="Google Shape;3493;p20"/>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94" name="Google Shape;3494;p20"/>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3495" name="Google Shape;3495;p20"/>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96" name="Google Shape;3496;p20"/>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3497" name="Google Shape;3497;p20"/>
            <p:cNvGrpSpPr/>
            <p:nvPr/>
          </p:nvGrpSpPr>
          <p:grpSpPr>
            <a:xfrm>
              <a:off x="4737" y="1627"/>
              <a:ext cx="581" cy="151"/>
              <a:chOff x="617" y="2568"/>
              <a:chExt cx="724" cy="139"/>
            </a:xfrm>
          </p:grpSpPr>
          <p:sp>
            <p:nvSpPr>
              <p:cNvPr id="3498" name="Google Shape;3498;p20"/>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99" name="Google Shape;3499;p20"/>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3500" name="Google Shape;3500;p2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01" name="Google Shape;3501;p20"/>
            <p:cNvGrpSpPr/>
            <p:nvPr/>
          </p:nvGrpSpPr>
          <p:grpSpPr>
            <a:xfrm>
              <a:off x="4737" y="1325"/>
              <a:ext cx="581" cy="141"/>
              <a:chOff x="612" y="2566"/>
              <a:chExt cx="724" cy="141"/>
            </a:xfrm>
          </p:grpSpPr>
          <p:sp>
            <p:nvSpPr>
              <p:cNvPr id="3502" name="Google Shape;3502;p20"/>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03" name="Google Shape;3503;p20"/>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3504" name="Google Shape;3504;p20"/>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05" name="Google Shape;3505;p2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6" name="Google Shape;3506;p2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7" name="Google Shape;3507;p20"/>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08" name="Google Shape;3508;p2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9" name="Google Shape;3509;p20"/>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10" name="Google Shape;3510;p20"/>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11" name="Google Shape;3511;p20"/>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12" name="Google Shape;3512;p20"/>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13" name="Google Shape;3513;p20"/>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14" name="Google Shape;3514;p20"/>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3515" name="Google Shape;3515;p20"/>
          <p:cNvGrpSpPr/>
          <p:nvPr/>
        </p:nvGrpSpPr>
        <p:grpSpPr>
          <a:xfrm>
            <a:off x="5943167" y="2278063"/>
            <a:ext cx="893762" cy="828675"/>
            <a:chOff x="-44" y="1473"/>
            <a:chExt cx="981" cy="1105"/>
          </a:xfrm>
        </p:grpSpPr>
        <p:pic>
          <p:nvPicPr>
            <p:cNvPr descr="desktop_computer_stylized_medium" id="3516" name="Google Shape;3516;p20"/>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3517" name="Google Shape;3517;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18" name="Google Shape;3518;p20"/>
          <p:cNvGrpSpPr/>
          <p:nvPr/>
        </p:nvGrpSpPr>
        <p:grpSpPr>
          <a:xfrm>
            <a:off x="6666309" y="3902076"/>
            <a:ext cx="2925958" cy="425450"/>
            <a:chOff x="6666309" y="3902076"/>
            <a:chExt cx="2925958" cy="425450"/>
          </a:xfrm>
        </p:grpSpPr>
        <p:cxnSp>
          <p:nvCxnSpPr>
            <p:cNvPr id="3519" name="Google Shape;3519;p20"/>
            <p:cNvCxnSpPr/>
            <p:nvPr/>
          </p:nvCxnSpPr>
          <p:spPr>
            <a:xfrm>
              <a:off x="6833754" y="3902076"/>
              <a:ext cx="2400300" cy="419100"/>
            </a:xfrm>
            <a:prstGeom prst="straightConnector1">
              <a:avLst/>
            </a:prstGeom>
            <a:noFill/>
            <a:ln cap="flat" cmpd="sng" w="28575">
              <a:solidFill>
                <a:srgbClr val="0000A8"/>
              </a:solidFill>
              <a:prstDash val="solid"/>
              <a:round/>
              <a:headEnd len="med" w="med" type="none"/>
              <a:tailEnd len="med" w="med" type="triangle"/>
            </a:ln>
          </p:spPr>
        </p:cxnSp>
        <p:sp>
          <p:nvSpPr>
            <p:cNvPr id="3520" name="Google Shape;3520;p20"/>
            <p:cNvSpPr/>
            <p:nvPr/>
          </p:nvSpPr>
          <p:spPr>
            <a:xfrm>
              <a:off x="7315200" y="4021087"/>
              <a:ext cx="1687079" cy="28293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21" name="Google Shape;3521;p20"/>
            <p:cNvSpPr txBox="1"/>
            <p:nvPr/>
          </p:nvSpPr>
          <p:spPr>
            <a:xfrm>
              <a:off x="6666309" y="3960813"/>
              <a:ext cx="292595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GET</a:t>
              </a:r>
              <a:r>
                <a:rPr lang="en-US" sz="1400">
                  <a:solidFill>
                    <a:schemeClr val="dk1"/>
                  </a:solidFill>
                  <a:latin typeface="Calibri"/>
                  <a:ea typeface="Calibri"/>
                  <a:cs typeface="Calibri"/>
                  <a:sym typeface="Calibri"/>
                </a:rPr>
                <a:t> </a:t>
              </a:r>
              <a:r>
                <a:rPr lang="en-US" sz="1200">
                  <a:solidFill>
                    <a:schemeClr val="dk1"/>
                  </a:solidFill>
                  <a:latin typeface="Arial"/>
                  <a:ea typeface="Arial"/>
                  <a:cs typeface="Arial"/>
                  <a:sym typeface="Arial"/>
                </a:rPr>
                <a:t>http://gaia.cs.umass.edu/kurose_ross</a:t>
              </a:r>
              <a:endParaRPr sz="2400">
                <a:solidFill>
                  <a:schemeClr val="dk1"/>
                </a:solidFill>
                <a:latin typeface="Arial"/>
                <a:ea typeface="Arial"/>
                <a:cs typeface="Arial"/>
                <a:sym typeface="Arial"/>
              </a:endParaRPr>
            </a:p>
          </p:txBody>
        </p:sp>
      </p:grpSp>
      <p:sp>
        <p:nvSpPr>
          <p:cNvPr id="3522" name="Google Shape;3522;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8"/>
                                        </p:tgtEl>
                                        <p:attrNameLst>
                                          <p:attrName>style.visibility</p:attrName>
                                        </p:attrNameLst>
                                      </p:cBhvr>
                                      <p:to>
                                        <p:strVal val="visible"/>
                                      </p:to>
                                    </p:set>
                                    <p:animEffect filter="fade" transition="in">
                                      <p:cBhvr>
                                        <p:cTn dur="500"/>
                                        <p:tgtEl>
                                          <p:spTgt spid="344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50"/>
                                        </p:tgtEl>
                                        <p:attrNameLst>
                                          <p:attrName>style.visibility</p:attrName>
                                        </p:attrNameLst>
                                      </p:cBhvr>
                                      <p:to>
                                        <p:strVal val="visible"/>
                                      </p:to>
                                    </p:set>
                                    <p:animEffect filter="fade" transition="in">
                                      <p:cBhvr>
                                        <p:cTn dur="500"/>
                                        <p:tgtEl>
                                          <p:spTgt spid="34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49"/>
                                        </p:tgtEl>
                                        <p:attrNameLst>
                                          <p:attrName>style.visibility</p:attrName>
                                        </p:attrNameLst>
                                      </p:cBhvr>
                                      <p:to>
                                        <p:strVal val="visible"/>
                                      </p:to>
                                    </p:set>
                                    <p:animEffect filter="fade" transition="in">
                                      <p:cBhvr>
                                        <p:cTn dur="500"/>
                                        <p:tgtEl>
                                          <p:spTgt spid="344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453"/>
                                        </p:tgtEl>
                                        <p:attrNameLst>
                                          <p:attrName>style.visibility</p:attrName>
                                        </p:attrNameLst>
                                      </p:cBhvr>
                                      <p:to>
                                        <p:strVal val="visible"/>
                                      </p:to>
                                    </p:set>
                                    <p:animEffect filter="fade" transition="in">
                                      <p:cBhvr>
                                        <p:cTn dur="500"/>
                                        <p:tgtEl>
                                          <p:spTgt spid="345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456"/>
                                        </p:tgtEl>
                                        <p:attrNameLst>
                                          <p:attrName>style.visibility</p:attrName>
                                        </p:attrNameLst>
                                      </p:cBhvr>
                                      <p:to>
                                        <p:strVal val="visible"/>
                                      </p:to>
                                    </p:set>
                                    <p:animEffect filter="fade" transition="in">
                                      <p:cBhvr>
                                        <p:cTn dur="500"/>
                                        <p:tgtEl>
                                          <p:spTgt spid="345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461"/>
                                        </p:tgtEl>
                                        <p:attrNameLst>
                                          <p:attrName>style.visibility</p:attrName>
                                        </p:attrNameLst>
                                      </p:cBhvr>
                                      <p:to>
                                        <p:strVal val="visible"/>
                                      </p:to>
                                    </p:set>
                                    <p:animEffect filter="fade" transition="in">
                                      <p:cBhvr>
                                        <p:cTn dur="500"/>
                                        <p:tgtEl>
                                          <p:spTgt spid="3461"/>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3447"/>
                                        </p:tgtEl>
                                        <p:attrNameLst>
                                          <p:attrName>style.visibility</p:attrName>
                                        </p:attrNameLst>
                                      </p:cBhvr>
                                      <p:to>
                                        <p:strVal val="visible"/>
                                      </p:to>
                                    </p:set>
                                    <p:animEffect filter="fade" transition="in">
                                      <p:cBhvr>
                                        <p:cTn dur="500"/>
                                        <p:tgtEl>
                                          <p:spTgt spid="3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5"/>
                                        </p:tgtEl>
                                        <p:attrNameLst>
                                          <p:attrName>style.visibility</p:attrName>
                                        </p:attrNameLst>
                                      </p:cBhvr>
                                      <p:to>
                                        <p:strVal val="visible"/>
                                      </p:to>
                                    </p:set>
                                    <p:animEffect filter="fade" transition="in">
                                      <p:cBhvr>
                                        <p:cTn dur="500"/>
                                        <p:tgtEl>
                                          <p:spTgt spid="35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78"/>
                                        </p:tgtEl>
                                        <p:attrNameLst>
                                          <p:attrName>style.visibility</p:attrName>
                                        </p:attrNameLst>
                                      </p:cBhvr>
                                      <p:to>
                                        <p:strVal val="visible"/>
                                      </p:to>
                                    </p:set>
                                    <p:animEffect filter="fade" transition="in">
                                      <p:cBhvr>
                                        <p:cTn dur="500"/>
                                        <p:tgtEl>
                                          <p:spTgt spid="34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82"/>
                                        </p:tgtEl>
                                        <p:attrNameLst>
                                          <p:attrName>style.visibility</p:attrName>
                                        </p:attrNameLst>
                                      </p:cBhvr>
                                      <p:to>
                                        <p:strVal val="visible"/>
                                      </p:to>
                                    </p:set>
                                    <p:animEffect filter="fade" transition="in">
                                      <p:cBhvr>
                                        <p:cTn dur="500"/>
                                        <p:tgtEl>
                                          <p:spTgt spid="348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470"/>
                                        </p:tgtEl>
                                        <p:attrNameLst>
                                          <p:attrName>style.visibility</p:attrName>
                                        </p:attrNameLst>
                                      </p:cBhvr>
                                      <p:to>
                                        <p:strVal val="visible"/>
                                      </p:to>
                                    </p:set>
                                    <p:animEffect filter="fade" transition="in">
                                      <p:cBhvr>
                                        <p:cTn dur="500"/>
                                        <p:tgtEl>
                                          <p:spTgt spid="34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518"/>
                                        </p:tgtEl>
                                        <p:attrNameLst>
                                          <p:attrName>style.visibility</p:attrName>
                                        </p:attrNameLst>
                                      </p:cBhvr>
                                      <p:to>
                                        <p:strVal val="visible"/>
                                      </p:to>
                                    </p:set>
                                    <p:animEffect filter="fade" transition="in">
                                      <p:cBhvr>
                                        <p:cTn dur="500"/>
                                        <p:tgtEl>
                                          <p:spTgt spid="351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474"/>
                                        </p:tgtEl>
                                        <p:attrNameLst>
                                          <p:attrName>style.visibility</p:attrName>
                                        </p:attrNameLst>
                                      </p:cBhvr>
                                      <p:to>
                                        <p:strVal val="visible"/>
                                      </p:to>
                                    </p:set>
                                    <p:animEffect filter="fade" transition="in">
                                      <p:cBhvr>
                                        <p:cTn dur="500"/>
                                        <p:tgtEl>
                                          <p:spTgt spid="34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21"/>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Layered Internet protocol </a:t>
            </a:r>
            <a:r>
              <a:rPr lang="en-US"/>
              <a:t>s</a:t>
            </a:r>
            <a:r>
              <a:rPr lang="en-US" sz="4400"/>
              <a:t>tack</a:t>
            </a:r>
            <a:endParaRPr sz="4400"/>
          </a:p>
        </p:txBody>
      </p:sp>
      <p:sp>
        <p:nvSpPr>
          <p:cNvPr id="3529" name="Google Shape;3529;p21"/>
          <p:cNvSpPr txBox="1"/>
          <p:nvPr/>
        </p:nvSpPr>
        <p:spPr>
          <a:xfrm>
            <a:off x="979383" y="1472008"/>
            <a:ext cx="7368749" cy="4922704"/>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8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application:</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supporting network applications</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HTTP, IMAP, SMTP, DNS</a:t>
            </a:r>
            <a:endParaRPr/>
          </a:p>
          <a:p>
            <a:pPr indent="-287338" lvl="0" marL="287338"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transport:</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process-process data transfer</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a:p>
            <a:pPr indent="-287338" lvl="0" marL="287338"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network:</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routing of datagrams from source to destination</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IP, routing protocols</a:t>
            </a:r>
            <a:endParaRPr/>
          </a:p>
          <a:p>
            <a:pPr indent="-287338" lvl="0" marL="287338"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link:</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data transfer between neighboring  network elements</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Ethernet, 802.11 (WiFi), PPP</a:t>
            </a:r>
            <a:endParaRPr/>
          </a:p>
          <a:p>
            <a:pPr indent="-287338" lvl="0" marL="287338" marR="0" rtl="0" algn="l">
              <a:lnSpc>
                <a:spcPct val="80000"/>
              </a:lnSpc>
              <a:spcBef>
                <a:spcPts val="100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physical:</a:t>
            </a:r>
            <a:r>
              <a:rPr b="0" i="0" lang="en-US" sz="32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bits “on the wire”</a:t>
            </a:r>
            <a:endParaRPr/>
          </a:p>
        </p:txBody>
      </p:sp>
      <p:sp>
        <p:nvSpPr>
          <p:cNvPr id="3530" name="Google Shape;3530;p21"/>
          <p:cNvSpPr/>
          <p:nvPr/>
        </p:nvSpPr>
        <p:spPr>
          <a:xfrm>
            <a:off x="8913284" y="1902006"/>
            <a:ext cx="1892300" cy="3530600"/>
          </a:xfrm>
          <a:prstGeom prst="rect">
            <a:avLst/>
          </a:prstGeom>
          <a:solidFill>
            <a:schemeClr val="lt1"/>
          </a:solidFill>
          <a:ln cap="flat" cmpd="sng" w="38100">
            <a:solidFill>
              <a:schemeClr val="dk1"/>
            </a:solidFill>
            <a:prstDash val="solid"/>
            <a:miter lim="800000"/>
            <a:headEnd len="sm" w="sm" type="none"/>
            <a:tailEnd len="sm" w="sm" type="none"/>
          </a:ln>
          <a:effectLst>
            <a:outerShdw blurRad="304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73571"/>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3531" name="Google Shape;3531;p21"/>
          <p:cNvSpPr txBox="1"/>
          <p:nvPr/>
        </p:nvSpPr>
        <p:spPr>
          <a:xfrm>
            <a:off x="9503820" y="4217549"/>
            <a:ext cx="700833"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link</a:t>
            </a:r>
            <a:endParaRPr/>
          </a:p>
        </p:txBody>
      </p:sp>
      <p:cxnSp>
        <p:nvCxnSpPr>
          <p:cNvPr id="3532" name="Google Shape;3532;p21"/>
          <p:cNvCxnSpPr/>
          <p:nvPr/>
        </p:nvCxnSpPr>
        <p:spPr>
          <a:xfrm>
            <a:off x="8906934" y="2637698"/>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3533" name="Google Shape;3533;p21"/>
          <p:cNvCxnSpPr/>
          <p:nvPr/>
        </p:nvCxnSpPr>
        <p:spPr>
          <a:xfrm>
            <a:off x="8906934" y="3342548"/>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3534" name="Google Shape;3534;p21"/>
          <p:cNvCxnSpPr/>
          <p:nvPr/>
        </p:nvCxnSpPr>
        <p:spPr>
          <a:xfrm>
            <a:off x="8906934" y="4053748"/>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3535" name="Google Shape;3535;p21"/>
          <p:cNvCxnSpPr/>
          <p:nvPr/>
        </p:nvCxnSpPr>
        <p:spPr>
          <a:xfrm>
            <a:off x="8906934" y="4764948"/>
            <a:ext cx="1885950" cy="0"/>
          </a:xfrm>
          <a:prstGeom prst="straightConnector1">
            <a:avLst/>
          </a:prstGeom>
          <a:noFill/>
          <a:ln cap="flat" cmpd="sng" w="38100">
            <a:solidFill>
              <a:schemeClr val="dk1"/>
            </a:solidFill>
            <a:prstDash val="solid"/>
            <a:round/>
            <a:headEnd len="med" w="med" type="none"/>
            <a:tailEnd len="med" w="med" type="none"/>
          </a:ln>
        </p:spPr>
      </p:cxnSp>
      <p:sp>
        <p:nvSpPr>
          <p:cNvPr id="3536" name="Google Shape;3536;p21"/>
          <p:cNvSpPr txBox="1"/>
          <p:nvPr/>
        </p:nvSpPr>
        <p:spPr>
          <a:xfrm>
            <a:off x="8942478" y="2070093"/>
            <a:ext cx="1795813"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application</a:t>
            </a:r>
            <a:endParaRPr/>
          </a:p>
        </p:txBody>
      </p:sp>
      <p:sp>
        <p:nvSpPr>
          <p:cNvPr id="3537" name="Google Shape;3537;p21"/>
          <p:cNvSpPr txBox="1"/>
          <p:nvPr/>
        </p:nvSpPr>
        <p:spPr>
          <a:xfrm>
            <a:off x="9139934" y="3510968"/>
            <a:ext cx="1400896"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network</a:t>
            </a:r>
            <a:endParaRPr/>
          </a:p>
        </p:txBody>
      </p:sp>
      <p:sp>
        <p:nvSpPr>
          <p:cNvPr id="3538" name="Google Shape;3538;p21"/>
          <p:cNvSpPr txBox="1"/>
          <p:nvPr/>
        </p:nvSpPr>
        <p:spPr>
          <a:xfrm>
            <a:off x="9024889" y="2776676"/>
            <a:ext cx="1547860"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transport</a:t>
            </a:r>
            <a:endParaRPr/>
          </a:p>
        </p:txBody>
      </p:sp>
      <p:sp>
        <p:nvSpPr>
          <p:cNvPr id="3539" name="Google Shape;3539;p21"/>
          <p:cNvSpPr txBox="1"/>
          <p:nvPr/>
        </p:nvSpPr>
        <p:spPr>
          <a:xfrm>
            <a:off x="9197943" y="4884466"/>
            <a:ext cx="1340302"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physical</a:t>
            </a:r>
            <a:endParaRPr/>
          </a:p>
        </p:txBody>
      </p:sp>
      <p:grpSp>
        <p:nvGrpSpPr>
          <p:cNvPr id="3540" name="Google Shape;3540;p21"/>
          <p:cNvGrpSpPr/>
          <p:nvPr/>
        </p:nvGrpSpPr>
        <p:grpSpPr>
          <a:xfrm>
            <a:off x="8931728" y="1894114"/>
            <a:ext cx="1877786" cy="734786"/>
            <a:chOff x="8980714" y="751114"/>
            <a:chExt cx="1877786" cy="734786"/>
          </a:xfrm>
        </p:grpSpPr>
        <p:sp>
          <p:nvSpPr>
            <p:cNvPr id="3541" name="Google Shape;3541;p21"/>
            <p:cNvSpPr/>
            <p:nvPr/>
          </p:nvSpPr>
          <p:spPr>
            <a:xfrm>
              <a:off x="8980714" y="751114"/>
              <a:ext cx="1877786" cy="734786"/>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42" name="Google Shape;3542;p21"/>
            <p:cNvSpPr txBox="1"/>
            <p:nvPr/>
          </p:nvSpPr>
          <p:spPr>
            <a:xfrm>
              <a:off x="9029564" y="899878"/>
              <a:ext cx="1795813"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application</a:t>
              </a:r>
              <a:endParaRPr/>
            </a:p>
          </p:txBody>
        </p:sp>
      </p:grpSp>
      <p:grpSp>
        <p:nvGrpSpPr>
          <p:cNvPr id="3543" name="Google Shape;3543;p21"/>
          <p:cNvGrpSpPr/>
          <p:nvPr/>
        </p:nvGrpSpPr>
        <p:grpSpPr>
          <a:xfrm>
            <a:off x="8933979" y="2649498"/>
            <a:ext cx="1861418" cy="688224"/>
            <a:chOff x="8993850" y="766270"/>
            <a:chExt cx="1861418" cy="688224"/>
          </a:xfrm>
        </p:grpSpPr>
        <p:sp>
          <p:nvSpPr>
            <p:cNvPr id="3544" name="Google Shape;3544;p21"/>
            <p:cNvSpPr/>
            <p:nvPr/>
          </p:nvSpPr>
          <p:spPr>
            <a:xfrm>
              <a:off x="8993850" y="766270"/>
              <a:ext cx="1861418" cy="68822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45" name="Google Shape;3545;p21"/>
            <p:cNvSpPr txBox="1"/>
            <p:nvPr/>
          </p:nvSpPr>
          <p:spPr>
            <a:xfrm>
              <a:off x="9153542" y="899878"/>
              <a:ext cx="1547860"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transport</a:t>
              </a:r>
              <a:endParaRPr/>
            </a:p>
          </p:txBody>
        </p:sp>
      </p:grpSp>
      <p:grpSp>
        <p:nvGrpSpPr>
          <p:cNvPr id="3546" name="Google Shape;3546;p21"/>
          <p:cNvGrpSpPr/>
          <p:nvPr/>
        </p:nvGrpSpPr>
        <p:grpSpPr>
          <a:xfrm>
            <a:off x="8931286" y="3357646"/>
            <a:ext cx="1861418" cy="677992"/>
            <a:chOff x="8993850" y="766270"/>
            <a:chExt cx="1861418" cy="677992"/>
          </a:xfrm>
        </p:grpSpPr>
        <p:sp>
          <p:nvSpPr>
            <p:cNvPr id="3547" name="Google Shape;3547;p21"/>
            <p:cNvSpPr/>
            <p:nvPr/>
          </p:nvSpPr>
          <p:spPr>
            <a:xfrm>
              <a:off x="8993850" y="766270"/>
              <a:ext cx="1861418" cy="677992"/>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48" name="Google Shape;3548;p21"/>
            <p:cNvSpPr txBox="1"/>
            <p:nvPr/>
          </p:nvSpPr>
          <p:spPr>
            <a:xfrm>
              <a:off x="9227024" y="899878"/>
              <a:ext cx="1400896"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network</a:t>
              </a:r>
              <a:endParaRPr/>
            </a:p>
          </p:txBody>
        </p:sp>
      </p:grpSp>
      <p:grpSp>
        <p:nvGrpSpPr>
          <p:cNvPr id="3549" name="Google Shape;3549;p21"/>
          <p:cNvGrpSpPr/>
          <p:nvPr/>
        </p:nvGrpSpPr>
        <p:grpSpPr>
          <a:xfrm>
            <a:off x="8931824" y="4072257"/>
            <a:ext cx="1861418" cy="677992"/>
            <a:chOff x="8993850" y="766270"/>
            <a:chExt cx="1861418" cy="677992"/>
          </a:xfrm>
        </p:grpSpPr>
        <p:sp>
          <p:nvSpPr>
            <p:cNvPr id="3550" name="Google Shape;3550;p21"/>
            <p:cNvSpPr/>
            <p:nvPr/>
          </p:nvSpPr>
          <p:spPr>
            <a:xfrm>
              <a:off x="8993850" y="766270"/>
              <a:ext cx="1861418" cy="677992"/>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51" name="Google Shape;3551;p21"/>
            <p:cNvSpPr txBox="1"/>
            <p:nvPr/>
          </p:nvSpPr>
          <p:spPr>
            <a:xfrm>
              <a:off x="9577056" y="899878"/>
              <a:ext cx="700834"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link</a:t>
              </a:r>
              <a:endParaRPr/>
            </a:p>
          </p:txBody>
        </p:sp>
      </p:grpSp>
      <p:grpSp>
        <p:nvGrpSpPr>
          <p:cNvPr id="3552" name="Google Shape;3552;p21"/>
          <p:cNvGrpSpPr/>
          <p:nvPr/>
        </p:nvGrpSpPr>
        <p:grpSpPr>
          <a:xfrm>
            <a:off x="8925900" y="4785252"/>
            <a:ext cx="1861418" cy="639758"/>
            <a:chOff x="8993850" y="784041"/>
            <a:chExt cx="1861418" cy="639758"/>
          </a:xfrm>
        </p:grpSpPr>
        <p:sp>
          <p:nvSpPr>
            <p:cNvPr id="3553" name="Google Shape;3553;p21"/>
            <p:cNvSpPr/>
            <p:nvPr/>
          </p:nvSpPr>
          <p:spPr>
            <a:xfrm>
              <a:off x="8993850" y="784041"/>
              <a:ext cx="1861418" cy="63975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54" name="Google Shape;3554;p21"/>
            <p:cNvSpPr txBox="1"/>
            <p:nvPr/>
          </p:nvSpPr>
          <p:spPr>
            <a:xfrm>
              <a:off x="9257324" y="899878"/>
              <a:ext cx="1340303" cy="456407"/>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Clr>
                  <a:schemeClr val="lt1"/>
                </a:buClr>
                <a:buSzPts val="2800"/>
                <a:buFont typeface="Calibri"/>
                <a:buNone/>
              </a:pPr>
              <a:r>
                <a:rPr b="0" i="0" lang="en-US" sz="2800" u="none" cap="none" strike="noStrike">
                  <a:solidFill>
                    <a:schemeClr val="lt1"/>
                  </a:solidFill>
                  <a:latin typeface="Calibri"/>
                  <a:ea typeface="Calibri"/>
                  <a:cs typeface="Calibri"/>
                  <a:sym typeface="Calibri"/>
                </a:rPr>
                <a:t>physical</a:t>
              </a:r>
              <a:endParaRPr/>
            </a:p>
          </p:txBody>
        </p:sp>
      </p:grpSp>
      <p:sp>
        <p:nvSpPr>
          <p:cNvPr id="3555" name="Google Shape;3555;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0" st="0"/>
                                            </p:txEl>
                                          </p:spTgt>
                                        </p:tgtEl>
                                        <p:attrNameLst>
                                          <p:attrName>style.visibility</p:attrName>
                                        </p:attrNameLst>
                                      </p:cBhvr>
                                      <p:to>
                                        <p:strVal val="visible"/>
                                      </p:to>
                                    </p:set>
                                    <p:animEffect filter="fade" transition="in">
                                      <p:cBhvr>
                                        <p:cTn dur="500"/>
                                        <p:tgtEl>
                                          <p:spTgt spid="35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1" st="1"/>
                                            </p:txEl>
                                          </p:spTgt>
                                        </p:tgtEl>
                                        <p:attrNameLst>
                                          <p:attrName>style.visibility</p:attrName>
                                        </p:attrNameLst>
                                      </p:cBhvr>
                                      <p:to>
                                        <p:strVal val="visible"/>
                                      </p:to>
                                    </p:set>
                                    <p:animEffect filter="fade" transition="in">
                                      <p:cBhvr>
                                        <p:cTn dur="500"/>
                                        <p:tgtEl>
                                          <p:spTgt spid="35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2" st="2"/>
                                            </p:txEl>
                                          </p:spTgt>
                                        </p:tgtEl>
                                        <p:attrNameLst>
                                          <p:attrName>style.visibility</p:attrName>
                                        </p:attrNameLst>
                                      </p:cBhvr>
                                      <p:to>
                                        <p:strVal val="visible"/>
                                      </p:to>
                                    </p:set>
                                    <p:animEffect filter="fade" transition="in">
                                      <p:cBhvr>
                                        <p:cTn dur="500"/>
                                        <p:tgtEl>
                                          <p:spTgt spid="35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3" st="3"/>
                                            </p:txEl>
                                          </p:spTgt>
                                        </p:tgtEl>
                                        <p:attrNameLst>
                                          <p:attrName>style.visibility</p:attrName>
                                        </p:attrNameLst>
                                      </p:cBhvr>
                                      <p:to>
                                        <p:strVal val="visible"/>
                                      </p:to>
                                    </p:set>
                                    <p:animEffect filter="fade" transition="in">
                                      <p:cBhvr>
                                        <p:cTn dur="500"/>
                                        <p:tgtEl>
                                          <p:spTgt spid="35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4" st="4"/>
                                            </p:txEl>
                                          </p:spTgt>
                                        </p:tgtEl>
                                        <p:attrNameLst>
                                          <p:attrName>style.visibility</p:attrName>
                                        </p:attrNameLst>
                                      </p:cBhvr>
                                      <p:to>
                                        <p:strVal val="visible"/>
                                      </p:to>
                                    </p:set>
                                    <p:animEffect filter="fade" transition="in">
                                      <p:cBhvr>
                                        <p:cTn dur="500"/>
                                        <p:tgtEl>
                                          <p:spTgt spid="35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5" st="5"/>
                                            </p:txEl>
                                          </p:spTgt>
                                        </p:tgtEl>
                                        <p:attrNameLst>
                                          <p:attrName>style.visibility</p:attrName>
                                        </p:attrNameLst>
                                      </p:cBhvr>
                                      <p:to>
                                        <p:strVal val="visible"/>
                                      </p:to>
                                    </p:set>
                                    <p:animEffect filter="fade" transition="in">
                                      <p:cBhvr>
                                        <p:cTn dur="500"/>
                                        <p:tgtEl>
                                          <p:spTgt spid="35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6" st="6"/>
                                            </p:txEl>
                                          </p:spTgt>
                                        </p:tgtEl>
                                        <p:attrNameLst>
                                          <p:attrName>style.visibility</p:attrName>
                                        </p:attrNameLst>
                                      </p:cBhvr>
                                      <p:to>
                                        <p:strVal val="visible"/>
                                      </p:to>
                                    </p:set>
                                    <p:animEffect filter="fade" transition="in">
                                      <p:cBhvr>
                                        <p:cTn dur="500"/>
                                        <p:tgtEl>
                                          <p:spTgt spid="352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7" st="7"/>
                                            </p:txEl>
                                          </p:spTgt>
                                        </p:tgtEl>
                                        <p:attrNameLst>
                                          <p:attrName>style.visibility</p:attrName>
                                        </p:attrNameLst>
                                      </p:cBhvr>
                                      <p:to>
                                        <p:strVal val="visible"/>
                                      </p:to>
                                    </p:set>
                                    <p:animEffect filter="fade" transition="in">
                                      <p:cBhvr>
                                        <p:cTn dur="500"/>
                                        <p:tgtEl>
                                          <p:spTgt spid="352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9">
                                            <p:txEl>
                                              <p:pRg end="8" st="8"/>
                                            </p:txEl>
                                          </p:spTgt>
                                        </p:tgtEl>
                                        <p:attrNameLst>
                                          <p:attrName>style.visibility</p:attrName>
                                        </p:attrNameLst>
                                      </p:cBhvr>
                                      <p:to>
                                        <p:strVal val="visible"/>
                                      </p:to>
                                    </p:set>
                                    <p:animEffect filter="fade" transition="in">
                                      <p:cBhvr>
                                        <p:cTn dur="500"/>
                                        <p:tgtEl>
                                          <p:spTgt spid="3529">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3540"/>
                                        </p:tgtEl>
                                        <p:attrNameLst>
                                          <p:attrName>style.visibility</p:attrName>
                                        </p:attrNameLst>
                                      </p:cBhvr>
                                      <p:to>
                                        <p:strVal val="visible"/>
                                      </p:to>
                                    </p:set>
                                    <p:animEffect filter="fade" transition="in">
                                      <p:cBhvr>
                                        <p:cTn dur="500"/>
                                        <p:tgtEl>
                                          <p:spTgt spid="3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40"/>
                                        </p:tgtEl>
                                      </p:cBhvr>
                                    </p:animEffect>
                                    <p:set>
                                      <p:cBhvr>
                                        <p:cTn dur="1" fill="hold">
                                          <p:stCondLst>
                                            <p:cond delay="500"/>
                                          </p:stCondLst>
                                        </p:cTn>
                                        <p:tgtEl>
                                          <p:spTgt spid="35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43"/>
                                        </p:tgtEl>
                                        <p:attrNameLst>
                                          <p:attrName>style.visibility</p:attrName>
                                        </p:attrNameLst>
                                      </p:cBhvr>
                                      <p:to>
                                        <p:strVal val="visible"/>
                                      </p:to>
                                    </p:set>
                                    <p:animEffect filter="fade" transition="in">
                                      <p:cBhvr>
                                        <p:cTn dur="500"/>
                                        <p:tgtEl>
                                          <p:spTgt spid="3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43"/>
                                        </p:tgtEl>
                                      </p:cBhvr>
                                    </p:animEffect>
                                    <p:set>
                                      <p:cBhvr>
                                        <p:cTn dur="1" fill="hold">
                                          <p:stCondLst>
                                            <p:cond delay="500"/>
                                          </p:stCondLst>
                                        </p:cTn>
                                        <p:tgtEl>
                                          <p:spTgt spid="354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46"/>
                                        </p:tgtEl>
                                        <p:attrNameLst>
                                          <p:attrName>style.visibility</p:attrName>
                                        </p:attrNameLst>
                                      </p:cBhvr>
                                      <p:to>
                                        <p:strVal val="visible"/>
                                      </p:to>
                                    </p:set>
                                    <p:animEffect filter="fade" transition="in">
                                      <p:cBhvr>
                                        <p:cTn dur="500"/>
                                        <p:tgtEl>
                                          <p:spTgt spid="35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46"/>
                                        </p:tgtEl>
                                      </p:cBhvr>
                                    </p:animEffect>
                                    <p:set>
                                      <p:cBhvr>
                                        <p:cTn dur="1" fill="hold">
                                          <p:stCondLst>
                                            <p:cond delay="500"/>
                                          </p:stCondLst>
                                        </p:cTn>
                                        <p:tgtEl>
                                          <p:spTgt spid="354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49"/>
                                        </p:tgtEl>
                                        <p:attrNameLst>
                                          <p:attrName>style.visibility</p:attrName>
                                        </p:attrNameLst>
                                      </p:cBhvr>
                                      <p:to>
                                        <p:strVal val="visible"/>
                                      </p:to>
                                    </p:set>
                                    <p:animEffect filter="fade" transition="in">
                                      <p:cBhvr>
                                        <p:cTn dur="500"/>
                                        <p:tgtEl>
                                          <p:spTgt spid="3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49"/>
                                        </p:tgtEl>
                                      </p:cBhvr>
                                    </p:animEffect>
                                    <p:set>
                                      <p:cBhvr>
                                        <p:cTn dur="1" fill="hold">
                                          <p:stCondLst>
                                            <p:cond delay="500"/>
                                          </p:stCondLst>
                                        </p:cTn>
                                        <p:tgtEl>
                                          <p:spTgt spid="354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52"/>
                                        </p:tgtEl>
                                        <p:attrNameLst>
                                          <p:attrName>style.visibility</p:attrName>
                                        </p:attrNameLst>
                                      </p:cBhvr>
                                      <p:to>
                                        <p:strVal val="visible"/>
                                      </p:to>
                                    </p:set>
                                    <p:animEffect filter="fade" transition="in">
                                      <p:cBhvr>
                                        <p:cTn dur="500"/>
                                        <p:tgtEl>
                                          <p:spTgt spid="3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0" name="Shape 3560"/>
        <p:cNvGrpSpPr/>
        <p:nvPr/>
      </p:nvGrpSpPr>
      <p:grpSpPr>
        <a:xfrm>
          <a:off x="0" y="0"/>
          <a:ext cx="0" cy="0"/>
          <a:chOff x="0" y="0"/>
          <a:chExt cx="0" cy="0"/>
        </a:xfrm>
      </p:grpSpPr>
      <p:sp>
        <p:nvSpPr>
          <p:cNvPr id="3561" name="Google Shape;3561;p2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Why layering?</a:t>
            </a:r>
            <a:endParaRPr sz="4400"/>
          </a:p>
        </p:txBody>
      </p:sp>
      <p:sp>
        <p:nvSpPr>
          <p:cNvPr id="3562" name="Google Shape;3562;p22"/>
          <p:cNvSpPr txBox="1"/>
          <p:nvPr/>
        </p:nvSpPr>
        <p:spPr>
          <a:xfrm>
            <a:off x="780297" y="1203575"/>
            <a:ext cx="10162523" cy="492270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600"/>
              <a:buFont typeface="Noto Sans Symbols"/>
              <a:buNone/>
            </a:pPr>
            <a:r>
              <a:rPr b="0" i="0" lang="en-US" sz="3600" u="none" cap="none" strike="noStrike">
                <a:solidFill>
                  <a:srgbClr val="000000"/>
                </a:solidFill>
                <a:latin typeface="Calibri"/>
                <a:ea typeface="Calibri"/>
                <a:cs typeface="Calibri"/>
                <a:sym typeface="Calibri"/>
              </a:rPr>
              <a:t>Approach to designing/discussing complex systems:</a:t>
            </a:r>
            <a:endParaRPr/>
          </a:p>
        </p:txBody>
      </p:sp>
      <p:sp>
        <p:nvSpPr>
          <p:cNvPr id="3563" name="Google Shape;3563;p22"/>
          <p:cNvSpPr txBox="1"/>
          <p:nvPr/>
        </p:nvSpPr>
        <p:spPr>
          <a:xfrm>
            <a:off x="722834" y="1935296"/>
            <a:ext cx="7431816" cy="4345583"/>
          </a:xfrm>
          <a:prstGeom prst="rect">
            <a:avLst/>
          </a:prstGeom>
          <a:noFill/>
          <a:ln>
            <a:noFill/>
          </a:ln>
        </p:spPr>
        <p:txBody>
          <a:bodyPr anchorCtr="0" anchor="t" bIns="45700" lIns="91425" spcFirstLastPara="1" rIns="91425" wrap="square" tIns="45700">
            <a:normAutofit/>
          </a:bodyPr>
          <a:lstStyle/>
          <a:p>
            <a:pPr indent="-355600" lvl="0" marL="5730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explicit structure allows identification, relationship of system’s pieces</a:t>
            </a:r>
            <a:endParaRPr/>
          </a:p>
          <a:p>
            <a:pPr indent="-355600" lvl="1" marL="98266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layered </a:t>
            </a:r>
            <a:r>
              <a:rPr b="0" i="1" lang="en-US" sz="2800" u="none" cap="none" strike="noStrike">
                <a:solidFill>
                  <a:srgbClr val="CC0000"/>
                </a:solidFill>
                <a:latin typeface="Calibri"/>
                <a:ea typeface="Calibri"/>
                <a:cs typeface="Calibri"/>
                <a:sym typeface="Calibri"/>
              </a:rPr>
              <a:t>reference model</a:t>
            </a:r>
            <a:r>
              <a:rPr b="0" i="0" lang="en-US" sz="2800" u="none" cap="none" strike="noStrike">
                <a:solidFill>
                  <a:srgbClr val="000000"/>
                </a:solidFill>
                <a:latin typeface="Calibri"/>
                <a:ea typeface="Calibri"/>
                <a:cs typeface="Calibri"/>
                <a:sym typeface="Calibri"/>
              </a:rPr>
              <a:t> for discussion</a:t>
            </a:r>
            <a:endParaRPr/>
          </a:p>
          <a:p>
            <a:pPr indent="-355600" lvl="0" marL="5730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modularization eases maintenance, updating of system</a:t>
            </a:r>
            <a:endParaRPr/>
          </a:p>
          <a:p>
            <a:pPr indent="-355600" lvl="1" marL="98266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change in layer's service </a:t>
            </a:r>
            <a:r>
              <a:rPr b="0" i="1" lang="en-US" sz="2800" u="none" cap="none" strike="noStrike">
                <a:solidFill>
                  <a:srgbClr val="000000"/>
                </a:solidFill>
                <a:latin typeface="Calibri"/>
                <a:ea typeface="Calibri"/>
                <a:cs typeface="Calibri"/>
                <a:sym typeface="Calibri"/>
              </a:rPr>
              <a:t>implementation</a:t>
            </a:r>
            <a:r>
              <a:rPr b="0" i="0" lang="en-US" sz="2800" u="none" cap="none" strike="noStrike">
                <a:solidFill>
                  <a:srgbClr val="000000"/>
                </a:solidFill>
                <a:latin typeface="Calibri"/>
                <a:ea typeface="Calibri"/>
                <a:cs typeface="Calibri"/>
                <a:sym typeface="Calibri"/>
              </a:rPr>
              <a:t>: transparent to rest of system</a:t>
            </a:r>
            <a:endParaRPr/>
          </a:p>
          <a:p>
            <a:pPr indent="-355600" lvl="1" marL="98266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e.g., change in gate procedure doesn’t affect rest of system</a:t>
            </a:r>
            <a:endParaRPr/>
          </a:p>
        </p:txBody>
      </p:sp>
      <p:sp>
        <p:nvSpPr>
          <p:cNvPr id="3564" name="Google Shape;3564;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3">
                                            <p:txEl>
                                              <p:pRg end="0" st="0"/>
                                            </p:txEl>
                                          </p:spTgt>
                                        </p:tgtEl>
                                        <p:attrNameLst>
                                          <p:attrName>style.visibility</p:attrName>
                                        </p:attrNameLst>
                                      </p:cBhvr>
                                      <p:to>
                                        <p:strVal val="visible"/>
                                      </p:to>
                                    </p:set>
                                    <p:animEffect filter="fade" transition="in">
                                      <p:cBhvr>
                                        <p:cTn dur="1000"/>
                                        <p:tgtEl>
                                          <p:spTgt spid="35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3">
                                            <p:txEl>
                                              <p:pRg end="1" st="1"/>
                                            </p:txEl>
                                          </p:spTgt>
                                        </p:tgtEl>
                                        <p:attrNameLst>
                                          <p:attrName>style.visibility</p:attrName>
                                        </p:attrNameLst>
                                      </p:cBhvr>
                                      <p:to>
                                        <p:strVal val="visible"/>
                                      </p:to>
                                    </p:set>
                                    <p:animEffect filter="fade" transition="in">
                                      <p:cBhvr>
                                        <p:cTn dur="1000"/>
                                        <p:tgtEl>
                                          <p:spTgt spid="35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3">
                                            <p:txEl>
                                              <p:pRg end="2" st="2"/>
                                            </p:txEl>
                                          </p:spTgt>
                                        </p:tgtEl>
                                        <p:attrNameLst>
                                          <p:attrName>style.visibility</p:attrName>
                                        </p:attrNameLst>
                                      </p:cBhvr>
                                      <p:to>
                                        <p:strVal val="visible"/>
                                      </p:to>
                                    </p:set>
                                    <p:animEffect filter="fade" transition="in">
                                      <p:cBhvr>
                                        <p:cTn dur="1000"/>
                                        <p:tgtEl>
                                          <p:spTgt spid="35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3">
                                            <p:txEl>
                                              <p:pRg end="3" st="3"/>
                                            </p:txEl>
                                          </p:spTgt>
                                        </p:tgtEl>
                                        <p:attrNameLst>
                                          <p:attrName>style.visibility</p:attrName>
                                        </p:attrNameLst>
                                      </p:cBhvr>
                                      <p:to>
                                        <p:strVal val="visible"/>
                                      </p:to>
                                    </p:set>
                                    <p:animEffect filter="fade" transition="in">
                                      <p:cBhvr>
                                        <p:cTn dur="1000"/>
                                        <p:tgtEl>
                                          <p:spTgt spid="35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3">
                                            <p:txEl>
                                              <p:pRg end="4" st="4"/>
                                            </p:txEl>
                                          </p:spTgt>
                                        </p:tgtEl>
                                        <p:attrNameLst>
                                          <p:attrName>style.visibility</p:attrName>
                                        </p:attrNameLst>
                                      </p:cBhvr>
                                      <p:to>
                                        <p:strVal val="visible"/>
                                      </p:to>
                                    </p:set>
                                    <p:animEffect filter="fade" transition="in">
                                      <p:cBhvr>
                                        <p:cTn dur="1000"/>
                                        <p:tgtEl>
                                          <p:spTgt spid="356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9" name="Shape 3569"/>
        <p:cNvGrpSpPr/>
        <p:nvPr/>
      </p:nvGrpSpPr>
      <p:grpSpPr>
        <a:xfrm>
          <a:off x="0" y="0"/>
          <a:ext cx="0" cy="0"/>
          <a:chOff x="0" y="0"/>
          <a:chExt cx="0" cy="0"/>
        </a:xfrm>
      </p:grpSpPr>
      <p:sp>
        <p:nvSpPr>
          <p:cNvPr id="3570" name="Google Shape;3570;p23"/>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Example: organization of air </a:t>
            </a:r>
            <a:r>
              <a:rPr lang="en-US"/>
              <a:t>t</a:t>
            </a:r>
            <a:r>
              <a:rPr lang="en-US" sz="4400"/>
              <a:t>ravel</a:t>
            </a:r>
            <a:endParaRPr/>
          </a:p>
        </p:txBody>
      </p:sp>
      <p:sp>
        <p:nvSpPr>
          <p:cNvPr id="3571" name="Google Shape;3571;p23"/>
          <p:cNvSpPr txBox="1"/>
          <p:nvPr/>
        </p:nvSpPr>
        <p:spPr>
          <a:xfrm>
            <a:off x="2345096" y="6081243"/>
            <a:ext cx="9529651" cy="542925"/>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series of steps, involving many services</a:t>
            </a:r>
            <a:endParaRPr/>
          </a:p>
        </p:txBody>
      </p:sp>
      <p:sp>
        <p:nvSpPr>
          <p:cNvPr id="3572" name="Google Shape;3572;p23"/>
          <p:cNvSpPr txBox="1"/>
          <p:nvPr/>
        </p:nvSpPr>
        <p:spPr>
          <a:xfrm>
            <a:off x="1110119" y="1935719"/>
            <a:ext cx="3719769" cy="2847976"/>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ticket (purchase)</a:t>
            </a:r>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baggage (check)</a:t>
            </a:r>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gates (load)</a:t>
            </a:r>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runway takeoff</a:t>
            </a:r>
            <a:endParaRPr/>
          </a:p>
          <a:p>
            <a:pPr indent="0" lvl="0" marL="0" marR="0" rtl="0" algn="l">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airplane routing</a:t>
            </a:r>
            <a:endParaRPr b="0" i="0" sz="2000" u="none" cap="none" strike="noStrike">
              <a:solidFill>
                <a:srgbClr val="000099"/>
              </a:solidFill>
              <a:latin typeface="Calibri"/>
              <a:ea typeface="Calibri"/>
              <a:cs typeface="Calibri"/>
              <a:sym typeface="Calibri"/>
            </a:endParaRPr>
          </a:p>
        </p:txBody>
      </p:sp>
      <p:sp>
        <p:nvSpPr>
          <p:cNvPr id="3573" name="Google Shape;3573;p23"/>
          <p:cNvSpPr txBox="1"/>
          <p:nvPr/>
        </p:nvSpPr>
        <p:spPr>
          <a:xfrm>
            <a:off x="7623765" y="1942018"/>
            <a:ext cx="2625654" cy="2847831"/>
          </a:xfrm>
          <a:prstGeom prst="rect">
            <a:avLst/>
          </a:prstGeom>
          <a:noFill/>
          <a:ln>
            <a:noFill/>
          </a:ln>
        </p:spPr>
        <p:txBody>
          <a:bodyPr anchorCtr="0" anchor="t" bIns="45700" lIns="91425" spcFirstLastPara="1" rIns="91425" wrap="square" tIns="45700">
            <a:spAutoFit/>
          </a:bodyPr>
          <a:lstStyle/>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ticket (complain)</a:t>
            </a:r>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baggage (claim)</a:t>
            </a:r>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gates (unload)</a:t>
            </a:r>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runway landing</a:t>
            </a:r>
            <a:endParaRPr/>
          </a:p>
          <a:p>
            <a:pPr indent="0" lvl="0" marL="0" marR="0" rtl="0" algn="r">
              <a:lnSpc>
                <a:spcPct val="13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airplane routing</a:t>
            </a:r>
            <a:endParaRPr/>
          </a:p>
        </p:txBody>
      </p:sp>
      <p:sp>
        <p:nvSpPr>
          <p:cNvPr id="3574" name="Google Shape;3574;p23"/>
          <p:cNvSpPr txBox="1"/>
          <p:nvPr/>
        </p:nvSpPr>
        <p:spPr>
          <a:xfrm>
            <a:off x="4389746" y="4831320"/>
            <a:ext cx="3570798"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airplane routing</a:t>
            </a:r>
            <a:endParaRPr/>
          </a:p>
        </p:txBody>
      </p:sp>
      <p:sp>
        <p:nvSpPr>
          <p:cNvPr id="3575" name="Google Shape;3575;p23"/>
          <p:cNvSpPr/>
          <p:nvPr/>
        </p:nvSpPr>
        <p:spPr>
          <a:xfrm>
            <a:off x="879891" y="2080182"/>
            <a:ext cx="7827767" cy="3289301"/>
          </a:xfrm>
          <a:custGeom>
            <a:rect b="b" l="l" r="r" t="t"/>
            <a:pathLst>
              <a:path extrusionOk="0" h="10000" w="8459">
                <a:moveTo>
                  <a:pt x="0" y="0"/>
                </a:moveTo>
                <a:cubicBezTo>
                  <a:pt x="3" y="2793"/>
                  <a:pt x="7" y="5585"/>
                  <a:pt x="10" y="8378"/>
                </a:cubicBezTo>
                <a:lnTo>
                  <a:pt x="1961" y="9961"/>
                </a:lnTo>
                <a:lnTo>
                  <a:pt x="8459" y="10000"/>
                </a:lnTo>
              </a:path>
            </a:pathLst>
          </a:custGeom>
          <a:noFill/>
          <a:ln cap="flat" cmpd="sng" w="444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sp>
        <p:nvSpPr>
          <p:cNvPr id="3576" name="Google Shape;3576;p23"/>
          <p:cNvSpPr/>
          <p:nvPr/>
        </p:nvSpPr>
        <p:spPr>
          <a:xfrm flipH="1">
            <a:off x="8627458" y="2106453"/>
            <a:ext cx="1822537" cy="3263030"/>
          </a:xfrm>
          <a:custGeom>
            <a:rect b="b" l="l" r="r" t="t"/>
            <a:pathLst>
              <a:path extrusionOk="0" h="3263030" w="1822537">
                <a:moveTo>
                  <a:pt x="1822537" y="3263030"/>
                </a:moveTo>
                <a:lnTo>
                  <a:pt x="6263" y="2743200"/>
                </a:lnTo>
                <a:cubicBezTo>
                  <a:pt x="4175" y="1828800"/>
                  <a:pt x="2088" y="914400"/>
                  <a:pt x="0" y="0"/>
                </a:cubicBezTo>
              </a:path>
            </a:pathLst>
          </a:custGeom>
          <a:noFill/>
          <a:ln cap="flat" cmpd="sng" w="444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577" name="Google Shape;3577;p23"/>
          <p:cNvSpPr txBox="1"/>
          <p:nvPr/>
        </p:nvSpPr>
        <p:spPr>
          <a:xfrm>
            <a:off x="1882900" y="5634038"/>
            <a:ext cx="9529651" cy="542925"/>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000000"/>
                </a:solidFill>
                <a:latin typeface="Calibri"/>
                <a:ea typeface="Calibri"/>
                <a:cs typeface="Calibri"/>
                <a:sym typeface="Calibri"/>
              </a:rPr>
              <a:t>How would you </a:t>
            </a:r>
            <a:r>
              <a:rPr b="0" i="1" lang="en-US" sz="3200" u="none" cap="none" strike="noStrike">
                <a:solidFill>
                  <a:srgbClr val="000000"/>
                </a:solidFill>
                <a:latin typeface="Calibri"/>
                <a:ea typeface="Calibri"/>
                <a:cs typeface="Calibri"/>
                <a:sym typeface="Calibri"/>
              </a:rPr>
              <a:t>define/discuss </a:t>
            </a:r>
            <a:r>
              <a:rPr b="0" i="0" lang="en-US" sz="3200" u="none" cap="none" strike="noStrike">
                <a:solidFill>
                  <a:srgbClr val="000000"/>
                </a:solidFill>
                <a:latin typeface="Calibri"/>
                <a:ea typeface="Calibri"/>
                <a:cs typeface="Calibri"/>
                <a:sym typeface="Calibri"/>
              </a:rPr>
              <a:t>the </a:t>
            </a:r>
            <a:r>
              <a:rPr b="0" i="1" lang="en-US" sz="3200" u="none" cap="none" strike="noStrike">
                <a:solidFill>
                  <a:srgbClr val="000000"/>
                </a:solidFill>
                <a:latin typeface="Calibri"/>
                <a:ea typeface="Calibri"/>
                <a:cs typeface="Calibri"/>
                <a:sym typeface="Calibri"/>
              </a:rPr>
              <a:t>system</a:t>
            </a:r>
            <a:r>
              <a:rPr b="0" i="0" lang="en-US" sz="3200" u="none" cap="none" strike="noStrike">
                <a:solidFill>
                  <a:srgbClr val="000000"/>
                </a:solidFill>
                <a:latin typeface="Calibri"/>
                <a:ea typeface="Calibri"/>
                <a:cs typeface="Calibri"/>
                <a:sym typeface="Calibri"/>
              </a:rPr>
              <a:t> of airline travel?</a:t>
            </a:r>
            <a:endParaRPr/>
          </a:p>
        </p:txBody>
      </p:sp>
      <p:cxnSp>
        <p:nvCxnSpPr>
          <p:cNvPr id="3578" name="Google Shape;3578;p23"/>
          <p:cNvCxnSpPr/>
          <p:nvPr/>
        </p:nvCxnSpPr>
        <p:spPr>
          <a:xfrm>
            <a:off x="1564598" y="1798817"/>
            <a:ext cx="7600013" cy="0"/>
          </a:xfrm>
          <a:prstGeom prst="straightConnector1">
            <a:avLst/>
          </a:prstGeom>
          <a:noFill/>
          <a:ln cap="flat" cmpd="sng" w="12700">
            <a:solidFill>
              <a:schemeClr val="accent1"/>
            </a:solidFill>
            <a:prstDash val="solid"/>
            <a:miter lim="800000"/>
            <a:headEnd len="sm" w="sm" type="none"/>
            <a:tailEnd len="med" w="med" type="triangle"/>
          </a:ln>
        </p:spPr>
      </p:cxnSp>
      <p:sp>
        <p:nvSpPr>
          <p:cNvPr id="3579" name="Google Shape;3579;p23"/>
          <p:cNvSpPr txBox="1"/>
          <p:nvPr/>
        </p:nvSpPr>
        <p:spPr>
          <a:xfrm>
            <a:off x="2473378" y="1558977"/>
            <a:ext cx="5581913"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end-to-end transfer of person plus baggage</a:t>
            </a:r>
            <a:endParaRPr/>
          </a:p>
        </p:txBody>
      </p:sp>
      <p:grpSp>
        <p:nvGrpSpPr>
          <p:cNvPr id="3580" name="Google Shape;3580;p23"/>
          <p:cNvGrpSpPr/>
          <p:nvPr/>
        </p:nvGrpSpPr>
        <p:grpSpPr>
          <a:xfrm>
            <a:off x="4267725" y="1021517"/>
            <a:ext cx="1528763" cy="620713"/>
            <a:chOff x="-1042195" y="4302698"/>
            <a:chExt cx="1528763" cy="620713"/>
          </a:xfrm>
        </p:grpSpPr>
        <p:pic>
          <p:nvPicPr>
            <p:cNvPr descr="yylgaifm[1]" id="3581" name="Google Shape;3581;p23"/>
            <p:cNvPicPr preferRelativeResize="0"/>
            <p:nvPr/>
          </p:nvPicPr>
          <p:blipFill rotWithShape="1">
            <a:blip r:embed="rId3">
              <a:alphaModFix/>
            </a:blip>
            <a:srcRect b="0" l="0" r="0" t="0"/>
            <a:stretch/>
          </p:blipFill>
          <p:spPr>
            <a:xfrm flipH="1">
              <a:off x="-1042195" y="4463036"/>
              <a:ext cx="1528763" cy="460375"/>
            </a:xfrm>
            <a:prstGeom prst="rect">
              <a:avLst/>
            </a:prstGeom>
            <a:noFill/>
            <a:ln>
              <a:noFill/>
            </a:ln>
          </p:spPr>
        </p:pic>
        <p:cxnSp>
          <p:nvCxnSpPr>
            <p:cNvPr id="3582" name="Google Shape;3582;p23"/>
            <p:cNvCxnSpPr/>
            <p:nvPr/>
          </p:nvCxnSpPr>
          <p:spPr>
            <a:xfrm>
              <a:off x="-561182" y="4302698"/>
              <a:ext cx="450850" cy="1588"/>
            </a:xfrm>
            <a:prstGeom prst="straightConnector1">
              <a:avLst/>
            </a:prstGeom>
            <a:noFill/>
            <a:ln cap="flat" cmpd="sng" w="9525">
              <a:solidFill>
                <a:schemeClr val="dk1"/>
              </a:solidFill>
              <a:prstDash val="solid"/>
              <a:round/>
              <a:headEnd len="med" w="med" type="none"/>
              <a:tailEnd len="med" w="med" type="none"/>
            </a:ln>
          </p:spPr>
        </p:cxnSp>
        <p:cxnSp>
          <p:nvCxnSpPr>
            <p:cNvPr id="3583" name="Google Shape;3583;p23"/>
            <p:cNvCxnSpPr/>
            <p:nvPr/>
          </p:nvCxnSpPr>
          <p:spPr>
            <a:xfrm>
              <a:off x="-408782" y="4455098"/>
              <a:ext cx="450850" cy="1588"/>
            </a:xfrm>
            <a:prstGeom prst="straightConnector1">
              <a:avLst/>
            </a:prstGeom>
            <a:noFill/>
            <a:ln cap="flat" cmpd="sng" w="9525">
              <a:solidFill>
                <a:schemeClr val="dk1"/>
              </a:solidFill>
              <a:prstDash val="solid"/>
              <a:round/>
              <a:headEnd len="med" w="med" type="none"/>
              <a:tailEnd len="med" w="med" type="none"/>
            </a:ln>
          </p:spPr>
        </p:cxnSp>
        <p:cxnSp>
          <p:nvCxnSpPr>
            <p:cNvPr id="3584" name="Google Shape;3584;p23"/>
            <p:cNvCxnSpPr/>
            <p:nvPr/>
          </p:nvCxnSpPr>
          <p:spPr>
            <a:xfrm>
              <a:off x="-256382" y="4607498"/>
              <a:ext cx="450850" cy="1588"/>
            </a:xfrm>
            <a:prstGeom prst="straightConnector1">
              <a:avLst/>
            </a:prstGeom>
            <a:noFill/>
            <a:ln cap="flat" cmpd="sng" w="9525">
              <a:solidFill>
                <a:schemeClr val="dk1"/>
              </a:solidFill>
              <a:prstDash val="solid"/>
              <a:round/>
              <a:headEnd len="med" w="med" type="none"/>
              <a:tailEnd len="med" w="med" type="none"/>
            </a:ln>
          </p:spPr>
        </p:cxnSp>
      </p:grpSp>
      <p:sp>
        <p:nvSpPr>
          <p:cNvPr id="3585" name="Google Shape;3585;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7">
                                            <p:txEl>
                                              <p:pRg end="0" st="0"/>
                                            </p:txEl>
                                          </p:spTgt>
                                        </p:tgtEl>
                                        <p:attrNameLst>
                                          <p:attrName>style.visibility</p:attrName>
                                        </p:attrNameLst>
                                      </p:cBhvr>
                                      <p:to>
                                        <p:strVal val="visible"/>
                                      </p:to>
                                    </p:set>
                                    <p:animEffect filter="fade" transition="in">
                                      <p:cBhvr>
                                        <p:cTn dur="500"/>
                                        <p:tgtEl>
                                          <p:spTgt spid="35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77">
                                            <p:txEl>
                                              <p:pRg end="0" st="0"/>
                                            </p:txEl>
                                          </p:spTgt>
                                        </p:tgtEl>
                                      </p:cBhvr>
                                    </p:animEffect>
                                    <p:set>
                                      <p:cBhvr>
                                        <p:cTn dur="1" fill="hold">
                                          <p:stCondLst>
                                            <p:cond delay="500"/>
                                          </p:stCondLst>
                                        </p:cTn>
                                        <p:tgtEl>
                                          <p:spTgt spid="3577">
                                            <p:txEl>
                                              <p:pRg end="0" st="0"/>
                                            </p:txEl>
                                          </p:spTgt>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71"/>
                                        </p:tgtEl>
                                        <p:attrNameLst>
                                          <p:attrName>style.visibility</p:attrName>
                                        </p:attrNameLst>
                                      </p:cBhvr>
                                      <p:to>
                                        <p:strVal val="visible"/>
                                      </p:to>
                                    </p:set>
                                    <p:animEffect filter="fade" transition="in">
                                      <p:cBhvr>
                                        <p:cTn dur="500"/>
                                        <p:tgtEl>
                                          <p:spTgt spid="3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5"/>
                                        </p:tgtEl>
                                        <p:attrNameLst>
                                          <p:attrName>style.visibility</p:attrName>
                                        </p:attrNameLst>
                                      </p:cBhvr>
                                      <p:to>
                                        <p:strVal val="visible"/>
                                      </p:to>
                                    </p:set>
                                    <p:animEffect filter="fade" transition="in">
                                      <p:cBhvr>
                                        <p:cTn dur="1000"/>
                                        <p:tgtEl>
                                          <p:spTgt spid="3575"/>
                                        </p:tgtEl>
                                      </p:cBhvr>
                                    </p:animEffect>
                                  </p:childTnLst>
                                </p:cTn>
                              </p:par>
                              <p:par>
                                <p:cTn fill="hold" nodeType="withEffect" presetClass="entr" presetID="10" presetSubtype="0">
                                  <p:stCondLst>
                                    <p:cond delay="0"/>
                                  </p:stCondLst>
                                  <p:childTnLst>
                                    <p:set>
                                      <p:cBhvr>
                                        <p:cTn dur="1" fill="hold">
                                          <p:stCondLst>
                                            <p:cond delay="0"/>
                                          </p:stCondLst>
                                        </p:cTn>
                                        <p:tgtEl>
                                          <p:spTgt spid="3572"/>
                                        </p:tgtEl>
                                        <p:attrNameLst>
                                          <p:attrName>style.visibility</p:attrName>
                                        </p:attrNameLst>
                                      </p:cBhvr>
                                      <p:to>
                                        <p:strVal val="visible"/>
                                      </p:to>
                                    </p:set>
                                    <p:animEffect filter="fade" transition="in">
                                      <p:cBhvr>
                                        <p:cTn dur="1000"/>
                                        <p:tgtEl>
                                          <p:spTgt spid="35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574"/>
                                        </p:tgtEl>
                                        <p:attrNameLst>
                                          <p:attrName>style.visibility</p:attrName>
                                        </p:attrNameLst>
                                      </p:cBhvr>
                                      <p:to>
                                        <p:strVal val="visible"/>
                                      </p:to>
                                    </p:set>
                                    <p:animEffect filter="fade" transition="in">
                                      <p:cBhvr>
                                        <p:cTn dur="1000"/>
                                        <p:tgtEl>
                                          <p:spTgt spid="3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3"/>
                                        </p:tgtEl>
                                        <p:attrNameLst>
                                          <p:attrName>style.visibility</p:attrName>
                                        </p:attrNameLst>
                                      </p:cBhvr>
                                      <p:to>
                                        <p:strVal val="visible"/>
                                      </p:to>
                                    </p:set>
                                    <p:animEffect filter="fade" transition="in">
                                      <p:cBhvr>
                                        <p:cTn dur="1000"/>
                                        <p:tgtEl>
                                          <p:spTgt spid="3573"/>
                                        </p:tgtEl>
                                      </p:cBhvr>
                                    </p:animEffect>
                                  </p:childTnLst>
                                </p:cTn>
                              </p:par>
                              <p:par>
                                <p:cTn fill="hold" nodeType="withEffect" presetClass="entr" presetID="10" presetSubtype="0">
                                  <p:stCondLst>
                                    <p:cond delay="0"/>
                                  </p:stCondLst>
                                  <p:childTnLst>
                                    <p:set>
                                      <p:cBhvr>
                                        <p:cTn dur="1" fill="hold">
                                          <p:stCondLst>
                                            <p:cond delay="0"/>
                                          </p:stCondLst>
                                        </p:cTn>
                                        <p:tgtEl>
                                          <p:spTgt spid="3576"/>
                                        </p:tgtEl>
                                        <p:attrNameLst>
                                          <p:attrName>style.visibility</p:attrName>
                                        </p:attrNameLst>
                                      </p:cBhvr>
                                      <p:to>
                                        <p:strVal val="visible"/>
                                      </p:to>
                                    </p:set>
                                    <p:animEffect filter="fade" transition="in">
                                      <p:cBhvr>
                                        <p:cTn dur="1000"/>
                                        <p:tgtEl>
                                          <p:spTgt spid="3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0" name="Shape 3590"/>
        <p:cNvGrpSpPr/>
        <p:nvPr/>
      </p:nvGrpSpPr>
      <p:grpSpPr>
        <a:xfrm>
          <a:off x="0" y="0"/>
          <a:ext cx="0" cy="0"/>
          <a:chOff x="0" y="0"/>
          <a:chExt cx="0" cy="0"/>
        </a:xfrm>
      </p:grpSpPr>
      <p:sp>
        <p:nvSpPr>
          <p:cNvPr id="3591" name="Google Shape;3591;p24"/>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92" name="Google Shape;3592;p24"/>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Services, Layering and Encapsulation</a:t>
            </a:r>
            <a:endParaRPr sz="4400"/>
          </a:p>
        </p:txBody>
      </p:sp>
      <p:sp>
        <p:nvSpPr>
          <p:cNvPr id="3593" name="Google Shape;3593;p24"/>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a:p>
        </p:txBody>
      </p:sp>
      <p:sp>
        <p:nvSpPr>
          <p:cNvPr id="3594" name="Google Shape;3594;p24"/>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595" name="Google Shape;3595;p24"/>
          <p:cNvGrpSpPr/>
          <p:nvPr/>
        </p:nvGrpSpPr>
        <p:grpSpPr>
          <a:xfrm flipH="1">
            <a:off x="635446" y="5073984"/>
            <a:ext cx="803275" cy="771525"/>
            <a:chOff x="-44" y="1473"/>
            <a:chExt cx="981" cy="1105"/>
          </a:xfrm>
        </p:grpSpPr>
        <p:pic>
          <p:nvPicPr>
            <p:cNvPr descr="desktop_computer_stylized_medium" id="3596" name="Google Shape;3596;p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597" name="Google Shape;3597;p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598" name="Google Shape;3598;p24"/>
          <p:cNvSpPr txBox="1"/>
          <p:nvPr/>
        </p:nvSpPr>
        <p:spPr>
          <a:xfrm>
            <a:off x="3462727" y="3394795"/>
            <a:ext cx="5831174" cy="2086725"/>
          </a:xfrm>
          <a:prstGeom prst="rect">
            <a:avLst/>
          </a:prstGeom>
          <a:noFill/>
          <a:ln>
            <a:noFill/>
          </a:ln>
        </p:spPr>
        <p:txBody>
          <a:bodyPr anchorCtr="0" anchor="t" bIns="45700" lIns="91425" spcFirstLastPara="1" rIns="91425" wrap="square" tIns="45700">
            <a:spAutoFit/>
          </a:bodyPr>
          <a:lstStyle/>
          <a:p>
            <a:pPr indent="-295275" lvl="0" marL="295275" marR="0" rtl="0" algn="l">
              <a:lnSpc>
                <a:spcPct val="90000"/>
              </a:lnSpc>
              <a:spcBef>
                <a:spcPts val="0"/>
              </a:spcBef>
              <a:spcAft>
                <a:spcPts val="0"/>
              </a:spcAft>
              <a:buClr>
                <a:srgbClr val="0000A3"/>
              </a:buClr>
              <a:buSzPts val="2400"/>
              <a:buFont typeface="Noto Sans Symbols"/>
              <a:buChar char="▪"/>
            </a:pPr>
            <a:r>
              <a:rPr lang="en-US" sz="2400">
                <a:solidFill>
                  <a:schemeClr val="dk1"/>
                </a:solidFill>
                <a:latin typeface="Arial"/>
                <a:ea typeface="Arial"/>
                <a:cs typeface="Arial"/>
                <a:sym typeface="Arial"/>
              </a:rPr>
              <a:t>transport-layer protocol </a:t>
            </a:r>
            <a:r>
              <a:rPr lang="en-US" sz="2400">
                <a:solidFill>
                  <a:srgbClr val="0000A3"/>
                </a:solidFill>
                <a:latin typeface="Arial"/>
                <a:ea typeface="Arial"/>
                <a:cs typeface="Arial"/>
                <a:sym typeface="Arial"/>
              </a:rPr>
              <a:t>encapsulates</a:t>
            </a:r>
            <a:r>
              <a:rPr lang="en-US" sz="2400">
                <a:solidFill>
                  <a:schemeClr val="dk1"/>
                </a:solidFill>
                <a:latin typeface="Arial"/>
                <a:ea typeface="Arial"/>
                <a:cs typeface="Arial"/>
                <a:sym typeface="Arial"/>
              </a:rPr>
              <a:t> application-layer message, M, with </a:t>
            </a:r>
            <a:r>
              <a:rPr i="1" lang="en-US" sz="2400">
                <a:solidFill>
                  <a:schemeClr val="dk1"/>
                </a:solidFill>
                <a:latin typeface="Arial"/>
                <a:ea typeface="Arial"/>
                <a:cs typeface="Arial"/>
                <a:sym typeface="Arial"/>
              </a:rPr>
              <a:t>transport</a:t>
            </a:r>
            <a:r>
              <a:rPr lang="en-US" sz="2400">
                <a:solidFill>
                  <a:schemeClr val="dk1"/>
                </a:solidFill>
                <a:latin typeface="Arial"/>
                <a:ea typeface="Arial"/>
                <a:cs typeface="Arial"/>
                <a:sym typeface="Arial"/>
              </a:rPr>
              <a:t> layer-layer header H</a:t>
            </a:r>
            <a:r>
              <a:rPr baseline="-25000"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to create a transport-layer </a:t>
            </a:r>
            <a:r>
              <a:rPr lang="en-US" sz="2400">
                <a:solidFill>
                  <a:srgbClr val="C00000"/>
                </a:solidFill>
                <a:latin typeface="Arial"/>
                <a:ea typeface="Arial"/>
                <a:cs typeface="Arial"/>
                <a:sym typeface="Arial"/>
              </a:rPr>
              <a:t>segment</a:t>
            </a:r>
            <a:endParaRPr baseline="-25000" sz="2400">
              <a:solidFill>
                <a:srgbClr val="C00000"/>
              </a:solidFill>
              <a:latin typeface="Arial"/>
              <a:ea typeface="Arial"/>
              <a:cs typeface="Arial"/>
              <a:sym typeface="Arial"/>
            </a:endParaRPr>
          </a:p>
          <a:p>
            <a:pPr indent="-231775" lvl="1" marL="574675" marR="0" rtl="0" algn="l">
              <a:lnSpc>
                <a:spcPct val="90000"/>
              </a:lnSpc>
              <a:spcBef>
                <a:spcPts val="0"/>
              </a:spcBef>
              <a:spcAft>
                <a:spcPts val="0"/>
              </a:spcAft>
              <a:buClr>
                <a:srgbClr val="0000A3"/>
              </a:buClr>
              <a:buSzPts val="2400"/>
              <a:buFont typeface="Arial"/>
              <a:buChar char="•"/>
            </a:pPr>
            <a:r>
              <a:rPr b="0" i="0" lang="en-US" sz="2400" u="none" cap="none" strike="noStrike">
                <a:solidFill>
                  <a:schemeClr val="dk1"/>
                </a:solidFill>
                <a:latin typeface="Arial"/>
                <a:ea typeface="Arial"/>
                <a:cs typeface="Arial"/>
                <a:sym typeface="Arial"/>
              </a:rPr>
              <a:t>H</a:t>
            </a:r>
            <a:r>
              <a:rPr b="0" baseline="-25000" i="0" lang="en-US" sz="2400" u="none" cap="none" strike="noStrike">
                <a:solidFill>
                  <a:schemeClr val="dk1"/>
                </a:solidFill>
                <a:latin typeface="Arial"/>
                <a:ea typeface="Arial"/>
                <a:cs typeface="Arial"/>
                <a:sym typeface="Arial"/>
              </a:rPr>
              <a:t>t </a:t>
            </a:r>
            <a:r>
              <a:rPr b="0" i="0" lang="en-US" sz="2400" u="none" cap="none" strike="noStrike">
                <a:solidFill>
                  <a:schemeClr val="dk1"/>
                </a:solidFill>
                <a:latin typeface="Arial"/>
                <a:ea typeface="Arial"/>
                <a:cs typeface="Arial"/>
                <a:sym typeface="Arial"/>
              </a:rPr>
              <a:t> used by transport layer protocol to implement its service</a:t>
            </a:r>
            <a:endParaRPr b="0" baseline="-25000" i="0" sz="2400" u="none" cap="none" strike="noStrike">
              <a:solidFill>
                <a:schemeClr val="dk1"/>
              </a:solidFill>
              <a:latin typeface="Arial"/>
              <a:ea typeface="Arial"/>
              <a:cs typeface="Arial"/>
              <a:sym typeface="Arial"/>
            </a:endParaRPr>
          </a:p>
        </p:txBody>
      </p:sp>
      <p:grpSp>
        <p:nvGrpSpPr>
          <p:cNvPr id="3599" name="Google Shape;3599;p24"/>
          <p:cNvGrpSpPr/>
          <p:nvPr/>
        </p:nvGrpSpPr>
        <p:grpSpPr>
          <a:xfrm>
            <a:off x="1334125" y="1421667"/>
            <a:ext cx="1765726" cy="4034752"/>
            <a:chOff x="1484027" y="1706480"/>
            <a:chExt cx="1765726" cy="4034752"/>
          </a:xfrm>
        </p:grpSpPr>
        <p:sp>
          <p:nvSpPr>
            <p:cNvPr id="3600" name="Google Shape;3600;p24"/>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01" name="Google Shape;3601;p24"/>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602" name="Google Shape;3602;p24"/>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603" name="Google Shape;3603;p24"/>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604" name="Google Shape;3604;p24"/>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605" name="Google Shape;3605;p24"/>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06" name="Google Shape;3606;p24"/>
          <p:cNvGrpSpPr/>
          <p:nvPr/>
        </p:nvGrpSpPr>
        <p:grpSpPr>
          <a:xfrm>
            <a:off x="11107713" y="4961744"/>
            <a:ext cx="374754" cy="833726"/>
            <a:chOff x="4140" y="429"/>
            <a:chExt cx="1425" cy="2396"/>
          </a:xfrm>
        </p:grpSpPr>
        <p:sp>
          <p:nvSpPr>
            <p:cNvPr id="3607" name="Google Shape;3607;p2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08" name="Google Shape;3608;p2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09" name="Google Shape;3609;p2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10" name="Google Shape;3610;p2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11" name="Google Shape;3611;p2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612" name="Google Shape;3612;p24"/>
            <p:cNvGrpSpPr/>
            <p:nvPr/>
          </p:nvGrpSpPr>
          <p:grpSpPr>
            <a:xfrm>
              <a:off x="4748" y="666"/>
              <a:ext cx="578" cy="150"/>
              <a:chOff x="613" y="2566"/>
              <a:chExt cx="721" cy="144"/>
            </a:xfrm>
          </p:grpSpPr>
          <p:sp>
            <p:nvSpPr>
              <p:cNvPr id="3613" name="Google Shape;3613;p2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14" name="Google Shape;3614;p2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615" name="Google Shape;3615;p2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616" name="Google Shape;3616;p24"/>
            <p:cNvGrpSpPr/>
            <p:nvPr/>
          </p:nvGrpSpPr>
          <p:grpSpPr>
            <a:xfrm>
              <a:off x="4748" y="990"/>
              <a:ext cx="578" cy="134"/>
              <a:chOff x="615" y="2564"/>
              <a:chExt cx="721" cy="139"/>
            </a:xfrm>
          </p:grpSpPr>
          <p:sp>
            <p:nvSpPr>
              <p:cNvPr id="3617" name="Google Shape;3617;p2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18" name="Google Shape;3618;p2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619" name="Google Shape;3619;p2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20" name="Google Shape;3620;p2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621" name="Google Shape;3621;p24"/>
            <p:cNvGrpSpPr/>
            <p:nvPr/>
          </p:nvGrpSpPr>
          <p:grpSpPr>
            <a:xfrm>
              <a:off x="4738" y="1647"/>
              <a:ext cx="578" cy="135"/>
              <a:chOff x="618" y="2586"/>
              <a:chExt cx="720" cy="124"/>
            </a:xfrm>
          </p:grpSpPr>
          <p:sp>
            <p:nvSpPr>
              <p:cNvPr id="3622" name="Google Shape;3622;p2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23" name="Google Shape;3623;p2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624" name="Google Shape;3624;p2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625" name="Google Shape;3625;p24"/>
            <p:cNvGrpSpPr/>
            <p:nvPr/>
          </p:nvGrpSpPr>
          <p:grpSpPr>
            <a:xfrm>
              <a:off x="4738" y="1330"/>
              <a:ext cx="588" cy="134"/>
              <a:chOff x="613" y="2571"/>
              <a:chExt cx="732" cy="134"/>
            </a:xfrm>
          </p:grpSpPr>
          <p:sp>
            <p:nvSpPr>
              <p:cNvPr id="3626" name="Google Shape;3626;p2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27" name="Google Shape;3627;p2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628" name="Google Shape;3628;p2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29" name="Google Shape;3629;p2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30" name="Google Shape;3630;p2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31" name="Google Shape;3631;p2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32" name="Google Shape;3632;p2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33" name="Google Shape;3633;p2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34" name="Google Shape;3634;p2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35" name="Google Shape;3635;p2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36" name="Google Shape;3636;p2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637" name="Google Shape;3637;p2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38" name="Google Shape;3638;p2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639" name="Google Shape;3639;p24"/>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3640" name="Google Shape;3640;p24"/>
          <p:cNvGrpSpPr/>
          <p:nvPr/>
        </p:nvGrpSpPr>
        <p:grpSpPr>
          <a:xfrm>
            <a:off x="9221450" y="1413548"/>
            <a:ext cx="1765726" cy="4034752"/>
            <a:chOff x="1484027" y="1706480"/>
            <a:chExt cx="1765726" cy="4034752"/>
          </a:xfrm>
        </p:grpSpPr>
        <p:sp>
          <p:nvSpPr>
            <p:cNvPr id="3641" name="Google Shape;3641;p24"/>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42" name="Google Shape;3642;p24"/>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643" name="Google Shape;3643;p24"/>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644" name="Google Shape;3644;p24"/>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645" name="Google Shape;3645;p24"/>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646" name="Google Shape;3646;p24"/>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47" name="Google Shape;3647;p24"/>
          <p:cNvGrpSpPr/>
          <p:nvPr/>
        </p:nvGrpSpPr>
        <p:grpSpPr>
          <a:xfrm>
            <a:off x="3211642" y="2368401"/>
            <a:ext cx="5768716" cy="914472"/>
            <a:chOff x="3211642" y="2368401"/>
            <a:chExt cx="5768716" cy="914472"/>
          </a:xfrm>
        </p:grpSpPr>
        <p:cxnSp>
          <p:nvCxnSpPr>
            <p:cNvPr id="3648" name="Google Shape;3648;p24"/>
            <p:cNvCxnSpPr/>
            <p:nvPr/>
          </p:nvCxnSpPr>
          <p:spPr>
            <a:xfrm>
              <a:off x="3211642" y="2610788"/>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649" name="Google Shape;3649;p24"/>
            <p:cNvSpPr txBox="1"/>
            <p:nvPr/>
          </p:nvSpPr>
          <p:spPr>
            <a:xfrm>
              <a:off x="3359490" y="2717590"/>
              <a:ext cx="5620868"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Arial"/>
                  <a:ea typeface="Arial"/>
                  <a:cs typeface="Arial"/>
                  <a:sym typeface="Arial"/>
                </a:rPr>
                <a:t>Transport-layer </a:t>
              </a:r>
              <a:r>
                <a:rPr lang="en-US" sz="1800">
                  <a:solidFill>
                    <a:schemeClr val="dk1"/>
                  </a:solidFill>
                  <a:latin typeface="Arial"/>
                  <a:ea typeface="Arial"/>
                  <a:cs typeface="Arial"/>
                  <a:sym typeface="Arial"/>
                </a:rPr>
                <a:t>protocol transfers M (e.g., reliably) from one </a:t>
              </a:r>
              <a:r>
                <a:rPr i="1" lang="en-US" sz="1800">
                  <a:solidFill>
                    <a:schemeClr val="dk1"/>
                  </a:solidFill>
                  <a:latin typeface="Arial"/>
                  <a:ea typeface="Arial"/>
                  <a:cs typeface="Arial"/>
                  <a:sym typeface="Arial"/>
                </a:rPr>
                <a:t>process</a:t>
              </a:r>
              <a:r>
                <a:rPr lang="en-US" sz="1800">
                  <a:solidFill>
                    <a:schemeClr val="dk1"/>
                  </a:solidFill>
                  <a:latin typeface="Arial"/>
                  <a:ea typeface="Arial"/>
                  <a:cs typeface="Arial"/>
                  <a:sym typeface="Arial"/>
                </a:rPr>
                <a:t> to another, using services of network layer</a:t>
              </a:r>
              <a:endParaRPr/>
            </a:p>
          </p:txBody>
        </p:sp>
        <p:sp>
          <p:nvSpPr>
            <p:cNvPr id="3650" name="Google Shape;3650;p24"/>
            <p:cNvSpPr/>
            <p:nvPr/>
          </p:nvSpPr>
          <p:spPr>
            <a:xfrm>
              <a:off x="5584583" y="236840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651" name="Google Shape;3651;p24"/>
            <p:cNvGrpSpPr/>
            <p:nvPr/>
          </p:nvGrpSpPr>
          <p:grpSpPr>
            <a:xfrm>
              <a:off x="5690803" y="2434313"/>
              <a:ext cx="908050" cy="301625"/>
              <a:chOff x="1848" y="2046"/>
              <a:chExt cx="572" cy="190"/>
            </a:xfrm>
          </p:grpSpPr>
          <p:grpSp>
            <p:nvGrpSpPr>
              <p:cNvPr id="3652" name="Google Shape;3652;p24"/>
              <p:cNvGrpSpPr/>
              <p:nvPr/>
            </p:nvGrpSpPr>
            <p:grpSpPr>
              <a:xfrm>
                <a:off x="1848" y="2047"/>
                <a:ext cx="187" cy="184"/>
                <a:chOff x="1959" y="2058"/>
                <a:chExt cx="187" cy="184"/>
              </a:xfrm>
            </p:grpSpPr>
            <p:sp>
              <p:nvSpPr>
                <p:cNvPr id="3653" name="Google Shape;3653;p24"/>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54" name="Google Shape;3654;p24"/>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3655" name="Google Shape;3655;p24"/>
              <p:cNvGrpSpPr/>
              <p:nvPr/>
            </p:nvGrpSpPr>
            <p:grpSpPr>
              <a:xfrm>
                <a:off x="1992" y="2046"/>
                <a:ext cx="428" cy="190"/>
                <a:chOff x="780" y="1553"/>
                <a:chExt cx="428" cy="190"/>
              </a:xfrm>
            </p:grpSpPr>
            <p:sp>
              <p:nvSpPr>
                <p:cNvPr id="3656" name="Google Shape;3656;p24"/>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57" name="Google Shape;3657;p24"/>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grpSp>
      <p:sp>
        <p:nvSpPr>
          <p:cNvPr id="3658" name="Google Shape;3658;p24"/>
          <p:cNvSpPr txBox="1"/>
          <p:nvPr/>
        </p:nvSpPr>
        <p:spPr>
          <a:xfrm>
            <a:off x="3375461" y="1789390"/>
            <a:ext cx="5618811"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Arial"/>
                <a:ea typeface="Arial"/>
                <a:cs typeface="Arial"/>
                <a:sym typeface="Arial"/>
              </a:rPr>
              <a:t>Application </a:t>
            </a:r>
            <a:r>
              <a:rPr lang="en-US" sz="1800">
                <a:solidFill>
                  <a:schemeClr val="dk1"/>
                </a:solidFill>
                <a:latin typeface="Arial"/>
                <a:ea typeface="Arial"/>
                <a:cs typeface="Arial"/>
                <a:sym typeface="Arial"/>
              </a:rPr>
              <a:t>exchanges </a:t>
            </a:r>
            <a:r>
              <a:rPr lang="en-US" sz="1800">
                <a:solidFill>
                  <a:srgbClr val="C00000"/>
                </a:solidFill>
                <a:latin typeface="Arial"/>
                <a:ea typeface="Arial"/>
                <a:cs typeface="Arial"/>
                <a:sym typeface="Arial"/>
              </a:rPr>
              <a:t>messages</a:t>
            </a:r>
            <a:r>
              <a:rPr lang="en-US" sz="1800">
                <a:solidFill>
                  <a:schemeClr val="dk1"/>
                </a:solidFill>
                <a:latin typeface="Arial"/>
                <a:ea typeface="Arial"/>
                <a:cs typeface="Arial"/>
                <a:sym typeface="Arial"/>
              </a:rPr>
              <a:t> to implement some application service using </a:t>
            </a:r>
            <a:r>
              <a:rPr i="1" lang="en-US" sz="1800">
                <a:solidFill>
                  <a:schemeClr val="dk1"/>
                </a:solidFill>
                <a:latin typeface="Arial"/>
                <a:ea typeface="Arial"/>
                <a:cs typeface="Arial"/>
                <a:sym typeface="Arial"/>
              </a:rPr>
              <a:t>services</a:t>
            </a:r>
            <a:r>
              <a:rPr lang="en-US" sz="1800">
                <a:solidFill>
                  <a:schemeClr val="dk1"/>
                </a:solidFill>
                <a:latin typeface="Arial"/>
                <a:ea typeface="Arial"/>
                <a:cs typeface="Arial"/>
                <a:sym typeface="Arial"/>
              </a:rPr>
              <a:t> of transport layer</a:t>
            </a:r>
            <a:endParaRPr/>
          </a:p>
        </p:txBody>
      </p:sp>
      <p:grpSp>
        <p:nvGrpSpPr>
          <p:cNvPr id="3659" name="Google Shape;3659;p24"/>
          <p:cNvGrpSpPr/>
          <p:nvPr/>
        </p:nvGrpSpPr>
        <p:grpSpPr>
          <a:xfrm>
            <a:off x="3254290" y="1489592"/>
            <a:ext cx="5651292" cy="389744"/>
            <a:chOff x="3270354" y="1798823"/>
            <a:chExt cx="5651292" cy="389744"/>
          </a:xfrm>
        </p:grpSpPr>
        <p:cxnSp>
          <p:nvCxnSpPr>
            <p:cNvPr id="3660" name="Google Shape;3660;p24"/>
            <p:cNvCxnSpPr/>
            <p:nvPr/>
          </p:nvCxnSpPr>
          <p:spPr>
            <a:xfrm>
              <a:off x="3270354" y="1993691"/>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661" name="Google Shape;3661;p24"/>
            <p:cNvSpPr/>
            <p:nvPr/>
          </p:nvSpPr>
          <p:spPr>
            <a:xfrm>
              <a:off x="5878639" y="1798823"/>
              <a:ext cx="674558"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662" name="Google Shape;3662;p24"/>
            <p:cNvGrpSpPr/>
            <p:nvPr/>
          </p:nvGrpSpPr>
          <p:grpSpPr>
            <a:xfrm>
              <a:off x="5953468" y="1857555"/>
              <a:ext cx="679450" cy="301625"/>
              <a:chOff x="780" y="1553"/>
              <a:chExt cx="428" cy="190"/>
            </a:xfrm>
          </p:grpSpPr>
          <p:sp>
            <p:nvSpPr>
              <p:cNvPr id="3663" name="Google Shape;3663;p24"/>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64" name="Google Shape;3664;p24"/>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sp>
        <p:nvSpPr>
          <p:cNvPr id="3665" name="Google Shape;3665;p24"/>
          <p:cNvSpPr txBox="1"/>
          <p:nvPr/>
        </p:nvSpPr>
        <p:spPr>
          <a:xfrm>
            <a:off x="6982691" y="-781396"/>
            <a:ext cx="457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66" name="Google Shape;3666;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9"/>
                                        </p:tgtEl>
                                        <p:attrNameLst>
                                          <p:attrName>style.visibility</p:attrName>
                                        </p:attrNameLst>
                                      </p:cBhvr>
                                      <p:to>
                                        <p:strVal val="visible"/>
                                      </p:to>
                                    </p:set>
                                    <p:animEffect filter="fade" transition="in">
                                      <p:cBhvr>
                                        <p:cTn dur="500"/>
                                        <p:tgtEl>
                                          <p:spTgt spid="3659"/>
                                        </p:tgtEl>
                                      </p:cBhvr>
                                    </p:animEffect>
                                  </p:childTnLst>
                                </p:cTn>
                              </p:par>
                              <p:par>
                                <p:cTn fill="hold" nodeType="withEffect" presetClass="entr" presetID="10" presetSubtype="0">
                                  <p:stCondLst>
                                    <p:cond delay="0"/>
                                  </p:stCondLst>
                                  <p:childTnLst>
                                    <p:set>
                                      <p:cBhvr>
                                        <p:cTn dur="1" fill="hold">
                                          <p:stCondLst>
                                            <p:cond delay="0"/>
                                          </p:stCondLst>
                                        </p:cTn>
                                        <p:tgtEl>
                                          <p:spTgt spid="3658"/>
                                        </p:tgtEl>
                                        <p:attrNameLst>
                                          <p:attrName>style.visibility</p:attrName>
                                        </p:attrNameLst>
                                      </p:cBhvr>
                                      <p:to>
                                        <p:strVal val="visible"/>
                                      </p:to>
                                    </p:set>
                                    <p:animEffect filter="fade" transition="in">
                                      <p:cBhvr>
                                        <p:cTn dur="500"/>
                                        <p:tgtEl>
                                          <p:spTgt spid="3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7"/>
                                        </p:tgtEl>
                                        <p:attrNameLst>
                                          <p:attrName>style.visibility</p:attrName>
                                        </p:attrNameLst>
                                      </p:cBhvr>
                                      <p:to>
                                        <p:strVal val="visible"/>
                                      </p:to>
                                    </p:set>
                                    <p:animEffect filter="fade" transition="in">
                                      <p:cBhvr>
                                        <p:cTn dur="500"/>
                                        <p:tgtEl>
                                          <p:spTgt spid="3647"/>
                                        </p:tgtEl>
                                      </p:cBhvr>
                                    </p:animEffect>
                                  </p:childTnLst>
                                </p:cTn>
                              </p:par>
                              <p:par>
                                <p:cTn fill="hold" nodeType="withEffect" presetClass="exit" presetID="10" presetSubtype="0">
                                  <p:stCondLst>
                                    <p:cond delay="0"/>
                                  </p:stCondLst>
                                  <p:childTnLst>
                                    <p:animEffect filter="fade" transition="out">
                                      <p:cBhvr>
                                        <p:cTn dur="500"/>
                                        <p:tgtEl>
                                          <p:spTgt spid="3658"/>
                                        </p:tgtEl>
                                      </p:cBhvr>
                                    </p:animEffect>
                                    <p:set>
                                      <p:cBhvr>
                                        <p:cTn dur="1" fill="hold">
                                          <p:stCondLst>
                                            <p:cond delay="500"/>
                                          </p:stCondLst>
                                        </p:cTn>
                                        <p:tgtEl>
                                          <p:spTgt spid="36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8"/>
                                        </p:tgtEl>
                                        <p:attrNameLst>
                                          <p:attrName>style.visibility</p:attrName>
                                        </p:attrNameLst>
                                      </p:cBhvr>
                                      <p:to>
                                        <p:strVal val="visible"/>
                                      </p:to>
                                    </p:set>
                                    <p:animEffect filter="fade" transition="in">
                                      <p:cBhvr>
                                        <p:cTn dur="500"/>
                                        <p:tgtEl>
                                          <p:spTgt spid="35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1" name="Shape 3671"/>
        <p:cNvGrpSpPr/>
        <p:nvPr/>
      </p:nvGrpSpPr>
      <p:grpSpPr>
        <a:xfrm>
          <a:off x="0" y="0"/>
          <a:ext cx="0" cy="0"/>
          <a:chOff x="0" y="0"/>
          <a:chExt cx="0" cy="0"/>
        </a:xfrm>
      </p:grpSpPr>
      <p:sp>
        <p:nvSpPr>
          <p:cNvPr id="3672" name="Google Shape;3672;p25"/>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3" name="Google Shape;3673;p25"/>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Services, Layering and Encapsulation</a:t>
            </a:r>
            <a:endParaRPr sz="4400"/>
          </a:p>
        </p:txBody>
      </p:sp>
      <p:sp>
        <p:nvSpPr>
          <p:cNvPr id="3674" name="Google Shape;3674;p25"/>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a:p>
        </p:txBody>
      </p:sp>
      <p:sp>
        <p:nvSpPr>
          <p:cNvPr id="3675" name="Google Shape;3675;p25"/>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676" name="Google Shape;3676;p25"/>
          <p:cNvGrpSpPr/>
          <p:nvPr/>
        </p:nvGrpSpPr>
        <p:grpSpPr>
          <a:xfrm flipH="1">
            <a:off x="635446" y="5073984"/>
            <a:ext cx="803275" cy="771525"/>
            <a:chOff x="-44" y="1473"/>
            <a:chExt cx="981" cy="1105"/>
          </a:xfrm>
        </p:grpSpPr>
        <p:pic>
          <p:nvPicPr>
            <p:cNvPr descr="desktop_computer_stylized_medium" id="3677" name="Google Shape;3677;p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78" name="Google Shape;3678;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cxnSp>
        <p:nvCxnSpPr>
          <p:cNvPr id="3679" name="Google Shape;3679;p25"/>
          <p:cNvCxnSpPr/>
          <p:nvPr/>
        </p:nvCxnSpPr>
        <p:spPr>
          <a:xfrm>
            <a:off x="3211642" y="2610788"/>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680" name="Google Shape;3680;p25"/>
          <p:cNvSpPr txBox="1"/>
          <p:nvPr/>
        </p:nvSpPr>
        <p:spPr>
          <a:xfrm>
            <a:off x="3359490" y="2717590"/>
            <a:ext cx="5620868"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Arial"/>
                <a:ea typeface="Arial"/>
                <a:cs typeface="Arial"/>
                <a:sym typeface="Arial"/>
              </a:rPr>
              <a:t>Transport-layer </a:t>
            </a:r>
            <a:r>
              <a:rPr lang="en-US" sz="1800">
                <a:solidFill>
                  <a:schemeClr val="dk1"/>
                </a:solidFill>
                <a:latin typeface="Arial"/>
                <a:ea typeface="Arial"/>
                <a:cs typeface="Arial"/>
                <a:sym typeface="Arial"/>
              </a:rPr>
              <a:t>protocol transfers M (e.g., reliably) from one </a:t>
            </a:r>
            <a:r>
              <a:rPr i="1" lang="en-US" sz="1800">
                <a:solidFill>
                  <a:schemeClr val="dk1"/>
                </a:solidFill>
                <a:latin typeface="Arial"/>
                <a:ea typeface="Arial"/>
                <a:cs typeface="Arial"/>
                <a:sym typeface="Arial"/>
              </a:rPr>
              <a:t>process</a:t>
            </a:r>
            <a:r>
              <a:rPr lang="en-US" sz="1800">
                <a:solidFill>
                  <a:schemeClr val="dk1"/>
                </a:solidFill>
                <a:latin typeface="Arial"/>
                <a:ea typeface="Arial"/>
                <a:cs typeface="Arial"/>
                <a:sym typeface="Arial"/>
              </a:rPr>
              <a:t> to another, using services of network layer</a:t>
            </a:r>
            <a:endParaRPr/>
          </a:p>
        </p:txBody>
      </p:sp>
      <p:sp>
        <p:nvSpPr>
          <p:cNvPr id="3681" name="Google Shape;3681;p25"/>
          <p:cNvSpPr/>
          <p:nvPr/>
        </p:nvSpPr>
        <p:spPr>
          <a:xfrm>
            <a:off x="5584583" y="236840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682" name="Google Shape;3682;p25"/>
          <p:cNvGrpSpPr/>
          <p:nvPr/>
        </p:nvGrpSpPr>
        <p:grpSpPr>
          <a:xfrm>
            <a:off x="5690803" y="2434313"/>
            <a:ext cx="908050" cy="301625"/>
            <a:chOff x="1848" y="2046"/>
            <a:chExt cx="572" cy="190"/>
          </a:xfrm>
        </p:grpSpPr>
        <p:grpSp>
          <p:nvGrpSpPr>
            <p:cNvPr id="3683" name="Google Shape;3683;p25"/>
            <p:cNvGrpSpPr/>
            <p:nvPr/>
          </p:nvGrpSpPr>
          <p:grpSpPr>
            <a:xfrm>
              <a:off x="1848" y="2047"/>
              <a:ext cx="187" cy="184"/>
              <a:chOff x="1959" y="2058"/>
              <a:chExt cx="187" cy="184"/>
            </a:xfrm>
          </p:grpSpPr>
          <p:sp>
            <p:nvSpPr>
              <p:cNvPr id="3684" name="Google Shape;3684;p25"/>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85" name="Google Shape;3685;p25"/>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3686" name="Google Shape;3686;p25"/>
            <p:cNvGrpSpPr/>
            <p:nvPr/>
          </p:nvGrpSpPr>
          <p:grpSpPr>
            <a:xfrm>
              <a:off x="1992" y="2046"/>
              <a:ext cx="428" cy="190"/>
              <a:chOff x="780" y="1553"/>
              <a:chExt cx="428" cy="190"/>
            </a:xfrm>
          </p:grpSpPr>
          <p:sp>
            <p:nvSpPr>
              <p:cNvPr id="3687" name="Google Shape;3687;p25"/>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88" name="Google Shape;3688;p25"/>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sp>
        <p:nvSpPr>
          <p:cNvPr id="3689" name="Google Shape;3689;p25"/>
          <p:cNvSpPr txBox="1"/>
          <p:nvPr/>
        </p:nvSpPr>
        <p:spPr>
          <a:xfrm>
            <a:off x="3462727" y="4339175"/>
            <a:ext cx="5831174" cy="2086725"/>
          </a:xfrm>
          <a:prstGeom prst="rect">
            <a:avLst/>
          </a:prstGeom>
          <a:noFill/>
          <a:ln>
            <a:noFill/>
          </a:ln>
        </p:spPr>
        <p:txBody>
          <a:bodyPr anchorCtr="0" anchor="t" bIns="45700" lIns="91425" spcFirstLastPara="1" rIns="91425" wrap="square" tIns="45700">
            <a:spAutoFit/>
          </a:bodyPr>
          <a:lstStyle/>
          <a:p>
            <a:pPr indent="-295275" lvl="0" marL="295275" marR="0" rtl="0" algn="l">
              <a:lnSpc>
                <a:spcPct val="90000"/>
              </a:lnSpc>
              <a:spcBef>
                <a:spcPts val="0"/>
              </a:spcBef>
              <a:spcAft>
                <a:spcPts val="0"/>
              </a:spcAft>
              <a:buClr>
                <a:srgbClr val="0000A3"/>
              </a:buClr>
              <a:buSzPts val="2400"/>
              <a:buFont typeface="Noto Sans Symbols"/>
              <a:buChar char="▪"/>
            </a:pPr>
            <a:r>
              <a:rPr lang="en-US" sz="2400">
                <a:solidFill>
                  <a:schemeClr val="dk1"/>
                </a:solidFill>
                <a:latin typeface="Arial"/>
                <a:ea typeface="Arial"/>
                <a:cs typeface="Arial"/>
                <a:sym typeface="Arial"/>
              </a:rPr>
              <a:t>network-layer protocol </a:t>
            </a:r>
            <a:r>
              <a:rPr lang="en-US" sz="2400">
                <a:solidFill>
                  <a:srgbClr val="0000A3"/>
                </a:solidFill>
                <a:latin typeface="Arial"/>
                <a:ea typeface="Arial"/>
                <a:cs typeface="Arial"/>
                <a:sym typeface="Arial"/>
              </a:rPr>
              <a:t>encapsulates</a:t>
            </a:r>
            <a:r>
              <a:rPr lang="en-US" sz="2400">
                <a:solidFill>
                  <a:schemeClr val="dk1"/>
                </a:solidFill>
                <a:latin typeface="Arial"/>
                <a:ea typeface="Arial"/>
                <a:cs typeface="Arial"/>
                <a:sym typeface="Arial"/>
              </a:rPr>
              <a:t> transport-layer segment</a:t>
            </a:r>
            <a:r>
              <a:rPr lang="en-US" sz="2000">
                <a:solidFill>
                  <a:schemeClr val="dk1"/>
                </a:solidFill>
                <a:latin typeface="Arial"/>
                <a:ea typeface="Arial"/>
                <a:cs typeface="Arial"/>
                <a:sym typeface="Arial"/>
              </a:rPr>
              <a:t>  [H</a:t>
            </a:r>
            <a:r>
              <a:rPr baseline="-25000" lang="en-US" sz="2000">
                <a:solidFill>
                  <a:schemeClr val="dk1"/>
                </a:solidFill>
                <a:latin typeface="Arial"/>
                <a:ea typeface="Arial"/>
                <a:cs typeface="Arial"/>
                <a:sym typeface="Arial"/>
              </a:rPr>
              <a:t>t</a:t>
            </a:r>
            <a:r>
              <a:rPr lang="en-US" sz="2000">
                <a:solidFill>
                  <a:schemeClr val="dk1"/>
                </a:solidFill>
                <a:latin typeface="Arial"/>
                <a:ea typeface="Arial"/>
                <a:cs typeface="Arial"/>
                <a:sym typeface="Arial"/>
              </a:rPr>
              <a:t> | M] </a:t>
            </a:r>
            <a:r>
              <a:rPr lang="en-US" sz="2400">
                <a:solidFill>
                  <a:schemeClr val="dk1"/>
                </a:solidFill>
                <a:latin typeface="Arial"/>
                <a:ea typeface="Arial"/>
                <a:cs typeface="Arial"/>
                <a:sym typeface="Arial"/>
              </a:rPr>
              <a:t>with network layer-layer header H</a:t>
            </a:r>
            <a:r>
              <a:rPr baseline="-25000" lang="en-US" sz="2400">
                <a:solidFill>
                  <a:schemeClr val="dk1"/>
                </a:solidFill>
                <a:latin typeface="Arial"/>
                <a:ea typeface="Arial"/>
                <a:cs typeface="Arial"/>
                <a:sym typeface="Arial"/>
              </a:rPr>
              <a:t>n </a:t>
            </a:r>
            <a:r>
              <a:rPr lang="en-US" sz="2400">
                <a:solidFill>
                  <a:schemeClr val="dk1"/>
                </a:solidFill>
                <a:latin typeface="Arial"/>
                <a:ea typeface="Arial"/>
                <a:cs typeface="Arial"/>
                <a:sym typeface="Arial"/>
              </a:rPr>
              <a:t> to create a network-layer </a:t>
            </a:r>
            <a:r>
              <a:rPr lang="en-US" sz="2400">
                <a:solidFill>
                  <a:srgbClr val="C00000"/>
                </a:solidFill>
                <a:latin typeface="Arial"/>
                <a:ea typeface="Arial"/>
                <a:cs typeface="Arial"/>
                <a:sym typeface="Arial"/>
              </a:rPr>
              <a:t>datagram </a:t>
            </a:r>
            <a:endParaRPr/>
          </a:p>
          <a:p>
            <a:pPr indent="-231775" lvl="1" marL="574675" marR="0" rtl="0" algn="l">
              <a:lnSpc>
                <a:spcPct val="90000"/>
              </a:lnSpc>
              <a:spcBef>
                <a:spcPts val="0"/>
              </a:spcBef>
              <a:spcAft>
                <a:spcPts val="0"/>
              </a:spcAft>
              <a:buClr>
                <a:srgbClr val="0000A3"/>
              </a:buClr>
              <a:buSzPts val="2400"/>
              <a:buFont typeface="Arial"/>
              <a:buChar char="•"/>
            </a:pPr>
            <a:r>
              <a:rPr b="0" i="0" lang="en-US" sz="2400" u="none" cap="none" strike="noStrike">
                <a:solidFill>
                  <a:schemeClr val="dk1"/>
                </a:solidFill>
                <a:latin typeface="Arial"/>
                <a:ea typeface="Arial"/>
                <a:cs typeface="Arial"/>
                <a:sym typeface="Arial"/>
              </a:rPr>
              <a:t>H</a:t>
            </a:r>
            <a:r>
              <a:rPr b="0" baseline="-25000" i="0" lang="en-US" sz="2400" u="none" cap="none" strike="noStrike">
                <a:solidFill>
                  <a:schemeClr val="dk1"/>
                </a:solidFill>
                <a:latin typeface="Arial"/>
                <a:ea typeface="Arial"/>
                <a:cs typeface="Arial"/>
                <a:sym typeface="Arial"/>
              </a:rPr>
              <a:t>n </a:t>
            </a:r>
            <a:r>
              <a:rPr b="0" i="0" lang="en-US" sz="2400" u="none" cap="none" strike="noStrike">
                <a:solidFill>
                  <a:schemeClr val="dk1"/>
                </a:solidFill>
                <a:latin typeface="Arial"/>
                <a:ea typeface="Arial"/>
                <a:cs typeface="Arial"/>
                <a:sym typeface="Arial"/>
              </a:rPr>
              <a:t> used by network layer protocol to implement its service</a:t>
            </a:r>
            <a:endParaRPr b="0" baseline="-25000" i="0" sz="2400" u="none" cap="none" strike="noStrike">
              <a:solidFill>
                <a:schemeClr val="dk1"/>
              </a:solidFill>
              <a:latin typeface="Arial"/>
              <a:ea typeface="Arial"/>
              <a:cs typeface="Arial"/>
              <a:sym typeface="Arial"/>
            </a:endParaRPr>
          </a:p>
        </p:txBody>
      </p:sp>
      <p:grpSp>
        <p:nvGrpSpPr>
          <p:cNvPr id="3690" name="Google Shape;3690;p25"/>
          <p:cNvGrpSpPr/>
          <p:nvPr/>
        </p:nvGrpSpPr>
        <p:grpSpPr>
          <a:xfrm>
            <a:off x="1334125" y="1421667"/>
            <a:ext cx="1765726" cy="4034752"/>
            <a:chOff x="1484027" y="1706480"/>
            <a:chExt cx="1765726" cy="4034752"/>
          </a:xfrm>
        </p:grpSpPr>
        <p:sp>
          <p:nvSpPr>
            <p:cNvPr id="3691" name="Google Shape;3691;p25"/>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692" name="Google Shape;3692;p25"/>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693" name="Google Shape;3693;p25"/>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694" name="Google Shape;3694;p25"/>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695" name="Google Shape;3695;p25"/>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696" name="Google Shape;3696;p25"/>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697" name="Google Shape;3697;p25"/>
          <p:cNvGrpSpPr/>
          <p:nvPr/>
        </p:nvGrpSpPr>
        <p:grpSpPr>
          <a:xfrm>
            <a:off x="11107713" y="4961744"/>
            <a:ext cx="374754" cy="833726"/>
            <a:chOff x="4140" y="429"/>
            <a:chExt cx="1425" cy="2396"/>
          </a:xfrm>
        </p:grpSpPr>
        <p:sp>
          <p:nvSpPr>
            <p:cNvPr id="3698" name="Google Shape;3698;p2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99" name="Google Shape;3699;p2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00" name="Google Shape;3700;p2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1" name="Google Shape;3701;p2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2" name="Google Shape;3702;p2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703" name="Google Shape;3703;p25"/>
            <p:cNvGrpSpPr/>
            <p:nvPr/>
          </p:nvGrpSpPr>
          <p:grpSpPr>
            <a:xfrm>
              <a:off x="4748" y="666"/>
              <a:ext cx="578" cy="150"/>
              <a:chOff x="613" y="2566"/>
              <a:chExt cx="721" cy="144"/>
            </a:xfrm>
          </p:grpSpPr>
          <p:sp>
            <p:nvSpPr>
              <p:cNvPr id="3704" name="Google Shape;3704;p2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05" name="Google Shape;3705;p2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06" name="Google Shape;3706;p2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707" name="Google Shape;3707;p25"/>
            <p:cNvGrpSpPr/>
            <p:nvPr/>
          </p:nvGrpSpPr>
          <p:grpSpPr>
            <a:xfrm>
              <a:off x="4748" y="990"/>
              <a:ext cx="578" cy="134"/>
              <a:chOff x="615" y="2564"/>
              <a:chExt cx="721" cy="139"/>
            </a:xfrm>
          </p:grpSpPr>
          <p:sp>
            <p:nvSpPr>
              <p:cNvPr id="3708" name="Google Shape;3708;p2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09" name="Google Shape;3709;p2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10" name="Google Shape;3710;p2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11" name="Google Shape;3711;p2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712" name="Google Shape;3712;p25"/>
            <p:cNvGrpSpPr/>
            <p:nvPr/>
          </p:nvGrpSpPr>
          <p:grpSpPr>
            <a:xfrm>
              <a:off x="4738" y="1647"/>
              <a:ext cx="578" cy="135"/>
              <a:chOff x="618" y="2586"/>
              <a:chExt cx="720" cy="124"/>
            </a:xfrm>
          </p:grpSpPr>
          <p:sp>
            <p:nvSpPr>
              <p:cNvPr id="3713" name="Google Shape;3713;p2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14" name="Google Shape;3714;p2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15" name="Google Shape;3715;p2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716" name="Google Shape;3716;p25"/>
            <p:cNvGrpSpPr/>
            <p:nvPr/>
          </p:nvGrpSpPr>
          <p:grpSpPr>
            <a:xfrm>
              <a:off x="4738" y="1330"/>
              <a:ext cx="588" cy="134"/>
              <a:chOff x="613" y="2571"/>
              <a:chExt cx="732" cy="134"/>
            </a:xfrm>
          </p:grpSpPr>
          <p:sp>
            <p:nvSpPr>
              <p:cNvPr id="3717" name="Google Shape;3717;p2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18" name="Google Shape;3718;p2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19" name="Google Shape;3719;p2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20" name="Google Shape;3720;p2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21" name="Google Shape;3721;p2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22" name="Google Shape;3722;p2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23" name="Google Shape;3723;p2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24" name="Google Shape;3724;p2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25" name="Google Shape;3725;p2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26" name="Google Shape;3726;p2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27" name="Google Shape;3727;p2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728" name="Google Shape;3728;p2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29" name="Google Shape;3729;p2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30" name="Google Shape;3730;p25"/>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3731" name="Google Shape;3731;p25"/>
          <p:cNvGrpSpPr/>
          <p:nvPr/>
        </p:nvGrpSpPr>
        <p:grpSpPr>
          <a:xfrm>
            <a:off x="3254290" y="1489592"/>
            <a:ext cx="5651292" cy="389744"/>
            <a:chOff x="3270354" y="1798823"/>
            <a:chExt cx="5651292" cy="389744"/>
          </a:xfrm>
        </p:grpSpPr>
        <p:cxnSp>
          <p:nvCxnSpPr>
            <p:cNvPr id="3732" name="Google Shape;3732;p25"/>
            <p:cNvCxnSpPr/>
            <p:nvPr/>
          </p:nvCxnSpPr>
          <p:spPr>
            <a:xfrm>
              <a:off x="3270354" y="1993691"/>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733" name="Google Shape;3733;p25"/>
            <p:cNvSpPr/>
            <p:nvPr/>
          </p:nvSpPr>
          <p:spPr>
            <a:xfrm>
              <a:off x="5878639" y="1798823"/>
              <a:ext cx="674558"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734" name="Google Shape;3734;p25"/>
            <p:cNvGrpSpPr/>
            <p:nvPr/>
          </p:nvGrpSpPr>
          <p:grpSpPr>
            <a:xfrm>
              <a:off x="5953468" y="1857555"/>
              <a:ext cx="679450" cy="301625"/>
              <a:chOff x="780" y="1553"/>
              <a:chExt cx="428" cy="190"/>
            </a:xfrm>
          </p:grpSpPr>
          <p:sp>
            <p:nvSpPr>
              <p:cNvPr id="3735" name="Google Shape;3735;p25"/>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36" name="Google Shape;3736;p25"/>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grpSp>
        <p:nvGrpSpPr>
          <p:cNvPr id="3737" name="Google Shape;3737;p25"/>
          <p:cNvGrpSpPr/>
          <p:nvPr/>
        </p:nvGrpSpPr>
        <p:grpSpPr>
          <a:xfrm>
            <a:off x="9221450" y="1413548"/>
            <a:ext cx="1765726" cy="4034752"/>
            <a:chOff x="1484027" y="1706480"/>
            <a:chExt cx="1765726" cy="4034752"/>
          </a:xfrm>
        </p:grpSpPr>
        <p:sp>
          <p:nvSpPr>
            <p:cNvPr id="3738" name="Google Shape;3738;p25"/>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39" name="Google Shape;3739;p25"/>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740" name="Google Shape;3740;p25"/>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741" name="Google Shape;3741;p25"/>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742" name="Google Shape;3742;p25"/>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743" name="Google Shape;3743;p25"/>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744" name="Google Shape;3744;p25"/>
          <p:cNvGrpSpPr/>
          <p:nvPr/>
        </p:nvGrpSpPr>
        <p:grpSpPr>
          <a:xfrm>
            <a:off x="3211642" y="3319499"/>
            <a:ext cx="5882482" cy="895263"/>
            <a:chOff x="3211642" y="3319499"/>
            <a:chExt cx="5882482" cy="895263"/>
          </a:xfrm>
        </p:grpSpPr>
        <p:cxnSp>
          <p:nvCxnSpPr>
            <p:cNvPr id="3745" name="Google Shape;3745;p25"/>
            <p:cNvCxnSpPr/>
            <p:nvPr/>
          </p:nvCxnSpPr>
          <p:spPr>
            <a:xfrm>
              <a:off x="3211642" y="3542677"/>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746" name="Google Shape;3746;p25"/>
            <p:cNvSpPr/>
            <p:nvPr/>
          </p:nvSpPr>
          <p:spPr>
            <a:xfrm>
              <a:off x="5356172" y="3319499"/>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747" name="Google Shape;3747;p25"/>
            <p:cNvGrpSpPr/>
            <p:nvPr/>
          </p:nvGrpSpPr>
          <p:grpSpPr>
            <a:xfrm>
              <a:off x="5418625" y="3360607"/>
              <a:ext cx="1058375" cy="307296"/>
              <a:chOff x="5509436" y="3287899"/>
              <a:chExt cx="1058375" cy="307296"/>
            </a:xfrm>
          </p:grpSpPr>
          <p:grpSp>
            <p:nvGrpSpPr>
              <p:cNvPr id="3748" name="Google Shape;3748;p25"/>
              <p:cNvGrpSpPr/>
              <p:nvPr/>
            </p:nvGrpSpPr>
            <p:grpSpPr>
              <a:xfrm>
                <a:off x="5510535" y="3293570"/>
                <a:ext cx="1057276" cy="301625"/>
                <a:chOff x="469" y="1531"/>
                <a:chExt cx="666" cy="190"/>
              </a:xfrm>
            </p:grpSpPr>
            <p:sp>
              <p:nvSpPr>
                <p:cNvPr id="3749" name="Google Shape;3749;p25"/>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50" name="Google Shape;3750;p25"/>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3751" name="Google Shape;3751;p25"/>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3752" name="Google Shape;3752;p25"/>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3753" name="Google Shape;3753;p25"/>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3754" name="Google Shape;3754;p25"/>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3755" name="Google Shape;3755;p25"/>
            <p:cNvSpPr txBox="1"/>
            <p:nvPr/>
          </p:nvSpPr>
          <p:spPr>
            <a:xfrm>
              <a:off x="3359490" y="3649479"/>
              <a:ext cx="5734634"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Arial"/>
                  <a:ea typeface="Arial"/>
                  <a:cs typeface="Arial"/>
                  <a:sym typeface="Arial"/>
                </a:rPr>
                <a:t>Network-layer </a:t>
              </a:r>
              <a:r>
                <a:rPr lang="en-US" sz="1800">
                  <a:solidFill>
                    <a:schemeClr val="dk1"/>
                  </a:solidFill>
                  <a:latin typeface="Arial"/>
                  <a:ea typeface="Arial"/>
                  <a:cs typeface="Arial"/>
                  <a:sym typeface="Arial"/>
                </a:rPr>
                <a:t>protocol transfers transport-layer segment [H</a:t>
              </a:r>
              <a:r>
                <a:rPr baseline="-25000" lang="en-US" sz="1800">
                  <a:solidFill>
                    <a:schemeClr val="dk1"/>
                  </a:solidFill>
                  <a:latin typeface="Arial"/>
                  <a:ea typeface="Arial"/>
                  <a:cs typeface="Arial"/>
                  <a:sym typeface="Arial"/>
                </a:rPr>
                <a:t>t</a:t>
              </a:r>
              <a:r>
                <a:rPr lang="en-US" sz="1800">
                  <a:solidFill>
                    <a:schemeClr val="dk1"/>
                  </a:solidFill>
                  <a:latin typeface="Arial"/>
                  <a:ea typeface="Arial"/>
                  <a:cs typeface="Arial"/>
                  <a:sym typeface="Arial"/>
                </a:rPr>
                <a:t> | M] from one </a:t>
              </a:r>
              <a:r>
                <a:rPr i="1" lang="en-US" sz="1800">
                  <a:solidFill>
                    <a:schemeClr val="dk1"/>
                  </a:solidFill>
                  <a:latin typeface="Arial"/>
                  <a:ea typeface="Arial"/>
                  <a:cs typeface="Arial"/>
                  <a:sym typeface="Arial"/>
                </a:rPr>
                <a:t>host</a:t>
              </a:r>
              <a:r>
                <a:rPr lang="en-US" sz="1800">
                  <a:solidFill>
                    <a:schemeClr val="dk1"/>
                  </a:solidFill>
                  <a:latin typeface="Arial"/>
                  <a:ea typeface="Arial"/>
                  <a:cs typeface="Arial"/>
                  <a:sym typeface="Arial"/>
                </a:rPr>
                <a:t> to another, using link layer services</a:t>
              </a:r>
              <a:endParaRPr/>
            </a:p>
          </p:txBody>
        </p:sp>
      </p:grpSp>
      <p:sp>
        <p:nvSpPr>
          <p:cNvPr id="3756" name="Google Shape;3756;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3680"/>
                                        </p:tgtEl>
                                      </p:cBhvr>
                                    </p:animEffect>
                                    <p:set>
                                      <p:cBhvr>
                                        <p:cTn dur="1" fill="hold">
                                          <p:stCondLst>
                                            <p:cond delay="500"/>
                                          </p:stCondLst>
                                        </p:cTn>
                                        <p:tgtEl>
                                          <p:spTgt spid="368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744"/>
                                        </p:tgtEl>
                                        <p:attrNameLst>
                                          <p:attrName>style.visibility</p:attrName>
                                        </p:attrNameLst>
                                      </p:cBhvr>
                                      <p:to>
                                        <p:strVal val="visible"/>
                                      </p:to>
                                    </p:set>
                                    <p:animEffect filter="fade" transition="in">
                                      <p:cBhvr>
                                        <p:cTn dur="500"/>
                                        <p:tgtEl>
                                          <p:spTgt spid="3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9"/>
                                        </p:tgtEl>
                                        <p:attrNameLst>
                                          <p:attrName>style.visibility</p:attrName>
                                        </p:attrNameLst>
                                      </p:cBhvr>
                                      <p:to>
                                        <p:strVal val="visible"/>
                                      </p:to>
                                    </p:set>
                                    <p:animEffect filter="fade" transition="in">
                                      <p:cBhvr>
                                        <p:cTn dur="500"/>
                                        <p:tgtEl>
                                          <p:spTgt spid="36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1" name="Shape 3761"/>
        <p:cNvGrpSpPr/>
        <p:nvPr/>
      </p:nvGrpSpPr>
      <p:grpSpPr>
        <a:xfrm>
          <a:off x="0" y="0"/>
          <a:ext cx="0" cy="0"/>
          <a:chOff x="0" y="0"/>
          <a:chExt cx="0" cy="0"/>
        </a:xfrm>
      </p:grpSpPr>
      <p:sp>
        <p:nvSpPr>
          <p:cNvPr id="3762" name="Google Shape;3762;p26"/>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63" name="Google Shape;3763;p26"/>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Services, Layering and Encapsulation</a:t>
            </a:r>
            <a:endParaRPr sz="4400"/>
          </a:p>
        </p:txBody>
      </p:sp>
      <p:sp>
        <p:nvSpPr>
          <p:cNvPr id="3764" name="Google Shape;3764;p26"/>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a:p>
        </p:txBody>
      </p:sp>
      <p:sp>
        <p:nvSpPr>
          <p:cNvPr id="3765" name="Google Shape;3765;p26"/>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766" name="Google Shape;3766;p26"/>
          <p:cNvGrpSpPr/>
          <p:nvPr/>
        </p:nvGrpSpPr>
        <p:grpSpPr>
          <a:xfrm flipH="1">
            <a:off x="635446" y="5073984"/>
            <a:ext cx="803275" cy="771525"/>
            <a:chOff x="-44" y="1473"/>
            <a:chExt cx="981" cy="1105"/>
          </a:xfrm>
        </p:grpSpPr>
        <p:pic>
          <p:nvPicPr>
            <p:cNvPr descr="desktop_computer_stylized_medium" id="3767" name="Google Shape;3767;p2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768" name="Google Shape;3768;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cxnSp>
        <p:nvCxnSpPr>
          <p:cNvPr id="3769" name="Google Shape;3769;p26"/>
          <p:cNvCxnSpPr/>
          <p:nvPr/>
        </p:nvCxnSpPr>
        <p:spPr>
          <a:xfrm>
            <a:off x="3211642" y="2610788"/>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770" name="Google Shape;3770;p26"/>
          <p:cNvSpPr/>
          <p:nvPr/>
        </p:nvSpPr>
        <p:spPr>
          <a:xfrm>
            <a:off x="5584583" y="236840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771" name="Google Shape;3771;p26"/>
          <p:cNvGrpSpPr/>
          <p:nvPr/>
        </p:nvGrpSpPr>
        <p:grpSpPr>
          <a:xfrm>
            <a:off x="5690803" y="2434313"/>
            <a:ext cx="908050" cy="301625"/>
            <a:chOff x="1848" y="2046"/>
            <a:chExt cx="572" cy="190"/>
          </a:xfrm>
        </p:grpSpPr>
        <p:grpSp>
          <p:nvGrpSpPr>
            <p:cNvPr id="3772" name="Google Shape;3772;p26"/>
            <p:cNvGrpSpPr/>
            <p:nvPr/>
          </p:nvGrpSpPr>
          <p:grpSpPr>
            <a:xfrm>
              <a:off x="1848" y="2047"/>
              <a:ext cx="187" cy="184"/>
              <a:chOff x="1959" y="2058"/>
              <a:chExt cx="187" cy="184"/>
            </a:xfrm>
          </p:grpSpPr>
          <p:sp>
            <p:nvSpPr>
              <p:cNvPr id="3773" name="Google Shape;3773;p26"/>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74" name="Google Shape;3774;p26"/>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3775" name="Google Shape;3775;p26"/>
            <p:cNvGrpSpPr/>
            <p:nvPr/>
          </p:nvGrpSpPr>
          <p:grpSpPr>
            <a:xfrm>
              <a:off x="1992" y="2046"/>
              <a:ext cx="428" cy="190"/>
              <a:chOff x="780" y="1553"/>
              <a:chExt cx="428" cy="190"/>
            </a:xfrm>
          </p:grpSpPr>
          <p:sp>
            <p:nvSpPr>
              <p:cNvPr id="3776" name="Google Shape;3776;p26"/>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77" name="Google Shape;3777;p26"/>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sp>
        <p:nvSpPr>
          <p:cNvPr id="3778" name="Google Shape;3778;p26"/>
          <p:cNvSpPr txBox="1"/>
          <p:nvPr/>
        </p:nvSpPr>
        <p:spPr>
          <a:xfrm>
            <a:off x="3371603" y="5096823"/>
            <a:ext cx="5831174" cy="1089529"/>
          </a:xfrm>
          <a:prstGeom prst="rect">
            <a:avLst/>
          </a:prstGeom>
          <a:noFill/>
          <a:ln>
            <a:noFill/>
          </a:ln>
        </p:spPr>
        <p:txBody>
          <a:bodyPr anchorCtr="0" anchor="t" bIns="45700" lIns="91425" spcFirstLastPara="1" rIns="91425" wrap="square" tIns="45700">
            <a:spAutoFit/>
          </a:bodyPr>
          <a:lstStyle/>
          <a:p>
            <a:pPr indent="-295275" lvl="0" marL="295275" marR="0" rtl="0" algn="l">
              <a:lnSpc>
                <a:spcPct val="90000"/>
              </a:lnSpc>
              <a:spcBef>
                <a:spcPts val="0"/>
              </a:spcBef>
              <a:spcAft>
                <a:spcPts val="0"/>
              </a:spcAft>
              <a:buClr>
                <a:srgbClr val="0000A3"/>
              </a:buClr>
              <a:buSzPts val="2400"/>
              <a:buFont typeface="Noto Sans Symbols"/>
              <a:buChar char="▪"/>
            </a:pPr>
            <a:r>
              <a:rPr lang="en-US" sz="2400">
                <a:solidFill>
                  <a:schemeClr val="dk1"/>
                </a:solidFill>
                <a:latin typeface="Arial"/>
                <a:ea typeface="Arial"/>
                <a:cs typeface="Arial"/>
                <a:sym typeface="Arial"/>
              </a:rPr>
              <a:t>link-layer protocol </a:t>
            </a:r>
            <a:r>
              <a:rPr lang="en-US" sz="2400">
                <a:solidFill>
                  <a:srgbClr val="0000A3"/>
                </a:solidFill>
                <a:latin typeface="Arial"/>
                <a:ea typeface="Arial"/>
                <a:cs typeface="Arial"/>
                <a:sym typeface="Arial"/>
              </a:rPr>
              <a:t>encapsulates</a:t>
            </a:r>
            <a:r>
              <a:rPr lang="en-US" sz="2400">
                <a:solidFill>
                  <a:schemeClr val="dk1"/>
                </a:solidFill>
                <a:latin typeface="Arial"/>
                <a:ea typeface="Arial"/>
                <a:cs typeface="Arial"/>
                <a:sym typeface="Arial"/>
              </a:rPr>
              <a:t> network datagram </a:t>
            </a:r>
            <a:r>
              <a:rPr lang="en-US" sz="2000">
                <a:solidFill>
                  <a:schemeClr val="dk1"/>
                </a:solidFill>
                <a:latin typeface="Arial"/>
                <a:ea typeface="Arial"/>
                <a:cs typeface="Arial"/>
                <a:sym typeface="Arial"/>
              </a:rPr>
              <a:t>[H</a:t>
            </a:r>
            <a:r>
              <a:rPr baseline="-25000" lang="en-US" sz="2000">
                <a:solidFill>
                  <a:schemeClr val="dk1"/>
                </a:solidFill>
                <a:latin typeface="Arial"/>
                <a:ea typeface="Arial"/>
                <a:cs typeface="Arial"/>
                <a:sym typeface="Arial"/>
              </a:rPr>
              <a:t>n</a:t>
            </a:r>
            <a:r>
              <a:rPr lang="en-US" sz="2000">
                <a:solidFill>
                  <a:schemeClr val="dk1"/>
                </a:solidFill>
                <a:latin typeface="Arial"/>
                <a:ea typeface="Arial"/>
                <a:cs typeface="Arial"/>
                <a:sym typeface="Arial"/>
              </a:rPr>
              <a:t>| [H</a:t>
            </a:r>
            <a:r>
              <a:rPr baseline="-25000" lang="en-US" sz="2000">
                <a:solidFill>
                  <a:schemeClr val="dk1"/>
                </a:solidFill>
                <a:latin typeface="Arial"/>
                <a:ea typeface="Arial"/>
                <a:cs typeface="Arial"/>
                <a:sym typeface="Arial"/>
              </a:rPr>
              <a:t>t</a:t>
            </a:r>
            <a:r>
              <a:rPr lang="en-US" sz="2000">
                <a:solidFill>
                  <a:schemeClr val="dk1"/>
                </a:solidFill>
                <a:latin typeface="Arial"/>
                <a:ea typeface="Arial"/>
                <a:cs typeface="Arial"/>
                <a:sym typeface="Arial"/>
              </a:rPr>
              <a:t> |M], </a:t>
            </a:r>
            <a:r>
              <a:rPr lang="en-US" sz="2400">
                <a:solidFill>
                  <a:schemeClr val="dk1"/>
                </a:solidFill>
                <a:latin typeface="Arial"/>
                <a:ea typeface="Arial"/>
                <a:cs typeface="Arial"/>
                <a:sym typeface="Arial"/>
              </a:rPr>
              <a:t>with link-layer header H</a:t>
            </a:r>
            <a:r>
              <a:rPr baseline="-25000" lang="en-US" sz="2400">
                <a:solidFill>
                  <a:schemeClr val="dk1"/>
                </a:solidFill>
                <a:latin typeface="Arial"/>
                <a:ea typeface="Arial"/>
                <a:cs typeface="Arial"/>
                <a:sym typeface="Arial"/>
              </a:rPr>
              <a:t>l </a:t>
            </a:r>
            <a:r>
              <a:rPr lang="en-US" sz="2400">
                <a:solidFill>
                  <a:schemeClr val="dk1"/>
                </a:solidFill>
                <a:latin typeface="Arial"/>
                <a:ea typeface="Arial"/>
                <a:cs typeface="Arial"/>
                <a:sym typeface="Arial"/>
              </a:rPr>
              <a:t> to create a link-layer </a:t>
            </a:r>
            <a:r>
              <a:rPr lang="en-US" sz="2400">
                <a:solidFill>
                  <a:srgbClr val="C00000"/>
                </a:solidFill>
                <a:latin typeface="Arial"/>
                <a:ea typeface="Arial"/>
                <a:cs typeface="Arial"/>
                <a:sym typeface="Arial"/>
              </a:rPr>
              <a:t>frame </a:t>
            </a:r>
            <a:endParaRPr/>
          </a:p>
        </p:txBody>
      </p:sp>
      <p:grpSp>
        <p:nvGrpSpPr>
          <p:cNvPr id="3779" name="Google Shape;3779;p26"/>
          <p:cNvGrpSpPr/>
          <p:nvPr/>
        </p:nvGrpSpPr>
        <p:grpSpPr>
          <a:xfrm>
            <a:off x="1334125" y="1421667"/>
            <a:ext cx="1765726" cy="4034752"/>
            <a:chOff x="1484027" y="1706480"/>
            <a:chExt cx="1765726" cy="4034752"/>
          </a:xfrm>
        </p:grpSpPr>
        <p:sp>
          <p:nvSpPr>
            <p:cNvPr id="3780" name="Google Shape;3780;p26"/>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81" name="Google Shape;3781;p26"/>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782" name="Google Shape;3782;p26"/>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783" name="Google Shape;3783;p26"/>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784" name="Google Shape;3784;p26"/>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785" name="Google Shape;3785;p26"/>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786" name="Google Shape;3786;p26"/>
          <p:cNvGrpSpPr/>
          <p:nvPr/>
        </p:nvGrpSpPr>
        <p:grpSpPr>
          <a:xfrm>
            <a:off x="11107713" y="4961744"/>
            <a:ext cx="374754" cy="833726"/>
            <a:chOff x="4140" y="429"/>
            <a:chExt cx="1425" cy="2396"/>
          </a:xfrm>
        </p:grpSpPr>
        <p:sp>
          <p:nvSpPr>
            <p:cNvPr id="3787" name="Google Shape;3787;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8" name="Google Shape;3788;p2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89" name="Google Shape;3789;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90" name="Google Shape;3790;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91" name="Google Shape;3791;p2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792" name="Google Shape;3792;p26"/>
            <p:cNvGrpSpPr/>
            <p:nvPr/>
          </p:nvGrpSpPr>
          <p:grpSpPr>
            <a:xfrm>
              <a:off x="4748" y="666"/>
              <a:ext cx="578" cy="150"/>
              <a:chOff x="613" y="2566"/>
              <a:chExt cx="721" cy="144"/>
            </a:xfrm>
          </p:grpSpPr>
          <p:sp>
            <p:nvSpPr>
              <p:cNvPr id="3793" name="Google Shape;3793;p2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94" name="Google Shape;3794;p2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95" name="Google Shape;3795;p2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796" name="Google Shape;3796;p26"/>
            <p:cNvGrpSpPr/>
            <p:nvPr/>
          </p:nvGrpSpPr>
          <p:grpSpPr>
            <a:xfrm>
              <a:off x="4748" y="990"/>
              <a:ext cx="578" cy="134"/>
              <a:chOff x="615" y="2564"/>
              <a:chExt cx="721" cy="139"/>
            </a:xfrm>
          </p:grpSpPr>
          <p:sp>
            <p:nvSpPr>
              <p:cNvPr id="3797" name="Google Shape;3797;p2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798" name="Google Shape;3798;p2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799" name="Google Shape;3799;p2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00" name="Google Shape;3800;p2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801" name="Google Shape;3801;p26"/>
            <p:cNvGrpSpPr/>
            <p:nvPr/>
          </p:nvGrpSpPr>
          <p:grpSpPr>
            <a:xfrm>
              <a:off x="4738" y="1647"/>
              <a:ext cx="578" cy="135"/>
              <a:chOff x="618" y="2586"/>
              <a:chExt cx="720" cy="124"/>
            </a:xfrm>
          </p:grpSpPr>
          <p:sp>
            <p:nvSpPr>
              <p:cNvPr id="3802" name="Google Shape;3802;p2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03" name="Google Shape;3803;p2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04" name="Google Shape;3804;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805" name="Google Shape;3805;p26"/>
            <p:cNvGrpSpPr/>
            <p:nvPr/>
          </p:nvGrpSpPr>
          <p:grpSpPr>
            <a:xfrm>
              <a:off x="4738" y="1330"/>
              <a:ext cx="588" cy="134"/>
              <a:chOff x="613" y="2571"/>
              <a:chExt cx="732" cy="134"/>
            </a:xfrm>
          </p:grpSpPr>
          <p:sp>
            <p:nvSpPr>
              <p:cNvPr id="3806" name="Google Shape;3806;p2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07" name="Google Shape;3807;p2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08" name="Google Shape;3808;p2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09" name="Google Shape;3809;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0" name="Google Shape;3810;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1" name="Google Shape;3811;p2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12" name="Google Shape;3812;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3" name="Google Shape;3813;p2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14" name="Google Shape;3814;p2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15" name="Google Shape;3815;p2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16" name="Google Shape;3816;p2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817" name="Google Shape;3817;p2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18" name="Google Shape;3818;p2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819" name="Google Shape;3819;p26"/>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3820" name="Google Shape;3820;p26"/>
          <p:cNvGrpSpPr/>
          <p:nvPr/>
        </p:nvGrpSpPr>
        <p:grpSpPr>
          <a:xfrm>
            <a:off x="3254290" y="1489592"/>
            <a:ext cx="5651292" cy="389744"/>
            <a:chOff x="3270354" y="1798823"/>
            <a:chExt cx="5651292" cy="389744"/>
          </a:xfrm>
        </p:grpSpPr>
        <p:cxnSp>
          <p:nvCxnSpPr>
            <p:cNvPr id="3821" name="Google Shape;3821;p26"/>
            <p:cNvCxnSpPr/>
            <p:nvPr/>
          </p:nvCxnSpPr>
          <p:spPr>
            <a:xfrm>
              <a:off x="3270354" y="1993691"/>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822" name="Google Shape;3822;p26"/>
            <p:cNvSpPr/>
            <p:nvPr/>
          </p:nvSpPr>
          <p:spPr>
            <a:xfrm>
              <a:off x="5878639" y="1798823"/>
              <a:ext cx="674558"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823" name="Google Shape;3823;p26"/>
            <p:cNvGrpSpPr/>
            <p:nvPr/>
          </p:nvGrpSpPr>
          <p:grpSpPr>
            <a:xfrm>
              <a:off x="5953468" y="1857555"/>
              <a:ext cx="679450" cy="301625"/>
              <a:chOff x="780" y="1553"/>
              <a:chExt cx="428" cy="190"/>
            </a:xfrm>
          </p:grpSpPr>
          <p:sp>
            <p:nvSpPr>
              <p:cNvPr id="3824" name="Google Shape;3824;p26"/>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25" name="Google Shape;3825;p26"/>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grpSp>
        <p:nvGrpSpPr>
          <p:cNvPr id="3826" name="Google Shape;3826;p26"/>
          <p:cNvGrpSpPr/>
          <p:nvPr/>
        </p:nvGrpSpPr>
        <p:grpSpPr>
          <a:xfrm>
            <a:off x="9221450" y="1413548"/>
            <a:ext cx="1765726" cy="4034752"/>
            <a:chOff x="1484027" y="1706480"/>
            <a:chExt cx="1765726" cy="4034752"/>
          </a:xfrm>
        </p:grpSpPr>
        <p:sp>
          <p:nvSpPr>
            <p:cNvPr id="3827" name="Google Shape;3827;p26"/>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28" name="Google Shape;3828;p26"/>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829" name="Google Shape;3829;p26"/>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830" name="Google Shape;3830;p26"/>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831" name="Google Shape;3831;p26"/>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832" name="Google Shape;3832;p26"/>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cxnSp>
        <p:nvCxnSpPr>
          <p:cNvPr id="3833" name="Google Shape;3833;p26"/>
          <p:cNvCxnSpPr/>
          <p:nvPr/>
        </p:nvCxnSpPr>
        <p:spPr>
          <a:xfrm>
            <a:off x="3211642" y="3542677"/>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834" name="Google Shape;3834;p26"/>
          <p:cNvSpPr/>
          <p:nvPr/>
        </p:nvSpPr>
        <p:spPr>
          <a:xfrm>
            <a:off x="5356172" y="3319499"/>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835" name="Google Shape;3835;p26"/>
          <p:cNvGrpSpPr/>
          <p:nvPr/>
        </p:nvGrpSpPr>
        <p:grpSpPr>
          <a:xfrm>
            <a:off x="5418625" y="3360607"/>
            <a:ext cx="1058375" cy="307296"/>
            <a:chOff x="5509436" y="3287899"/>
            <a:chExt cx="1058375" cy="307296"/>
          </a:xfrm>
        </p:grpSpPr>
        <p:grpSp>
          <p:nvGrpSpPr>
            <p:cNvPr id="3836" name="Google Shape;3836;p26"/>
            <p:cNvGrpSpPr/>
            <p:nvPr/>
          </p:nvGrpSpPr>
          <p:grpSpPr>
            <a:xfrm>
              <a:off x="5510535" y="3293570"/>
              <a:ext cx="1057276" cy="301625"/>
              <a:chOff x="469" y="1531"/>
              <a:chExt cx="666" cy="190"/>
            </a:xfrm>
          </p:grpSpPr>
          <p:sp>
            <p:nvSpPr>
              <p:cNvPr id="3837" name="Google Shape;3837;p26"/>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38" name="Google Shape;3838;p26"/>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3839" name="Google Shape;3839;p26"/>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3840" name="Google Shape;3840;p26"/>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3841" name="Google Shape;3841;p26"/>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3842" name="Google Shape;3842;p26"/>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3843" name="Google Shape;3843;p26"/>
          <p:cNvSpPr txBox="1"/>
          <p:nvPr/>
        </p:nvSpPr>
        <p:spPr>
          <a:xfrm>
            <a:off x="3374573" y="4483522"/>
            <a:ext cx="5620868"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Arial"/>
                <a:ea typeface="Arial"/>
                <a:cs typeface="Arial"/>
                <a:sym typeface="Arial"/>
              </a:rPr>
              <a:t>Link-layer </a:t>
            </a:r>
            <a:r>
              <a:rPr lang="en-US" sz="1800">
                <a:solidFill>
                  <a:schemeClr val="dk1"/>
                </a:solidFill>
                <a:latin typeface="Arial"/>
                <a:ea typeface="Arial"/>
                <a:cs typeface="Arial"/>
                <a:sym typeface="Arial"/>
              </a:rPr>
              <a:t>protocol transfers datagram [H</a:t>
            </a:r>
            <a:r>
              <a:rPr baseline="-25000" lang="en-US" sz="1800">
                <a:solidFill>
                  <a:schemeClr val="dk1"/>
                </a:solidFill>
                <a:latin typeface="Arial"/>
                <a:ea typeface="Arial"/>
                <a:cs typeface="Arial"/>
                <a:sym typeface="Arial"/>
              </a:rPr>
              <a:t>n</a:t>
            </a:r>
            <a:r>
              <a:rPr lang="en-US" sz="1800">
                <a:solidFill>
                  <a:schemeClr val="dk1"/>
                </a:solidFill>
                <a:latin typeface="Arial"/>
                <a:ea typeface="Arial"/>
                <a:cs typeface="Arial"/>
                <a:sym typeface="Arial"/>
              </a:rPr>
              <a:t>| [H</a:t>
            </a:r>
            <a:r>
              <a:rPr baseline="-25000" lang="en-US" sz="1800">
                <a:solidFill>
                  <a:schemeClr val="dk1"/>
                </a:solidFill>
                <a:latin typeface="Arial"/>
                <a:ea typeface="Arial"/>
                <a:cs typeface="Arial"/>
                <a:sym typeface="Arial"/>
              </a:rPr>
              <a:t>t</a:t>
            </a:r>
            <a:r>
              <a:rPr lang="en-US" sz="1800">
                <a:solidFill>
                  <a:schemeClr val="dk1"/>
                </a:solidFill>
                <a:latin typeface="Arial"/>
                <a:ea typeface="Arial"/>
                <a:cs typeface="Arial"/>
                <a:sym typeface="Arial"/>
              </a:rPr>
              <a:t> |M] from </a:t>
            </a:r>
            <a:r>
              <a:rPr i="1" lang="en-US" sz="1800">
                <a:solidFill>
                  <a:schemeClr val="dk1"/>
                </a:solidFill>
                <a:latin typeface="Arial"/>
                <a:ea typeface="Arial"/>
                <a:cs typeface="Arial"/>
                <a:sym typeface="Arial"/>
              </a:rPr>
              <a:t>host </a:t>
            </a:r>
            <a:r>
              <a:rPr lang="en-US" sz="1800">
                <a:solidFill>
                  <a:schemeClr val="dk1"/>
                </a:solidFill>
                <a:latin typeface="Arial"/>
                <a:ea typeface="Arial"/>
                <a:cs typeface="Arial"/>
                <a:sym typeface="Arial"/>
              </a:rPr>
              <a:t>to neighboring host, using network-layer services</a:t>
            </a:r>
            <a:endParaRPr/>
          </a:p>
        </p:txBody>
      </p:sp>
      <p:grpSp>
        <p:nvGrpSpPr>
          <p:cNvPr id="3844" name="Google Shape;3844;p26"/>
          <p:cNvGrpSpPr/>
          <p:nvPr/>
        </p:nvGrpSpPr>
        <p:grpSpPr>
          <a:xfrm>
            <a:off x="3226725" y="4169060"/>
            <a:ext cx="5651292" cy="374226"/>
            <a:chOff x="3226725" y="4169060"/>
            <a:chExt cx="5651292" cy="374226"/>
          </a:xfrm>
        </p:grpSpPr>
        <p:cxnSp>
          <p:nvCxnSpPr>
            <p:cNvPr id="3845" name="Google Shape;3845;p26"/>
            <p:cNvCxnSpPr/>
            <p:nvPr/>
          </p:nvCxnSpPr>
          <p:spPr>
            <a:xfrm>
              <a:off x="3226725" y="4376720"/>
              <a:ext cx="5651292" cy="0"/>
            </a:xfrm>
            <a:prstGeom prst="straightConnector1">
              <a:avLst/>
            </a:prstGeom>
            <a:noFill/>
            <a:ln cap="flat" cmpd="sng" w="19050">
              <a:solidFill>
                <a:schemeClr val="dk1"/>
              </a:solidFill>
              <a:prstDash val="solid"/>
              <a:miter lim="800000"/>
              <a:headEnd len="med" w="med" type="triangle"/>
              <a:tailEnd len="med" w="med" type="triangle"/>
            </a:ln>
          </p:spPr>
        </p:cxnSp>
        <p:grpSp>
          <p:nvGrpSpPr>
            <p:cNvPr id="3846" name="Google Shape;3846;p26"/>
            <p:cNvGrpSpPr/>
            <p:nvPr/>
          </p:nvGrpSpPr>
          <p:grpSpPr>
            <a:xfrm>
              <a:off x="5062983" y="4169060"/>
              <a:ext cx="1518637" cy="374226"/>
              <a:chOff x="5062983" y="4252185"/>
              <a:chExt cx="1518637" cy="374226"/>
            </a:xfrm>
          </p:grpSpPr>
          <p:sp>
            <p:nvSpPr>
              <p:cNvPr id="3847" name="Google Shape;3847;p26"/>
              <p:cNvSpPr/>
              <p:nvPr/>
            </p:nvSpPr>
            <p:spPr>
              <a:xfrm>
                <a:off x="5062983" y="4252185"/>
                <a:ext cx="1518637" cy="37422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848" name="Google Shape;3848;p26"/>
              <p:cNvGrpSpPr/>
              <p:nvPr/>
            </p:nvGrpSpPr>
            <p:grpSpPr>
              <a:xfrm>
                <a:off x="5144294" y="4283446"/>
                <a:ext cx="1347789" cy="301625"/>
                <a:chOff x="286" y="1531"/>
                <a:chExt cx="849" cy="190"/>
              </a:xfrm>
            </p:grpSpPr>
            <p:sp>
              <p:nvSpPr>
                <p:cNvPr id="3849" name="Google Shape;3849;p26"/>
                <p:cNvSpPr/>
                <p:nvPr/>
              </p:nvSpPr>
              <p:spPr>
                <a:xfrm>
                  <a:off x="286" y="1549"/>
                  <a:ext cx="849"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50" name="Google Shape;3850;p26"/>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3851" name="Google Shape;3851;p26"/>
              <p:cNvSpPr/>
              <p:nvPr/>
            </p:nvSpPr>
            <p:spPr>
              <a:xfrm>
                <a:off x="5696012" y="4295113"/>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3852" name="Google Shape;3852;p26"/>
              <p:cNvSpPr/>
              <p:nvPr/>
            </p:nvSpPr>
            <p:spPr>
              <a:xfrm>
                <a:off x="5433708" y="4277775"/>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3853" name="Google Shape;3853;p26"/>
              <p:cNvCxnSpPr/>
              <p:nvPr/>
            </p:nvCxnSpPr>
            <p:spPr>
              <a:xfrm>
                <a:off x="6001149" y="4312021"/>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3854" name="Google Shape;3854;p26"/>
              <p:cNvCxnSpPr/>
              <p:nvPr/>
            </p:nvCxnSpPr>
            <p:spPr>
              <a:xfrm>
                <a:off x="5720650" y="4310309"/>
                <a:ext cx="0" cy="257175"/>
              </a:xfrm>
              <a:prstGeom prst="straightConnector1">
                <a:avLst/>
              </a:prstGeom>
              <a:noFill/>
              <a:ln cap="flat" cmpd="sng" w="9525">
                <a:solidFill>
                  <a:schemeClr val="dk1"/>
                </a:solidFill>
                <a:prstDash val="solid"/>
                <a:miter lim="800000"/>
                <a:headEnd len="sm" w="sm" type="none"/>
                <a:tailEnd len="sm" w="sm" type="none"/>
              </a:ln>
            </p:spPr>
          </p:cxnSp>
          <p:sp>
            <p:nvSpPr>
              <p:cNvPr id="3855" name="Google Shape;3855;p26"/>
              <p:cNvSpPr/>
              <p:nvPr/>
            </p:nvSpPr>
            <p:spPr>
              <a:xfrm>
                <a:off x="5149178" y="4281528"/>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cxnSp>
            <p:nvCxnSpPr>
              <p:cNvPr id="3856" name="Google Shape;3856;p26"/>
              <p:cNvCxnSpPr/>
              <p:nvPr/>
            </p:nvCxnSpPr>
            <p:spPr>
              <a:xfrm>
                <a:off x="5418102" y="4309558"/>
                <a:ext cx="0" cy="257175"/>
              </a:xfrm>
              <a:prstGeom prst="straightConnector1">
                <a:avLst/>
              </a:prstGeom>
              <a:noFill/>
              <a:ln cap="flat" cmpd="sng" w="9525">
                <a:solidFill>
                  <a:schemeClr val="dk1"/>
                </a:solidFill>
                <a:prstDash val="solid"/>
                <a:miter lim="800000"/>
                <a:headEnd len="sm" w="sm" type="none"/>
                <a:tailEnd len="sm" w="sm" type="none"/>
              </a:ln>
            </p:spPr>
          </p:cxnSp>
        </p:grpSp>
      </p:grpSp>
      <p:cxnSp>
        <p:nvCxnSpPr>
          <p:cNvPr id="3857" name="Google Shape;3857;p26"/>
          <p:cNvCxnSpPr/>
          <p:nvPr/>
        </p:nvCxnSpPr>
        <p:spPr>
          <a:xfrm>
            <a:off x="3594027" y="-1079199"/>
            <a:ext cx="5651292" cy="0"/>
          </a:xfrm>
          <a:prstGeom prst="straightConnector1">
            <a:avLst/>
          </a:prstGeom>
          <a:noFill/>
          <a:ln cap="flat" cmpd="sng" w="19050">
            <a:solidFill>
              <a:schemeClr val="dk1"/>
            </a:solidFill>
            <a:prstDash val="solid"/>
            <a:miter lim="800000"/>
            <a:headEnd len="med" w="med" type="triangle"/>
            <a:tailEnd len="med" w="med" type="triangle"/>
          </a:ln>
        </p:spPr>
      </p:cxnSp>
      <p:sp>
        <p:nvSpPr>
          <p:cNvPr id="3858" name="Google Shape;3858;p26"/>
          <p:cNvSpPr/>
          <p:nvPr/>
        </p:nvSpPr>
        <p:spPr>
          <a:xfrm>
            <a:off x="5738557" y="-1302377"/>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859" name="Google Shape;3859;p26"/>
          <p:cNvGrpSpPr/>
          <p:nvPr/>
        </p:nvGrpSpPr>
        <p:grpSpPr>
          <a:xfrm>
            <a:off x="5801010" y="-1261269"/>
            <a:ext cx="1058375" cy="307296"/>
            <a:chOff x="5509436" y="3287899"/>
            <a:chExt cx="1058375" cy="307296"/>
          </a:xfrm>
        </p:grpSpPr>
        <p:grpSp>
          <p:nvGrpSpPr>
            <p:cNvPr id="3860" name="Google Shape;3860;p26"/>
            <p:cNvGrpSpPr/>
            <p:nvPr/>
          </p:nvGrpSpPr>
          <p:grpSpPr>
            <a:xfrm>
              <a:off x="5510535" y="3293570"/>
              <a:ext cx="1057276" cy="301625"/>
              <a:chOff x="469" y="1531"/>
              <a:chExt cx="666" cy="190"/>
            </a:xfrm>
          </p:grpSpPr>
          <p:sp>
            <p:nvSpPr>
              <p:cNvPr id="3861" name="Google Shape;3861;p26"/>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862" name="Google Shape;3862;p26"/>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3863" name="Google Shape;3863;p26"/>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3864" name="Google Shape;3864;p26"/>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3865" name="Google Shape;3865;p26"/>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3866" name="Google Shape;3866;p26"/>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3867" name="Google Shape;3867;p26"/>
          <p:cNvSpPr txBox="1"/>
          <p:nvPr/>
        </p:nvSpPr>
        <p:spPr>
          <a:xfrm>
            <a:off x="3359490" y="3649479"/>
            <a:ext cx="5734634"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Arial"/>
                <a:ea typeface="Arial"/>
                <a:cs typeface="Arial"/>
                <a:sym typeface="Arial"/>
              </a:rPr>
              <a:t>Network-layer </a:t>
            </a:r>
            <a:r>
              <a:rPr lang="en-US" sz="1800">
                <a:solidFill>
                  <a:schemeClr val="dk1"/>
                </a:solidFill>
                <a:latin typeface="Arial"/>
                <a:ea typeface="Arial"/>
                <a:cs typeface="Arial"/>
                <a:sym typeface="Arial"/>
              </a:rPr>
              <a:t>protocol transfers transport-layer segment [H</a:t>
            </a:r>
            <a:r>
              <a:rPr baseline="-25000" lang="en-US" sz="1800">
                <a:solidFill>
                  <a:schemeClr val="dk1"/>
                </a:solidFill>
                <a:latin typeface="Arial"/>
                <a:ea typeface="Arial"/>
                <a:cs typeface="Arial"/>
                <a:sym typeface="Arial"/>
              </a:rPr>
              <a:t>t</a:t>
            </a:r>
            <a:r>
              <a:rPr lang="en-US" sz="1800">
                <a:solidFill>
                  <a:schemeClr val="dk1"/>
                </a:solidFill>
                <a:latin typeface="Arial"/>
                <a:ea typeface="Arial"/>
                <a:cs typeface="Arial"/>
                <a:sym typeface="Arial"/>
              </a:rPr>
              <a:t> | M] from one </a:t>
            </a:r>
            <a:r>
              <a:rPr i="1" lang="en-US" sz="1800">
                <a:solidFill>
                  <a:schemeClr val="dk1"/>
                </a:solidFill>
                <a:latin typeface="Arial"/>
                <a:ea typeface="Arial"/>
                <a:cs typeface="Arial"/>
                <a:sym typeface="Arial"/>
              </a:rPr>
              <a:t>host</a:t>
            </a:r>
            <a:r>
              <a:rPr lang="en-US" sz="1800">
                <a:solidFill>
                  <a:schemeClr val="dk1"/>
                </a:solidFill>
                <a:latin typeface="Arial"/>
                <a:ea typeface="Arial"/>
                <a:cs typeface="Arial"/>
                <a:sym typeface="Arial"/>
              </a:rPr>
              <a:t> to another, using link layer services</a:t>
            </a:r>
            <a:endParaRPr/>
          </a:p>
        </p:txBody>
      </p:sp>
      <p:sp>
        <p:nvSpPr>
          <p:cNvPr id="3868" name="Google Shape;3868;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3867"/>
                                        </p:tgtEl>
                                      </p:cBhvr>
                                    </p:animEffect>
                                    <p:set>
                                      <p:cBhvr>
                                        <p:cTn dur="1" fill="hold">
                                          <p:stCondLst>
                                            <p:cond delay="500"/>
                                          </p:stCondLst>
                                        </p:cTn>
                                        <p:tgtEl>
                                          <p:spTgt spid="386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44"/>
                                        </p:tgtEl>
                                        <p:attrNameLst>
                                          <p:attrName>style.visibility</p:attrName>
                                        </p:attrNameLst>
                                      </p:cBhvr>
                                      <p:to>
                                        <p:strVal val="visible"/>
                                      </p:to>
                                    </p:set>
                                    <p:animEffect filter="fade" transition="in">
                                      <p:cBhvr>
                                        <p:cTn dur="500"/>
                                        <p:tgtEl>
                                          <p:spTgt spid="3844"/>
                                        </p:tgtEl>
                                      </p:cBhvr>
                                    </p:animEffect>
                                  </p:childTnLst>
                                </p:cTn>
                              </p:par>
                              <p:par>
                                <p:cTn fill="hold" nodeType="withEffect" presetClass="entr" presetID="10" presetSubtype="0">
                                  <p:stCondLst>
                                    <p:cond delay="0"/>
                                  </p:stCondLst>
                                  <p:childTnLst>
                                    <p:set>
                                      <p:cBhvr>
                                        <p:cTn dur="1" fill="hold">
                                          <p:stCondLst>
                                            <p:cond delay="0"/>
                                          </p:stCondLst>
                                        </p:cTn>
                                        <p:tgtEl>
                                          <p:spTgt spid="3843"/>
                                        </p:tgtEl>
                                        <p:attrNameLst>
                                          <p:attrName>style.visibility</p:attrName>
                                        </p:attrNameLst>
                                      </p:cBhvr>
                                      <p:to>
                                        <p:strVal val="visible"/>
                                      </p:to>
                                    </p:set>
                                    <p:animEffect filter="fade" transition="in">
                                      <p:cBhvr>
                                        <p:cTn dur="500"/>
                                        <p:tgtEl>
                                          <p:spTgt spid="38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8"/>
                                        </p:tgtEl>
                                        <p:attrNameLst>
                                          <p:attrName>style.visibility</p:attrName>
                                        </p:attrNameLst>
                                      </p:cBhvr>
                                      <p:to>
                                        <p:strVal val="visible"/>
                                      </p:to>
                                    </p:set>
                                    <p:animEffect filter="fade" transition="in">
                                      <p:cBhvr>
                                        <p:cTn dur="500"/>
                                        <p:tgtEl>
                                          <p:spTgt spid="37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3" name="Shape 3873"/>
        <p:cNvGrpSpPr/>
        <p:nvPr/>
      </p:nvGrpSpPr>
      <p:grpSpPr>
        <a:xfrm>
          <a:off x="0" y="0"/>
          <a:ext cx="0" cy="0"/>
          <a:chOff x="0" y="0"/>
          <a:chExt cx="0" cy="0"/>
        </a:xfrm>
      </p:grpSpPr>
      <p:sp>
        <p:nvSpPr>
          <p:cNvPr id="3874" name="Google Shape;3874;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Encapsulation</a:t>
            </a:r>
            <a:endParaRPr/>
          </a:p>
        </p:txBody>
      </p:sp>
      <p:sp>
        <p:nvSpPr>
          <p:cNvPr id="3875" name="Google Shape;3875;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pic>
        <p:nvPicPr>
          <p:cNvPr descr="Stacking Dolls designs, themes, templates and downloadable graphic elements  on Dribbble" id="3876" name="Google Shape;3876;p27"/>
          <p:cNvPicPr preferRelativeResize="0"/>
          <p:nvPr/>
        </p:nvPicPr>
        <p:blipFill rotWithShape="1">
          <a:blip r:embed="rId3">
            <a:alphaModFix/>
          </a:blip>
          <a:srcRect b="0" l="0" r="0" t="0"/>
          <a:stretch/>
        </p:blipFill>
        <p:spPr>
          <a:xfrm>
            <a:off x="844186" y="2071687"/>
            <a:ext cx="5214120" cy="3910591"/>
          </a:xfrm>
          <a:prstGeom prst="rect">
            <a:avLst/>
          </a:prstGeom>
          <a:noFill/>
          <a:ln>
            <a:noFill/>
          </a:ln>
        </p:spPr>
      </p:pic>
      <p:sp>
        <p:nvSpPr>
          <p:cNvPr id="3877" name="Google Shape;3877;p27"/>
          <p:cNvSpPr txBox="1"/>
          <p:nvPr/>
        </p:nvSpPr>
        <p:spPr>
          <a:xfrm>
            <a:off x="6245138" y="5073301"/>
            <a:ext cx="9970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message</a:t>
            </a:r>
            <a:endParaRPr/>
          </a:p>
        </p:txBody>
      </p:sp>
      <p:sp>
        <p:nvSpPr>
          <p:cNvPr id="3878" name="Google Shape;3878;p27"/>
          <p:cNvSpPr txBox="1"/>
          <p:nvPr/>
        </p:nvSpPr>
        <p:spPr>
          <a:xfrm>
            <a:off x="7392802" y="5073301"/>
            <a:ext cx="9952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segment</a:t>
            </a:r>
            <a:endParaRPr/>
          </a:p>
        </p:txBody>
      </p:sp>
      <p:sp>
        <p:nvSpPr>
          <p:cNvPr id="3879" name="Google Shape;3879;p27"/>
          <p:cNvSpPr txBox="1"/>
          <p:nvPr/>
        </p:nvSpPr>
        <p:spPr>
          <a:xfrm>
            <a:off x="8738816" y="5059744"/>
            <a:ext cx="10985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datagram</a:t>
            </a:r>
            <a:endParaRPr/>
          </a:p>
        </p:txBody>
      </p:sp>
      <p:sp>
        <p:nvSpPr>
          <p:cNvPr id="3880" name="Google Shape;3880;p27"/>
          <p:cNvSpPr txBox="1"/>
          <p:nvPr/>
        </p:nvSpPr>
        <p:spPr>
          <a:xfrm>
            <a:off x="10488109" y="5065260"/>
            <a:ext cx="7518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frame</a:t>
            </a:r>
            <a:endParaRPr/>
          </a:p>
        </p:txBody>
      </p:sp>
      <p:sp>
        <p:nvSpPr>
          <p:cNvPr id="3881" name="Google Shape;3881;p27"/>
          <p:cNvSpPr/>
          <p:nvPr/>
        </p:nvSpPr>
        <p:spPr>
          <a:xfrm>
            <a:off x="838200" y="1285429"/>
            <a:ext cx="562481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1" lang="en-US" sz="3200" u="none" cap="none" strike="noStrike">
                <a:solidFill>
                  <a:srgbClr val="C00000"/>
                </a:solidFill>
                <a:latin typeface="Calibri"/>
                <a:ea typeface="Calibri"/>
                <a:cs typeface="Calibri"/>
                <a:sym typeface="Calibri"/>
              </a:rPr>
              <a:t>Matryoshka dolls (stacking dolls)</a:t>
            </a:r>
            <a:endParaRPr b="0" i="0" sz="3200" u="sng" cap="none" strike="noStrike">
              <a:solidFill>
                <a:srgbClr val="C00000"/>
              </a:solidFill>
              <a:latin typeface="Calibri"/>
              <a:ea typeface="Calibri"/>
              <a:cs typeface="Calibri"/>
              <a:sym typeface="Calibri"/>
            </a:endParaRPr>
          </a:p>
        </p:txBody>
      </p:sp>
      <p:pic>
        <p:nvPicPr>
          <p:cNvPr descr="Icon&#10;&#10;Description automatically generated with low confidence" id="3882" name="Google Shape;3882;p27"/>
          <p:cNvPicPr preferRelativeResize="0"/>
          <p:nvPr/>
        </p:nvPicPr>
        <p:blipFill rotWithShape="1">
          <a:blip r:embed="rId4">
            <a:alphaModFix/>
          </a:blip>
          <a:srcRect b="0" l="0" r="0" t="0"/>
          <a:stretch/>
        </p:blipFill>
        <p:spPr>
          <a:xfrm>
            <a:off x="6199754" y="3663601"/>
            <a:ext cx="1016000" cy="1409700"/>
          </a:xfrm>
          <a:prstGeom prst="rect">
            <a:avLst/>
          </a:prstGeom>
          <a:noFill/>
          <a:ln>
            <a:noFill/>
          </a:ln>
        </p:spPr>
      </p:pic>
      <p:pic>
        <p:nvPicPr>
          <p:cNvPr descr="Logo&#10;&#10;Description automatically generated with medium confidence" id="3883" name="Google Shape;3883;p27"/>
          <p:cNvPicPr preferRelativeResize="0"/>
          <p:nvPr/>
        </p:nvPicPr>
        <p:blipFill rotWithShape="1">
          <a:blip r:embed="rId5">
            <a:alphaModFix/>
          </a:blip>
          <a:srcRect b="0" l="0" r="0" t="0"/>
          <a:stretch/>
        </p:blipFill>
        <p:spPr>
          <a:xfrm>
            <a:off x="7287590" y="3409601"/>
            <a:ext cx="1206500" cy="1663700"/>
          </a:xfrm>
          <a:prstGeom prst="rect">
            <a:avLst/>
          </a:prstGeom>
          <a:noFill/>
          <a:ln>
            <a:noFill/>
          </a:ln>
        </p:spPr>
      </p:pic>
      <p:pic>
        <p:nvPicPr>
          <p:cNvPr descr="Icon&#10;&#10;Description automatically generated" id="3884" name="Google Shape;3884;p27"/>
          <p:cNvPicPr preferRelativeResize="0"/>
          <p:nvPr/>
        </p:nvPicPr>
        <p:blipFill rotWithShape="1">
          <a:blip r:embed="rId6">
            <a:alphaModFix/>
          </a:blip>
          <a:srcRect b="0" l="0" r="0" t="0"/>
          <a:stretch/>
        </p:blipFill>
        <p:spPr>
          <a:xfrm>
            <a:off x="8497316" y="3041509"/>
            <a:ext cx="1481342" cy="2038158"/>
          </a:xfrm>
          <a:prstGeom prst="rect">
            <a:avLst/>
          </a:prstGeom>
          <a:noFill/>
          <a:ln>
            <a:noFill/>
          </a:ln>
        </p:spPr>
      </p:pic>
      <p:pic>
        <p:nvPicPr>
          <p:cNvPr descr="Icon&#10;&#10;Description automatically generated" id="3885" name="Google Shape;3885;p27"/>
          <p:cNvPicPr preferRelativeResize="0"/>
          <p:nvPr/>
        </p:nvPicPr>
        <p:blipFill rotWithShape="1">
          <a:blip r:embed="rId7">
            <a:alphaModFix/>
          </a:blip>
          <a:srcRect b="0" l="0" r="0" t="0"/>
          <a:stretch/>
        </p:blipFill>
        <p:spPr>
          <a:xfrm>
            <a:off x="9997231" y="2709865"/>
            <a:ext cx="1722729" cy="2369802"/>
          </a:xfrm>
          <a:prstGeom prst="rect">
            <a:avLst/>
          </a:prstGeom>
          <a:noFill/>
          <a:ln>
            <a:noFill/>
          </a:ln>
        </p:spPr>
      </p:pic>
      <p:sp>
        <p:nvSpPr>
          <p:cNvPr id="3886" name="Google Shape;3886;p27"/>
          <p:cNvSpPr txBox="1"/>
          <p:nvPr/>
        </p:nvSpPr>
        <p:spPr>
          <a:xfrm>
            <a:off x="46604" y="6519289"/>
            <a:ext cx="609600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Arial"/>
                <a:ea typeface="Arial"/>
                <a:cs typeface="Arial"/>
                <a:sym typeface="Arial"/>
              </a:rPr>
              <a:t>Credit: </a:t>
            </a:r>
            <a:r>
              <a:rPr lang="en-US" sz="1050" u="sng">
                <a:solidFill>
                  <a:schemeClr val="dk1"/>
                </a:solidFill>
                <a:latin typeface="Arial"/>
                <a:ea typeface="Arial"/>
                <a:cs typeface="Arial"/>
                <a:sym typeface="Arial"/>
                <a:hlinkClick r:id="rId8">
                  <a:extLst>
                    <a:ext uri="{A12FA001-AC4F-418D-AE19-62706E023703}">
                      <ahyp:hlinkClr val="tx"/>
                    </a:ext>
                  </a:extLst>
                </a:hlinkClick>
              </a:rPr>
              <a:t>https://dribbble.com/shots/7182188-Babushka-Boi</a:t>
            </a:r>
            <a:endParaRPr sz="105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1" name="Shape 3891"/>
        <p:cNvGrpSpPr/>
        <p:nvPr/>
      </p:nvGrpSpPr>
      <p:grpSpPr>
        <a:xfrm>
          <a:off x="0" y="0"/>
          <a:ext cx="0" cy="0"/>
          <a:chOff x="0" y="0"/>
          <a:chExt cx="0" cy="0"/>
        </a:xfrm>
      </p:grpSpPr>
      <p:pic>
        <p:nvPicPr>
          <p:cNvPr descr="Icon&#10;&#10;Description automatically generated with low confidence" id="3892" name="Google Shape;3892;p28"/>
          <p:cNvPicPr preferRelativeResize="0"/>
          <p:nvPr/>
        </p:nvPicPr>
        <p:blipFill rotWithShape="1">
          <a:blip r:embed="rId3">
            <a:alphaModFix/>
          </a:blip>
          <a:srcRect b="0" l="0" r="0" t="0"/>
          <a:stretch/>
        </p:blipFill>
        <p:spPr>
          <a:xfrm>
            <a:off x="3728349" y="1695405"/>
            <a:ext cx="351909" cy="488275"/>
          </a:xfrm>
          <a:prstGeom prst="rect">
            <a:avLst/>
          </a:prstGeom>
          <a:noFill/>
          <a:ln>
            <a:noFill/>
          </a:ln>
        </p:spPr>
      </p:pic>
      <p:sp>
        <p:nvSpPr>
          <p:cNvPr id="3893" name="Google Shape;3893;p28"/>
          <p:cNvSpPr/>
          <p:nvPr/>
        </p:nvSpPr>
        <p:spPr>
          <a:xfrm>
            <a:off x="3548141" y="1573968"/>
            <a:ext cx="4992" cy="3104606"/>
          </a:xfrm>
          <a:custGeom>
            <a:rect b="b" l="l" r="r" t="t"/>
            <a:pathLst>
              <a:path extrusionOk="0" h="8411" w="52">
                <a:moveTo>
                  <a:pt x="0" y="0"/>
                </a:moveTo>
                <a:cubicBezTo>
                  <a:pt x="17" y="2804"/>
                  <a:pt x="35" y="5607"/>
                  <a:pt x="52" y="8411"/>
                </a:cubicBezTo>
              </a:path>
            </a:pathLst>
          </a:custGeom>
          <a:noFill/>
          <a:ln cap="flat" cmpd="sng" w="444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sp>
        <p:nvSpPr>
          <p:cNvPr id="3894" name="Google Shape;3894;p28"/>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95" name="Google Shape;3895;p28"/>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Services, Layering and Encapsulation</a:t>
            </a:r>
            <a:endParaRPr sz="4400"/>
          </a:p>
        </p:txBody>
      </p:sp>
      <p:sp>
        <p:nvSpPr>
          <p:cNvPr id="3896" name="Google Shape;3896;p28"/>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a:p>
        </p:txBody>
      </p:sp>
      <p:sp>
        <p:nvSpPr>
          <p:cNvPr id="3897" name="Google Shape;3897;p28"/>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898" name="Google Shape;3898;p28"/>
          <p:cNvGrpSpPr/>
          <p:nvPr/>
        </p:nvGrpSpPr>
        <p:grpSpPr>
          <a:xfrm flipH="1">
            <a:off x="635446" y="5073984"/>
            <a:ext cx="803275" cy="771525"/>
            <a:chOff x="-44" y="1473"/>
            <a:chExt cx="981" cy="1105"/>
          </a:xfrm>
        </p:grpSpPr>
        <p:pic>
          <p:nvPicPr>
            <p:cNvPr descr="desktop_computer_stylized_medium" id="3899" name="Google Shape;3899;p2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3900" name="Google Shape;3900;p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901" name="Google Shape;3901;p28"/>
          <p:cNvGrpSpPr/>
          <p:nvPr/>
        </p:nvGrpSpPr>
        <p:grpSpPr>
          <a:xfrm>
            <a:off x="1334125" y="1421667"/>
            <a:ext cx="1765726" cy="4034752"/>
            <a:chOff x="1484027" y="1706480"/>
            <a:chExt cx="1765726" cy="4034752"/>
          </a:xfrm>
        </p:grpSpPr>
        <p:sp>
          <p:nvSpPr>
            <p:cNvPr id="3902" name="Google Shape;3902;p28"/>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03" name="Google Shape;3903;p28"/>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904" name="Google Shape;3904;p28"/>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905" name="Google Shape;3905;p28"/>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906" name="Google Shape;3906;p28"/>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907" name="Google Shape;3907;p28"/>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3908" name="Google Shape;3908;p28"/>
          <p:cNvGrpSpPr/>
          <p:nvPr/>
        </p:nvGrpSpPr>
        <p:grpSpPr>
          <a:xfrm>
            <a:off x="11107713" y="4961744"/>
            <a:ext cx="374754" cy="833726"/>
            <a:chOff x="4140" y="429"/>
            <a:chExt cx="1425" cy="2396"/>
          </a:xfrm>
        </p:grpSpPr>
        <p:sp>
          <p:nvSpPr>
            <p:cNvPr id="3909" name="Google Shape;3909;p2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0" name="Google Shape;3910;p28"/>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11" name="Google Shape;3911;p2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2" name="Google Shape;3912;p2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3" name="Google Shape;3913;p28"/>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14" name="Google Shape;3914;p28"/>
            <p:cNvGrpSpPr/>
            <p:nvPr/>
          </p:nvGrpSpPr>
          <p:grpSpPr>
            <a:xfrm>
              <a:off x="4748" y="666"/>
              <a:ext cx="578" cy="150"/>
              <a:chOff x="613" y="2566"/>
              <a:chExt cx="721" cy="144"/>
            </a:xfrm>
          </p:grpSpPr>
          <p:sp>
            <p:nvSpPr>
              <p:cNvPr id="3915" name="Google Shape;3915;p28"/>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16" name="Google Shape;3916;p28"/>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17" name="Google Shape;3917;p28"/>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18" name="Google Shape;3918;p28"/>
            <p:cNvGrpSpPr/>
            <p:nvPr/>
          </p:nvGrpSpPr>
          <p:grpSpPr>
            <a:xfrm>
              <a:off x="4748" y="990"/>
              <a:ext cx="578" cy="134"/>
              <a:chOff x="615" y="2564"/>
              <a:chExt cx="721" cy="139"/>
            </a:xfrm>
          </p:grpSpPr>
          <p:sp>
            <p:nvSpPr>
              <p:cNvPr id="3919" name="Google Shape;3919;p28"/>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0" name="Google Shape;3920;p28"/>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21" name="Google Shape;3921;p28"/>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2" name="Google Shape;3922;p28"/>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23" name="Google Shape;3923;p28"/>
            <p:cNvGrpSpPr/>
            <p:nvPr/>
          </p:nvGrpSpPr>
          <p:grpSpPr>
            <a:xfrm>
              <a:off x="4738" y="1647"/>
              <a:ext cx="578" cy="135"/>
              <a:chOff x="618" y="2586"/>
              <a:chExt cx="720" cy="124"/>
            </a:xfrm>
          </p:grpSpPr>
          <p:sp>
            <p:nvSpPr>
              <p:cNvPr id="3924" name="Google Shape;3924;p28"/>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5" name="Google Shape;3925;p28"/>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26" name="Google Shape;3926;p2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927" name="Google Shape;3927;p28"/>
            <p:cNvGrpSpPr/>
            <p:nvPr/>
          </p:nvGrpSpPr>
          <p:grpSpPr>
            <a:xfrm>
              <a:off x="4738" y="1330"/>
              <a:ext cx="588" cy="134"/>
              <a:chOff x="613" y="2571"/>
              <a:chExt cx="732" cy="134"/>
            </a:xfrm>
          </p:grpSpPr>
          <p:sp>
            <p:nvSpPr>
              <p:cNvPr id="3928" name="Google Shape;3928;p28"/>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29" name="Google Shape;3929;p28"/>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30" name="Google Shape;3930;p28"/>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31" name="Google Shape;3931;p2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2" name="Google Shape;3932;p2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3" name="Google Shape;3933;p28"/>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34" name="Google Shape;3934;p2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5" name="Google Shape;3935;p28"/>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36" name="Google Shape;3936;p28"/>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37" name="Google Shape;3937;p28"/>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38" name="Google Shape;3938;p28"/>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3939" name="Google Shape;3939;p28"/>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40" name="Google Shape;3940;p28"/>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41" name="Google Shape;3941;p28"/>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3942" name="Google Shape;3942;p28"/>
          <p:cNvGrpSpPr/>
          <p:nvPr/>
        </p:nvGrpSpPr>
        <p:grpSpPr>
          <a:xfrm>
            <a:off x="9221450" y="1413548"/>
            <a:ext cx="1765726" cy="4034752"/>
            <a:chOff x="1484027" y="1706480"/>
            <a:chExt cx="1765726" cy="4034752"/>
          </a:xfrm>
        </p:grpSpPr>
        <p:sp>
          <p:nvSpPr>
            <p:cNvPr id="3943" name="Google Shape;3943;p28"/>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44" name="Google Shape;3944;p28"/>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3945" name="Google Shape;3945;p28"/>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3946" name="Google Shape;3946;p28"/>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3947" name="Google Shape;3947;p28"/>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3948" name="Google Shape;3948;p28"/>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sp>
        <p:nvSpPr>
          <p:cNvPr id="3949" name="Google Shape;3949;p28"/>
          <p:cNvSpPr/>
          <p:nvPr/>
        </p:nvSpPr>
        <p:spPr>
          <a:xfrm>
            <a:off x="5584583" y="198153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950" name="Google Shape;3950;p28"/>
          <p:cNvGrpSpPr/>
          <p:nvPr/>
        </p:nvGrpSpPr>
        <p:grpSpPr>
          <a:xfrm>
            <a:off x="7629993" y="1484027"/>
            <a:ext cx="1535906" cy="3792511"/>
            <a:chOff x="7629993" y="1484027"/>
            <a:chExt cx="1535906" cy="3792511"/>
          </a:xfrm>
        </p:grpSpPr>
        <p:sp>
          <p:nvSpPr>
            <p:cNvPr id="3951" name="Google Shape;3951;p28"/>
            <p:cNvSpPr/>
            <p:nvPr/>
          </p:nvSpPr>
          <p:spPr>
            <a:xfrm flipH="1">
              <a:off x="7629993" y="1484027"/>
              <a:ext cx="1201062" cy="3792511"/>
            </a:xfrm>
            <a:custGeom>
              <a:rect b="b" l="l" r="r" t="t"/>
              <a:pathLst>
                <a:path extrusionOk="0" h="3263030" w="1822537">
                  <a:moveTo>
                    <a:pt x="1822537" y="3263030"/>
                  </a:moveTo>
                  <a:lnTo>
                    <a:pt x="6263" y="2743200"/>
                  </a:lnTo>
                  <a:cubicBezTo>
                    <a:pt x="4175" y="1828800"/>
                    <a:pt x="2088" y="914400"/>
                    <a:pt x="0" y="0"/>
                  </a:cubicBezTo>
                </a:path>
              </a:pathLst>
            </a:custGeom>
            <a:noFill/>
            <a:ln cap="flat" cmpd="sng" w="444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952" name="Google Shape;3952;p28"/>
            <p:cNvGrpSpPr/>
            <p:nvPr/>
          </p:nvGrpSpPr>
          <p:grpSpPr>
            <a:xfrm>
              <a:off x="7693325" y="4097936"/>
              <a:ext cx="1470663" cy="389744"/>
              <a:chOff x="6216702" y="5375649"/>
              <a:chExt cx="1470663" cy="389744"/>
            </a:xfrm>
          </p:grpSpPr>
          <p:sp>
            <p:nvSpPr>
              <p:cNvPr id="3953" name="Google Shape;3953;p28"/>
              <p:cNvSpPr/>
              <p:nvPr/>
            </p:nvSpPr>
            <p:spPr>
              <a:xfrm>
                <a:off x="6477000" y="5375649"/>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954" name="Google Shape;3954;p28"/>
              <p:cNvGrpSpPr/>
              <p:nvPr/>
            </p:nvGrpSpPr>
            <p:grpSpPr>
              <a:xfrm>
                <a:off x="6216702" y="5392448"/>
                <a:ext cx="1381126" cy="301625"/>
                <a:chOff x="265" y="1531"/>
                <a:chExt cx="870" cy="190"/>
              </a:xfrm>
            </p:grpSpPr>
            <p:sp>
              <p:nvSpPr>
                <p:cNvPr id="3955" name="Google Shape;3955;p28"/>
                <p:cNvSpPr/>
                <p:nvPr/>
              </p:nvSpPr>
              <p:spPr>
                <a:xfrm>
                  <a:off x="265" y="1549"/>
                  <a:ext cx="87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56" name="Google Shape;3956;p28"/>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3957" name="Google Shape;3957;p28"/>
              <p:cNvSpPr/>
              <p:nvPr/>
            </p:nvSpPr>
            <p:spPr>
              <a:xfrm>
                <a:off x="6801757" y="5404115"/>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3958" name="Google Shape;3958;p28"/>
              <p:cNvSpPr/>
              <p:nvPr/>
            </p:nvSpPr>
            <p:spPr>
              <a:xfrm>
                <a:off x="6539453" y="5386777"/>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3959" name="Google Shape;3959;p28"/>
              <p:cNvCxnSpPr/>
              <p:nvPr/>
            </p:nvCxnSpPr>
            <p:spPr>
              <a:xfrm>
                <a:off x="7106894" y="5421023"/>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3960" name="Google Shape;3960;p28"/>
              <p:cNvCxnSpPr/>
              <p:nvPr/>
            </p:nvCxnSpPr>
            <p:spPr>
              <a:xfrm>
                <a:off x="6826395" y="5419311"/>
                <a:ext cx="0" cy="257175"/>
              </a:xfrm>
              <a:prstGeom prst="straightConnector1">
                <a:avLst/>
              </a:prstGeom>
              <a:noFill/>
              <a:ln cap="flat" cmpd="sng" w="9525">
                <a:solidFill>
                  <a:schemeClr val="dk1"/>
                </a:solidFill>
                <a:prstDash val="solid"/>
                <a:miter lim="800000"/>
                <a:headEnd len="sm" w="sm" type="none"/>
                <a:tailEnd len="sm" w="sm" type="none"/>
              </a:ln>
            </p:spPr>
          </p:cxnSp>
          <p:sp>
            <p:nvSpPr>
              <p:cNvPr id="3961" name="Google Shape;3961;p28"/>
              <p:cNvSpPr/>
              <p:nvPr/>
            </p:nvSpPr>
            <p:spPr>
              <a:xfrm>
                <a:off x="6236418" y="5394426"/>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cxnSp>
            <p:nvCxnSpPr>
              <p:cNvPr id="3962" name="Google Shape;3962;p28"/>
              <p:cNvCxnSpPr/>
              <p:nvPr/>
            </p:nvCxnSpPr>
            <p:spPr>
              <a:xfrm>
                <a:off x="6505708" y="5419900"/>
                <a:ext cx="0" cy="257175"/>
              </a:xfrm>
              <a:prstGeom prst="straightConnector1">
                <a:avLst/>
              </a:prstGeom>
              <a:noFill/>
              <a:ln cap="flat" cmpd="sng" w="9525">
                <a:solidFill>
                  <a:schemeClr val="dk1"/>
                </a:solidFill>
                <a:prstDash val="solid"/>
                <a:miter lim="800000"/>
                <a:headEnd len="sm" w="sm" type="none"/>
                <a:tailEnd len="sm" w="sm" type="none"/>
              </a:ln>
            </p:spPr>
          </p:cxnSp>
        </p:grpSp>
        <p:grpSp>
          <p:nvGrpSpPr>
            <p:cNvPr id="3963" name="Google Shape;3963;p28"/>
            <p:cNvGrpSpPr/>
            <p:nvPr/>
          </p:nvGrpSpPr>
          <p:grpSpPr>
            <a:xfrm>
              <a:off x="8014421" y="3363106"/>
              <a:ext cx="1058375" cy="307296"/>
              <a:chOff x="5509436" y="3287899"/>
              <a:chExt cx="1058375" cy="307296"/>
            </a:xfrm>
          </p:grpSpPr>
          <p:grpSp>
            <p:nvGrpSpPr>
              <p:cNvPr id="3964" name="Google Shape;3964;p28"/>
              <p:cNvGrpSpPr/>
              <p:nvPr/>
            </p:nvGrpSpPr>
            <p:grpSpPr>
              <a:xfrm>
                <a:off x="5510535" y="3293570"/>
                <a:ext cx="1057276" cy="301625"/>
                <a:chOff x="469" y="1531"/>
                <a:chExt cx="666" cy="190"/>
              </a:xfrm>
            </p:grpSpPr>
            <p:sp>
              <p:nvSpPr>
                <p:cNvPr id="3965" name="Google Shape;3965;p28"/>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66" name="Google Shape;3966;p28"/>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3967" name="Google Shape;3967;p28"/>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3968" name="Google Shape;3968;p28"/>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3969" name="Google Shape;3969;p28"/>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3970" name="Google Shape;3970;p28"/>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grpSp>
          <p:nvGrpSpPr>
            <p:cNvPr id="3971" name="Google Shape;3971;p28"/>
            <p:cNvGrpSpPr/>
            <p:nvPr/>
          </p:nvGrpSpPr>
          <p:grpSpPr>
            <a:xfrm>
              <a:off x="8257849" y="2658970"/>
              <a:ext cx="908050" cy="301625"/>
              <a:chOff x="6877524" y="6049441"/>
              <a:chExt cx="908050" cy="301625"/>
            </a:xfrm>
          </p:grpSpPr>
          <p:grpSp>
            <p:nvGrpSpPr>
              <p:cNvPr id="3972" name="Google Shape;3972;p28"/>
              <p:cNvGrpSpPr/>
              <p:nvPr/>
            </p:nvGrpSpPr>
            <p:grpSpPr>
              <a:xfrm>
                <a:off x="6877524" y="6051029"/>
                <a:ext cx="296863" cy="292100"/>
                <a:chOff x="1959" y="2058"/>
                <a:chExt cx="187" cy="184"/>
              </a:xfrm>
            </p:grpSpPr>
            <p:sp>
              <p:nvSpPr>
                <p:cNvPr id="3973" name="Google Shape;3973;p28"/>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74" name="Google Shape;3974;p28"/>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3975" name="Google Shape;3975;p28"/>
              <p:cNvGrpSpPr/>
              <p:nvPr/>
            </p:nvGrpSpPr>
            <p:grpSpPr>
              <a:xfrm>
                <a:off x="7106124" y="6049441"/>
                <a:ext cx="679450" cy="301625"/>
                <a:chOff x="780" y="1553"/>
                <a:chExt cx="428" cy="190"/>
              </a:xfrm>
            </p:grpSpPr>
            <p:sp>
              <p:nvSpPr>
                <p:cNvPr id="3976" name="Google Shape;3976;p28"/>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77" name="Google Shape;3977;p28"/>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grpSp>
          <p:nvGrpSpPr>
            <p:cNvPr id="3978" name="Google Shape;3978;p28"/>
            <p:cNvGrpSpPr/>
            <p:nvPr/>
          </p:nvGrpSpPr>
          <p:grpSpPr>
            <a:xfrm>
              <a:off x="8465451" y="1880020"/>
              <a:ext cx="679450" cy="301625"/>
              <a:chOff x="780" y="1553"/>
              <a:chExt cx="428" cy="190"/>
            </a:xfrm>
          </p:grpSpPr>
          <p:sp>
            <p:nvSpPr>
              <p:cNvPr id="3979" name="Google Shape;3979;p28"/>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80" name="Google Shape;3980;p28"/>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sp>
        <p:nvSpPr>
          <p:cNvPr id="3981" name="Google Shape;3981;p28"/>
          <p:cNvSpPr/>
          <p:nvPr/>
        </p:nvSpPr>
        <p:spPr>
          <a:xfrm>
            <a:off x="3570599" y="4675377"/>
            <a:ext cx="4136844" cy="601045"/>
          </a:xfrm>
          <a:custGeom>
            <a:rect b="b" l="l" r="r" t="t"/>
            <a:pathLst>
              <a:path extrusionOk="0" h="1622" w="9988">
                <a:moveTo>
                  <a:pt x="0" y="0"/>
                </a:moveTo>
                <a:lnTo>
                  <a:pt x="2306" y="1583"/>
                </a:lnTo>
                <a:lnTo>
                  <a:pt x="9988" y="1622"/>
                </a:lnTo>
              </a:path>
            </a:pathLst>
          </a:custGeom>
          <a:noFill/>
          <a:ln cap="flat" cmpd="sng" w="44450">
            <a:solidFill>
              <a:srgbClr val="C0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3982" name="Google Shape;3982;p28"/>
          <p:cNvGrpSpPr/>
          <p:nvPr/>
        </p:nvGrpSpPr>
        <p:grpSpPr>
          <a:xfrm>
            <a:off x="4158384" y="1778534"/>
            <a:ext cx="2245439" cy="369332"/>
            <a:chOff x="4158384" y="2165404"/>
            <a:chExt cx="2245439" cy="369332"/>
          </a:xfrm>
        </p:grpSpPr>
        <p:grpSp>
          <p:nvGrpSpPr>
            <p:cNvPr id="3983" name="Google Shape;3983;p28"/>
            <p:cNvGrpSpPr/>
            <p:nvPr/>
          </p:nvGrpSpPr>
          <p:grpSpPr>
            <a:xfrm>
              <a:off x="5724373" y="2189377"/>
              <a:ext cx="679450" cy="301625"/>
              <a:chOff x="780" y="1553"/>
              <a:chExt cx="428" cy="190"/>
            </a:xfrm>
          </p:grpSpPr>
          <p:sp>
            <p:nvSpPr>
              <p:cNvPr id="3984" name="Google Shape;3984;p28"/>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85" name="Google Shape;3985;p28"/>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3986" name="Google Shape;3986;p28"/>
            <p:cNvSpPr txBox="1"/>
            <p:nvPr/>
          </p:nvSpPr>
          <p:spPr>
            <a:xfrm>
              <a:off x="4158384" y="2165404"/>
              <a:ext cx="9970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message</a:t>
              </a:r>
              <a:endParaRPr/>
            </a:p>
          </p:txBody>
        </p:sp>
      </p:grpSp>
      <p:grpSp>
        <p:nvGrpSpPr>
          <p:cNvPr id="3987" name="Google Shape;3987;p28"/>
          <p:cNvGrpSpPr/>
          <p:nvPr/>
        </p:nvGrpSpPr>
        <p:grpSpPr>
          <a:xfrm>
            <a:off x="4155671" y="2565788"/>
            <a:ext cx="2253425" cy="369332"/>
            <a:chOff x="4155671" y="2952658"/>
            <a:chExt cx="2253425" cy="369332"/>
          </a:xfrm>
        </p:grpSpPr>
        <p:grpSp>
          <p:nvGrpSpPr>
            <p:cNvPr id="3988" name="Google Shape;3988;p28"/>
            <p:cNvGrpSpPr/>
            <p:nvPr/>
          </p:nvGrpSpPr>
          <p:grpSpPr>
            <a:xfrm>
              <a:off x="5501046" y="3003781"/>
              <a:ext cx="908050" cy="301625"/>
              <a:chOff x="1848" y="2046"/>
              <a:chExt cx="572" cy="190"/>
            </a:xfrm>
          </p:grpSpPr>
          <p:grpSp>
            <p:nvGrpSpPr>
              <p:cNvPr id="3989" name="Google Shape;3989;p28"/>
              <p:cNvGrpSpPr/>
              <p:nvPr/>
            </p:nvGrpSpPr>
            <p:grpSpPr>
              <a:xfrm>
                <a:off x="1848" y="2047"/>
                <a:ext cx="187" cy="184"/>
                <a:chOff x="1959" y="2058"/>
                <a:chExt cx="187" cy="184"/>
              </a:xfrm>
            </p:grpSpPr>
            <p:sp>
              <p:nvSpPr>
                <p:cNvPr id="3990" name="Google Shape;3990;p28"/>
                <p:cNvSpPr/>
                <p:nvPr/>
              </p:nvSpPr>
              <p:spPr>
                <a:xfrm>
                  <a:off x="1964" y="2075"/>
                  <a:ext cx="177" cy="16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91" name="Google Shape;3991;p28"/>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3992" name="Google Shape;3992;p28"/>
              <p:cNvGrpSpPr/>
              <p:nvPr/>
            </p:nvGrpSpPr>
            <p:grpSpPr>
              <a:xfrm>
                <a:off x="1992" y="2046"/>
                <a:ext cx="428" cy="190"/>
                <a:chOff x="780" y="1553"/>
                <a:chExt cx="428" cy="190"/>
              </a:xfrm>
            </p:grpSpPr>
            <p:sp>
              <p:nvSpPr>
                <p:cNvPr id="3993" name="Google Shape;3993;p28"/>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94" name="Google Shape;3994;p28"/>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sp>
          <p:nvSpPr>
            <p:cNvPr id="3995" name="Google Shape;3995;p28"/>
            <p:cNvSpPr txBox="1"/>
            <p:nvPr/>
          </p:nvSpPr>
          <p:spPr>
            <a:xfrm>
              <a:off x="4155671" y="2952658"/>
              <a:ext cx="9952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segment</a:t>
              </a:r>
              <a:endParaRPr/>
            </a:p>
          </p:txBody>
        </p:sp>
      </p:grpSp>
      <p:grpSp>
        <p:nvGrpSpPr>
          <p:cNvPr id="3996" name="Google Shape;3996;p28"/>
          <p:cNvGrpSpPr/>
          <p:nvPr/>
        </p:nvGrpSpPr>
        <p:grpSpPr>
          <a:xfrm>
            <a:off x="4134419" y="3291630"/>
            <a:ext cx="2152842" cy="369332"/>
            <a:chOff x="4134419" y="3678500"/>
            <a:chExt cx="2152842" cy="369332"/>
          </a:xfrm>
        </p:grpSpPr>
        <p:grpSp>
          <p:nvGrpSpPr>
            <p:cNvPr id="3997" name="Google Shape;3997;p28"/>
            <p:cNvGrpSpPr/>
            <p:nvPr/>
          </p:nvGrpSpPr>
          <p:grpSpPr>
            <a:xfrm>
              <a:off x="5228886" y="3706233"/>
              <a:ext cx="1058375" cy="307296"/>
              <a:chOff x="5509436" y="3287899"/>
              <a:chExt cx="1058375" cy="307296"/>
            </a:xfrm>
          </p:grpSpPr>
          <p:grpSp>
            <p:nvGrpSpPr>
              <p:cNvPr id="3998" name="Google Shape;3998;p28"/>
              <p:cNvGrpSpPr/>
              <p:nvPr/>
            </p:nvGrpSpPr>
            <p:grpSpPr>
              <a:xfrm>
                <a:off x="5510535" y="3293570"/>
                <a:ext cx="1057276" cy="301625"/>
                <a:chOff x="469" y="1531"/>
                <a:chExt cx="666" cy="190"/>
              </a:xfrm>
            </p:grpSpPr>
            <p:sp>
              <p:nvSpPr>
                <p:cNvPr id="3999" name="Google Shape;3999;p28"/>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00" name="Google Shape;4000;p28"/>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4001" name="Google Shape;4001;p28"/>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002" name="Google Shape;4002;p28"/>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4003" name="Google Shape;4003;p28"/>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4004" name="Google Shape;4004;p28"/>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4005" name="Google Shape;4005;p28"/>
            <p:cNvSpPr txBox="1"/>
            <p:nvPr/>
          </p:nvSpPr>
          <p:spPr>
            <a:xfrm>
              <a:off x="4134419" y="3678500"/>
              <a:ext cx="10790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datagram</a:t>
              </a:r>
              <a:endParaRPr/>
            </a:p>
          </p:txBody>
        </p:sp>
      </p:grpSp>
      <p:grpSp>
        <p:nvGrpSpPr>
          <p:cNvPr id="4006" name="Google Shape;4006;p28"/>
          <p:cNvGrpSpPr/>
          <p:nvPr/>
        </p:nvGrpSpPr>
        <p:grpSpPr>
          <a:xfrm>
            <a:off x="4152584" y="4104550"/>
            <a:ext cx="2134677" cy="369332"/>
            <a:chOff x="4152584" y="4491420"/>
            <a:chExt cx="2134677" cy="369332"/>
          </a:xfrm>
        </p:grpSpPr>
        <p:sp>
          <p:nvSpPr>
            <p:cNvPr id="4007" name="Google Shape;4007;p28"/>
            <p:cNvSpPr txBox="1"/>
            <p:nvPr/>
          </p:nvSpPr>
          <p:spPr>
            <a:xfrm>
              <a:off x="4152584" y="4491420"/>
              <a:ext cx="740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frame</a:t>
              </a:r>
              <a:endParaRPr/>
            </a:p>
          </p:txBody>
        </p:sp>
        <p:grpSp>
          <p:nvGrpSpPr>
            <p:cNvPr id="4008" name="Google Shape;4008;p28"/>
            <p:cNvGrpSpPr/>
            <p:nvPr/>
          </p:nvGrpSpPr>
          <p:grpSpPr>
            <a:xfrm>
              <a:off x="4939472" y="4504142"/>
              <a:ext cx="1347789" cy="307296"/>
              <a:chOff x="5144294" y="4194650"/>
              <a:chExt cx="1347789" cy="307296"/>
            </a:xfrm>
          </p:grpSpPr>
          <p:grpSp>
            <p:nvGrpSpPr>
              <p:cNvPr id="4009" name="Google Shape;4009;p28"/>
              <p:cNvGrpSpPr/>
              <p:nvPr/>
            </p:nvGrpSpPr>
            <p:grpSpPr>
              <a:xfrm>
                <a:off x="5144294" y="4200321"/>
                <a:ext cx="1347789" cy="301625"/>
                <a:chOff x="286" y="1531"/>
                <a:chExt cx="849" cy="190"/>
              </a:xfrm>
            </p:grpSpPr>
            <p:sp>
              <p:nvSpPr>
                <p:cNvPr id="4010" name="Google Shape;4010;p28"/>
                <p:cNvSpPr/>
                <p:nvPr/>
              </p:nvSpPr>
              <p:spPr>
                <a:xfrm>
                  <a:off x="286" y="1549"/>
                  <a:ext cx="849"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11" name="Google Shape;4011;p28"/>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4012" name="Google Shape;4012;p28"/>
              <p:cNvSpPr/>
              <p:nvPr/>
            </p:nvSpPr>
            <p:spPr>
              <a:xfrm>
                <a:off x="5696012" y="4211988"/>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013" name="Google Shape;4013;p28"/>
              <p:cNvSpPr/>
              <p:nvPr/>
            </p:nvSpPr>
            <p:spPr>
              <a:xfrm>
                <a:off x="5433708" y="4194650"/>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4014" name="Google Shape;4014;p28"/>
              <p:cNvCxnSpPr/>
              <p:nvPr/>
            </p:nvCxnSpPr>
            <p:spPr>
              <a:xfrm>
                <a:off x="6001149" y="4228896"/>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4015" name="Google Shape;4015;p28"/>
              <p:cNvCxnSpPr/>
              <p:nvPr/>
            </p:nvCxnSpPr>
            <p:spPr>
              <a:xfrm>
                <a:off x="5720650" y="4227184"/>
                <a:ext cx="0" cy="257175"/>
              </a:xfrm>
              <a:prstGeom prst="straightConnector1">
                <a:avLst/>
              </a:prstGeom>
              <a:noFill/>
              <a:ln cap="flat" cmpd="sng" w="9525">
                <a:solidFill>
                  <a:schemeClr val="dk1"/>
                </a:solidFill>
                <a:prstDash val="solid"/>
                <a:miter lim="800000"/>
                <a:headEnd len="sm" w="sm" type="none"/>
                <a:tailEnd len="sm" w="sm" type="none"/>
              </a:ln>
            </p:spPr>
          </p:cxnSp>
          <p:sp>
            <p:nvSpPr>
              <p:cNvPr id="4016" name="Google Shape;4016;p28"/>
              <p:cNvSpPr/>
              <p:nvPr/>
            </p:nvSpPr>
            <p:spPr>
              <a:xfrm>
                <a:off x="5149178" y="4198403"/>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cxnSp>
            <p:nvCxnSpPr>
              <p:cNvPr id="4017" name="Google Shape;4017;p28"/>
              <p:cNvCxnSpPr/>
              <p:nvPr/>
            </p:nvCxnSpPr>
            <p:spPr>
              <a:xfrm>
                <a:off x="5418102" y="4226433"/>
                <a:ext cx="0" cy="257175"/>
              </a:xfrm>
              <a:prstGeom prst="straightConnector1">
                <a:avLst/>
              </a:prstGeom>
              <a:noFill/>
              <a:ln cap="flat" cmpd="sng" w="9525">
                <a:solidFill>
                  <a:schemeClr val="dk1"/>
                </a:solidFill>
                <a:prstDash val="solid"/>
                <a:miter lim="800000"/>
                <a:headEnd len="sm" w="sm" type="none"/>
                <a:tailEnd len="sm" w="sm" type="none"/>
              </a:ln>
            </p:spPr>
          </p:cxnSp>
        </p:grpSp>
      </p:grpSp>
      <p:sp>
        <p:nvSpPr>
          <p:cNvPr id="4018" name="Google Shape;4018;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pic>
        <p:nvPicPr>
          <p:cNvPr descr="Logo&#10;&#10;Description automatically generated with medium confidence" id="4019" name="Google Shape;4019;p28"/>
          <p:cNvPicPr preferRelativeResize="0"/>
          <p:nvPr/>
        </p:nvPicPr>
        <p:blipFill rotWithShape="1">
          <a:blip r:embed="rId5">
            <a:alphaModFix/>
          </a:blip>
          <a:srcRect b="0" l="0" r="0" t="0"/>
          <a:stretch/>
        </p:blipFill>
        <p:spPr>
          <a:xfrm>
            <a:off x="3703652" y="2422862"/>
            <a:ext cx="401301" cy="553374"/>
          </a:xfrm>
          <a:prstGeom prst="rect">
            <a:avLst/>
          </a:prstGeom>
          <a:noFill/>
          <a:ln>
            <a:noFill/>
          </a:ln>
        </p:spPr>
      </p:pic>
      <p:pic>
        <p:nvPicPr>
          <p:cNvPr descr="Icon&#10;&#10;Description automatically generated" id="4020" name="Google Shape;4020;p28"/>
          <p:cNvPicPr preferRelativeResize="0"/>
          <p:nvPr/>
        </p:nvPicPr>
        <p:blipFill rotWithShape="1">
          <a:blip r:embed="rId6">
            <a:alphaModFix/>
          </a:blip>
          <a:srcRect b="0" l="0" r="0" t="0"/>
          <a:stretch/>
        </p:blipFill>
        <p:spPr>
          <a:xfrm>
            <a:off x="3681955" y="3154580"/>
            <a:ext cx="451829" cy="621665"/>
          </a:xfrm>
          <a:prstGeom prst="rect">
            <a:avLst/>
          </a:prstGeom>
          <a:noFill/>
          <a:ln>
            <a:noFill/>
          </a:ln>
        </p:spPr>
      </p:pic>
      <p:pic>
        <p:nvPicPr>
          <p:cNvPr descr="Icon&#10;&#10;Description automatically generated" id="4021" name="Google Shape;4021;p28"/>
          <p:cNvPicPr preferRelativeResize="0"/>
          <p:nvPr/>
        </p:nvPicPr>
        <p:blipFill rotWithShape="1">
          <a:blip r:embed="rId7">
            <a:alphaModFix/>
          </a:blip>
          <a:srcRect b="0" l="0" r="0" t="0"/>
          <a:stretch/>
        </p:blipFill>
        <p:spPr>
          <a:xfrm>
            <a:off x="3655899" y="3926006"/>
            <a:ext cx="505593" cy="695498"/>
          </a:xfrm>
          <a:prstGeom prst="rect">
            <a:avLst/>
          </a:prstGeom>
          <a:noFill/>
          <a:ln>
            <a:noFill/>
          </a:ln>
        </p:spPr>
      </p:pic>
      <p:pic>
        <p:nvPicPr>
          <p:cNvPr descr="Icon&#10;&#10;Description automatically generated" id="4022" name="Google Shape;4022;p28"/>
          <p:cNvPicPr preferRelativeResize="0"/>
          <p:nvPr/>
        </p:nvPicPr>
        <p:blipFill rotWithShape="1">
          <a:blip r:embed="rId6">
            <a:alphaModFix/>
          </a:blip>
          <a:srcRect b="0" l="0" r="0" t="0"/>
          <a:stretch/>
        </p:blipFill>
        <p:spPr>
          <a:xfrm>
            <a:off x="9043303" y="3225239"/>
            <a:ext cx="451829" cy="621665"/>
          </a:xfrm>
          <a:prstGeom prst="rect">
            <a:avLst/>
          </a:prstGeom>
          <a:noFill/>
          <a:ln>
            <a:noFill/>
          </a:ln>
        </p:spPr>
      </p:pic>
      <p:pic>
        <p:nvPicPr>
          <p:cNvPr descr="Logo&#10;&#10;Description automatically generated with medium confidence" id="4023" name="Google Shape;4023;p28"/>
          <p:cNvPicPr preferRelativeResize="0"/>
          <p:nvPr/>
        </p:nvPicPr>
        <p:blipFill rotWithShape="1">
          <a:blip r:embed="rId5">
            <a:alphaModFix/>
          </a:blip>
          <a:srcRect b="0" l="0" r="0" t="0"/>
          <a:stretch/>
        </p:blipFill>
        <p:spPr>
          <a:xfrm>
            <a:off x="9066221" y="2509417"/>
            <a:ext cx="401301" cy="553374"/>
          </a:xfrm>
          <a:prstGeom prst="rect">
            <a:avLst/>
          </a:prstGeom>
          <a:noFill/>
          <a:ln>
            <a:noFill/>
          </a:ln>
        </p:spPr>
      </p:pic>
      <p:pic>
        <p:nvPicPr>
          <p:cNvPr descr="Icon&#10;&#10;Description automatically generated with low confidence" id="4024" name="Google Shape;4024;p28"/>
          <p:cNvPicPr preferRelativeResize="0"/>
          <p:nvPr/>
        </p:nvPicPr>
        <p:blipFill rotWithShape="1">
          <a:blip r:embed="rId3">
            <a:alphaModFix/>
          </a:blip>
          <a:srcRect b="0" l="0" r="0" t="0"/>
          <a:stretch/>
        </p:blipFill>
        <p:spPr>
          <a:xfrm>
            <a:off x="9081613" y="1739407"/>
            <a:ext cx="351909" cy="4882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3"/>
                                        </p:tgtEl>
                                        <p:attrNameLst>
                                          <p:attrName>style.visibility</p:attrName>
                                        </p:attrNameLst>
                                      </p:cBhvr>
                                      <p:to>
                                        <p:strVal val="visible"/>
                                      </p:to>
                                    </p:set>
                                    <p:animEffect filter="fade" transition="in">
                                      <p:cBhvr>
                                        <p:cTn dur="500"/>
                                        <p:tgtEl>
                                          <p:spTgt spid="3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982"/>
                                        </p:tgtEl>
                                        <p:attrNameLst>
                                          <p:attrName>style.visibility</p:attrName>
                                        </p:attrNameLst>
                                      </p:cBhvr>
                                      <p:to>
                                        <p:strVal val="visible"/>
                                      </p:to>
                                    </p:set>
                                    <p:animEffect filter="fade" transition="in">
                                      <p:cBhvr>
                                        <p:cTn dur="500"/>
                                        <p:tgtEl>
                                          <p:spTgt spid="39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82"/>
                                        </p:tgtEl>
                                      </p:cBhvr>
                                    </p:animEffect>
                                    <p:set>
                                      <p:cBhvr>
                                        <p:cTn dur="1" fill="hold">
                                          <p:stCondLst>
                                            <p:cond delay="500"/>
                                          </p:stCondLst>
                                        </p:cTn>
                                        <p:tgtEl>
                                          <p:spTgt spid="398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19"/>
                                        </p:tgtEl>
                                        <p:attrNameLst>
                                          <p:attrName>style.visibility</p:attrName>
                                        </p:attrNameLst>
                                      </p:cBhvr>
                                      <p:to>
                                        <p:strVal val="visible"/>
                                      </p:to>
                                    </p:set>
                                    <p:animEffect filter="fade" transition="in">
                                      <p:cBhvr>
                                        <p:cTn dur="500"/>
                                        <p:tgtEl>
                                          <p:spTgt spid="4019"/>
                                        </p:tgtEl>
                                      </p:cBhvr>
                                    </p:animEffect>
                                  </p:childTnLst>
                                </p:cTn>
                              </p:par>
                            </p:childTnLst>
                          </p:cTn>
                        </p:par>
                        <p:par>
                          <p:cTn fill="hold">
                            <p:stCondLst>
                              <p:cond delay="1000"/>
                            </p:stCondLst>
                            <p:childTnLst>
                              <p:par>
                                <p:cTn fill="hold" nodeType="afterEffect" presetClass="exit" presetID="1" presetSubtype="0">
                                  <p:stCondLst>
                                    <p:cond delay="0"/>
                                  </p:stCondLst>
                                  <p:childTnLst>
                                    <p:set>
                                      <p:cBhvr>
                                        <p:cTn dur="1" fill="hold">
                                          <p:stCondLst>
                                            <p:cond delay="1"/>
                                          </p:stCondLst>
                                        </p:cTn>
                                        <p:tgtEl>
                                          <p:spTgt spid="389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987"/>
                                        </p:tgtEl>
                                        <p:attrNameLst>
                                          <p:attrName>style.visibility</p:attrName>
                                        </p:attrNameLst>
                                      </p:cBhvr>
                                      <p:to>
                                        <p:strVal val="visible"/>
                                      </p:to>
                                    </p:set>
                                    <p:animEffect filter="fade" transition="in">
                                      <p:cBhvr>
                                        <p:cTn dur="500"/>
                                        <p:tgtEl>
                                          <p:spTgt spid="3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87"/>
                                        </p:tgtEl>
                                      </p:cBhvr>
                                    </p:animEffect>
                                    <p:set>
                                      <p:cBhvr>
                                        <p:cTn dur="1" fill="hold">
                                          <p:stCondLst>
                                            <p:cond delay="500"/>
                                          </p:stCondLst>
                                        </p:cTn>
                                        <p:tgtEl>
                                          <p:spTgt spid="398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20"/>
                                        </p:tgtEl>
                                        <p:attrNameLst>
                                          <p:attrName>style.visibility</p:attrName>
                                        </p:attrNameLst>
                                      </p:cBhvr>
                                      <p:to>
                                        <p:strVal val="visible"/>
                                      </p:to>
                                    </p:set>
                                    <p:animEffect filter="fade" transition="in">
                                      <p:cBhvr>
                                        <p:cTn dur="500"/>
                                        <p:tgtEl>
                                          <p:spTgt spid="4020"/>
                                        </p:tgtEl>
                                      </p:cBhvr>
                                    </p:animEffect>
                                  </p:childTnLst>
                                </p:cTn>
                              </p:par>
                            </p:childTnLst>
                          </p:cTn>
                        </p:par>
                        <p:par>
                          <p:cTn fill="hold">
                            <p:stCondLst>
                              <p:cond delay="1000"/>
                            </p:stCondLst>
                            <p:childTnLst>
                              <p:par>
                                <p:cTn fill="hold" nodeType="afterEffect" presetClass="exit" presetID="1" presetSubtype="0">
                                  <p:stCondLst>
                                    <p:cond delay="0"/>
                                  </p:stCondLst>
                                  <p:childTnLst>
                                    <p:set>
                                      <p:cBhvr>
                                        <p:cTn dur="1" fill="hold">
                                          <p:stCondLst>
                                            <p:cond delay="1"/>
                                          </p:stCondLst>
                                        </p:cTn>
                                        <p:tgtEl>
                                          <p:spTgt spid="401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996"/>
                                        </p:tgtEl>
                                        <p:attrNameLst>
                                          <p:attrName>style.visibility</p:attrName>
                                        </p:attrNameLst>
                                      </p:cBhvr>
                                      <p:to>
                                        <p:strVal val="visible"/>
                                      </p:to>
                                    </p:set>
                                    <p:animEffect filter="fade" transition="in">
                                      <p:cBhvr>
                                        <p:cTn dur="500"/>
                                        <p:tgtEl>
                                          <p:spTgt spid="39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96"/>
                                        </p:tgtEl>
                                      </p:cBhvr>
                                    </p:animEffect>
                                    <p:set>
                                      <p:cBhvr>
                                        <p:cTn dur="1" fill="hold">
                                          <p:stCondLst>
                                            <p:cond delay="500"/>
                                          </p:stCondLst>
                                        </p:cTn>
                                        <p:tgtEl>
                                          <p:spTgt spid="3996"/>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21"/>
                                        </p:tgtEl>
                                        <p:attrNameLst>
                                          <p:attrName>style.visibility</p:attrName>
                                        </p:attrNameLst>
                                      </p:cBhvr>
                                      <p:to>
                                        <p:strVal val="visible"/>
                                      </p:to>
                                    </p:set>
                                    <p:animEffect filter="fade" transition="in">
                                      <p:cBhvr>
                                        <p:cTn dur="500"/>
                                        <p:tgtEl>
                                          <p:spTgt spid="4021"/>
                                        </p:tgtEl>
                                      </p:cBhvr>
                                    </p:animEffect>
                                  </p:childTnLst>
                                </p:cTn>
                              </p:par>
                            </p:childTnLst>
                          </p:cTn>
                        </p:par>
                        <p:par>
                          <p:cTn fill="hold">
                            <p:stCondLst>
                              <p:cond delay="1000"/>
                            </p:stCondLst>
                            <p:childTnLst>
                              <p:par>
                                <p:cTn fill="hold" nodeType="afterEffect" presetClass="exit" presetID="1" presetSubtype="0">
                                  <p:stCondLst>
                                    <p:cond delay="0"/>
                                  </p:stCondLst>
                                  <p:childTnLst>
                                    <p:set>
                                      <p:cBhvr>
                                        <p:cTn dur="1" fill="hold">
                                          <p:stCondLst>
                                            <p:cond delay="1"/>
                                          </p:stCondLst>
                                        </p:cTn>
                                        <p:tgtEl>
                                          <p:spTgt spid="402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006"/>
                                        </p:tgtEl>
                                        <p:attrNameLst>
                                          <p:attrName>style.visibility</p:attrName>
                                        </p:attrNameLst>
                                      </p:cBhvr>
                                      <p:to>
                                        <p:strVal val="visible"/>
                                      </p:to>
                                    </p:set>
                                    <p:animEffect filter="fade" transition="in">
                                      <p:cBhvr>
                                        <p:cTn dur="500"/>
                                        <p:tgtEl>
                                          <p:spTgt spid="40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1"/>
                                        </p:tgtEl>
                                        <p:attrNameLst>
                                          <p:attrName>style.visibility</p:attrName>
                                        </p:attrNameLst>
                                      </p:cBhvr>
                                      <p:to>
                                        <p:strVal val="visible"/>
                                      </p:to>
                                    </p:set>
                                    <p:animEffect filter="fade" transition="in">
                                      <p:cBhvr>
                                        <p:cTn dur="500"/>
                                        <p:tgtEl>
                                          <p:spTgt spid="398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50"/>
                                        </p:tgtEl>
                                        <p:attrNameLst>
                                          <p:attrName>style.visibility</p:attrName>
                                        </p:attrNameLst>
                                      </p:cBhvr>
                                      <p:to>
                                        <p:strVal val="visible"/>
                                      </p:to>
                                    </p:set>
                                    <p:animEffect filter="fade" transition="in">
                                      <p:cBhvr>
                                        <p:cTn dur="500"/>
                                        <p:tgtEl>
                                          <p:spTgt spid="3950"/>
                                        </p:tgtEl>
                                      </p:cBhvr>
                                    </p:animEffect>
                                  </p:childTnLst>
                                </p:cTn>
                              </p:par>
                              <p:par>
                                <p:cTn fill="hold" nodeType="withEffect" presetClass="exit" presetID="10" presetSubtype="0">
                                  <p:stCondLst>
                                    <p:cond delay="0"/>
                                  </p:stCondLst>
                                  <p:childTnLst>
                                    <p:animEffect filter="fade" transition="out">
                                      <p:cBhvr>
                                        <p:cTn dur="500"/>
                                        <p:tgtEl>
                                          <p:spTgt spid="4006"/>
                                        </p:tgtEl>
                                      </p:cBhvr>
                                    </p:animEffect>
                                    <p:set>
                                      <p:cBhvr>
                                        <p:cTn dur="1" fill="hold">
                                          <p:stCondLst>
                                            <p:cond delay="500"/>
                                          </p:stCondLst>
                                        </p:cTn>
                                        <p:tgtEl>
                                          <p:spTgt spid="4006"/>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22"/>
                                        </p:tgtEl>
                                        <p:attrNameLst>
                                          <p:attrName>style.visibility</p:attrName>
                                        </p:attrNameLst>
                                      </p:cBhvr>
                                      <p:to>
                                        <p:strVal val="visible"/>
                                      </p:to>
                                    </p:set>
                                    <p:animEffect filter="fade" transition="in">
                                      <p:cBhvr>
                                        <p:cTn dur="500"/>
                                        <p:tgtEl>
                                          <p:spTgt spid="402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023"/>
                                        </p:tgtEl>
                                        <p:attrNameLst>
                                          <p:attrName>style.visibility</p:attrName>
                                        </p:attrNameLst>
                                      </p:cBhvr>
                                      <p:to>
                                        <p:strVal val="visible"/>
                                      </p:to>
                                    </p:set>
                                    <p:animEffect filter="fade" transition="in">
                                      <p:cBhvr>
                                        <p:cTn dur="500"/>
                                        <p:tgtEl>
                                          <p:spTgt spid="40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24"/>
                                        </p:tgtEl>
                                        <p:attrNameLst>
                                          <p:attrName>style.visibility</p:attrName>
                                        </p:attrNameLst>
                                      </p:cBhvr>
                                      <p:to>
                                        <p:strVal val="visible"/>
                                      </p:to>
                                    </p:set>
                                    <p:animEffect filter="fade" transition="in">
                                      <p:cBhvr>
                                        <p:cTn dur="500"/>
                                        <p:tgtEl>
                                          <p:spTgt spid="40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9" name="Shape 4029"/>
        <p:cNvGrpSpPr/>
        <p:nvPr/>
      </p:nvGrpSpPr>
      <p:grpSpPr>
        <a:xfrm>
          <a:off x="0" y="0"/>
          <a:ext cx="0" cy="0"/>
          <a:chOff x="0" y="0"/>
          <a:chExt cx="0" cy="0"/>
        </a:xfrm>
      </p:grpSpPr>
      <p:sp>
        <p:nvSpPr>
          <p:cNvPr id="4030" name="Google Shape;4030;p29"/>
          <p:cNvSpPr/>
          <p:nvPr/>
        </p:nvSpPr>
        <p:spPr>
          <a:xfrm>
            <a:off x="8197855" y="4478480"/>
            <a:ext cx="454072" cy="992421"/>
          </a:xfrm>
          <a:custGeom>
            <a:rect b="b" l="l" r="r" t="t"/>
            <a:pathLst>
              <a:path extrusionOk="0" h="9750" w="9587">
                <a:moveTo>
                  <a:pt x="9553" y="7744"/>
                </a:moveTo>
                <a:lnTo>
                  <a:pt x="302" y="0"/>
                </a:lnTo>
                <a:cubicBezTo>
                  <a:pt x="201" y="3191"/>
                  <a:pt x="101" y="6382"/>
                  <a:pt x="0" y="9573"/>
                </a:cubicBezTo>
                <a:lnTo>
                  <a:pt x="9464" y="9750"/>
                </a:lnTo>
                <a:cubicBezTo>
                  <a:pt x="9314" y="8998"/>
                  <a:pt x="9702" y="8496"/>
                  <a:pt x="9553" y="7744"/>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031" name="Google Shape;4031;p29"/>
          <p:cNvGrpSpPr/>
          <p:nvPr/>
        </p:nvGrpSpPr>
        <p:grpSpPr>
          <a:xfrm>
            <a:off x="8637066" y="5115960"/>
            <a:ext cx="958850" cy="476251"/>
            <a:chOff x="7493876" y="2774731"/>
            <a:chExt cx="1481958" cy="894622"/>
          </a:xfrm>
        </p:grpSpPr>
        <p:sp>
          <p:nvSpPr>
            <p:cNvPr id="4032" name="Google Shape;4032;p2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033" name="Google Shape;4033;p2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034" name="Google Shape;4034;p29"/>
            <p:cNvGrpSpPr/>
            <p:nvPr/>
          </p:nvGrpSpPr>
          <p:grpSpPr>
            <a:xfrm>
              <a:off x="7713663" y="2848339"/>
              <a:ext cx="1042107" cy="425543"/>
              <a:chOff x="7786941" y="2884917"/>
              <a:chExt cx="897649" cy="353919"/>
            </a:xfrm>
          </p:grpSpPr>
          <p:sp>
            <p:nvSpPr>
              <p:cNvPr id="4035" name="Google Shape;4035;p2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36" name="Google Shape;4036;p2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37" name="Google Shape;4037;p2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38" name="Google Shape;4038;p2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039" name="Google Shape;4039;p29"/>
          <p:cNvSpPr/>
          <p:nvPr/>
        </p:nvSpPr>
        <p:spPr>
          <a:xfrm>
            <a:off x="6916745" y="4489446"/>
            <a:ext cx="1273175" cy="946150"/>
          </a:xfrm>
          <a:prstGeom prst="rect">
            <a:avLst/>
          </a:prstGeom>
          <a:solidFill>
            <a:schemeClr val="lt1"/>
          </a:solidFill>
          <a:ln cap="flat" cmpd="sng" w="28575">
            <a:solidFill>
              <a:schemeClr val="dk1"/>
            </a:solidFill>
            <a:prstDash val="solid"/>
            <a:miter lim="800000"/>
            <a:headEnd len="sm" w="sm" type="none"/>
            <a:tailEnd len="sm" w="sm" type="none"/>
          </a:ln>
          <a:effectLst>
            <a:outerShdw blurRad="127000" sx="103000" rotWithShape="0" algn="bl" dir="18900000" dist="38100" sy="103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40" name="Google Shape;4040;p29"/>
          <p:cNvSpPr txBox="1"/>
          <p:nvPr/>
        </p:nvSpPr>
        <p:spPr>
          <a:xfrm>
            <a:off x="6873882" y="4456108"/>
            <a:ext cx="1317625" cy="99695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network</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a:p>
        </p:txBody>
      </p:sp>
      <p:sp>
        <p:nvSpPr>
          <p:cNvPr id="4041" name="Google Shape;4041;p29"/>
          <p:cNvSpPr/>
          <p:nvPr/>
        </p:nvSpPr>
        <p:spPr>
          <a:xfrm>
            <a:off x="2886137" y="4865756"/>
            <a:ext cx="1273175" cy="1536700"/>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42" name="Google Shape;4042;p29"/>
          <p:cNvSpPr txBox="1"/>
          <p:nvPr/>
        </p:nvSpPr>
        <p:spPr>
          <a:xfrm>
            <a:off x="2832765" y="4821907"/>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transport</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network</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a:p>
        </p:txBody>
      </p:sp>
      <p:cxnSp>
        <p:nvCxnSpPr>
          <p:cNvPr id="4043" name="Google Shape;4043;p29"/>
          <p:cNvCxnSpPr/>
          <p:nvPr/>
        </p:nvCxnSpPr>
        <p:spPr>
          <a:xfrm>
            <a:off x="2886136" y="5183257"/>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4044" name="Google Shape;4044;p29"/>
          <p:cNvCxnSpPr/>
          <p:nvPr/>
        </p:nvCxnSpPr>
        <p:spPr>
          <a:xfrm>
            <a:off x="2894074" y="5503932"/>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4045" name="Google Shape;4045;p29"/>
          <p:cNvCxnSpPr/>
          <p:nvPr/>
        </p:nvCxnSpPr>
        <p:spPr>
          <a:xfrm>
            <a:off x="2898836" y="5784919"/>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4046" name="Google Shape;4046;p29"/>
          <p:cNvCxnSpPr/>
          <p:nvPr/>
        </p:nvCxnSpPr>
        <p:spPr>
          <a:xfrm>
            <a:off x="2898836" y="6061144"/>
            <a:ext cx="1263650" cy="3175"/>
          </a:xfrm>
          <a:prstGeom prst="straightConnector1">
            <a:avLst/>
          </a:prstGeom>
          <a:noFill/>
          <a:ln cap="flat" cmpd="sng" w="28575">
            <a:solidFill>
              <a:schemeClr val="dk1"/>
            </a:solidFill>
            <a:prstDash val="solid"/>
            <a:round/>
            <a:headEnd len="med" w="med" type="none"/>
            <a:tailEnd len="med" w="med" type="none"/>
          </a:ln>
        </p:spPr>
      </p:cxnSp>
      <p:sp>
        <p:nvSpPr>
          <p:cNvPr id="4047" name="Google Shape;4047;p29"/>
          <p:cNvSpPr/>
          <p:nvPr/>
        </p:nvSpPr>
        <p:spPr>
          <a:xfrm>
            <a:off x="3816357" y="985833"/>
            <a:ext cx="1273175" cy="1536700"/>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48" name="Google Shape;4048;p29"/>
          <p:cNvSpPr txBox="1"/>
          <p:nvPr/>
        </p:nvSpPr>
        <p:spPr>
          <a:xfrm>
            <a:off x="3762985" y="941984"/>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transport</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network</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a:p>
        </p:txBody>
      </p:sp>
      <p:sp>
        <p:nvSpPr>
          <p:cNvPr id="4049" name="Google Shape;4049;p29"/>
          <p:cNvSpPr/>
          <p:nvPr/>
        </p:nvSpPr>
        <p:spPr>
          <a:xfrm>
            <a:off x="8317497" y="2564096"/>
            <a:ext cx="638175" cy="781777"/>
          </a:xfrm>
          <a:custGeom>
            <a:rect b="b" l="l" r="r" t="t"/>
            <a:pathLst>
              <a:path extrusionOk="0" h="537" w="402">
                <a:moveTo>
                  <a:pt x="402" y="363"/>
                </a:moveTo>
                <a:lnTo>
                  <a:pt x="28" y="0"/>
                </a:lnTo>
                <a:lnTo>
                  <a:pt x="0" y="470"/>
                </a:lnTo>
                <a:lnTo>
                  <a:pt x="242" y="537"/>
                </a:lnTo>
                <a:lnTo>
                  <a:pt x="402" y="363"/>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050" name="Google Shape;4050;p29"/>
          <p:cNvGrpSpPr/>
          <p:nvPr/>
        </p:nvGrpSpPr>
        <p:grpSpPr>
          <a:xfrm>
            <a:off x="8737109" y="2942202"/>
            <a:ext cx="959348" cy="478062"/>
            <a:chOff x="3668110" y="2448910"/>
            <a:chExt cx="3794234" cy="2165130"/>
          </a:xfrm>
        </p:grpSpPr>
        <p:sp>
          <p:nvSpPr>
            <p:cNvPr id="4051" name="Google Shape;4051;p2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t/>
              </a:r>
              <a:endParaRPr b="0" i="0" sz="1600" u="none" cap="none" strike="noStrike">
                <a:solidFill>
                  <a:srgbClr val="FFFFFF"/>
                </a:solidFill>
                <a:latin typeface="Calibri"/>
                <a:ea typeface="Calibri"/>
                <a:cs typeface="Calibri"/>
                <a:sym typeface="Calibri"/>
              </a:endParaRPr>
            </a:p>
          </p:txBody>
        </p:sp>
        <p:sp>
          <p:nvSpPr>
            <p:cNvPr id="4052" name="Google Shape;4052;p2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t/>
              </a:r>
              <a:endParaRPr b="0" i="0" sz="1600" u="none" cap="none" strike="noStrike">
                <a:solidFill>
                  <a:srgbClr val="FFFFFF"/>
                </a:solidFill>
                <a:latin typeface="Calibri"/>
                <a:ea typeface="Calibri"/>
                <a:cs typeface="Calibri"/>
                <a:sym typeface="Calibri"/>
              </a:endParaRPr>
            </a:p>
          </p:txBody>
        </p:sp>
        <p:grpSp>
          <p:nvGrpSpPr>
            <p:cNvPr id="4053" name="Google Shape;4053;p29"/>
            <p:cNvGrpSpPr/>
            <p:nvPr/>
          </p:nvGrpSpPr>
          <p:grpSpPr>
            <a:xfrm>
              <a:off x="3941378" y="2603243"/>
              <a:ext cx="3202061" cy="1066110"/>
              <a:chOff x="7939341" y="3037317"/>
              <a:chExt cx="897649" cy="353919"/>
            </a:xfrm>
          </p:grpSpPr>
          <p:sp>
            <p:nvSpPr>
              <p:cNvPr id="4054" name="Google Shape;4054;p2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t/>
                </a:r>
                <a:endParaRPr b="0" i="0" sz="1600" u="none" cap="none" strike="noStrike">
                  <a:solidFill>
                    <a:srgbClr val="FFFFFF"/>
                  </a:solidFill>
                  <a:latin typeface="Calibri"/>
                  <a:ea typeface="Calibri"/>
                  <a:cs typeface="Calibri"/>
                  <a:sym typeface="Calibri"/>
                </a:endParaRPr>
              </a:p>
            </p:txBody>
          </p:sp>
          <p:sp>
            <p:nvSpPr>
              <p:cNvPr id="4055" name="Google Shape;4055;p2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t/>
                </a:r>
                <a:endParaRPr b="0" i="0" sz="1600" u="none" cap="none" strike="noStrike">
                  <a:solidFill>
                    <a:srgbClr val="FFFFFF"/>
                  </a:solidFill>
                  <a:latin typeface="Calibri"/>
                  <a:ea typeface="Calibri"/>
                  <a:cs typeface="Calibri"/>
                  <a:sym typeface="Calibri"/>
                </a:endParaRPr>
              </a:p>
            </p:txBody>
          </p:sp>
          <p:sp>
            <p:nvSpPr>
              <p:cNvPr id="4056" name="Google Shape;4056;p2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t/>
                </a:r>
                <a:endParaRPr b="0" i="0" sz="1600" u="none" cap="none" strike="noStrike">
                  <a:solidFill>
                    <a:srgbClr val="FFFFFF"/>
                  </a:solidFill>
                  <a:latin typeface="Calibri"/>
                  <a:ea typeface="Calibri"/>
                  <a:cs typeface="Calibri"/>
                  <a:sym typeface="Calibri"/>
                </a:endParaRPr>
              </a:p>
            </p:txBody>
          </p:sp>
          <p:sp>
            <p:nvSpPr>
              <p:cNvPr id="4057" name="Google Shape;4057;p2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Arial"/>
                  <a:buNone/>
                </a:pPr>
                <a:r>
                  <a:t/>
                </a:r>
                <a:endParaRPr b="0" i="0" sz="1600" u="none" cap="none" strike="noStrike">
                  <a:solidFill>
                    <a:srgbClr val="FFFFFF"/>
                  </a:solidFill>
                  <a:latin typeface="Calibri"/>
                  <a:ea typeface="Calibri"/>
                  <a:cs typeface="Calibri"/>
                  <a:sym typeface="Calibri"/>
                </a:endParaRPr>
              </a:p>
            </p:txBody>
          </p:sp>
        </p:grpSp>
      </p:grpSp>
      <p:sp>
        <p:nvSpPr>
          <p:cNvPr id="4058" name="Google Shape;4058;p29"/>
          <p:cNvSpPr txBox="1"/>
          <p:nvPr>
            <p:ph type="title"/>
          </p:nvPr>
        </p:nvSpPr>
        <p:spPr>
          <a:xfrm>
            <a:off x="6978813" y="264748"/>
            <a:ext cx="4683534" cy="16808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Encapsulation: an end-end view</a:t>
            </a:r>
            <a:endParaRPr sz="4400"/>
          </a:p>
        </p:txBody>
      </p:sp>
      <p:sp>
        <p:nvSpPr>
          <p:cNvPr id="4059" name="Google Shape;4059;p29"/>
          <p:cNvSpPr/>
          <p:nvPr/>
        </p:nvSpPr>
        <p:spPr>
          <a:xfrm>
            <a:off x="5037145" y="1701796"/>
            <a:ext cx="4048125" cy="3833813"/>
          </a:xfrm>
          <a:custGeom>
            <a:rect b="b" l="l" r="r" t="t"/>
            <a:pathLst>
              <a:path extrusionOk="0" h="2415" w="2550">
                <a:moveTo>
                  <a:pt x="592" y="0"/>
                </a:moveTo>
                <a:lnTo>
                  <a:pt x="2544" y="0"/>
                </a:lnTo>
                <a:lnTo>
                  <a:pt x="2550" y="2415"/>
                </a:lnTo>
                <a:lnTo>
                  <a:pt x="0" y="2415"/>
                </a:lnTo>
              </a:path>
            </a:pathLst>
          </a:custGeom>
          <a:noFill/>
          <a:ln cap="flat" cmpd="sng" w="9525">
            <a:solidFill>
              <a:schemeClr val="lt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60" name="Google Shape;4060;p29"/>
          <p:cNvSpPr txBox="1"/>
          <p:nvPr/>
        </p:nvSpPr>
        <p:spPr>
          <a:xfrm>
            <a:off x="3935420" y="477833"/>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a:p>
        </p:txBody>
      </p:sp>
      <p:sp>
        <p:nvSpPr>
          <p:cNvPr id="4061" name="Google Shape;4061;p29"/>
          <p:cNvSpPr/>
          <p:nvPr/>
        </p:nvSpPr>
        <p:spPr>
          <a:xfrm>
            <a:off x="5087944" y="959945"/>
            <a:ext cx="360362" cy="1596219"/>
          </a:xfrm>
          <a:custGeom>
            <a:rect b="b" l="l" r="r" t="t"/>
            <a:pathLst>
              <a:path extrusionOk="0" h="1186" w="267">
                <a:moveTo>
                  <a:pt x="254" y="466"/>
                </a:moveTo>
                <a:lnTo>
                  <a:pt x="0" y="0"/>
                </a:lnTo>
                <a:lnTo>
                  <a:pt x="0" y="1186"/>
                </a:lnTo>
                <a:lnTo>
                  <a:pt x="267" y="652"/>
                </a:lnTo>
                <a:lnTo>
                  <a:pt x="254" y="466"/>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cxnSp>
        <p:nvCxnSpPr>
          <p:cNvPr id="4062" name="Google Shape;4062;p29"/>
          <p:cNvCxnSpPr/>
          <p:nvPr/>
        </p:nvCxnSpPr>
        <p:spPr>
          <a:xfrm>
            <a:off x="3816356" y="1303334"/>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4063" name="Google Shape;4063;p29"/>
          <p:cNvCxnSpPr/>
          <p:nvPr/>
        </p:nvCxnSpPr>
        <p:spPr>
          <a:xfrm>
            <a:off x="3824294" y="1624009"/>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4064" name="Google Shape;4064;p29"/>
          <p:cNvCxnSpPr/>
          <p:nvPr/>
        </p:nvCxnSpPr>
        <p:spPr>
          <a:xfrm>
            <a:off x="3829056" y="1904996"/>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4065" name="Google Shape;4065;p29"/>
          <p:cNvCxnSpPr/>
          <p:nvPr/>
        </p:nvCxnSpPr>
        <p:spPr>
          <a:xfrm>
            <a:off x="3829056" y="2181221"/>
            <a:ext cx="1263650" cy="3175"/>
          </a:xfrm>
          <a:prstGeom prst="straightConnector1">
            <a:avLst/>
          </a:prstGeom>
          <a:noFill/>
          <a:ln cap="flat" cmpd="sng" w="28575">
            <a:solidFill>
              <a:schemeClr val="dk1"/>
            </a:solidFill>
            <a:prstDash val="solid"/>
            <a:round/>
            <a:headEnd len="med" w="med" type="none"/>
            <a:tailEnd len="med" w="med" type="none"/>
          </a:ln>
        </p:spPr>
      </p:cxnSp>
      <p:grpSp>
        <p:nvGrpSpPr>
          <p:cNvPr id="4066" name="Google Shape;4066;p29"/>
          <p:cNvGrpSpPr/>
          <p:nvPr/>
        </p:nvGrpSpPr>
        <p:grpSpPr>
          <a:xfrm>
            <a:off x="2438406" y="1622421"/>
            <a:ext cx="1208088" cy="303213"/>
            <a:chOff x="501" y="1990"/>
            <a:chExt cx="761" cy="191"/>
          </a:xfrm>
        </p:grpSpPr>
        <p:sp>
          <p:nvSpPr>
            <p:cNvPr id="4067" name="Google Shape;4067;p29"/>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68" name="Google Shape;4068;p29"/>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069" name="Google Shape;4069;p29"/>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sp>
          <p:nvSpPr>
            <p:cNvPr id="4070" name="Google Shape;4070;p29"/>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071" name="Google Shape;4071;p29"/>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4072" name="Google Shape;4072;p29"/>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sp>
        <p:nvSpPr>
          <p:cNvPr id="4073" name="Google Shape;4073;p29"/>
          <p:cNvSpPr txBox="1"/>
          <p:nvPr/>
        </p:nvSpPr>
        <p:spPr>
          <a:xfrm>
            <a:off x="1614494" y="1250945"/>
            <a:ext cx="96361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segment</a:t>
            </a:r>
            <a:endParaRPr/>
          </a:p>
        </p:txBody>
      </p:sp>
      <p:grpSp>
        <p:nvGrpSpPr>
          <p:cNvPr id="4074" name="Google Shape;4074;p29"/>
          <p:cNvGrpSpPr/>
          <p:nvPr/>
        </p:nvGrpSpPr>
        <p:grpSpPr>
          <a:xfrm>
            <a:off x="2755907" y="1290633"/>
            <a:ext cx="301625" cy="292100"/>
            <a:chOff x="1962" y="2058"/>
            <a:chExt cx="190" cy="184"/>
          </a:xfrm>
        </p:grpSpPr>
        <p:sp>
          <p:nvSpPr>
            <p:cNvPr id="4075" name="Google Shape;4075;p29"/>
            <p:cNvSpPr/>
            <p:nvPr/>
          </p:nvSpPr>
          <p:spPr>
            <a:xfrm>
              <a:off x="1962"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76" name="Google Shape;4076;p29"/>
            <p:cNvSpPr/>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sp>
        <p:nvSpPr>
          <p:cNvPr id="4077" name="Google Shape;4077;p29"/>
          <p:cNvSpPr txBox="1"/>
          <p:nvPr/>
        </p:nvSpPr>
        <p:spPr>
          <a:xfrm>
            <a:off x="1414470" y="1590670"/>
            <a:ext cx="10429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datagram</a:t>
            </a:r>
            <a:endParaRPr/>
          </a:p>
        </p:txBody>
      </p:sp>
      <p:sp>
        <p:nvSpPr>
          <p:cNvPr id="4078" name="Google Shape;4078;p29"/>
          <p:cNvSpPr txBox="1"/>
          <p:nvPr/>
        </p:nvSpPr>
        <p:spPr>
          <a:xfrm>
            <a:off x="2767020" y="4411659"/>
            <a:ext cx="14128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Noto Sans Symbols"/>
              <a:buNone/>
            </a:pPr>
            <a:r>
              <a:rPr b="0" i="1" lang="en-US" sz="2000" u="none" cap="none" strike="noStrike">
                <a:solidFill>
                  <a:srgbClr val="000099"/>
                </a:solidFill>
                <a:latin typeface="Arial"/>
                <a:ea typeface="Arial"/>
                <a:cs typeface="Arial"/>
                <a:sym typeface="Arial"/>
              </a:rPr>
              <a:t>destination</a:t>
            </a:r>
            <a:endParaRPr/>
          </a:p>
        </p:txBody>
      </p:sp>
      <p:grpSp>
        <p:nvGrpSpPr>
          <p:cNvPr id="4079" name="Google Shape;4079;p29"/>
          <p:cNvGrpSpPr/>
          <p:nvPr/>
        </p:nvGrpSpPr>
        <p:grpSpPr>
          <a:xfrm>
            <a:off x="1371606" y="5781671"/>
            <a:ext cx="1479550" cy="303213"/>
            <a:chOff x="332" y="2224"/>
            <a:chExt cx="932" cy="191"/>
          </a:xfrm>
        </p:grpSpPr>
        <p:sp>
          <p:nvSpPr>
            <p:cNvPr id="4080" name="Google Shape;4080;p29"/>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81" name="Google Shape;4081;p29"/>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082" name="Google Shape;4082;p29"/>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sp>
          <p:nvSpPr>
            <p:cNvPr id="4083" name="Google Shape;4083;p29"/>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sp>
          <p:nvSpPr>
            <p:cNvPr id="4084" name="Google Shape;4084;p29"/>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085" name="Google Shape;4085;p29"/>
            <p:cNvCxnSpPr/>
            <p:nvPr/>
          </p:nvCxnSpPr>
          <p:spPr>
            <a:xfrm>
              <a:off x="510" y="2241"/>
              <a:ext cx="0" cy="162"/>
            </a:xfrm>
            <a:prstGeom prst="straightConnector1">
              <a:avLst/>
            </a:prstGeom>
            <a:noFill/>
            <a:ln cap="flat" cmpd="sng" w="9525">
              <a:solidFill>
                <a:schemeClr val="dk1"/>
              </a:solidFill>
              <a:prstDash val="solid"/>
              <a:round/>
              <a:headEnd len="med" w="med" type="none"/>
              <a:tailEnd len="med" w="med" type="none"/>
            </a:ln>
          </p:spPr>
        </p:cxnSp>
        <p:cxnSp>
          <p:nvCxnSpPr>
            <p:cNvPr id="4086" name="Google Shape;4086;p29"/>
            <p:cNvCxnSpPr/>
            <p:nvPr/>
          </p:nvCxnSpPr>
          <p:spPr>
            <a:xfrm>
              <a:off x="690" y="2247"/>
              <a:ext cx="0" cy="154"/>
            </a:xfrm>
            <a:prstGeom prst="straightConnector1">
              <a:avLst/>
            </a:prstGeom>
            <a:noFill/>
            <a:ln cap="flat" cmpd="sng" w="9525">
              <a:solidFill>
                <a:schemeClr val="dk1"/>
              </a:solidFill>
              <a:prstDash val="solid"/>
              <a:round/>
              <a:headEnd len="med" w="med" type="none"/>
              <a:tailEnd len="med" w="med" type="none"/>
            </a:ln>
          </p:spPr>
        </p:cxnSp>
        <p:cxnSp>
          <p:nvCxnSpPr>
            <p:cNvPr id="4087" name="Google Shape;4087;p29"/>
            <p:cNvCxnSpPr/>
            <p:nvPr/>
          </p:nvCxnSpPr>
          <p:spPr>
            <a:xfrm>
              <a:off x="882" y="2244"/>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4088" name="Google Shape;4088;p29"/>
          <p:cNvGrpSpPr/>
          <p:nvPr/>
        </p:nvGrpSpPr>
        <p:grpSpPr>
          <a:xfrm>
            <a:off x="1639895" y="5483221"/>
            <a:ext cx="1208087" cy="303213"/>
            <a:chOff x="501" y="1990"/>
            <a:chExt cx="761" cy="191"/>
          </a:xfrm>
        </p:grpSpPr>
        <p:sp>
          <p:nvSpPr>
            <p:cNvPr id="4089" name="Google Shape;4089;p29"/>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90" name="Google Shape;4090;p29"/>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091" name="Google Shape;4091;p29"/>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sp>
          <p:nvSpPr>
            <p:cNvPr id="4092" name="Google Shape;4092;p29"/>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093" name="Google Shape;4093;p29"/>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4094" name="Google Shape;4094;p29"/>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4095" name="Google Shape;4095;p29"/>
          <p:cNvGrpSpPr/>
          <p:nvPr/>
        </p:nvGrpSpPr>
        <p:grpSpPr>
          <a:xfrm>
            <a:off x="1943106" y="5175246"/>
            <a:ext cx="890588" cy="303213"/>
            <a:chOff x="645" y="1734"/>
            <a:chExt cx="561" cy="191"/>
          </a:xfrm>
        </p:grpSpPr>
        <p:sp>
          <p:nvSpPr>
            <p:cNvPr id="4096" name="Google Shape;4096;p29"/>
            <p:cNvSpPr/>
            <p:nvPr/>
          </p:nvSpPr>
          <p:spPr>
            <a:xfrm>
              <a:off x="645" y="1751"/>
              <a:ext cx="4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97" name="Google Shape;4097;p29"/>
            <p:cNvSpPr/>
            <p:nvPr/>
          </p:nvSpPr>
          <p:spPr>
            <a:xfrm>
              <a:off x="648" y="173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098" name="Google Shape;4098;p29"/>
            <p:cNvSpPr/>
            <p:nvPr/>
          </p:nvSpPr>
          <p:spPr>
            <a:xfrm>
              <a:off x="778" y="173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099" name="Google Shape;4099;p29"/>
            <p:cNvCxnSpPr/>
            <p:nvPr/>
          </p:nvCxnSpPr>
          <p:spPr>
            <a:xfrm>
              <a:off x="824" y="1754"/>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4100" name="Google Shape;4100;p29"/>
          <p:cNvGrpSpPr/>
          <p:nvPr/>
        </p:nvGrpSpPr>
        <p:grpSpPr>
          <a:xfrm>
            <a:off x="2149481" y="4864096"/>
            <a:ext cx="679450" cy="301625"/>
            <a:chOff x="780" y="1553"/>
            <a:chExt cx="428" cy="190"/>
          </a:xfrm>
        </p:grpSpPr>
        <p:sp>
          <p:nvSpPr>
            <p:cNvPr id="4101" name="Google Shape;4101;p29"/>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02" name="Google Shape;4102;p29"/>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cxnSp>
        <p:nvCxnSpPr>
          <p:cNvPr id="4103" name="Google Shape;4103;p29"/>
          <p:cNvCxnSpPr/>
          <p:nvPr/>
        </p:nvCxnSpPr>
        <p:spPr>
          <a:xfrm>
            <a:off x="6916745" y="4806946"/>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4104" name="Google Shape;4104;p29"/>
          <p:cNvCxnSpPr/>
          <p:nvPr/>
        </p:nvCxnSpPr>
        <p:spPr>
          <a:xfrm>
            <a:off x="6924682" y="5127621"/>
            <a:ext cx="1263650" cy="3175"/>
          </a:xfrm>
          <a:prstGeom prst="straightConnector1">
            <a:avLst/>
          </a:prstGeom>
          <a:noFill/>
          <a:ln cap="flat" cmpd="sng" w="28575">
            <a:solidFill>
              <a:schemeClr val="dk1"/>
            </a:solidFill>
            <a:prstDash val="solid"/>
            <a:round/>
            <a:headEnd len="med" w="med" type="none"/>
            <a:tailEnd len="med" w="med" type="none"/>
          </a:ln>
        </p:spPr>
      </p:cxnSp>
      <p:sp>
        <p:nvSpPr>
          <p:cNvPr id="4105" name="Google Shape;4105;p29"/>
          <p:cNvSpPr/>
          <p:nvPr/>
        </p:nvSpPr>
        <p:spPr>
          <a:xfrm>
            <a:off x="7083433" y="2597147"/>
            <a:ext cx="1273175" cy="655638"/>
          </a:xfrm>
          <a:prstGeom prst="rect">
            <a:avLst/>
          </a:prstGeom>
          <a:solidFill>
            <a:schemeClr val="lt1"/>
          </a:solidFill>
          <a:ln cap="flat" cmpd="sng" w="28575">
            <a:solidFill>
              <a:schemeClr val="dk1"/>
            </a:solidFill>
            <a:prstDash val="solid"/>
            <a:miter lim="800000"/>
            <a:headEnd len="sm" w="sm" type="none"/>
            <a:tailEnd len="sm" w="sm" type="none"/>
          </a:ln>
          <a:effectLst>
            <a:outerShdw blurRad="50800" sx="102000" rotWithShape="0" algn="bl" dir="18900000" dist="38100" sy="102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cxnSp>
        <p:nvCxnSpPr>
          <p:cNvPr id="4106" name="Google Shape;4106;p29"/>
          <p:cNvCxnSpPr/>
          <p:nvPr/>
        </p:nvCxnSpPr>
        <p:spPr>
          <a:xfrm>
            <a:off x="7083433" y="2914647"/>
            <a:ext cx="1263650" cy="3175"/>
          </a:xfrm>
          <a:prstGeom prst="straightConnector1">
            <a:avLst/>
          </a:prstGeom>
          <a:noFill/>
          <a:ln cap="flat" cmpd="sng" w="28575">
            <a:solidFill>
              <a:schemeClr val="dk1"/>
            </a:solidFill>
            <a:prstDash val="solid"/>
            <a:round/>
            <a:headEnd len="med" w="med" type="none"/>
            <a:tailEnd len="med" w="med" type="none"/>
          </a:ln>
        </p:spPr>
      </p:cxnSp>
      <p:sp>
        <p:nvSpPr>
          <p:cNvPr id="4107" name="Google Shape;4107;p29"/>
          <p:cNvSpPr/>
          <p:nvPr/>
        </p:nvSpPr>
        <p:spPr>
          <a:xfrm>
            <a:off x="3048006" y="787395"/>
            <a:ext cx="5264150" cy="5494338"/>
          </a:xfrm>
          <a:custGeom>
            <a:rect b="b" l="l" r="r" t="t"/>
            <a:pathLst>
              <a:path extrusionOk="0" h="3461" w="3316">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cap="flat" cmpd="sng" w="28575">
            <a:solidFill>
              <a:srgbClr val="CC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108" name="Google Shape;4108;p29"/>
          <p:cNvGrpSpPr/>
          <p:nvPr/>
        </p:nvGrpSpPr>
        <p:grpSpPr>
          <a:xfrm>
            <a:off x="5457831" y="4800596"/>
            <a:ext cx="1479550" cy="303213"/>
            <a:chOff x="332" y="2224"/>
            <a:chExt cx="932" cy="191"/>
          </a:xfrm>
        </p:grpSpPr>
        <p:sp>
          <p:nvSpPr>
            <p:cNvPr id="4109" name="Google Shape;4109;p29"/>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10" name="Google Shape;4110;p29"/>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111" name="Google Shape;4111;p29"/>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sp>
          <p:nvSpPr>
            <p:cNvPr id="4112" name="Google Shape;4112;p29"/>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sp>
          <p:nvSpPr>
            <p:cNvPr id="4113" name="Google Shape;4113;p29"/>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114" name="Google Shape;4114;p29"/>
            <p:cNvCxnSpPr/>
            <p:nvPr/>
          </p:nvCxnSpPr>
          <p:spPr>
            <a:xfrm>
              <a:off x="510" y="2241"/>
              <a:ext cx="0" cy="162"/>
            </a:xfrm>
            <a:prstGeom prst="straightConnector1">
              <a:avLst/>
            </a:prstGeom>
            <a:noFill/>
            <a:ln cap="flat" cmpd="sng" w="9525">
              <a:solidFill>
                <a:schemeClr val="dk1"/>
              </a:solidFill>
              <a:prstDash val="solid"/>
              <a:round/>
              <a:headEnd len="med" w="med" type="none"/>
              <a:tailEnd len="med" w="med" type="none"/>
            </a:ln>
          </p:spPr>
        </p:cxnSp>
        <p:cxnSp>
          <p:nvCxnSpPr>
            <p:cNvPr id="4115" name="Google Shape;4115;p29"/>
            <p:cNvCxnSpPr/>
            <p:nvPr/>
          </p:nvCxnSpPr>
          <p:spPr>
            <a:xfrm>
              <a:off x="690" y="2247"/>
              <a:ext cx="0" cy="154"/>
            </a:xfrm>
            <a:prstGeom prst="straightConnector1">
              <a:avLst/>
            </a:prstGeom>
            <a:noFill/>
            <a:ln cap="flat" cmpd="sng" w="9525">
              <a:solidFill>
                <a:schemeClr val="dk1"/>
              </a:solidFill>
              <a:prstDash val="solid"/>
              <a:round/>
              <a:headEnd len="med" w="med" type="none"/>
              <a:tailEnd len="med" w="med" type="none"/>
            </a:ln>
          </p:spPr>
        </p:cxnSp>
        <p:cxnSp>
          <p:nvCxnSpPr>
            <p:cNvPr id="4116" name="Google Shape;4116;p29"/>
            <p:cNvCxnSpPr/>
            <p:nvPr/>
          </p:nvCxnSpPr>
          <p:spPr>
            <a:xfrm>
              <a:off x="882" y="2244"/>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4117" name="Google Shape;4117;p29"/>
          <p:cNvGrpSpPr/>
          <p:nvPr/>
        </p:nvGrpSpPr>
        <p:grpSpPr>
          <a:xfrm>
            <a:off x="5716595" y="4494208"/>
            <a:ext cx="1208087" cy="303212"/>
            <a:chOff x="501" y="1990"/>
            <a:chExt cx="761" cy="191"/>
          </a:xfrm>
        </p:grpSpPr>
        <p:sp>
          <p:nvSpPr>
            <p:cNvPr id="4118" name="Google Shape;4118;p29"/>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19" name="Google Shape;4119;p29"/>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120" name="Google Shape;4120;p29"/>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sp>
          <p:nvSpPr>
            <p:cNvPr id="4121" name="Google Shape;4121;p29"/>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122" name="Google Shape;4122;p29"/>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4123" name="Google Shape;4123;p29"/>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4124" name="Google Shape;4124;p29"/>
          <p:cNvGrpSpPr/>
          <p:nvPr/>
        </p:nvGrpSpPr>
        <p:grpSpPr>
          <a:xfrm>
            <a:off x="8488370" y="4860921"/>
            <a:ext cx="1208087" cy="303213"/>
            <a:chOff x="501" y="1990"/>
            <a:chExt cx="761" cy="191"/>
          </a:xfrm>
        </p:grpSpPr>
        <p:sp>
          <p:nvSpPr>
            <p:cNvPr id="4125" name="Google Shape;4125;p29"/>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26" name="Google Shape;4126;p29"/>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127" name="Google Shape;4127;p29"/>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sp>
          <p:nvSpPr>
            <p:cNvPr id="4128" name="Google Shape;4128;p29"/>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129" name="Google Shape;4129;p29"/>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4130" name="Google Shape;4130;p29"/>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4131" name="Google Shape;4131;p29"/>
          <p:cNvGrpSpPr/>
          <p:nvPr/>
        </p:nvGrpSpPr>
        <p:grpSpPr>
          <a:xfrm>
            <a:off x="2157419" y="1919283"/>
            <a:ext cx="1479550" cy="303212"/>
            <a:chOff x="332" y="2224"/>
            <a:chExt cx="932" cy="191"/>
          </a:xfrm>
        </p:grpSpPr>
        <p:sp>
          <p:nvSpPr>
            <p:cNvPr id="4132" name="Google Shape;4132;p29"/>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33" name="Google Shape;4133;p29"/>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134" name="Google Shape;4134;p29"/>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sp>
          <p:nvSpPr>
            <p:cNvPr id="4135" name="Google Shape;4135;p29"/>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sp>
          <p:nvSpPr>
            <p:cNvPr id="4136" name="Google Shape;4136;p29"/>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cxnSp>
          <p:nvCxnSpPr>
            <p:cNvPr id="4137" name="Google Shape;4137;p29"/>
            <p:cNvCxnSpPr/>
            <p:nvPr/>
          </p:nvCxnSpPr>
          <p:spPr>
            <a:xfrm>
              <a:off x="510" y="2241"/>
              <a:ext cx="0" cy="162"/>
            </a:xfrm>
            <a:prstGeom prst="straightConnector1">
              <a:avLst/>
            </a:prstGeom>
            <a:noFill/>
            <a:ln cap="flat" cmpd="sng" w="9525">
              <a:solidFill>
                <a:schemeClr val="dk1"/>
              </a:solidFill>
              <a:prstDash val="solid"/>
              <a:round/>
              <a:headEnd len="med" w="med" type="none"/>
              <a:tailEnd len="med" w="med" type="none"/>
            </a:ln>
          </p:spPr>
        </p:cxnSp>
        <p:cxnSp>
          <p:nvCxnSpPr>
            <p:cNvPr id="4138" name="Google Shape;4138;p29"/>
            <p:cNvCxnSpPr/>
            <p:nvPr/>
          </p:nvCxnSpPr>
          <p:spPr>
            <a:xfrm>
              <a:off x="690" y="2247"/>
              <a:ext cx="0" cy="154"/>
            </a:xfrm>
            <a:prstGeom prst="straightConnector1">
              <a:avLst/>
            </a:prstGeom>
            <a:noFill/>
            <a:ln cap="flat" cmpd="sng" w="9525">
              <a:solidFill>
                <a:schemeClr val="dk1"/>
              </a:solidFill>
              <a:prstDash val="solid"/>
              <a:round/>
              <a:headEnd len="med" w="med" type="none"/>
              <a:tailEnd len="med" w="med" type="none"/>
            </a:ln>
          </p:spPr>
        </p:cxnSp>
        <p:cxnSp>
          <p:nvCxnSpPr>
            <p:cNvPr id="4139" name="Google Shape;4139;p29"/>
            <p:cNvCxnSpPr/>
            <p:nvPr/>
          </p:nvCxnSpPr>
          <p:spPr>
            <a:xfrm>
              <a:off x="882" y="2244"/>
              <a:ext cx="0" cy="156"/>
            </a:xfrm>
            <a:prstGeom prst="straightConnector1">
              <a:avLst/>
            </a:prstGeom>
            <a:noFill/>
            <a:ln cap="flat" cmpd="sng" w="9525">
              <a:solidFill>
                <a:schemeClr val="dk1"/>
              </a:solidFill>
              <a:prstDash val="solid"/>
              <a:round/>
              <a:headEnd len="med" w="med" type="none"/>
              <a:tailEnd len="med" w="med" type="none"/>
            </a:ln>
          </p:spPr>
        </p:cxnSp>
      </p:grpSp>
      <p:sp>
        <p:nvSpPr>
          <p:cNvPr id="4140" name="Google Shape;4140;p29"/>
          <p:cNvSpPr txBox="1"/>
          <p:nvPr/>
        </p:nvSpPr>
        <p:spPr>
          <a:xfrm>
            <a:off x="9140831" y="5665783"/>
            <a:ext cx="84144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Calibri"/>
                <a:ea typeface="Calibri"/>
                <a:cs typeface="Calibri"/>
                <a:sym typeface="Calibri"/>
              </a:rPr>
              <a:t>router</a:t>
            </a:r>
            <a:endParaRPr b="0" i="0" sz="1800" u="none" cap="none" strike="noStrike">
              <a:solidFill>
                <a:srgbClr val="000000"/>
              </a:solidFill>
              <a:latin typeface="Calibri"/>
              <a:ea typeface="Calibri"/>
              <a:cs typeface="Calibri"/>
              <a:sym typeface="Calibri"/>
            </a:endParaRPr>
          </a:p>
        </p:txBody>
      </p:sp>
      <p:sp>
        <p:nvSpPr>
          <p:cNvPr id="4141" name="Google Shape;4141;p29"/>
          <p:cNvSpPr txBox="1"/>
          <p:nvPr/>
        </p:nvSpPr>
        <p:spPr>
          <a:xfrm>
            <a:off x="9155119" y="3386662"/>
            <a:ext cx="86927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Noto Sans Symbols"/>
              <a:buNone/>
            </a:pPr>
            <a:r>
              <a:rPr b="0" i="0" lang="en-US" sz="2000" u="none" cap="none" strike="noStrike">
                <a:solidFill>
                  <a:srgbClr val="000000"/>
                </a:solidFill>
                <a:latin typeface="Calibri"/>
                <a:ea typeface="Calibri"/>
                <a:cs typeface="Calibri"/>
                <a:sym typeface="Calibri"/>
              </a:rPr>
              <a:t>switch</a:t>
            </a:r>
            <a:endParaRPr b="0" i="0" sz="1800" u="none" cap="none" strike="noStrike">
              <a:solidFill>
                <a:srgbClr val="000000"/>
              </a:solidFill>
              <a:latin typeface="Calibri"/>
              <a:ea typeface="Calibri"/>
              <a:cs typeface="Calibri"/>
              <a:sym typeface="Calibri"/>
            </a:endParaRPr>
          </a:p>
        </p:txBody>
      </p:sp>
      <p:sp>
        <p:nvSpPr>
          <p:cNvPr id="4142" name="Google Shape;4142;p29"/>
          <p:cNvSpPr txBox="1"/>
          <p:nvPr/>
        </p:nvSpPr>
        <p:spPr>
          <a:xfrm>
            <a:off x="1922469" y="946145"/>
            <a:ext cx="10080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message</a:t>
            </a:r>
            <a:endParaRPr/>
          </a:p>
        </p:txBody>
      </p:sp>
      <p:grpSp>
        <p:nvGrpSpPr>
          <p:cNvPr id="4143" name="Google Shape;4143;p29"/>
          <p:cNvGrpSpPr/>
          <p:nvPr/>
        </p:nvGrpSpPr>
        <p:grpSpPr>
          <a:xfrm>
            <a:off x="2982919" y="973134"/>
            <a:ext cx="679450" cy="301625"/>
            <a:chOff x="780" y="1553"/>
            <a:chExt cx="428" cy="190"/>
          </a:xfrm>
        </p:grpSpPr>
        <p:sp>
          <p:nvSpPr>
            <p:cNvPr id="4144" name="Google Shape;4144;p29"/>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45" name="Google Shape;4145;p29"/>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nvGrpSpPr>
          <p:cNvPr id="4146" name="Google Shape;4146;p29"/>
          <p:cNvGrpSpPr/>
          <p:nvPr/>
        </p:nvGrpSpPr>
        <p:grpSpPr>
          <a:xfrm>
            <a:off x="2746384" y="1290634"/>
            <a:ext cx="908050" cy="301625"/>
            <a:chOff x="1848" y="2046"/>
            <a:chExt cx="572" cy="190"/>
          </a:xfrm>
        </p:grpSpPr>
        <p:grpSp>
          <p:nvGrpSpPr>
            <p:cNvPr id="4147" name="Google Shape;4147;p29"/>
            <p:cNvGrpSpPr/>
            <p:nvPr/>
          </p:nvGrpSpPr>
          <p:grpSpPr>
            <a:xfrm>
              <a:off x="1848" y="2047"/>
              <a:ext cx="187" cy="184"/>
              <a:chOff x="1959" y="2058"/>
              <a:chExt cx="187" cy="184"/>
            </a:xfrm>
          </p:grpSpPr>
          <p:sp>
            <p:nvSpPr>
              <p:cNvPr id="4148" name="Google Shape;4148;p29"/>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49" name="Google Shape;4149;p29"/>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4150" name="Google Shape;4150;p29"/>
            <p:cNvGrpSpPr/>
            <p:nvPr/>
          </p:nvGrpSpPr>
          <p:grpSpPr>
            <a:xfrm>
              <a:off x="1992" y="2046"/>
              <a:ext cx="428" cy="190"/>
              <a:chOff x="780" y="1553"/>
              <a:chExt cx="428" cy="190"/>
            </a:xfrm>
          </p:grpSpPr>
          <p:sp>
            <p:nvSpPr>
              <p:cNvPr id="4151" name="Google Shape;4151;p29"/>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52" name="Google Shape;4152;p29"/>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grpSp>
        <p:nvGrpSpPr>
          <p:cNvPr id="4153" name="Google Shape;4153;p29"/>
          <p:cNvGrpSpPr/>
          <p:nvPr/>
        </p:nvGrpSpPr>
        <p:grpSpPr>
          <a:xfrm>
            <a:off x="2438407" y="1622425"/>
            <a:ext cx="323850" cy="295274"/>
            <a:chOff x="1948" y="2058"/>
            <a:chExt cx="204" cy="184"/>
          </a:xfrm>
        </p:grpSpPr>
        <p:sp>
          <p:nvSpPr>
            <p:cNvPr id="4154" name="Google Shape;4154;p29"/>
            <p:cNvSpPr/>
            <p:nvPr/>
          </p:nvSpPr>
          <p:spPr>
            <a:xfrm>
              <a:off x="1948" y="2075"/>
              <a:ext cx="191"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55" name="Google Shape;4155;p29"/>
            <p:cNvSpPr/>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grpSp>
      <p:sp>
        <p:nvSpPr>
          <p:cNvPr id="4156" name="Google Shape;4156;p29"/>
          <p:cNvSpPr txBox="1"/>
          <p:nvPr/>
        </p:nvSpPr>
        <p:spPr>
          <a:xfrm>
            <a:off x="1376369" y="1897058"/>
            <a:ext cx="704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b="0" i="0" lang="en-US" sz="1600" u="none" cap="none" strike="noStrike">
                <a:solidFill>
                  <a:srgbClr val="CC0000"/>
                </a:solidFill>
                <a:latin typeface="Arial"/>
                <a:ea typeface="Arial"/>
                <a:cs typeface="Arial"/>
                <a:sym typeface="Arial"/>
              </a:rPr>
              <a:t>frame</a:t>
            </a:r>
            <a:endParaRPr/>
          </a:p>
        </p:txBody>
      </p:sp>
      <p:grpSp>
        <p:nvGrpSpPr>
          <p:cNvPr id="4157" name="Google Shape;4157;p29"/>
          <p:cNvGrpSpPr/>
          <p:nvPr/>
        </p:nvGrpSpPr>
        <p:grpSpPr>
          <a:xfrm flipH="1">
            <a:off x="5359407" y="1341434"/>
            <a:ext cx="803275" cy="771525"/>
            <a:chOff x="-44" y="1473"/>
            <a:chExt cx="981" cy="1105"/>
          </a:xfrm>
        </p:grpSpPr>
        <p:pic>
          <p:nvPicPr>
            <p:cNvPr descr="desktop_computer_stylized_medium" id="4158" name="Google Shape;4158;p2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159" name="Google Shape;4159;p2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160" name="Google Shape;4160;p29"/>
          <p:cNvSpPr/>
          <p:nvPr/>
        </p:nvSpPr>
        <p:spPr>
          <a:xfrm>
            <a:off x="4178506" y="4871041"/>
            <a:ext cx="360362" cy="1522901"/>
          </a:xfrm>
          <a:custGeom>
            <a:rect b="b" l="l" r="r" t="t"/>
            <a:pathLst>
              <a:path extrusionOk="0" h="1186" w="267">
                <a:moveTo>
                  <a:pt x="254" y="466"/>
                </a:moveTo>
                <a:lnTo>
                  <a:pt x="0" y="0"/>
                </a:lnTo>
                <a:lnTo>
                  <a:pt x="0" y="1186"/>
                </a:lnTo>
                <a:lnTo>
                  <a:pt x="267" y="652"/>
                </a:lnTo>
                <a:lnTo>
                  <a:pt x="254" y="466"/>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161" name="Google Shape;4161;p29"/>
          <p:cNvGrpSpPr/>
          <p:nvPr/>
        </p:nvGrpSpPr>
        <p:grpSpPr>
          <a:xfrm flipH="1">
            <a:off x="4397382" y="5224459"/>
            <a:ext cx="803275" cy="771525"/>
            <a:chOff x="-44" y="1473"/>
            <a:chExt cx="981" cy="1105"/>
          </a:xfrm>
        </p:grpSpPr>
        <p:pic>
          <p:nvPicPr>
            <p:cNvPr descr="desktop_computer_stylized_medium" id="4162" name="Google Shape;4162;p2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163" name="Google Shape;4163;p2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164" name="Google Shape;4164;p29"/>
          <p:cNvSpPr txBox="1"/>
          <p:nvPr/>
        </p:nvSpPr>
        <p:spPr>
          <a:xfrm>
            <a:off x="7030180" y="2584590"/>
            <a:ext cx="1317625" cy="695325"/>
          </a:xfrm>
          <a:prstGeom prst="rect">
            <a:avLst/>
          </a:prstGeom>
          <a:noFill/>
          <a:ln>
            <a:noFill/>
          </a:ln>
          <a:effectLst>
            <a:outerShdw blurRad="114300" sx="123000" rotWithShape="0" algn="bl" dir="18900000" dist="38100" sy="123000">
              <a:srgbClr val="000000">
                <a:alpha val="40000"/>
              </a:srgbClr>
            </a:outerShdw>
          </a:effectLst>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link</a:t>
            </a:r>
            <a:endParaRPr/>
          </a:p>
          <a:p>
            <a:pPr indent="0" lvl="0" marL="0" marR="0" rtl="0" algn="ctr">
              <a:lnSpc>
                <a:spcPct val="11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Arial"/>
                <a:ea typeface="Arial"/>
                <a:cs typeface="Arial"/>
                <a:sym typeface="Arial"/>
              </a:rPr>
              <a:t>physical</a:t>
            </a:r>
            <a:endParaRPr/>
          </a:p>
        </p:txBody>
      </p:sp>
      <p:sp>
        <p:nvSpPr>
          <p:cNvPr id="4165" name="Google Shape;4165;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4142"/>
                                        </p:tgtEl>
                                      </p:cBhvr>
                                    </p:animEffect>
                                    <p:set>
                                      <p:cBhvr>
                                        <p:cTn dur="1" fill="hold">
                                          <p:stCondLst>
                                            <p:cond delay="2000"/>
                                          </p:stCondLst>
                                        </p:cTn>
                                        <p:tgtEl>
                                          <p:spTgt spid="41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14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07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073"/>
                                        </p:tgtEl>
                                      </p:cBhvr>
                                    </p:animEffect>
                                    <p:set>
                                      <p:cBhvr>
                                        <p:cTn dur="1" fill="hold">
                                          <p:stCondLst>
                                            <p:cond delay="500"/>
                                          </p:stCondLst>
                                        </p:cTn>
                                        <p:tgtEl>
                                          <p:spTgt spid="407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14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1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077"/>
                                        </p:tgtEl>
                                      </p:cBhvr>
                                    </p:animEffect>
                                    <p:set>
                                      <p:cBhvr>
                                        <p:cTn dur="1" fill="hold">
                                          <p:stCondLst>
                                            <p:cond delay="500"/>
                                          </p:stCondLst>
                                        </p:cTn>
                                        <p:tgtEl>
                                          <p:spTgt spid="407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0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156"/>
                                        </p:tgtEl>
                                      </p:cBhvr>
                                    </p:animEffect>
                                    <p:set>
                                      <p:cBhvr>
                                        <p:cTn dur="1" fill="hold">
                                          <p:stCondLst>
                                            <p:cond delay="500"/>
                                          </p:stCondLst>
                                        </p:cTn>
                                        <p:tgtEl>
                                          <p:spTgt spid="41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13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4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7"/>
                                        </p:tgtEl>
                                        <p:attrNameLst>
                                          <p:attrName>style.visibility</p:attrName>
                                        </p:attrNameLst>
                                      </p:cBhvr>
                                      <p:to>
                                        <p:strVal val="visible"/>
                                      </p:to>
                                    </p:set>
                                    <p:animEffect filter="fade" transition="in">
                                      <p:cBhvr>
                                        <p:cTn dur="500"/>
                                        <p:tgtEl>
                                          <p:spTgt spid="4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8"/>
                                        </p:tgtEl>
                                        <p:attrNameLst>
                                          <p:attrName>style.visibility</p:attrName>
                                        </p:attrNameLst>
                                      </p:cBhvr>
                                      <p:to>
                                        <p:strVal val="visible"/>
                                      </p:to>
                                    </p:set>
                                    <p:animEffect filter="fade" transition="in">
                                      <p:cBhvr>
                                        <p:cTn dur="500"/>
                                        <p:tgtEl>
                                          <p:spTgt spid="4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9"/>
                                        </p:tgtEl>
                                        <p:attrNameLst>
                                          <p:attrName>style.visibility</p:attrName>
                                        </p:attrNameLst>
                                      </p:cBhvr>
                                      <p:to>
                                        <p:strVal val="visible"/>
                                      </p:to>
                                    </p:set>
                                    <p:animEffect filter="fade" transition="in">
                                      <p:cBhvr>
                                        <p:cTn dur="500"/>
                                        <p:tgtEl>
                                          <p:spTgt spid="40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8"/>
                                        </p:tgtEl>
                                        <p:attrNameLst>
                                          <p:attrName>style.visibility</p:attrName>
                                        </p:attrNameLst>
                                      </p:cBhvr>
                                      <p:to>
                                        <p:strVal val="visible"/>
                                      </p:to>
                                    </p:set>
                                    <p:animEffect filter="fade" transition="in">
                                      <p:cBhvr>
                                        <p:cTn dur="500"/>
                                        <p:tgtEl>
                                          <p:spTgt spid="4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5"/>
                                        </p:tgtEl>
                                        <p:attrNameLst>
                                          <p:attrName>style.visibility</p:attrName>
                                        </p:attrNameLst>
                                      </p:cBhvr>
                                      <p:to>
                                        <p:strVal val="visible"/>
                                      </p:to>
                                    </p:set>
                                    <p:animEffect filter="fade" transition="in">
                                      <p:cBhvr>
                                        <p:cTn dur="500"/>
                                        <p:tgtEl>
                                          <p:spTgt spid="40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0"/>
                                        </p:tgtEl>
                                        <p:attrNameLst>
                                          <p:attrName>style.visibility</p:attrName>
                                        </p:attrNameLst>
                                      </p:cBhvr>
                                      <p:to>
                                        <p:strVal val="visible"/>
                                      </p:to>
                                    </p:set>
                                    <p:animEffect filter="fade" transition="in">
                                      <p:cBhvr>
                                        <p:cTn dur="500"/>
                                        <p:tgtEl>
                                          <p:spTgt spid="4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0" name="Shape 4170"/>
        <p:cNvGrpSpPr/>
        <p:nvPr/>
      </p:nvGrpSpPr>
      <p:grpSpPr>
        <a:xfrm>
          <a:off x="0" y="0"/>
          <a:ext cx="0" cy="0"/>
          <a:chOff x="0" y="0"/>
          <a:chExt cx="0" cy="0"/>
        </a:xfrm>
      </p:grpSpPr>
      <p:sp>
        <p:nvSpPr>
          <p:cNvPr id="4171" name="Google Shape;4171;p30"/>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ISO/OSI reference </a:t>
            </a:r>
            <a:r>
              <a:rPr lang="en-US"/>
              <a:t>m</a:t>
            </a:r>
            <a:r>
              <a:rPr lang="en-US" sz="4400"/>
              <a:t>odel</a:t>
            </a:r>
            <a:endParaRPr sz="4400"/>
          </a:p>
        </p:txBody>
      </p:sp>
      <p:sp>
        <p:nvSpPr>
          <p:cNvPr id="4172" name="Google Shape;4172;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
        <p:nvSpPr>
          <p:cNvPr id="4173" name="Google Shape;4173;p30"/>
          <p:cNvSpPr txBox="1"/>
          <p:nvPr/>
        </p:nvSpPr>
        <p:spPr>
          <a:xfrm>
            <a:off x="665343" y="1341922"/>
            <a:ext cx="6765452" cy="51308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Arial"/>
                <a:ea typeface="Arial"/>
                <a:cs typeface="Arial"/>
                <a:sym typeface="Arial"/>
              </a:rPr>
              <a:t>Two layers not found in  Internet protocol stack!</a:t>
            </a:r>
            <a:endParaRPr/>
          </a:p>
          <a:p>
            <a:pPr indent="-287338" lvl="0" marL="287338" marR="0" rtl="0" algn="l">
              <a:lnSpc>
                <a:spcPct val="90000"/>
              </a:lnSpc>
              <a:spcBef>
                <a:spcPts val="1000"/>
              </a:spcBef>
              <a:spcAft>
                <a:spcPts val="0"/>
              </a:spcAft>
              <a:buClr>
                <a:srgbClr val="0000A3"/>
              </a:buClr>
              <a:buSzPts val="2800"/>
              <a:buFont typeface="Noto Sans Symbols"/>
              <a:buChar char="▪"/>
            </a:pPr>
            <a:r>
              <a:rPr i="1" lang="en-US" sz="2800">
                <a:solidFill>
                  <a:srgbClr val="C00000"/>
                </a:solidFill>
                <a:latin typeface="Arial"/>
                <a:ea typeface="Arial"/>
                <a:cs typeface="Arial"/>
                <a:sym typeface="Arial"/>
              </a:rPr>
              <a:t>presentation:</a:t>
            </a:r>
            <a:r>
              <a:rPr lang="en-US" sz="2800">
                <a:solidFill>
                  <a:srgbClr val="C00000"/>
                </a:solidFill>
                <a:latin typeface="Arial"/>
                <a:ea typeface="Arial"/>
                <a:cs typeface="Arial"/>
                <a:sym typeface="Arial"/>
              </a:rPr>
              <a:t> </a:t>
            </a:r>
            <a:r>
              <a:rPr lang="en-US" sz="2800">
                <a:solidFill>
                  <a:schemeClr val="dk1"/>
                </a:solidFill>
                <a:latin typeface="Arial"/>
                <a:ea typeface="Arial"/>
                <a:cs typeface="Arial"/>
                <a:sym typeface="Arial"/>
              </a:rPr>
              <a:t>allow applications to interpret meaning of data, e.g., encryption, compression, machine-specific conventions</a:t>
            </a:r>
            <a:endParaRPr/>
          </a:p>
          <a:p>
            <a:pPr indent="-287338" lvl="0" marL="287338" marR="0" rtl="0" algn="l">
              <a:lnSpc>
                <a:spcPct val="90000"/>
              </a:lnSpc>
              <a:spcBef>
                <a:spcPts val="1000"/>
              </a:spcBef>
              <a:spcAft>
                <a:spcPts val="0"/>
              </a:spcAft>
              <a:buClr>
                <a:srgbClr val="0000A3"/>
              </a:buClr>
              <a:buSzPts val="2800"/>
              <a:buFont typeface="Noto Sans Symbols"/>
              <a:buChar char="▪"/>
            </a:pPr>
            <a:r>
              <a:rPr i="1" lang="en-US" sz="2800">
                <a:solidFill>
                  <a:srgbClr val="C00000"/>
                </a:solidFill>
                <a:latin typeface="Arial"/>
                <a:ea typeface="Arial"/>
                <a:cs typeface="Arial"/>
                <a:sym typeface="Arial"/>
              </a:rPr>
              <a:t>session:</a:t>
            </a:r>
            <a:r>
              <a:rPr lang="en-US" sz="2800">
                <a:solidFill>
                  <a:srgbClr val="C00000"/>
                </a:solidFill>
                <a:latin typeface="Arial"/>
                <a:ea typeface="Arial"/>
                <a:cs typeface="Arial"/>
                <a:sym typeface="Arial"/>
              </a:rPr>
              <a:t> </a:t>
            </a:r>
            <a:r>
              <a:rPr lang="en-US" sz="2800">
                <a:solidFill>
                  <a:schemeClr val="dk1"/>
                </a:solidFill>
                <a:latin typeface="Arial"/>
                <a:ea typeface="Arial"/>
                <a:cs typeface="Arial"/>
                <a:sym typeface="Arial"/>
              </a:rPr>
              <a:t>synchronization, checkpointing, recovery of data exchange</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Arial"/>
                <a:ea typeface="Arial"/>
                <a:cs typeface="Arial"/>
                <a:sym typeface="Arial"/>
              </a:rPr>
              <a:t>Internet stack “missing” these layers!</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Arial"/>
                <a:ea typeface="Arial"/>
                <a:cs typeface="Arial"/>
                <a:sym typeface="Arial"/>
              </a:rPr>
              <a:t>these services, </a:t>
            </a:r>
            <a:r>
              <a:rPr b="0" i="1" lang="en-US" sz="2800" u="none" cap="none" strike="noStrike">
                <a:solidFill>
                  <a:schemeClr val="dk1"/>
                </a:solidFill>
                <a:latin typeface="Arial"/>
                <a:ea typeface="Arial"/>
                <a:cs typeface="Arial"/>
                <a:sym typeface="Arial"/>
              </a:rPr>
              <a:t>if needed,</a:t>
            </a:r>
            <a:r>
              <a:rPr b="0" i="0" lang="en-US" sz="2800" u="none" cap="none" strike="noStrike">
                <a:solidFill>
                  <a:schemeClr val="dk1"/>
                </a:solidFill>
                <a:latin typeface="Arial"/>
                <a:ea typeface="Arial"/>
                <a:cs typeface="Arial"/>
                <a:sym typeface="Arial"/>
              </a:rPr>
              <a:t> must be implemented in application</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Arial"/>
                <a:ea typeface="Arial"/>
                <a:cs typeface="Arial"/>
                <a:sym typeface="Arial"/>
              </a:rPr>
              <a:t>needed?</a:t>
            </a:r>
            <a:endParaRPr b="0" i="0" sz="2800" u="none" cap="none" strike="noStrike">
              <a:solidFill>
                <a:schemeClr val="dk1"/>
              </a:solidFill>
              <a:latin typeface="Arial"/>
              <a:ea typeface="Arial"/>
              <a:cs typeface="Arial"/>
              <a:sym typeface="Arial"/>
            </a:endParaRPr>
          </a:p>
        </p:txBody>
      </p:sp>
      <p:sp>
        <p:nvSpPr>
          <p:cNvPr id="4174" name="Google Shape;4174;p30"/>
          <p:cNvSpPr/>
          <p:nvPr/>
        </p:nvSpPr>
        <p:spPr>
          <a:xfrm>
            <a:off x="8622241" y="1413668"/>
            <a:ext cx="1892300" cy="3530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175" name="Google Shape;4175;p30"/>
          <p:cNvSpPr/>
          <p:nvPr/>
        </p:nvSpPr>
        <p:spPr>
          <a:xfrm>
            <a:off x="8507941" y="1550193"/>
            <a:ext cx="1892300" cy="3586163"/>
          </a:xfrm>
          <a:prstGeom prst="rect">
            <a:avLst/>
          </a:prstGeom>
          <a:solidFill>
            <a:schemeClr val="lt1"/>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176" name="Google Shape;4176;p30"/>
          <p:cNvSpPr txBox="1"/>
          <p:nvPr/>
        </p:nvSpPr>
        <p:spPr>
          <a:xfrm>
            <a:off x="8465079" y="1721643"/>
            <a:ext cx="1982787" cy="341471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None/>
            </a:pPr>
            <a:r>
              <a:rPr lang="en-US" sz="2400">
                <a:solidFill>
                  <a:schemeClr val="dk1"/>
                </a:solidFill>
                <a:latin typeface="Arial"/>
                <a:ea typeface="Arial"/>
                <a:cs typeface="Arial"/>
                <a:sym typeface="Arial"/>
              </a:rPr>
              <a:t>application</a:t>
            </a:r>
            <a:endParaRPr/>
          </a:p>
          <a:p>
            <a:pPr indent="0" lvl="0" marL="0" marR="0" rtl="0" algn="ctr">
              <a:lnSpc>
                <a:spcPct val="7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None/>
            </a:pPr>
            <a:r>
              <a:rPr lang="en-US" sz="2400">
                <a:solidFill>
                  <a:schemeClr val="dk1"/>
                </a:solidFill>
                <a:latin typeface="Arial"/>
                <a:ea typeface="Arial"/>
                <a:cs typeface="Arial"/>
                <a:sym typeface="Arial"/>
              </a:rPr>
              <a:t>presentation</a:t>
            </a:r>
            <a:endParaRPr/>
          </a:p>
          <a:p>
            <a:pPr indent="0" lvl="0" marL="0" marR="0" rtl="0" algn="ctr">
              <a:lnSpc>
                <a:spcPct val="7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None/>
            </a:pPr>
            <a:r>
              <a:rPr lang="en-US" sz="2400">
                <a:solidFill>
                  <a:schemeClr val="dk1"/>
                </a:solidFill>
                <a:latin typeface="Arial"/>
                <a:ea typeface="Arial"/>
                <a:cs typeface="Arial"/>
                <a:sym typeface="Arial"/>
              </a:rPr>
              <a:t>session</a:t>
            </a:r>
            <a:endParaRPr/>
          </a:p>
          <a:p>
            <a:pPr indent="0" lvl="0" marL="0" marR="0" rtl="0" algn="ctr">
              <a:lnSpc>
                <a:spcPct val="7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None/>
            </a:pPr>
            <a:r>
              <a:rPr lang="en-US" sz="2400">
                <a:solidFill>
                  <a:schemeClr val="dk1"/>
                </a:solidFill>
                <a:latin typeface="Arial"/>
                <a:ea typeface="Arial"/>
                <a:cs typeface="Arial"/>
                <a:sym typeface="Arial"/>
              </a:rPr>
              <a:t>transport</a:t>
            </a:r>
            <a:endParaRPr/>
          </a:p>
          <a:p>
            <a:pPr indent="0" lvl="0" marL="0" marR="0" rtl="0" algn="ctr">
              <a:lnSpc>
                <a:spcPct val="7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None/>
            </a:pPr>
            <a:r>
              <a:rPr lang="en-US" sz="2400">
                <a:solidFill>
                  <a:schemeClr val="dk1"/>
                </a:solidFill>
                <a:latin typeface="Arial"/>
                <a:ea typeface="Arial"/>
                <a:cs typeface="Arial"/>
                <a:sym typeface="Arial"/>
              </a:rPr>
              <a:t>network</a:t>
            </a:r>
            <a:endParaRPr/>
          </a:p>
          <a:p>
            <a:pPr indent="0" lvl="0" marL="0" marR="0" rtl="0" algn="ctr">
              <a:lnSpc>
                <a:spcPct val="7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None/>
            </a:pPr>
            <a:r>
              <a:rPr lang="en-US" sz="2400">
                <a:solidFill>
                  <a:schemeClr val="dk1"/>
                </a:solidFill>
                <a:latin typeface="Arial"/>
                <a:ea typeface="Arial"/>
                <a:cs typeface="Arial"/>
                <a:sym typeface="Arial"/>
              </a:rPr>
              <a:t>link</a:t>
            </a:r>
            <a:endParaRPr/>
          </a:p>
          <a:p>
            <a:pPr indent="0" lvl="0" marL="0" marR="0" rtl="0" algn="ctr">
              <a:lnSpc>
                <a:spcPct val="70000"/>
              </a:lnSpc>
              <a:spcBef>
                <a:spcPts val="0"/>
              </a:spcBef>
              <a:spcAft>
                <a:spcPts val="0"/>
              </a:spcAft>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None/>
            </a:pPr>
            <a:r>
              <a:rPr lang="en-US" sz="2400">
                <a:solidFill>
                  <a:schemeClr val="dk1"/>
                </a:solidFill>
                <a:latin typeface="Arial"/>
                <a:ea typeface="Arial"/>
                <a:cs typeface="Arial"/>
                <a:sym typeface="Arial"/>
              </a:rPr>
              <a:t>physical</a:t>
            </a:r>
            <a:endParaRPr/>
          </a:p>
        </p:txBody>
      </p:sp>
      <p:cxnSp>
        <p:nvCxnSpPr>
          <p:cNvPr id="4177" name="Google Shape;4177;p30"/>
          <p:cNvCxnSpPr/>
          <p:nvPr/>
        </p:nvCxnSpPr>
        <p:spPr>
          <a:xfrm>
            <a:off x="8487304" y="2142331"/>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4178" name="Google Shape;4178;p30"/>
          <p:cNvCxnSpPr/>
          <p:nvPr/>
        </p:nvCxnSpPr>
        <p:spPr>
          <a:xfrm>
            <a:off x="8501591" y="3118643"/>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4179" name="Google Shape;4179;p30"/>
          <p:cNvCxnSpPr/>
          <p:nvPr/>
        </p:nvCxnSpPr>
        <p:spPr>
          <a:xfrm>
            <a:off x="8501591" y="3658393"/>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4180" name="Google Shape;4180;p30"/>
          <p:cNvCxnSpPr/>
          <p:nvPr/>
        </p:nvCxnSpPr>
        <p:spPr>
          <a:xfrm>
            <a:off x="8503179" y="4674393"/>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4181" name="Google Shape;4181;p30"/>
          <p:cNvCxnSpPr/>
          <p:nvPr/>
        </p:nvCxnSpPr>
        <p:spPr>
          <a:xfrm>
            <a:off x="8487304" y="4191793"/>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4182" name="Google Shape;4182;p30"/>
          <p:cNvCxnSpPr/>
          <p:nvPr/>
        </p:nvCxnSpPr>
        <p:spPr>
          <a:xfrm>
            <a:off x="8485716" y="2661443"/>
            <a:ext cx="1885950" cy="0"/>
          </a:xfrm>
          <a:prstGeom prst="straightConnector1">
            <a:avLst/>
          </a:prstGeom>
          <a:noFill/>
          <a:ln cap="flat" cmpd="sng" w="38100">
            <a:solidFill>
              <a:schemeClr val="dk1"/>
            </a:solidFill>
            <a:prstDash val="solid"/>
            <a:round/>
            <a:headEnd len="med" w="med" type="none"/>
            <a:tailEnd len="med" w="med" type="none"/>
          </a:ln>
        </p:spPr>
      </p:cxnSp>
      <p:sp>
        <p:nvSpPr>
          <p:cNvPr id="4183" name="Google Shape;4183;p30"/>
          <p:cNvSpPr txBox="1"/>
          <p:nvPr/>
        </p:nvSpPr>
        <p:spPr>
          <a:xfrm>
            <a:off x="8246534" y="5352939"/>
            <a:ext cx="2466444"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The seven layer OSI/ISO </a:t>
            </a:r>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reference model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7" name="Shape 4187"/>
        <p:cNvGrpSpPr/>
        <p:nvPr/>
      </p:nvGrpSpPr>
      <p:grpSpPr>
        <a:xfrm>
          <a:off x="0" y="0"/>
          <a:ext cx="0" cy="0"/>
          <a:chOff x="0" y="0"/>
          <a:chExt cx="0" cy="0"/>
        </a:xfrm>
      </p:grpSpPr>
      <p:sp>
        <p:nvSpPr>
          <p:cNvPr id="4188" name="Google Shape;418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latin typeface="Play"/>
                <a:ea typeface="Play"/>
                <a:cs typeface="Play"/>
                <a:sym typeface="Play"/>
              </a:rPr>
              <a:t>1. OSI layer model</a:t>
            </a:r>
            <a:endParaRPr/>
          </a:p>
        </p:txBody>
      </p:sp>
      <p:sp>
        <p:nvSpPr>
          <p:cNvPr id="4189" name="Google Shape;4189;p31"/>
          <p:cNvSpPr txBox="1"/>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rgbClr val="000000"/>
              </a:buClr>
              <a:buSzPts val="2800"/>
              <a:buFont typeface="Arial"/>
              <a:buChar char="•"/>
            </a:pPr>
            <a:r>
              <a:rPr b="0" i="0" lang="en-US" sz="2800" u="none" cap="none" strike="noStrike">
                <a:solidFill>
                  <a:schemeClr val="dk1"/>
                </a:solidFill>
                <a:latin typeface="Arial"/>
                <a:ea typeface="Arial"/>
                <a:cs typeface="Arial"/>
                <a:sym typeface="Arial"/>
              </a:rPr>
              <a:t>The most popular layer system for networking is called the </a:t>
            </a:r>
            <a:r>
              <a:rPr b="1" i="0" lang="en-US" sz="2800" u="none" cap="none" strike="noStrike">
                <a:solidFill>
                  <a:schemeClr val="dk1"/>
                </a:solidFill>
                <a:latin typeface="Arial"/>
                <a:ea typeface="Arial"/>
                <a:cs typeface="Arial"/>
                <a:sym typeface="Arial"/>
              </a:rPr>
              <a:t>Open Systems Interconnection </a:t>
            </a:r>
            <a:r>
              <a:rPr b="0" i="0" lang="en-US" sz="2800" u="none" cap="none" strike="noStrike">
                <a:solidFill>
                  <a:schemeClr val="dk1"/>
                </a:solidFill>
                <a:latin typeface="Arial"/>
                <a:ea typeface="Arial"/>
                <a:cs typeface="Arial"/>
                <a:sym typeface="Arial"/>
              </a:rPr>
              <a:t>model (OSI model). </a:t>
            </a:r>
            <a:endParaRPr/>
          </a:p>
          <a:p>
            <a:pPr indent="-228600" lvl="0" marL="228600" marR="0" rtl="0" algn="l">
              <a:lnSpc>
                <a:spcPct val="90000"/>
              </a:lnSpc>
              <a:spcBef>
                <a:spcPts val="1000"/>
              </a:spcBef>
              <a:spcAft>
                <a:spcPts val="0"/>
              </a:spcAft>
              <a:buClr>
                <a:srgbClr val="000000"/>
              </a:buClr>
              <a:buSzPts val="2800"/>
              <a:buFont typeface="Arial"/>
              <a:buChar char="•"/>
            </a:pPr>
            <a:r>
              <a:rPr b="0" i="0" lang="en-US" sz="2800" u="none" cap="none" strike="noStrike">
                <a:solidFill>
                  <a:schemeClr val="dk1"/>
                </a:solidFill>
                <a:latin typeface="Arial"/>
                <a:ea typeface="Arial"/>
                <a:cs typeface="Arial"/>
                <a:sym typeface="Arial"/>
              </a:rPr>
              <a:t>It was standardized in 1977 and is published as ISO 7498. </a:t>
            </a:r>
            <a:endParaRPr/>
          </a:p>
          <a:p>
            <a:pPr indent="-228600" lvl="0" marL="228600" marR="0" rtl="0" algn="l">
              <a:lnSpc>
                <a:spcPct val="90000"/>
              </a:lnSpc>
              <a:spcBef>
                <a:spcPts val="1000"/>
              </a:spcBef>
              <a:spcAft>
                <a:spcPts val="0"/>
              </a:spcAft>
              <a:buClr>
                <a:srgbClr val="000000"/>
              </a:buClr>
              <a:buSzPts val="2800"/>
              <a:buFont typeface="Arial"/>
              <a:buChar char="•"/>
            </a:pPr>
            <a:r>
              <a:rPr b="0" i="0" lang="en-US" sz="2800" u="none" cap="none" strike="noStrike">
                <a:solidFill>
                  <a:schemeClr val="dk1"/>
                </a:solidFill>
                <a:latin typeface="Arial"/>
                <a:ea typeface="Arial"/>
                <a:cs typeface="Arial"/>
                <a:sym typeface="Arial"/>
              </a:rPr>
              <a:t>It has 7 layers.</a:t>
            </a:r>
            <a:endParaRPr/>
          </a:p>
        </p:txBody>
      </p:sp>
      <p:pic>
        <p:nvPicPr>
          <p:cNvPr descr="seven layers of OSI model" id="4190" name="Google Shape;4190;p31"/>
          <p:cNvPicPr preferRelativeResize="0"/>
          <p:nvPr/>
        </p:nvPicPr>
        <p:blipFill rotWithShape="1">
          <a:blip r:embed="rId3">
            <a:alphaModFix/>
          </a:blip>
          <a:srcRect b="6384" l="0" r="2" t="11109"/>
          <a:stretch/>
        </p:blipFill>
        <p:spPr>
          <a:xfrm>
            <a:off x="6172200" y="1825625"/>
            <a:ext cx="5181600" cy="4351338"/>
          </a:xfrm>
          <a:prstGeom prst="rect">
            <a:avLst/>
          </a:prstGeom>
          <a:solidFill>
            <a:srgbClr val="FFFFFF"/>
          </a:solid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5" name="Shape 4195"/>
        <p:cNvGrpSpPr/>
        <p:nvPr/>
      </p:nvGrpSpPr>
      <p:grpSpPr>
        <a:xfrm>
          <a:off x="0" y="0"/>
          <a:ext cx="0" cy="0"/>
          <a:chOff x="0" y="0"/>
          <a:chExt cx="0" cy="0"/>
        </a:xfrm>
      </p:grpSpPr>
      <p:sp>
        <p:nvSpPr>
          <p:cNvPr id="4196" name="Google Shape;4196;p32"/>
          <p:cNvSpPr/>
          <p:nvPr/>
        </p:nvSpPr>
        <p:spPr>
          <a:xfrm>
            <a:off x="3548141" y="1573968"/>
            <a:ext cx="4992" cy="3104606"/>
          </a:xfrm>
          <a:custGeom>
            <a:rect b="b" l="l" r="r" t="t"/>
            <a:pathLst>
              <a:path extrusionOk="0" h="8411" w="52">
                <a:moveTo>
                  <a:pt x="0" y="0"/>
                </a:moveTo>
                <a:cubicBezTo>
                  <a:pt x="17" y="2804"/>
                  <a:pt x="35" y="5607"/>
                  <a:pt x="52" y="8411"/>
                </a:cubicBezTo>
              </a:path>
            </a:pathLst>
          </a:custGeom>
          <a:noFill/>
          <a:ln cap="flat" cmpd="sng" w="444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sp>
        <p:nvSpPr>
          <p:cNvPr id="4197" name="Google Shape;4197;p32"/>
          <p:cNvSpPr/>
          <p:nvPr/>
        </p:nvSpPr>
        <p:spPr>
          <a:xfrm flipH="1" rot="10800000">
            <a:off x="10916607" y="1577038"/>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98" name="Google Shape;4198;p3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Services, Layering and Encapsulation</a:t>
            </a:r>
            <a:endParaRPr sz="4400"/>
          </a:p>
        </p:txBody>
      </p:sp>
      <p:sp>
        <p:nvSpPr>
          <p:cNvPr id="4199" name="Google Shape;4199;p32"/>
          <p:cNvSpPr txBox="1"/>
          <p:nvPr/>
        </p:nvSpPr>
        <p:spPr>
          <a:xfrm>
            <a:off x="449705" y="5724388"/>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b="0" i="1" lang="en-US" sz="2400" u="none" cap="none" strike="noStrike">
                <a:solidFill>
                  <a:srgbClr val="000099"/>
                </a:solidFill>
                <a:latin typeface="Arial"/>
                <a:ea typeface="Arial"/>
                <a:cs typeface="Arial"/>
                <a:sym typeface="Arial"/>
              </a:rPr>
              <a:t>source</a:t>
            </a:r>
            <a:endParaRPr/>
          </a:p>
        </p:txBody>
      </p:sp>
      <p:sp>
        <p:nvSpPr>
          <p:cNvPr id="4200" name="Google Shape;4200;p32"/>
          <p:cNvSpPr/>
          <p:nvPr/>
        </p:nvSpPr>
        <p:spPr>
          <a:xfrm rot="10800000">
            <a:off x="975630" y="1559549"/>
            <a:ext cx="450309" cy="4061761"/>
          </a:xfrm>
          <a:custGeom>
            <a:rect b="b" l="l" r="r" t="t"/>
            <a:pathLst>
              <a:path extrusionOk="0" h="21660" w="12496">
                <a:moveTo>
                  <a:pt x="12425" y="0"/>
                </a:moveTo>
                <a:lnTo>
                  <a:pt x="0" y="1517"/>
                </a:lnTo>
                <a:lnTo>
                  <a:pt x="1248" y="21660"/>
                </a:lnTo>
                <a:cubicBezTo>
                  <a:pt x="4581" y="12959"/>
                  <a:pt x="6667" y="10269"/>
                  <a:pt x="12496" y="4855"/>
                </a:cubicBezTo>
                <a:cubicBezTo>
                  <a:pt x="12472" y="3237"/>
                  <a:pt x="12449" y="1618"/>
                  <a:pt x="12425" y="0"/>
                </a:cubicBez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201" name="Google Shape;4201;p32"/>
          <p:cNvGrpSpPr/>
          <p:nvPr/>
        </p:nvGrpSpPr>
        <p:grpSpPr>
          <a:xfrm flipH="1">
            <a:off x="635446" y="5073984"/>
            <a:ext cx="803275" cy="771525"/>
            <a:chOff x="-44" y="1473"/>
            <a:chExt cx="981" cy="1105"/>
          </a:xfrm>
        </p:grpSpPr>
        <p:pic>
          <p:nvPicPr>
            <p:cNvPr descr="desktop_computer_stylized_medium" id="4202" name="Google Shape;4202;p3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03" name="Google Shape;4203;p3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204" name="Google Shape;4204;p32"/>
          <p:cNvGrpSpPr/>
          <p:nvPr/>
        </p:nvGrpSpPr>
        <p:grpSpPr>
          <a:xfrm>
            <a:off x="1334125" y="1421667"/>
            <a:ext cx="1765726" cy="4034752"/>
            <a:chOff x="1484027" y="1706480"/>
            <a:chExt cx="1765726" cy="4034752"/>
          </a:xfrm>
        </p:grpSpPr>
        <p:sp>
          <p:nvSpPr>
            <p:cNvPr id="4205" name="Google Shape;4205;p32"/>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06" name="Google Shape;4206;p32"/>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4207" name="Google Shape;4207;p32"/>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4208" name="Google Shape;4208;p32"/>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4209" name="Google Shape;4209;p32"/>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4210" name="Google Shape;4210;p32"/>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4211" name="Google Shape;4211;p32"/>
          <p:cNvGrpSpPr/>
          <p:nvPr/>
        </p:nvGrpSpPr>
        <p:grpSpPr>
          <a:xfrm>
            <a:off x="11107713" y="4961744"/>
            <a:ext cx="374754" cy="833726"/>
            <a:chOff x="4140" y="429"/>
            <a:chExt cx="1425" cy="2396"/>
          </a:xfrm>
        </p:grpSpPr>
        <p:sp>
          <p:nvSpPr>
            <p:cNvPr id="4212" name="Google Shape;4212;p3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13" name="Google Shape;4213;p3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14" name="Google Shape;4214;p3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15" name="Google Shape;4215;p3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16" name="Google Shape;4216;p3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217" name="Google Shape;4217;p32"/>
            <p:cNvGrpSpPr/>
            <p:nvPr/>
          </p:nvGrpSpPr>
          <p:grpSpPr>
            <a:xfrm>
              <a:off x="4748" y="666"/>
              <a:ext cx="578" cy="150"/>
              <a:chOff x="613" y="2566"/>
              <a:chExt cx="721" cy="144"/>
            </a:xfrm>
          </p:grpSpPr>
          <p:sp>
            <p:nvSpPr>
              <p:cNvPr id="4218" name="Google Shape;4218;p3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19" name="Google Shape;4219;p3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220" name="Google Shape;4220;p3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221" name="Google Shape;4221;p32"/>
            <p:cNvGrpSpPr/>
            <p:nvPr/>
          </p:nvGrpSpPr>
          <p:grpSpPr>
            <a:xfrm>
              <a:off x="4748" y="990"/>
              <a:ext cx="578" cy="134"/>
              <a:chOff x="615" y="2564"/>
              <a:chExt cx="721" cy="139"/>
            </a:xfrm>
          </p:grpSpPr>
          <p:sp>
            <p:nvSpPr>
              <p:cNvPr id="4222" name="Google Shape;4222;p3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23" name="Google Shape;4223;p3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224" name="Google Shape;4224;p3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25" name="Google Shape;4225;p3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226" name="Google Shape;4226;p32"/>
            <p:cNvGrpSpPr/>
            <p:nvPr/>
          </p:nvGrpSpPr>
          <p:grpSpPr>
            <a:xfrm>
              <a:off x="4738" y="1647"/>
              <a:ext cx="578" cy="135"/>
              <a:chOff x="618" y="2586"/>
              <a:chExt cx="720" cy="124"/>
            </a:xfrm>
          </p:grpSpPr>
          <p:sp>
            <p:nvSpPr>
              <p:cNvPr id="4227" name="Google Shape;4227;p3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28" name="Google Shape;4228;p3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229" name="Google Shape;4229;p3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230" name="Google Shape;4230;p32"/>
            <p:cNvGrpSpPr/>
            <p:nvPr/>
          </p:nvGrpSpPr>
          <p:grpSpPr>
            <a:xfrm>
              <a:off x="4738" y="1330"/>
              <a:ext cx="588" cy="134"/>
              <a:chOff x="613" y="2571"/>
              <a:chExt cx="732" cy="134"/>
            </a:xfrm>
          </p:grpSpPr>
          <p:sp>
            <p:nvSpPr>
              <p:cNvPr id="4231" name="Google Shape;4231;p3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32" name="Google Shape;4232;p3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233" name="Google Shape;4233;p3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34" name="Google Shape;4234;p3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35" name="Google Shape;4235;p3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36" name="Google Shape;4236;p3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37" name="Google Shape;4237;p3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38" name="Google Shape;4238;p3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39" name="Google Shape;4239;p3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40" name="Google Shape;4240;p3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41" name="Google Shape;4241;p3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242" name="Google Shape;4242;p3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43" name="Google Shape;4243;p3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244" name="Google Shape;4244;p32"/>
          <p:cNvSpPr txBox="1"/>
          <p:nvPr/>
        </p:nvSpPr>
        <p:spPr>
          <a:xfrm>
            <a:off x="10216734" y="5716780"/>
            <a:ext cx="167545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destination</a:t>
            </a:r>
            <a:endParaRPr b="0" i="1" sz="2400" u="none" cap="none" strike="noStrike">
              <a:solidFill>
                <a:srgbClr val="000099"/>
              </a:solidFill>
              <a:latin typeface="Arial"/>
              <a:ea typeface="Arial"/>
              <a:cs typeface="Arial"/>
              <a:sym typeface="Arial"/>
            </a:endParaRPr>
          </a:p>
        </p:txBody>
      </p:sp>
      <p:grpSp>
        <p:nvGrpSpPr>
          <p:cNvPr id="4245" name="Google Shape;4245;p32"/>
          <p:cNvGrpSpPr/>
          <p:nvPr/>
        </p:nvGrpSpPr>
        <p:grpSpPr>
          <a:xfrm>
            <a:off x="9221450" y="1413548"/>
            <a:ext cx="1765726" cy="4034752"/>
            <a:chOff x="1484027" y="1706480"/>
            <a:chExt cx="1765726" cy="4034752"/>
          </a:xfrm>
        </p:grpSpPr>
        <p:sp>
          <p:nvSpPr>
            <p:cNvPr id="4246" name="Google Shape;4246;p32"/>
            <p:cNvSpPr/>
            <p:nvPr/>
          </p:nvSpPr>
          <p:spPr>
            <a:xfrm>
              <a:off x="1528997" y="1870247"/>
              <a:ext cx="1648917" cy="3870985"/>
            </a:xfrm>
            <a:prstGeom prst="rect">
              <a:avLst/>
            </a:prstGeom>
            <a:solidFill>
              <a:schemeClr val="lt1"/>
            </a:solidFill>
            <a:ln cap="flat" cmpd="sng" w="28575">
              <a:solidFill>
                <a:schemeClr val="dk1"/>
              </a:solidFill>
              <a:prstDash val="solid"/>
              <a:miter lim="800000"/>
              <a:headEnd len="sm" w="sm" type="none"/>
              <a:tailEnd len="sm" w="sm" type="none"/>
            </a:ln>
            <a:effectLst>
              <a:outerShdw blurRad="76200" sx="101000" rotWithShape="0" algn="bl" dir="18900000" dist="38100" sy="1010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47" name="Google Shape;4247;p32"/>
            <p:cNvSpPr txBox="1"/>
            <p:nvPr/>
          </p:nvSpPr>
          <p:spPr>
            <a:xfrm>
              <a:off x="1484027" y="1706480"/>
              <a:ext cx="1765726" cy="4033092"/>
            </a:xfrm>
            <a:prstGeom prst="rect">
              <a:avLst/>
            </a:prstGeom>
            <a:noFill/>
            <a:ln>
              <a:noFill/>
            </a:ln>
          </p:spPr>
          <p:txBody>
            <a:bodyPr anchorCtr="0" anchor="t" bIns="45700" lIns="91425" spcFirstLastPara="1" rIns="91425" wrap="square" tIns="45700">
              <a:spAutoFit/>
            </a:bodyPr>
            <a:lstStyle/>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application</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transport</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network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link</a:t>
              </a:r>
              <a:endParaRPr/>
            </a:p>
            <a:p>
              <a:pPr indent="0" lvl="0" marL="0" marR="0" rtl="0" algn="ctr">
                <a:lnSpc>
                  <a:spcPct val="215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physical</a:t>
              </a:r>
              <a:endParaRPr b="0" i="0" sz="1800" u="none" cap="none" strike="noStrike">
                <a:solidFill>
                  <a:srgbClr val="000000"/>
                </a:solidFill>
                <a:latin typeface="Arial"/>
                <a:ea typeface="Arial"/>
                <a:cs typeface="Arial"/>
                <a:sym typeface="Arial"/>
              </a:endParaRPr>
            </a:p>
          </p:txBody>
        </p:sp>
        <p:cxnSp>
          <p:nvCxnSpPr>
            <p:cNvPr id="4248" name="Google Shape;4248;p32"/>
            <p:cNvCxnSpPr/>
            <p:nvPr/>
          </p:nvCxnSpPr>
          <p:spPr>
            <a:xfrm>
              <a:off x="1534432" y="2675745"/>
              <a:ext cx="1643483" cy="0"/>
            </a:xfrm>
            <a:prstGeom prst="straightConnector1">
              <a:avLst/>
            </a:prstGeom>
            <a:noFill/>
            <a:ln cap="flat" cmpd="sng" w="12700">
              <a:solidFill>
                <a:schemeClr val="dk1"/>
              </a:solidFill>
              <a:prstDash val="solid"/>
              <a:miter lim="800000"/>
              <a:headEnd len="sm" w="sm" type="none"/>
              <a:tailEnd len="sm" w="sm" type="none"/>
            </a:ln>
          </p:spPr>
        </p:cxnSp>
        <p:cxnSp>
          <p:nvCxnSpPr>
            <p:cNvPr id="4249" name="Google Shape;4249;p32"/>
            <p:cNvCxnSpPr/>
            <p:nvPr/>
          </p:nvCxnSpPr>
          <p:spPr>
            <a:xfrm>
              <a:off x="1506952" y="3472722"/>
              <a:ext cx="1655973" cy="0"/>
            </a:xfrm>
            <a:prstGeom prst="straightConnector1">
              <a:avLst/>
            </a:prstGeom>
            <a:noFill/>
            <a:ln cap="flat" cmpd="sng" w="12700">
              <a:solidFill>
                <a:schemeClr val="dk1"/>
              </a:solidFill>
              <a:prstDash val="solid"/>
              <a:miter lim="800000"/>
              <a:headEnd len="sm" w="sm" type="none"/>
              <a:tailEnd len="sm" w="sm" type="none"/>
            </a:ln>
          </p:spPr>
        </p:cxnSp>
        <p:cxnSp>
          <p:nvCxnSpPr>
            <p:cNvPr id="4250" name="Google Shape;4250;p32"/>
            <p:cNvCxnSpPr/>
            <p:nvPr/>
          </p:nvCxnSpPr>
          <p:spPr>
            <a:xfrm>
              <a:off x="1509450" y="4209737"/>
              <a:ext cx="1668465" cy="0"/>
            </a:xfrm>
            <a:prstGeom prst="straightConnector1">
              <a:avLst/>
            </a:prstGeom>
            <a:noFill/>
            <a:ln cap="flat" cmpd="sng" w="12700">
              <a:solidFill>
                <a:schemeClr val="dk1"/>
              </a:solidFill>
              <a:prstDash val="solid"/>
              <a:miter lim="800000"/>
              <a:headEnd len="sm" w="sm" type="none"/>
              <a:tailEnd len="sm" w="sm" type="none"/>
            </a:ln>
          </p:spPr>
        </p:cxnSp>
        <p:cxnSp>
          <p:nvCxnSpPr>
            <p:cNvPr id="4251" name="Google Shape;4251;p32"/>
            <p:cNvCxnSpPr/>
            <p:nvPr/>
          </p:nvCxnSpPr>
          <p:spPr>
            <a:xfrm>
              <a:off x="1511947" y="4991726"/>
              <a:ext cx="1650978" cy="0"/>
            </a:xfrm>
            <a:prstGeom prst="straightConnector1">
              <a:avLst/>
            </a:prstGeom>
            <a:noFill/>
            <a:ln cap="flat" cmpd="sng" w="12700">
              <a:solidFill>
                <a:schemeClr val="dk1"/>
              </a:solidFill>
              <a:prstDash val="solid"/>
              <a:miter lim="800000"/>
              <a:headEnd len="sm" w="sm" type="none"/>
              <a:tailEnd len="sm" w="sm" type="none"/>
            </a:ln>
          </p:spPr>
        </p:cxnSp>
      </p:grpSp>
      <p:sp>
        <p:nvSpPr>
          <p:cNvPr id="4252" name="Google Shape;4252;p32"/>
          <p:cNvSpPr/>
          <p:nvPr/>
        </p:nvSpPr>
        <p:spPr>
          <a:xfrm>
            <a:off x="5584583" y="2368401"/>
            <a:ext cx="971760"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4253" name="Google Shape;4253;p32"/>
          <p:cNvGrpSpPr/>
          <p:nvPr/>
        </p:nvGrpSpPr>
        <p:grpSpPr>
          <a:xfrm>
            <a:off x="5690803" y="2434313"/>
            <a:ext cx="908050" cy="301625"/>
            <a:chOff x="1848" y="2046"/>
            <a:chExt cx="572" cy="190"/>
          </a:xfrm>
        </p:grpSpPr>
        <p:grpSp>
          <p:nvGrpSpPr>
            <p:cNvPr id="4254" name="Google Shape;4254;p32"/>
            <p:cNvGrpSpPr/>
            <p:nvPr/>
          </p:nvGrpSpPr>
          <p:grpSpPr>
            <a:xfrm>
              <a:off x="1848" y="2047"/>
              <a:ext cx="187" cy="184"/>
              <a:chOff x="1959" y="2058"/>
              <a:chExt cx="187" cy="184"/>
            </a:xfrm>
          </p:grpSpPr>
          <p:sp>
            <p:nvSpPr>
              <p:cNvPr id="4255" name="Google Shape;4255;p32"/>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56" name="Google Shape;4256;p32"/>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4257" name="Google Shape;4257;p32"/>
            <p:cNvGrpSpPr/>
            <p:nvPr/>
          </p:nvGrpSpPr>
          <p:grpSpPr>
            <a:xfrm>
              <a:off x="1992" y="2046"/>
              <a:ext cx="428" cy="190"/>
              <a:chOff x="780" y="1553"/>
              <a:chExt cx="428" cy="190"/>
            </a:xfrm>
          </p:grpSpPr>
          <p:sp>
            <p:nvSpPr>
              <p:cNvPr id="4258" name="Google Shape;4258;p32"/>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59" name="Google Shape;4259;p32"/>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grpSp>
        <p:nvGrpSpPr>
          <p:cNvPr id="4260" name="Google Shape;4260;p32"/>
          <p:cNvGrpSpPr/>
          <p:nvPr/>
        </p:nvGrpSpPr>
        <p:grpSpPr>
          <a:xfrm>
            <a:off x="5937404" y="1548324"/>
            <a:ext cx="679450" cy="301625"/>
            <a:chOff x="780" y="1553"/>
            <a:chExt cx="428" cy="190"/>
          </a:xfrm>
        </p:grpSpPr>
        <p:sp>
          <p:nvSpPr>
            <p:cNvPr id="4261" name="Google Shape;4261;p32"/>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62" name="Google Shape;4262;p32"/>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4263" name="Google Shape;4263;p32"/>
          <p:cNvSpPr/>
          <p:nvPr/>
        </p:nvSpPr>
        <p:spPr>
          <a:xfrm>
            <a:off x="5356172" y="3319499"/>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4264" name="Google Shape;4264;p32"/>
          <p:cNvGrpSpPr/>
          <p:nvPr/>
        </p:nvGrpSpPr>
        <p:grpSpPr>
          <a:xfrm>
            <a:off x="5418625" y="3360607"/>
            <a:ext cx="1058375" cy="307296"/>
            <a:chOff x="5509436" y="3287899"/>
            <a:chExt cx="1058375" cy="307296"/>
          </a:xfrm>
        </p:grpSpPr>
        <p:grpSp>
          <p:nvGrpSpPr>
            <p:cNvPr id="4265" name="Google Shape;4265;p32"/>
            <p:cNvGrpSpPr/>
            <p:nvPr/>
          </p:nvGrpSpPr>
          <p:grpSpPr>
            <a:xfrm>
              <a:off x="5510535" y="3293570"/>
              <a:ext cx="1057276" cy="301625"/>
              <a:chOff x="469" y="1531"/>
              <a:chExt cx="666" cy="190"/>
            </a:xfrm>
          </p:grpSpPr>
          <p:sp>
            <p:nvSpPr>
              <p:cNvPr id="4266" name="Google Shape;4266;p32"/>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67" name="Google Shape;4267;p32"/>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4268" name="Google Shape;4268;p32"/>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269" name="Google Shape;4269;p32"/>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4270" name="Google Shape;4270;p32"/>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4271" name="Google Shape;4271;p32"/>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grpSp>
        <p:nvGrpSpPr>
          <p:cNvPr id="4272" name="Google Shape;4272;p32"/>
          <p:cNvGrpSpPr/>
          <p:nvPr/>
        </p:nvGrpSpPr>
        <p:grpSpPr>
          <a:xfrm>
            <a:off x="7629993" y="1484027"/>
            <a:ext cx="1535906" cy="3792511"/>
            <a:chOff x="7629993" y="1484027"/>
            <a:chExt cx="1535906" cy="3792511"/>
          </a:xfrm>
        </p:grpSpPr>
        <p:sp>
          <p:nvSpPr>
            <p:cNvPr id="4273" name="Google Shape;4273;p32"/>
            <p:cNvSpPr/>
            <p:nvPr/>
          </p:nvSpPr>
          <p:spPr>
            <a:xfrm flipH="1">
              <a:off x="7629993" y="1484027"/>
              <a:ext cx="1201062" cy="3792511"/>
            </a:xfrm>
            <a:custGeom>
              <a:rect b="b" l="l" r="r" t="t"/>
              <a:pathLst>
                <a:path extrusionOk="0" h="3263030" w="1822537">
                  <a:moveTo>
                    <a:pt x="1822537" y="3263030"/>
                  </a:moveTo>
                  <a:lnTo>
                    <a:pt x="6263" y="2743200"/>
                  </a:lnTo>
                  <a:cubicBezTo>
                    <a:pt x="4175" y="1828800"/>
                    <a:pt x="2088" y="914400"/>
                    <a:pt x="0" y="0"/>
                  </a:cubicBezTo>
                </a:path>
              </a:pathLst>
            </a:custGeom>
            <a:noFill/>
            <a:ln cap="flat" cmpd="sng" w="444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274" name="Google Shape;4274;p32"/>
            <p:cNvGrpSpPr/>
            <p:nvPr/>
          </p:nvGrpSpPr>
          <p:grpSpPr>
            <a:xfrm>
              <a:off x="7693325" y="4097936"/>
              <a:ext cx="1470663" cy="389744"/>
              <a:chOff x="6216702" y="5375649"/>
              <a:chExt cx="1470663" cy="389744"/>
            </a:xfrm>
          </p:grpSpPr>
          <p:sp>
            <p:nvSpPr>
              <p:cNvPr id="4275" name="Google Shape;4275;p32"/>
              <p:cNvSpPr/>
              <p:nvPr/>
            </p:nvSpPr>
            <p:spPr>
              <a:xfrm>
                <a:off x="6477000" y="5375649"/>
                <a:ext cx="1210365" cy="389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4276" name="Google Shape;4276;p32"/>
              <p:cNvGrpSpPr/>
              <p:nvPr/>
            </p:nvGrpSpPr>
            <p:grpSpPr>
              <a:xfrm>
                <a:off x="6216702" y="5392448"/>
                <a:ext cx="1381126" cy="301625"/>
                <a:chOff x="265" y="1531"/>
                <a:chExt cx="870" cy="190"/>
              </a:xfrm>
            </p:grpSpPr>
            <p:sp>
              <p:nvSpPr>
                <p:cNvPr id="4277" name="Google Shape;4277;p32"/>
                <p:cNvSpPr/>
                <p:nvPr/>
              </p:nvSpPr>
              <p:spPr>
                <a:xfrm>
                  <a:off x="265" y="1549"/>
                  <a:ext cx="87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78" name="Google Shape;4278;p32"/>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4279" name="Google Shape;4279;p32"/>
              <p:cNvSpPr/>
              <p:nvPr/>
            </p:nvSpPr>
            <p:spPr>
              <a:xfrm>
                <a:off x="6801757" y="5404115"/>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280" name="Google Shape;4280;p32"/>
              <p:cNvSpPr/>
              <p:nvPr/>
            </p:nvSpPr>
            <p:spPr>
              <a:xfrm>
                <a:off x="6539453" y="5386777"/>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4281" name="Google Shape;4281;p32"/>
              <p:cNvCxnSpPr/>
              <p:nvPr/>
            </p:nvCxnSpPr>
            <p:spPr>
              <a:xfrm>
                <a:off x="7106894" y="5421023"/>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4282" name="Google Shape;4282;p32"/>
              <p:cNvCxnSpPr/>
              <p:nvPr/>
            </p:nvCxnSpPr>
            <p:spPr>
              <a:xfrm>
                <a:off x="6826395" y="5419311"/>
                <a:ext cx="0" cy="257175"/>
              </a:xfrm>
              <a:prstGeom prst="straightConnector1">
                <a:avLst/>
              </a:prstGeom>
              <a:noFill/>
              <a:ln cap="flat" cmpd="sng" w="9525">
                <a:solidFill>
                  <a:schemeClr val="dk1"/>
                </a:solidFill>
                <a:prstDash val="solid"/>
                <a:miter lim="800000"/>
                <a:headEnd len="sm" w="sm" type="none"/>
                <a:tailEnd len="sm" w="sm" type="none"/>
              </a:ln>
            </p:spPr>
          </p:cxnSp>
          <p:sp>
            <p:nvSpPr>
              <p:cNvPr id="4283" name="Google Shape;4283;p32"/>
              <p:cNvSpPr/>
              <p:nvPr/>
            </p:nvSpPr>
            <p:spPr>
              <a:xfrm>
                <a:off x="6236418" y="5394426"/>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cxnSp>
            <p:nvCxnSpPr>
              <p:cNvPr id="4284" name="Google Shape;4284;p32"/>
              <p:cNvCxnSpPr/>
              <p:nvPr/>
            </p:nvCxnSpPr>
            <p:spPr>
              <a:xfrm>
                <a:off x="6505708" y="5419900"/>
                <a:ext cx="0" cy="257175"/>
              </a:xfrm>
              <a:prstGeom prst="straightConnector1">
                <a:avLst/>
              </a:prstGeom>
              <a:noFill/>
              <a:ln cap="flat" cmpd="sng" w="9525">
                <a:solidFill>
                  <a:schemeClr val="dk1"/>
                </a:solidFill>
                <a:prstDash val="solid"/>
                <a:miter lim="800000"/>
                <a:headEnd len="sm" w="sm" type="none"/>
                <a:tailEnd len="sm" w="sm" type="none"/>
              </a:ln>
            </p:spPr>
          </p:cxnSp>
        </p:grpSp>
        <p:grpSp>
          <p:nvGrpSpPr>
            <p:cNvPr id="4285" name="Google Shape;4285;p32"/>
            <p:cNvGrpSpPr/>
            <p:nvPr/>
          </p:nvGrpSpPr>
          <p:grpSpPr>
            <a:xfrm>
              <a:off x="8014421" y="3363106"/>
              <a:ext cx="1058375" cy="307296"/>
              <a:chOff x="5509436" y="3287899"/>
              <a:chExt cx="1058375" cy="307296"/>
            </a:xfrm>
          </p:grpSpPr>
          <p:grpSp>
            <p:nvGrpSpPr>
              <p:cNvPr id="4286" name="Google Shape;4286;p32"/>
              <p:cNvGrpSpPr/>
              <p:nvPr/>
            </p:nvGrpSpPr>
            <p:grpSpPr>
              <a:xfrm>
                <a:off x="5510535" y="3293570"/>
                <a:ext cx="1057276" cy="301625"/>
                <a:chOff x="469" y="1531"/>
                <a:chExt cx="666" cy="190"/>
              </a:xfrm>
            </p:grpSpPr>
            <p:sp>
              <p:nvSpPr>
                <p:cNvPr id="4287" name="Google Shape;4287;p32"/>
                <p:cNvSpPr/>
                <p:nvPr/>
              </p:nvSpPr>
              <p:spPr>
                <a:xfrm>
                  <a:off x="469" y="1549"/>
                  <a:ext cx="666"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88" name="Google Shape;4288;p32"/>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4289" name="Google Shape;4289;p32"/>
              <p:cNvSpPr/>
              <p:nvPr/>
            </p:nvSpPr>
            <p:spPr>
              <a:xfrm>
                <a:off x="5771740" y="3305237"/>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290" name="Google Shape;4290;p32"/>
              <p:cNvSpPr/>
              <p:nvPr/>
            </p:nvSpPr>
            <p:spPr>
              <a:xfrm>
                <a:off x="5509436" y="3287899"/>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4291" name="Google Shape;4291;p32"/>
              <p:cNvCxnSpPr/>
              <p:nvPr/>
            </p:nvCxnSpPr>
            <p:spPr>
              <a:xfrm>
                <a:off x="6076877" y="3322145"/>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4292" name="Google Shape;4292;p32"/>
              <p:cNvCxnSpPr/>
              <p:nvPr/>
            </p:nvCxnSpPr>
            <p:spPr>
              <a:xfrm>
                <a:off x="5796378" y="3320433"/>
                <a:ext cx="0" cy="257175"/>
              </a:xfrm>
              <a:prstGeom prst="straightConnector1">
                <a:avLst/>
              </a:prstGeom>
              <a:noFill/>
              <a:ln cap="flat" cmpd="sng" w="9525">
                <a:solidFill>
                  <a:schemeClr val="dk1"/>
                </a:solidFill>
                <a:prstDash val="solid"/>
                <a:miter lim="800000"/>
                <a:headEnd len="sm" w="sm" type="none"/>
                <a:tailEnd len="sm" w="sm" type="none"/>
              </a:ln>
            </p:spPr>
          </p:cxnSp>
        </p:grpSp>
        <p:grpSp>
          <p:nvGrpSpPr>
            <p:cNvPr id="4293" name="Google Shape;4293;p32"/>
            <p:cNvGrpSpPr/>
            <p:nvPr/>
          </p:nvGrpSpPr>
          <p:grpSpPr>
            <a:xfrm>
              <a:off x="8257849" y="2658970"/>
              <a:ext cx="908050" cy="301625"/>
              <a:chOff x="6877524" y="6049441"/>
              <a:chExt cx="908050" cy="301625"/>
            </a:xfrm>
          </p:grpSpPr>
          <p:grpSp>
            <p:nvGrpSpPr>
              <p:cNvPr id="4294" name="Google Shape;4294;p32"/>
              <p:cNvGrpSpPr/>
              <p:nvPr/>
            </p:nvGrpSpPr>
            <p:grpSpPr>
              <a:xfrm>
                <a:off x="6877524" y="6051029"/>
                <a:ext cx="296863" cy="292100"/>
                <a:chOff x="1959" y="2058"/>
                <a:chExt cx="187" cy="184"/>
              </a:xfrm>
            </p:grpSpPr>
            <p:sp>
              <p:nvSpPr>
                <p:cNvPr id="4295" name="Google Shape;4295;p32"/>
                <p:cNvSpPr/>
                <p:nvPr/>
              </p:nvSpPr>
              <p:spPr>
                <a:xfrm>
                  <a:off x="1964"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96" name="Google Shape;4296;p32"/>
                <p:cNvSpPr/>
                <p:nvPr/>
              </p:nvSpPr>
              <p:spPr>
                <a:xfrm>
                  <a:off x="1959"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grpSp>
          <p:grpSp>
            <p:nvGrpSpPr>
              <p:cNvPr id="4297" name="Google Shape;4297;p32"/>
              <p:cNvGrpSpPr/>
              <p:nvPr/>
            </p:nvGrpSpPr>
            <p:grpSpPr>
              <a:xfrm>
                <a:off x="7106124" y="6049441"/>
                <a:ext cx="679450" cy="301625"/>
                <a:chOff x="780" y="1553"/>
                <a:chExt cx="428" cy="190"/>
              </a:xfrm>
            </p:grpSpPr>
            <p:sp>
              <p:nvSpPr>
                <p:cNvPr id="4298" name="Google Shape;4298;p32"/>
                <p:cNvSpPr/>
                <p:nvPr/>
              </p:nvSpPr>
              <p:spPr>
                <a:xfrm>
                  <a:off x="817" y="1571"/>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99" name="Google Shape;4299;p32"/>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grpSp>
          <p:nvGrpSpPr>
            <p:cNvPr id="4300" name="Google Shape;4300;p32"/>
            <p:cNvGrpSpPr/>
            <p:nvPr/>
          </p:nvGrpSpPr>
          <p:grpSpPr>
            <a:xfrm>
              <a:off x="8465451" y="1880020"/>
              <a:ext cx="679450" cy="301625"/>
              <a:chOff x="780" y="1553"/>
              <a:chExt cx="428" cy="190"/>
            </a:xfrm>
          </p:grpSpPr>
          <p:sp>
            <p:nvSpPr>
              <p:cNvPr id="4301" name="Google Shape;4301;p32"/>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02" name="Google Shape;4302;p32"/>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grpSp>
      <p:sp>
        <p:nvSpPr>
          <p:cNvPr id="4303" name="Google Shape;4303;p32"/>
          <p:cNvSpPr/>
          <p:nvPr/>
        </p:nvSpPr>
        <p:spPr>
          <a:xfrm>
            <a:off x="3570599" y="4675377"/>
            <a:ext cx="4136844" cy="601045"/>
          </a:xfrm>
          <a:custGeom>
            <a:rect b="b" l="l" r="r" t="t"/>
            <a:pathLst>
              <a:path extrusionOk="0" h="1622" w="9988">
                <a:moveTo>
                  <a:pt x="0" y="0"/>
                </a:moveTo>
                <a:lnTo>
                  <a:pt x="2306" y="1583"/>
                </a:lnTo>
                <a:lnTo>
                  <a:pt x="9988" y="1622"/>
                </a:lnTo>
              </a:path>
            </a:pathLst>
          </a:custGeom>
          <a:noFill/>
          <a:ln cap="flat" cmpd="sng" w="44450">
            <a:solidFill>
              <a:srgbClr val="C0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4304" name="Google Shape;4304;p32"/>
          <p:cNvGrpSpPr/>
          <p:nvPr/>
        </p:nvGrpSpPr>
        <p:grpSpPr>
          <a:xfrm>
            <a:off x="3186222" y="2137612"/>
            <a:ext cx="1079388" cy="1910319"/>
            <a:chOff x="3186222" y="2137612"/>
            <a:chExt cx="1079388" cy="1910319"/>
          </a:xfrm>
        </p:grpSpPr>
        <p:sp>
          <p:nvSpPr>
            <p:cNvPr id="4305" name="Google Shape;4305;p32"/>
            <p:cNvSpPr txBox="1"/>
            <p:nvPr/>
          </p:nvSpPr>
          <p:spPr>
            <a:xfrm>
              <a:off x="3186222" y="2137612"/>
              <a:ext cx="9970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message</a:t>
              </a:r>
              <a:endParaRPr/>
            </a:p>
          </p:txBody>
        </p:sp>
        <p:sp>
          <p:nvSpPr>
            <p:cNvPr id="4306" name="Google Shape;4306;p32"/>
            <p:cNvSpPr txBox="1"/>
            <p:nvPr/>
          </p:nvSpPr>
          <p:spPr>
            <a:xfrm>
              <a:off x="3192100" y="2928436"/>
              <a:ext cx="9952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segment</a:t>
              </a:r>
              <a:endParaRPr/>
            </a:p>
          </p:txBody>
        </p:sp>
        <p:sp>
          <p:nvSpPr>
            <p:cNvPr id="4307" name="Google Shape;4307;p32"/>
            <p:cNvSpPr txBox="1"/>
            <p:nvPr/>
          </p:nvSpPr>
          <p:spPr>
            <a:xfrm>
              <a:off x="3186532" y="3678599"/>
              <a:ext cx="10790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datagram</a:t>
              </a:r>
              <a:endParaRPr/>
            </a:p>
          </p:txBody>
        </p:sp>
      </p:grpSp>
      <p:sp>
        <p:nvSpPr>
          <p:cNvPr id="4308" name="Google Shape;4308;p32"/>
          <p:cNvSpPr txBox="1"/>
          <p:nvPr/>
        </p:nvSpPr>
        <p:spPr>
          <a:xfrm>
            <a:off x="3188967" y="4455188"/>
            <a:ext cx="740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frame</a:t>
            </a:r>
            <a:endParaRPr/>
          </a:p>
        </p:txBody>
      </p:sp>
      <p:grpSp>
        <p:nvGrpSpPr>
          <p:cNvPr id="4309" name="Google Shape;4309;p32"/>
          <p:cNvGrpSpPr/>
          <p:nvPr/>
        </p:nvGrpSpPr>
        <p:grpSpPr>
          <a:xfrm>
            <a:off x="5144294" y="4194650"/>
            <a:ext cx="1347789" cy="307296"/>
            <a:chOff x="5144294" y="4194650"/>
            <a:chExt cx="1347789" cy="307296"/>
          </a:xfrm>
        </p:grpSpPr>
        <p:grpSp>
          <p:nvGrpSpPr>
            <p:cNvPr id="4310" name="Google Shape;4310;p32"/>
            <p:cNvGrpSpPr/>
            <p:nvPr/>
          </p:nvGrpSpPr>
          <p:grpSpPr>
            <a:xfrm>
              <a:off x="5144294" y="4200321"/>
              <a:ext cx="1347789" cy="301625"/>
              <a:chOff x="286" y="1531"/>
              <a:chExt cx="849" cy="190"/>
            </a:xfrm>
          </p:grpSpPr>
          <p:sp>
            <p:nvSpPr>
              <p:cNvPr id="4311" name="Google Shape;4311;p32"/>
              <p:cNvSpPr/>
              <p:nvPr/>
            </p:nvSpPr>
            <p:spPr>
              <a:xfrm>
                <a:off x="286" y="1549"/>
                <a:ext cx="849"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12" name="Google Shape;4312;p32"/>
              <p:cNvSpPr/>
              <p:nvPr/>
            </p:nvSpPr>
            <p:spPr>
              <a:xfrm>
                <a:off x="873" y="1531"/>
                <a:ext cx="239"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M</a:t>
                </a:r>
                <a:endParaRPr/>
              </a:p>
            </p:txBody>
          </p:sp>
        </p:grpSp>
        <p:sp>
          <p:nvSpPr>
            <p:cNvPr id="4313" name="Google Shape;4313;p32"/>
            <p:cNvSpPr/>
            <p:nvPr/>
          </p:nvSpPr>
          <p:spPr>
            <a:xfrm>
              <a:off x="5696012" y="4211988"/>
              <a:ext cx="296863" cy="26193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t</a:t>
              </a:r>
              <a:endParaRPr/>
            </a:p>
          </p:txBody>
        </p:sp>
        <p:sp>
          <p:nvSpPr>
            <p:cNvPr id="4314" name="Google Shape;4314;p32"/>
            <p:cNvSpPr/>
            <p:nvPr/>
          </p:nvSpPr>
          <p:spPr>
            <a:xfrm>
              <a:off x="5433708" y="4194650"/>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n</a:t>
              </a:r>
              <a:endParaRPr/>
            </a:p>
          </p:txBody>
        </p:sp>
        <p:cxnSp>
          <p:nvCxnSpPr>
            <p:cNvPr id="4315" name="Google Shape;4315;p32"/>
            <p:cNvCxnSpPr/>
            <p:nvPr/>
          </p:nvCxnSpPr>
          <p:spPr>
            <a:xfrm>
              <a:off x="6001149" y="4228896"/>
              <a:ext cx="0" cy="257175"/>
            </a:xfrm>
            <a:prstGeom prst="straightConnector1">
              <a:avLst/>
            </a:prstGeom>
            <a:noFill/>
            <a:ln cap="flat" cmpd="sng" w="9525">
              <a:solidFill>
                <a:schemeClr val="dk1"/>
              </a:solidFill>
              <a:prstDash val="solid"/>
              <a:miter lim="800000"/>
              <a:headEnd len="sm" w="sm" type="none"/>
              <a:tailEnd len="sm" w="sm" type="none"/>
            </a:ln>
          </p:spPr>
        </p:cxnSp>
        <p:cxnSp>
          <p:nvCxnSpPr>
            <p:cNvPr id="4316" name="Google Shape;4316;p32"/>
            <p:cNvCxnSpPr/>
            <p:nvPr/>
          </p:nvCxnSpPr>
          <p:spPr>
            <a:xfrm>
              <a:off x="5720650" y="4227184"/>
              <a:ext cx="0" cy="257175"/>
            </a:xfrm>
            <a:prstGeom prst="straightConnector1">
              <a:avLst/>
            </a:prstGeom>
            <a:noFill/>
            <a:ln cap="flat" cmpd="sng" w="9525">
              <a:solidFill>
                <a:schemeClr val="dk1"/>
              </a:solidFill>
              <a:prstDash val="solid"/>
              <a:miter lim="800000"/>
              <a:headEnd len="sm" w="sm" type="none"/>
              <a:tailEnd len="sm" w="sm" type="none"/>
            </a:ln>
          </p:spPr>
        </p:cxnSp>
        <p:sp>
          <p:nvSpPr>
            <p:cNvPr id="4317" name="Google Shape;4317;p32"/>
            <p:cNvSpPr/>
            <p:nvPr/>
          </p:nvSpPr>
          <p:spPr>
            <a:xfrm>
              <a:off x="5149178" y="4198403"/>
              <a:ext cx="296863" cy="292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Arial"/>
                  <a:ea typeface="Arial"/>
                  <a:cs typeface="Arial"/>
                  <a:sym typeface="Arial"/>
                </a:rPr>
                <a:t>H</a:t>
              </a:r>
              <a:r>
                <a:rPr b="0" baseline="-25000" i="0" lang="en-US" sz="1800" u="none" cap="none" strike="noStrike">
                  <a:solidFill>
                    <a:srgbClr val="000000"/>
                  </a:solidFill>
                  <a:latin typeface="Arial"/>
                  <a:ea typeface="Arial"/>
                  <a:cs typeface="Arial"/>
                  <a:sym typeface="Arial"/>
                </a:rPr>
                <a:t>l</a:t>
              </a:r>
              <a:endParaRPr/>
            </a:p>
          </p:txBody>
        </p:sp>
        <p:cxnSp>
          <p:nvCxnSpPr>
            <p:cNvPr id="4318" name="Google Shape;4318;p32"/>
            <p:cNvCxnSpPr/>
            <p:nvPr/>
          </p:nvCxnSpPr>
          <p:spPr>
            <a:xfrm>
              <a:off x="5418102" y="4226433"/>
              <a:ext cx="0" cy="257175"/>
            </a:xfrm>
            <a:prstGeom prst="straightConnector1">
              <a:avLst/>
            </a:prstGeom>
            <a:noFill/>
            <a:ln cap="flat" cmpd="sng" w="9525">
              <a:solidFill>
                <a:schemeClr val="dk1"/>
              </a:solidFill>
              <a:prstDash val="solid"/>
              <a:miter lim="800000"/>
              <a:headEnd len="sm" w="sm" type="none"/>
              <a:tailEnd len="sm" w="sm" type="none"/>
            </a:ln>
          </p:spPr>
        </p:cxnSp>
      </p:grpSp>
      <p:sp>
        <p:nvSpPr>
          <p:cNvPr id="4319" name="Google Shape;4319;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304"/>
                                        </p:tgtEl>
                                        <p:attrNameLst>
                                          <p:attrName>style.visibility</p:attrName>
                                        </p:attrNameLst>
                                      </p:cBhvr>
                                      <p:to>
                                        <p:strVal val="visible"/>
                                      </p:to>
                                    </p:set>
                                    <p:animEffect filter="fade" transition="in">
                                      <p:cBhvr>
                                        <p:cTn dur="500"/>
                                        <p:tgtEl>
                                          <p:spTgt spid="4304"/>
                                        </p:tgtEl>
                                      </p:cBhvr>
                                    </p:animEffect>
                                  </p:childTnLst>
                                </p:cTn>
                              </p:par>
                              <p:par>
                                <p:cTn fill="hold" nodeType="withEffect" presetClass="entr" presetID="10" presetSubtype="0">
                                  <p:stCondLst>
                                    <p:cond delay="0"/>
                                  </p:stCondLst>
                                  <p:childTnLst>
                                    <p:set>
                                      <p:cBhvr>
                                        <p:cTn dur="1" fill="hold">
                                          <p:stCondLst>
                                            <p:cond delay="0"/>
                                          </p:stCondLst>
                                        </p:cTn>
                                        <p:tgtEl>
                                          <p:spTgt spid="4308"/>
                                        </p:tgtEl>
                                        <p:attrNameLst>
                                          <p:attrName>style.visibility</p:attrName>
                                        </p:attrNameLst>
                                      </p:cBhvr>
                                      <p:to>
                                        <p:strVal val="visible"/>
                                      </p:to>
                                    </p:set>
                                    <p:animEffect filter="fade" transition="in">
                                      <p:cBhvr>
                                        <p:cTn dur="500"/>
                                        <p:tgtEl>
                                          <p:spTgt spid="4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304"/>
                                        </p:tgtEl>
                                      </p:cBhvr>
                                    </p:animEffect>
                                    <p:set>
                                      <p:cBhvr>
                                        <p:cTn dur="1" fill="hold">
                                          <p:stCondLst>
                                            <p:cond delay="500"/>
                                          </p:stCondLst>
                                        </p:cTn>
                                        <p:tgtEl>
                                          <p:spTgt spid="430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308"/>
                                        </p:tgtEl>
                                      </p:cBhvr>
                                    </p:animEffect>
                                    <p:set>
                                      <p:cBhvr>
                                        <p:cTn dur="1" fill="hold">
                                          <p:stCondLst>
                                            <p:cond delay="500"/>
                                          </p:stCondLst>
                                        </p:cTn>
                                        <p:tgtEl>
                                          <p:spTgt spid="430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96"/>
                                        </p:tgtEl>
                                        <p:attrNameLst>
                                          <p:attrName>style.visibility</p:attrName>
                                        </p:attrNameLst>
                                      </p:cBhvr>
                                      <p:to>
                                        <p:strVal val="visible"/>
                                      </p:to>
                                    </p:set>
                                    <p:animEffect filter="fade" transition="in">
                                      <p:cBhvr>
                                        <p:cTn dur="500"/>
                                        <p:tgtEl>
                                          <p:spTgt spid="41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03"/>
                                        </p:tgtEl>
                                        <p:attrNameLst>
                                          <p:attrName>style.visibility</p:attrName>
                                        </p:attrNameLst>
                                      </p:cBhvr>
                                      <p:to>
                                        <p:strVal val="visible"/>
                                      </p:to>
                                    </p:set>
                                    <p:animEffect filter="fade" transition="in">
                                      <p:cBhvr>
                                        <p:cTn dur="500"/>
                                        <p:tgtEl>
                                          <p:spTgt spid="430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272"/>
                                        </p:tgtEl>
                                        <p:attrNameLst>
                                          <p:attrName>style.visibility</p:attrName>
                                        </p:attrNameLst>
                                      </p:cBhvr>
                                      <p:to>
                                        <p:strVal val="visible"/>
                                      </p:to>
                                    </p:set>
                                    <p:animEffect filter="fade" transition="in">
                                      <p:cBhvr>
                                        <p:cTn dur="500"/>
                                        <p:tgtEl>
                                          <p:spTgt spid="4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4" name="Shape 4324"/>
        <p:cNvGrpSpPr/>
        <p:nvPr/>
      </p:nvGrpSpPr>
      <p:grpSpPr>
        <a:xfrm>
          <a:off x="0" y="0"/>
          <a:ext cx="0" cy="0"/>
          <a:chOff x="0" y="0"/>
          <a:chExt cx="0" cy="0"/>
        </a:xfrm>
      </p:grpSpPr>
      <p:sp>
        <p:nvSpPr>
          <p:cNvPr id="4325" name="Google Shape;4325;p3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Application </a:t>
            </a:r>
            <a:r>
              <a:rPr lang="en-US"/>
              <a:t>l</a:t>
            </a:r>
            <a:r>
              <a:rPr lang="en-US" sz="4400"/>
              <a:t>ayer: overview</a:t>
            </a:r>
            <a:endParaRPr sz="4400"/>
          </a:p>
        </p:txBody>
      </p:sp>
      <p:sp>
        <p:nvSpPr>
          <p:cNvPr id="4326" name="Google Shape;4326;p33"/>
          <p:cNvSpPr txBox="1"/>
          <p:nvPr/>
        </p:nvSpPr>
        <p:spPr>
          <a:xfrm>
            <a:off x="747307" y="1406319"/>
            <a:ext cx="5309184" cy="435133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Our goals: </a:t>
            </a:r>
            <a:endParaRPr/>
          </a:p>
          <a:p>
            <a:pPr indent="-346075"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conceptual </a:t>
            </a:r>
            <a:r>
              <a:rPr b="0" i="1" lang="en-US" sz="3200" u="none" cap="none" strike="noStrike">
                <a:solidFill>
                  <a:srgbClr val="000000"/>
                </a:solidFill>
                <a:latin typeface="Calibri"/>
                <a:ea typeface="Calibri"/>
                <a:cs typeface="Calibri"/>
                <a:sym typeface="Calibri"/>
              </a:rPr>
              <a:t>and</a:t>
            </a:r>
            <a:r>
              <a:rPr b="0" i="0" lang="en-US" sz="3200" u="none" cap="none" strike="noStrike">
                <a:solidFill>
                  <a:srgbClr val="000000"/>
                </a:solidFill>
                <a:latin typeface="Calibri"/>
                <a:ea typeface="Calibri"/>
                <a:cs typeface="Calibri"/>
                <a:sym typeface="Calibri"/>
              </a:rPr>
              <a:t> implementation aspects of application-layer protocols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transport-layer service models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client-server paradigm</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peer-to-peer paradigm</a:t>
            </a:r>
            <a:endParaRPr b="0" i="0" sz="2800" u="none" cap="none" strike="noStrike">
              <a:solidFill>
                <a:srgbClr val="000000"/>
              </a:solidFill>
              <a:latin typeface="Calibri"/>
              <a:ea typeface="Calibri"/>
              <a:cs typeface="Calibri"/>
              <a:sym typeface="Calibri"/>
            </a:endParaRPr>
          </a:p>
          <a:p>
            <a:pPr indent="0" lvl="0" marL="352425" marR="0" rtl="0" algn="l">
              <a:lnSpc>
                <a:spcPct val="90000"/>
              </a:lnSpc>
              <a:spcBef>
                <a:spcPts val="1000"/>
              </a:spcBef>
              <a:spcAft>
                <a:spcPts val="0"/>
              </a:spcAft>
              <a:buClr>
                <a:srgbClr val="0000A3"/>
              </a:buClr>
              <a:buSzPts val="3600"/>
              <a:buFont typeface="Noto Sans Symbols"/>
              <a:buNone/>
            </a:pPr>
            <a:r>
              <a:t/>
            </a:r>
            <a:endParaRPr b="0" i="0" sz="3600" u="none" cap="none" strike="noStrike">
              <a:solidFill>
                <a:srgbClr val="000000"/>
              </a:solidFill>
              <a:latin typeface="Calibri"/>
              <a:ea typeface="Calibri"/>
              <a:cs typeface="Calibri"/>
              <a:sym typeface="Calibri"/>
            </a:endParaRPr>
          </a:p>
        </p:txBody>
      </p:sp>
      <p:sp>
        <p:nvSpPr>
          <p:cNvPr id="4327" name="Google Shape;4327;p33"/>
          <p:cNvSpPr txBox="1"/>
          <p:nvPr/>
        </p:nvSpPr>
        <p:spPr>
          <a:xfrm>
            <a:off x="6516985" y="1399497"/>
            <a:ext cx="5405262" cy="4799013"/>
          </a:xfrm>
          <a:prstGeom prst="rect">
            <a:avLst/>
          </a:prstGeom>
          <a:noFill/>
          <a:ln>
            <a:noFill/>
          </a:ln>
        </p:spPr>
        <p:txBody>
          <a:bodyPr anchorCtr="0" anchor="t" bIns="45700" lIns="91425" spcFirstLastPara="1" rIns="91425" wrap="square" tIns="45700">
            <a:normAutofit lnSpcReduction="10000"/>
          </a:bodyPr>
          <a:lstStyle/>
          <a:p>
            <a:pPr indent="-349250" lvl="0" marL="3492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learn about protocols by examining popular application-layer protocols and infrastructure</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HTTP</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SMTP, IMAP</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DNS</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video streaming systems, CDNs</a:t>
            </a:r>
            <a:endParaRPr/>
          </a:p>
          <a:p>
            <a:pPr indent="-349250" lvl="0" marL="3492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programming network applications</a:t>
            </a:r>
            <a:endParaRPr/>
          </a:p>
          <a:p>
            <a:pPr indent="-349250" lvl="1" marL="692150"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socket API</a:t>
            </a:r>
            <a:endParaRPr b="0" i="0" sz="2000" u="none" cap="none" strike="noStrike">
              <a:solidFill>
                <a:srgbClr val="000000"/>
              </a:solidFill>
              <a:latin typeface="Calibri"/>
              <a:ea typeface="Calibri"/>
              <a:cs typeface="Calibri"/>
              <a:sym typeface="Calibri"/>
            </a:endParaRPr>
          </a:p>
        </p:txBody>
      </p:sp>
      <p:sp>
        <p:nvSpPr>
          <p:cNvPr id="4328" name="Google Shape;4328;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7">
                                            <p:txEl>
                                              <p:pRg end="0" st="0"/>
                                            </p:txEl>
                                          </p:spTgt>
                                        </p:tgtEl>
                                        <p:attrNameLst>
                                          <p:attrName>style.visibility</p:attrName>
                                        </p:attrNameLst>
                                      </p:cBhvr>
                                      <p:to>
                                        <p:strVal val="visible"/>
                                      </p:to>
                                    </p:set>
                                    <p:animEffect filter="fade" transition="in">
                                      <p:cBhvr>
                                        <p:cTn dur="500"/>
                                        <p:tgtEl>
                                          <p:spTgt spid="43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7">
                                            <p:txEl>
                                              <p:pRg end="1" st="1"/>
                                            </p:txEl>
                                          </p:spTgt>
                                        </p:tgtEl>
                                        <p:attrNameLst>
                                          <p:attrName>style.visibility</p:attrName>
                                        </p:attrNameLst>
                                      </p:cBhvr>
                                      <p:to>
                                        <p:strVal val="visible"/>
                                      </p:to>
                                    </p:set>
                                    <p:animEffect filter="fade" transition="in">
                                      <p:cBhvr>
                                        <p:cTn dur="500"/>
                                        <p:tgtEl>
                                          <p:spTgt spid="43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7">
                                            <p:txEl>
                                              <p:pRg end="2" st="2"/>
                                            </p:txEl>
                                          </p:spTgt>
                                        </p:tgtEl>
                                        <p:attrNameLst>
                                          <p:attrName>style.visibility</p:attrName>
                                        </p:attrNameLst>
                                      </p:cBhvr>
                                      <p:to>
                                        <p:strVal val="visible"/>
                                      </p:to>
                                    </p:set>
                                    <p:animEffect filter="fade" transition="in">
                                      <p:cBhvr>
                                        <p:cTn dur="500"/>
                                        <p:tgtEl>
                                          <p:spTgt spid="43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7">
                                            <p:txEl>
                                              <p:pRg end="3" st="3"/>
                                            </p:txEl>
                                          </p:spTgt>
                                        </p:tgtEl>
                                        <p:attrNameLst>
                                          <p:attrName>style.visibility</p:attrName>
                                        </p:attrNameLst>
                                      </p:cBhvr>
                                      <p:to>
                                        <p:strVal val="visible"/>
                                      </p:to>
                                    </p:set>
                                    <p:animEffect filter="fade" transition="in">
                                      <p:cBhvr>
                                        <p:cTn dur="500"/>
                                        <p:tgtEl>
                                          <p:spTgt spid="43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7">
                                            <p:txEl>
                                              <p:pRg end="4" st="4"/>
                                            </p:txEl>
                                          </p:spTgt>
                                        </p:tgtEl>
                                        <p:attrNameLst>
                                          <p:attrName>style.visibility</p:attrName>
                                        </p:attrNameLst>
                                      </p:cBhvr>
                                      <p:to>
                                        <p:strVal val="visible"/>
                                      </p:to>
                                    </p:set>
                                    <p:animEffect filter="fade" transition="in">
                                      <p:cBhvr>
                                        <p:cTn dur="500"/>
                                        <p:tgtEl>
                                          <p:spTgt spid="432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7">
                                            <p:txEl>
                                              <p:pRg end="5" st="5"/>
                                            </p:txEl>
                                          </p:spTgt>
                                        </p:tgtEl>
                                        <p:attrNameLst>
                                          <p:attrName>style.visibility</p:attrName>
                                        </p:attrNameLst>
                                      </p:cBhvr>
                                      <p:to>
                                        <p:strVal val="visible"/>
                                      </p:to>
                                    </p:set>
                                    <p:animEffect filter="fade" transition="in">
                                      <p:cBhvr>
                                        <p:cTn dur="500"/>
                                        <p:tgtEl>
                                          <p:spTgt spid="432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7">
                                            <p:txEl>
                                              <p:pRg end="6" st="6"/>
                                            </p:txEl>
                                          </p:spTgt>
                                        </p:tgtEl>
                                        <p:attrNameLst>
                                          <p:attrName>style.visibility</p:attrName>
                                        </p:attrNameLst>
                                      </p:cBhvr>
                                      <p:to>
                                        <p:strVal val="visible"/>
                                      </p:to>
                                    </p:set>
                                    <p:animEffect filter="fade" transition="in">
                                      <p:cBhvr>
                                        <p:cTn dur="500"/>
                                        <p:tgtEl>
                                          <p:spTgt spid="432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3" name="Shape 4333"/>
        <p:cNvGrpSpPr/>
        <p:nvPr/>
      </p:nvGrpSpPr>
      <p:grpSpPr>
        <a:xfrm>
          <a:off x="0" y="0"/>
          <a:ext cx="0" cy="0"/>
          <a:chOff x="0" y="0"/>
          <a:chExt cx="0" cy="0"/>
        </a:xfrm>
      </p:grpSpPr>
      <p:sp>
        <p:nvSpPr>
          <p:cNvPr id="4334" name="Google Shape;4334;p3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An application-layer </a:t>
            </a:r>
            <a:r>
              <a:rPr lang="en-US"/>
              <a:t>p</a:t>
            </a:r>
            <a:r>
              <a:rPr lang="en-US" sz="4400"/>
              <a:t>rotocol </a:t>
            </a:r>
            <a:r>
              <a:rPr lang="en-US"/>
              <a:t>d</a:t>
            </a:r>
            <a:r>
              <a:rPr lang="en-US" sz="4400"/>
              <a:t>efines:</a:t>
            </a:r>
            <a:endParaRPr sz="4400"/>
          </a:p>
        </p:txBody>
      </p:sp>
      <p:sp>
        <p:nvSpPr>
          <p:cNvPr id="4335" name="Google Shape;4335;p34"/>
          <p:cNvSpPr txBox="1"/>
          <p:nvPr/>
        </p:nvSpPr>
        <p:spPr>
          <a:xfrm>
            <a:off x="759182" y="1464838"/>
            <a:ext cx="5297309"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types of messages exchanged,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e.g., request, response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message syntax:</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what fields in messages &amp; how fields are delineated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message semantics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meaning of information in fields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rules</a:t>
            </a:r>
            <a:r>
              <a:rPr b="0" i="0" lang="en-US" sz="2800" u="none" cap="none" strike="noStrike">
                <a:solidFill>
                  <a:srgbClr val="000000"/>
                </a:solidFill>
                <a:latin typeface="Calibri"/>
                <a:ea typeface="Calibri"/>
                <a:cs typeface="Calibri"/>
                <a:sym typeface="Calibri"/>
              </a:rPr>
              <a:t> for when and how processes send &amp; respond to messages</a:t>
            </a:r>
            <a:endParaRPr/>
          </a:p>
        </p:txBody>
      </p:sp>
      <p:sp>
        <p:nvSpPr>
          <p:cNvPr id="4336" name="Google Shape;4336;p34"/>
          <p:cNvSpPr txBox="1"/>
          <p:nvPr/>
        </p:nvSpPr>
        <p:spPr>
          <a:xfrm>
            <a:off x="6555631" y="1474670"/>
            <a:ext cx="4758660" cy="4648200"/>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open protocols:</a:t>
            </a:r>
            <a:endParaRPr/>
          </a:p>
          <a:p>
            <a:pPr indent="-2301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defined in RFCs, everyone has access to protocol definition</a:t>
            </a:r>
            <a:endParaRPr/>
          </a:p>
          <a:p>
            <a:pPr indent="-2301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allows for interoperability</a:t>
            </a:r>
            <a:endParaRPr/>
          </a:p>
          <a:p>
            <a:pPr indent="-2301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e.g., HTTP, SMTP</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proprietary protocols:</a:t>
            </a:r>
            <a:endParaRPr/>
          </a:p>
          <a:p>
            <a:pPr indent="-230187" lvl="0" marL="52705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e.g., Skype, Zoom</a:t>
            </a:r>
            <a:endParaRPr/>
          </a:p>
        </p:txBody>
      </p:sp>
      <p:sp>
        <p:nvSpPr>
          <p:cNvPr id="4337" name="Google Shape;4337;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6">
                                            <p:txEl>
                                              <p:pRg end="0" st="0"/>
                                            </p:txEl>
                                          </p:spTgt>
                                        </p:tgtEl>
                                        <p:attrNameLst>
                                          <p:attrName>style.visibility</p:attrName>
                                        </p:attrNameLst>
                                      </p:cBhvr>
                                      <p:to>
                                        <p:strVal val="visible"/>
                                      </p:to>
                                    </p:set>
                                    <p:animEffect filter="fade" transition="in">
                                      <p:cBhvr>
                                        <p:cTn dur="500"/>
                                        <p:tgtEl>
                                          <p:spTgt spid="43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6">
                                            <p:txEl>
                                              <p:pRg end="1" st="1"/>
                                            </p:txEl>
                                          </p:spTgt>
                                        </p:tgtEl>
                                        <p:attrNameLst>
                                          <p:attrName>style.visibility</p:attrName>
                                        </p:attrNameLst>
                                      </p:cBhvr>
                                      <p:to>
                                        <p:strVal val="visible"/>
                                      </p:to>
                                    </p:set>
                                    <p:animEffect filter="fade" transition="in">
                                      <p:cBhvr>
                                        <p:cTn dur="500"/>
                                        <p:tgtEl>
                                          <p:spTgt spid="43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6">
                                            <p:txEl>
                                              <p:pRg end="2" st="2"/>
                                            </p:txEl>
                                          </p:spTgt>
                                        </p:tgtEl>
                                        <p:attrNameLst>
                                          <p:attrName>style.visibility</p:attrName>
                                        </p:attrNameLst>
                                      </p:cBhvr>
                                      <p:to>
                                        <p:strVal val="visible"/>
                                      </p:to>
                                    </p:set>
                                    <p:animEffect filter="fade" transition="in">
                                      <p:cBhvr>
                                        <p:cTn dur="500"/>
                                        <p:tgtEl>
                                          <p:spTgt spid="43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6">
                                            <p:txEl>
                                              <p:pRg end="3" st="3"/>
                                            </p:txEl>
                                          </p:spTgt>
                                        </p:tgtEl>
                                        <p:attrNameLst>
                                          <p:attrName>style.visibility</p:attrName>
                                        </p:attrNameLst>
                                      </p:cBhvr>
                                      <p:to>
                                        <p:strVal val="visible"/>
                                      </p:to>
                                    </p:set>
                                    <p:animEffect filter="fade" transition="in">
                                      <p:cBhvr>
                                        <p:cTn dur="500"/>
                                        <p:tgtEl>
                                          <p:spTgt spid="43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6">
                                            <p:txEl>
                                              <p:pRg end="4" st="4"/>
                                            </p:txEl>
                                          </p:spTgt>
                                        </p:tgtEl>
                                        <p:attrNameLst>
                                          <p:attrName>style.visibility</p:attrName>
                                        </p:attrNameLst>
                                      </p:cBhvr>
                                      <p:to>
                                        <p:strVal val="visible"/>
                                      </p:to>
                                    </p:set>
                                    <p:animEffect filter="fade" transition="in">
                                      <p:cBhvr>
                                        <p:cTn dur="500"/>
                                        <p:tgtEl>
                                          <p:spTgt spid="43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6">
                                            <p:txEl>
                                              <p:pRg end="5" st="5"/>
                                            </p:txEl>
                                          </p:spTgt>
                                        </p:tgtEl>
                                        <p:attrNameLst>
                                          <p:attrName>style.visibility</p:attrName>
                                        </p:attrNameLst>
                                      </p:cBhvr>
                                      <p:to>
                                        <p:strVal val="visible"/>
                                      </p:to>
                                    </p:set>
                                    <p:animEffect filter="fade" transition="in">
                                      <p:cBhvr>
                                        <p:cTn dur="500"/>
                                        <p:tgtEl>
                                          <p:spTgt spid="433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2" name="Shape 4342"/>
        <p:cNvGrpSpPr/>
        <p:nvPr/>
      </p:nvGrpSpPr>
      <p:grpSpPr>
        <a:xfrm>
          <a:off x="0" y="0"/>
          <a:ext cx="0" cy="0"/>
          <a:chOff x="0" y="0"/>
          <a:chExt cx="0" cy="0"/>
        </a:xfrm>
      </p:grpSpPr>
      <p:sp>
        <p:nvSpPr>
          <p:cNvPr id="4343" name="Google Shape;4343;p3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What </a:t>
            </a:r>
            <a:r>
              <a:rPr lang="en-US"/>
              <a:t>t</a:t>
            </a:r>
            <a:r>
              <a:rPr lang="en-US" sz="4400"/>
              <a:t>ransport </a:t>
            </a:r>
            <a:r>
              <a:rPr lang="en-US"/>
              <a:t>s</a:t>
            </a:r>
            <a:r>
              <a:rPr lang="en-US" sz="4400"/>
              <a:t>ervice does an </a:t>
            </a:r>
            <a:r>
              <a:rPr lang="en-US"/>
              <a:t>a</a:t>
            </a:r>
            <a:r>
              <a:rPr lang="en-US" sz="4400"/>
              <a:t>pp need?</a:t>
            </a:r>
            <a:endParaRPr sz="4400"/>
          </a:p>
        </p:txBody>
      </p:sp>
      <p:sp>
        <p:nvSpPr>
          <p:cNvPr id="4344" name="Google Shape;4344;p35"/>
          <p:cNvSpPr txBox="1"/>
          <p:nvPr/>
        </p:nvSpPr>
        <p:spPr>
          <a:xfrm>
            <a:off x="676025" y="1406872"/>
            <a:ext cx="4972505" cy="2797175"/>
          </a:xfrm>
          <a:prstGeom prst="rect">
            <a:avLst/>
          </a:prstGeom>
          <a:noFill/>
          <a:ln>
            <a:noFill/>
          </a:ln>
        </p:spPr>
        <p:txBody>
          <a:bodyPr anchorCtr="0" anchor="t" bIns="45700" lIns="91425" spcFirstLastPara="1" rIns="91425" wrap="square" tIns="45700">
            <a:noAutofit/>
          </a:bodyPr>
          <a:lstStyle/>
          <a:p>
            <a:pPr indent="-219075" lvl="0" marL="233363"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data integrity</a:t>
            </a:r>
            <a:endParaRPr/>
          </a:p>
          <a:p>
            <a:pPr indent="-219075" lvl="0" marL="233363"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some apps (e.g., file transfer, web transactions) require 100% reliable data transfer</a:t>
            </a:r>
            <a:r>
              <a:rPr b="0" i="0" lang="en-US" sz="3200" u="none" cap="none" strike="noStrike">
                <a:solidFill>
                  <a:srgbClr val="000000"/>
                </a:solidFill>
                <a:latin typeface="Calibri"/>
                <a:ea typeface="Calibri"/>
                <a:cs typeface="Calibri"/>
                <a:sym typeface="Calibri"/>
              </a:rPr>
              <a:t> </a:t>
            </a:r>
            <a:endParaRPr/>
          </a:p>
          <a:p>
            <a:pPr indent="-233363" lvl="0" marL="233363"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other apps (e.g., audio) can tolerate some loss</a:t>
            </a:r>
            <a:endParaRPr/>
          </a:p>
          <a:p>
            <a:pPr indent="-19050" lvl="0" marL="352425" marR="0" rtl="0" algn="l">
              <a:lnSpc>
                <a:spcPct val="90000"/>
              </a:lnSpc>
              <a:spcBef>
                <a:spcPts val="6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4345" name="Google Shape;4345;p35"/>
          <p:cNvSpPr txBox="1"/>
          <p:nvPr/>
        </p:nvSpPr>
        <p:spPr>
          <a:xfrm>
            <a:off x="544999" y="4365808"/>
            <a:ext cx="5572612" cy="2443163"/>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timing</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some apps (e.g., Internet telephony, interactive games) require low delay to be “effective”</a:t>
            </a:r>
            <a:endParaRPr b="0" i="0" sz="2800" u="none" cap="none" strike="noStrike">
              <a:solidFill>
                <a:srgbClr val="000000"/>
              </a:solidFill>
              <a:latin typeface="Calibri"/>
              <a:ea typeface="Calibri"/>
              <a:cs typeface="Calibri"/>
              <a:sym typeface="Calibri"/>
            </a:endParaRPr>
          </a:p>
        </p:txBody>
      </p:sp>
      <p:sp>
        <p:nvSpPr>
          <p:cNvPr id="4346" name="Google Shape;4346;p35"/>
          <p:cNvSpPr/>
          <p:nvPr/>
        </p:nvSpPr>
        <p:spPr>
          <a:xfrm>
            <a:off x="6586691" y="1377376"/>
            <a:ext cx="4972505" cy="33623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throughput</a:t>
            </a:r>
            <a:endParaRPr/>
          </a:p>
          <a:p>
            <a:pPr indent="-342900" lvl="0" marL="342900" marR="0" rtl="0" algn="l">
              <a:lnSpc>
                <a:spcPct val="90000"/>
              </a:lnSpc>
              <a:spcBef>
                <a:spcPts val="60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some apps (e.g., multimedia) require minimum amount of throughput to be “effective”</a:t>
            </a:r>
            <a:endParaRPr/>
          </a:p>
          <a:p>
            <a:pPr indent="-342900" lvl="0" marL="342900" marR="0" rtl="0" algn="l">
              <a:lnSpc>
                <a:spcPct val="90000"/>
              </a:lnSpc>
              <a:spcBef>
                <a:spcPts val="60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other apps (“elastic apps”) make use of whatever throughput they get </a:t>
            </a:r>
            <a:endParaRPr b="0" i="0" sz="2800" u="none" cap="none" strike="noStrike">
              <a:solidFill>
                <a:srgbClr val="000000"/>
              </a:solidFill>
              <a:latin typeface="Calibri"/>
              <a:ea typeface="Calibri"/>
              <a:cs typeface="Calibri"/>
              <a:sym typeface="Calibri"/>
            </a:endParaRPr>
          </a:p>
        </p:txBody>
      </p:sp>
      <p:sp>
        <p:nvSpPr>
          <p:cNvPr id="4347" name="Google Shape;4347;p35"/>
          <p:cNvSpPr/>
          <p:nvPr/>
        </p:nvSpPr>
        <p:spPr>
          <a:xfrm>
            <a:off x="6640666" y="4830189"/>
            <a:ext cx="4533593" cy="12715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security</a:t>
            </a:r>
            <a:endParaRPr/>
          </a:p>
          <a:p>
            <a:pPr indent="-342900" lvl="0" marL="342900" marR="0" rtl="0" algn="l">
              <a:lnSpc>
                <a:spcPct val="90000"/>
              </a:lnSpc>
              <a:spcBef>
                <a:spcPts val="60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encryption, data integrity, …</a:t>
            </a:r>
            <a:endParaRPr/>
          </a:p>
        </p:txBody>
      </p:sp>
      <p:sp>
        <p:nvSpPr>
          <p:cNvPr id="4348" name="Google Shape;4348;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Arial"/>
              <a:buNone/>
            </a:pPr>
            <a:r>
              <a:rPr lang="en-US" sz="1100">
                <a:solidFill>
                  <a:srgbClr val="7F7F7F"/>
                </a:solidFill>
                <a:latin typeface="Arial"/>
                <a:ea typeface="Arial"/>
                <a:cs typeface="Arial"/>
                <a:sym typeface="Arial"/>
              </a:rPr>
              <a:t>Application Layer: 2-</a:t>
            </a:r>
            <a:fld id="{00000000-1234-1234-1234-123412341234}" type="slidenum">
              <a:rPr lang="en-US" sz="1100">
                <a:solidFill>
                  <a:srgbClr val="7F7F7F"/>
                </a:solidFill>
                <a:latin typeface="Arial"/>
                <a:ea typeface="Arial"/>
                <a:cs typeface="Arial"/>
                <a:sym typeface="Arial"/>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5">
                                            <p:txEl>
                                              <p:pRg end="0" st="0"/>
                                            </p:txEl>
                                          </p:spTgt>
                                        </p:tgtEl>
                                        <p:attrNameLst>
                                          <p:attrName>style.visibility</p:attrName>
                                        </p:attrNameLst>
                                      </p:cBhvr>
                                      <p:to>
                                        <p:strVal val="visible"/>
                                      </p:to>
                                    </p:set>
                                    <p:animEffect filter="fade" transition="in">
                                      <p:cBhvr>
                                        <p:cTn dur="500"/>
                                        <p:tgtEl>
                                          <p:spTgt spid="43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5">
                                            <p:txEl>
                                              <p:pRg end="1" st="1"/>
                                            </p:txEl>
                                          </p:spTgt>
                                        </p:tgtEl>
                                        <p:attrNameLst>
                                          <p:attrName>style.visibility</p:attrName>
                                        </p:attrNameLst>
                                      </p:cBhvr>
                                      <p:to>
                                        <p:strVal val="visible"/>
                                      </p:to>
                                    </p:set>
                                    <p:animEffect filter="fade" transition="in">
                                      <p:cBhvr>
                                        <p:cTn dur="500"/>
                                        <p:tgtEl>
                                          <p:spTgt spid="43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6"/>
                                        </p:tgtEl>
                                        <p:attrNameLst>
                                          <p:attrName>style.visibility</p:attrName>
                                        </p:attrNameLst>
                                      </p:cBhvr>
                                      <p:to>
                                        <p:strVal val="visible"/>
                                      </p:to>
                                    </p:set>
                                    <p:animEffect filter="fade" transition="in">
                                      <p:cBhvr>
                                        <p:cTn dur="500"/>
                                        <p:tgtEl>
                                          <p:spTgt spid="4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7">
                                            <p:txEl>
                                              <p:pRg end="0" st="0"/>
                                            </p:txEl>
                                          </p:spTgt>
                                        </p:tgtEl>
                                        <p:attrNameLst>
                                          <p:attrName>style.visibility</p:attrName>
                                        </p:attrNameLst>
                                      </p:cBhvr>
                                      <p:to>
                                        <p:strVal val="visible"/>
                                      </p:to>
                                    </p:set>
                                    <p:animEffect filter="fade" transition="in">
                                      <p:cBhvr>
                                        <p:cTn dur="500"/>
                                        <p:tgtEl>
                                          <p:spTgt spid="43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7">
                                            <p:txEl>
                                              <p:pRg end="1" st="1"/>
                                            </p:txEl>
                                          </p:spTgt>
                                        </p:tgtEl>
                                        <p:attrNameLst>
                                          <p:attrName>style.visibility</p:attrName>
                                        </p:attrNameLst>
                                      </p:cBhvr>
                                      <p:to>
                                        <p:strVal val="visible"/>
                                      </p:to>
                                    </p:set>
                                    <p:animEffect filter="fade" transition="in">
                                      <p:cBhvr>
                                        <p:cTn dur="500"/>
                                        <p:tgtEl>
                                          <p:spTgt spid="434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52" name="Shape 4352"/>
        <p:cNvGrpSpPr/>
        <p:nvPr/>
      </p:nvGrpSpPr>
      <p:grpSpPr>
        <a:xfrm>
          <a:off x="0" y="0"/>
          <a:ext cx="0" cy="0"/>
          <a:chOff x="0" y="0"/>
          <a:chExt cx="0" cy="0"/>
        </a:xfrm>
      </p:grpSpPr>
      <p:sp>
        <p:nvSpPr>
          <p:cNvPr id="4353" name="Google Shape;4353;p3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bstract background" id="4354" name="Google Shape;4354;p36"/>
          <p:cNvPicPr preferRelativeResize="0"/>
          <p:nvPr/>
        </p:nvPicPr>
        <p:blipFill rotWithShape="1">
          <a:blip r:embed="rId3">
            <a:alphaModFix/>
          </a:blip>
          <a:srcRect b="0" l="46110" r="6556" t="0"/>
          <a:stretch/>
        </p:blipFill>
        <p:spPr>
          <a:xfrm>
            <a:off x="-1" y="-2"/>
            <a:ext cx="5410198" cy="6858002"/>
          </a:xfrm>
          <a:prstGeom prst="rect">
            <a:avLst/>
          </a:prstGeom>
          <a:noFill/>
          <a:ln>
            <a:noFill/>
          </a:ln>
        </p:spPr>
      </p:pic>
      <p:sp>
        <p:nvSpPr>
          <p:cNvPr id="4355" name="Google Shape;4355;p36"/>
          <p:cNvSpPr/>
          <p:nvPr/>
        </p:nvSpPr>
        <p:spPr>
          <a:xfrm>
            <a:off x="5410197" y="-1"/>
            <a:ext cx="6781802" cy="2286000"/>
          </a:xfrm>
          <a:prstGeom prst="rect">
            <a:avLst/>
          </a:prstGeom>
          <a:solidFill>
            <a:schemeClr val="lt1"/>
          </a:solidFill>
          <a:ln>
            <a:noFill/>
          </a:ln>
          <a:effectLst>
            <a:outerShdw blurRad="355600" sx="95000" rotWithShape="0" algn="t" dist="152400" sy="95000">
              <a:srgbClr val="000000">
                <a:alpha val="2862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56" name="Google Shape;4356;p36"/>
          <p:cNvSpPr txBox="1"/>
          <p:nvPr>
            <p:ph type="title"/>
          </p:nvPr>
        </p:nvSpPr>
        <p:spPr>
          <a:xfrm>
            <a:off x="6115317" y="405685"/>
            <a:ext cx="5464968" cy="15593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Network Programming</a:t>
            </a:r>
            <a:endParaRPr/>
          </a:p>
        </p:txBody>
      </p:sp>
      <p:sp>
        <p:nvSpPr>
          <p:cNvPr id="4357" name="Google Shape;4357;p36"/>
          <p:cNvSpPr txBox="1"/>
          <p:nvPr>
            <p:ph idx="1" type="body"/>
          </p:nvPr>
        </p:nvSpPr>
        <p:spPr>
          <a:xfrm>
            <a:off x="6115317" y="2743200"/>
            <a:ext cx="5247340" cy="3496878"/>
          </a:xfrm>
          <a:prstGeom prst="rect">
            <a:avLst/>
          </a:prstGeom>
          <a:noFill/>
          <a:ln>
            <a:noFill/>
          </a:ln>
        </p:spPr>
        <p:txBody>
          <a:bodyPr anchorCtr="0" anchor="ctr" bIns="45700" lIns="91425" spcFirstLastPara="1" rIns="91425" wrap="square" tIns="45700">
            <a:normAutofit/>
          </a:bodyPr>
          <a:lstStyle/>
          <a:p>
            <a:pPr indent="-311143" lvl="0" marL="311143" rtl="0" algn="l">
              <a:lnSpc>
                <a:spcPct val="90000"/>
              </a:lnSpc>
              <a:spcBef>
                <a:spcPts val="0"/>
              </a:spcBef>
              <a:spcAft>
                <a:spcPts val="0"/>
              </a:spcAft>
              <a:buClr>
                <a:schemeClr val="dk1"/>
              </a:buClr>
              <a:buSzPts val="2000"/>
              <a:buFont typeface="Noto Sans Symbols"/>
              <a:buChar char="▪"/>
            </a:pPr>
            <a:r>
              <a:rPr lang="en-US" sz="2000"/>
              <a:t>Network Programming involves </a:t>
            </a:r>
            <a:r>
              <a:rPr b="1" lang="en-US" sz="2000"/>
              <a:t>writing programs </a:t>
            </a:r>
            <a:r>
              <a:rPr lang="en-US" sz="2000"/>
              <a:t>that </a:t>
            </a:r>
            <a:r>
              <a:rPr b="1" lang="en-US" sz="2000"/>
              <a:t>communicate</a:t>
            </a:r>
            <a:r>
              <a:rPr lang="en-US" sz="2000"/>
              <a:t> with other programs </a:t>
            </a:r>
            <a:r>
              <a:rPr b="1" lang="en-US" sz="2000"/>
              <a:t>across</a:t>
            </a:r>
            <a:r>
              <a:rPr lang="en-US" sz="2000"/>
              <a:t> a computer </a:t>
            </a:r>
            <a:r>
              <a:rPr b="1" lang="en-US" sz="2000"/>
              <a:t>network.</a:t>
            </a:r>
            <a:endParaRPr/>
          </a:p>
          <a:p>
            <a:pPr indent="-184143" lvl="0" marL="311143" rtl="0" algn="l">
              <a:lnSpc>
                <a:spcPct val="90000"/>
              </a:lnSpc>
              <a:spcBef>
                <a:spcPts val="1000"/>
              </a:spcBef>
              <a:spcAft>
                <a:spcPts val="0"/>
              </a:spcAft>
              <a:buClr>
                <a:schemeClr val="dk1"/>
              </a:buClr>
              <a:buSzPts val="2000"/>
              <a:buFont typeface="Noto Sans Symbols"/>
              <a:buNone/>
            </a:pPr>
            <a:r>
              <a:t/>
            </a:r>
            <a:endParaRPr sz="2000"/>
          </a:p>
          <a:p>
            <a:pPr indent="-311143" lvl="0" marL="311143" rtl="0" algn="l">
              <a:lnSpc>
                <a:spcPct val="90000"/>
              </a:lnSpc>
              <a:spcBef>
                <a:spcPts val="1000"/>
              </a:spcBef>
              <a:spcAft>
                <a:spcPts val="0"/>
              </a:spcAft>
              <a:buClr>
                <a:schemeClr val="dk1"/>
              </a:buClr>
              <a:buSzPts val="2000"/>
              <a:buFont typeface="Noto Sans Symbols"/>
              <a:buChar char="▪"/>
            </a:pPr>
            <a:r>
              <a:rPr lang="en-US" sz="2000"/>
              <a:t>Design network application:</a:t>
            </a:r>
            <a:endParaRPr/>
          </a:p>
          <a:p>
            <a:pPr indent="-298442" lvl="0" marL="609585" rtl="0" algn="l">
              <a:lnSpc>
                <a:spcPct val="90000"/>
              </a:lnSpc>
              <a:spcBef>
                <a:spcPts val="1000"/>
              </a:spcBef>
              <a:spcAft>
                <a:spcPts val="0"/>
              </a:spcAft>
              <a:buClr>
                <a:schemeClr val="dk1"/>
              </a:buClr>
              <a:buSzPts val="2000"/>
              <a:buFont typeface="Arial"/>
              <a:buChar char="•"/>
            </a:pPr>
            <a:r>
              <a:rPr lang="en-US" sz="2000"/>
              <a:t>Security</a:t>
            </a:r>
            <a:endParaRPr/>
          </a:p>
          <a:p>
            <a:pPr indent="-298442" lvl="0" marL="609585" rtl="0" algn="l">
              <a:lnSpc>
                <a:spcPct val="90000"/>
              </a:lnSpc>
              <a:spcBef>
                <a:spcPts val="1000"/>
              </a:spcBef>
              <a:spcAft>
                <a:spcPts val="0"/>
              </a:spcAft>
              <a:buClr>
                <a:schemeClr val="dk1"/>
              </a:buClr>
              <a:buSzPts val="2000"/>
              <a:buFont typeface="Arial"/>
              <a:buChar char="•"/>
            </a:pPr>
            <a:r>
              <a:rPr lang="en-US" sz="2000"/>
              <a:t>High performance</a:t>
            </a:r>
            <a:endParaRPr/>
          </a:p>
          <a:p>
            <a:pPr indent="-298442" lvl="0" marL="609585" rtl="0" algn="l">
              <a:lnSpc>
                <a:spcPct val="90000"/>
              </a:lnSpc>
              <a:spcBef>
                <a:spcPts val="1000"/>
              </a:spcBef>
              <a:spcAft>
                <a:spcPts val="0"/>
              </a:spcAft>
              <a:buClr>
                <a:schemeClr val="dk1"/>
              </a:buClr>
              <a:buSzPts val="2000"/>
              <a:buFont typeface="Arial"/>
              <a:buChar char="•"/>
            </a:pPr>
            <a:r>
              <a:rPr lang="en-US" sz="2000"/>
              <a:t>Scalability</a:t>
            </a:r>
            <a:endParaRPr/>
          </a:p>
          <a:p>
            <a:pPr indent="-184143" lvl="0" marL="311143" rtl="0" algn="l">
              <a:lnSpc>
                <a:spcPct val="90000"/>
              </a:lnSpc>
              <a:spcBef>
                <a:spcPts val="1000"/>
              </a:spcBef>
              <a:spcAft>
                <a:spcPts val="0"/>
              </a:spcAft>
              <a:buClr>
                <a:schemeClr val="dk1"/>
              </a:buClr>
              <a:buSzPts val="2000"/>
              <a:buFont typeface="Noto Sans Symbols"/>
              <a:buNone/>
            </a:pPr>
            <a:r>
              <a:t/>
            </a:r>
            <a:endParaRPr sz="2000"/>
          </a:p>
        </p:txBody>
      </p:sp>
      <p:sp>
        <p:nvSpPr>
          <p:cNvPr id="4358" name="Google Shape;4358;p36"/>
          <p:cNvSpPr txBox="1"/>
          <p:nvPr>
            <p:ph idx="12" type="sldNum"/>
          </p:nvPr>
        </p:nvSpPr>
        <p:spPr>
          <a:xfrm>
            <a:off x="8732520" y="6356350"/>
            <a:ext cx="32004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chemeClr val="dk1"/>
                </a:solidFill>
                <a:latin typeface="Arial"/>
                <a:ea typeface="Arial"/>
                <a:cs typeface="Arial"/>
                <a:sym typeface="Arial"/>
              </a:rPr>
              <a:t>‹#›</a:t>
            </a:fld>
            <a:endParaRPr>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62" name="Shape 4362"/>
        <p:cNvGrpSpPr/>
        <p:nvPr/>
      </p:nvGrpSpPr>
      <p:grpSpPr>
        <a:xfrm>
          <a:off x="0" y="0"/>
          <a:ext cx="0" cy="0"/>
          <a:chOff x="0" y="0"/>
          <a:chExt cx="0" cy="0"/>
        </a:xfrm>
      </p:grpSpPr>
      <p:sp>
        <p:nvSpPr>
          <p:cNvPr id="4363" name="Google Shape;4363;p3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64" name="Google Shape;4364;p37"/>
          <p:cNvSpPr/>
          <p:nvPr/>
        </p:nvSpPr>
        <p:spPr>
          <a:xfrm>
            <a:off x="0" y="0"/>
            <a:ext cx="5653438" cy="6858000"/>
          </a:xfrm>
          <a:custGeom>
            <a:rect b="b" l="l" r="r" t="t"/>
            <a:pathLst>
              <a:path extrusionOk="0" h="6858000" w="6096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65" name="Google Shape;4365;p37"/>
          <p:cNvSpPr txBox="1"/>
          <p:nvPr>
            <p:ph type="title"/>
          </p:nvPr>
        </p:nvSpPr>
        <p:spPr>
          <a:xfrm>
            <a:off x="838200" y="609600"/>
            <a:ext cx="3739341" cy="133083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Data encapsulation</a:t>
            </a:r>
            <a:endParaRPr/>
          </a:p>
        </p:txBody>
      </p:sp>
      <p:sp>
        <p:nvSpPr>
          <p:cNvPr id="4366" name="Google Shape;4366;p37"/>
          <p:cNvSpPr txBox="1"/>
          <p:nvPr/>
        </p:nvSpPr>
        <p:spPr>
          <a:xfrm>
            <a:off x="862366" y="2194102"/>
            <a:ext cx="3427001" cy="390858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Lower levels are responsible for handling data for the higher levels </a:t>
            </a:r>
            <a:r>
              <a:rPr b="0" i="0" lang="en-US" sz="1600" u="none" cap="none" strike="noStrike">
                <a:solidFill>
                  <a:srgbClr val="000000"/>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these lower-level data structures must encapsulate data from the higher levels.</a:t>
            </a:r>
            <a:endParaRPr/>
          </a:p>
          <a:p>
            <a:pPr indent="0" lvl="0" marL="0" marR="0" rtl="0" algn="l">
              <a:lnSpc>
                <a:spcPct val="90000"/>
              </a:lnSpc>
              <a:spcBef>
                <a:spcPts val="10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t>
            </a:r>
            <a:r>
              <a:rPr b="0"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 when programming an application, only need to consider the highest-level protocol. </a:t>
            </a:r>
            <a:endParaRPr/>
          </a:p>
          <a:p>
            <a:pPr indent="-127000" lvl="0" marL="228600" marR="0" rtl="0" algn="l">
              <a:lnSpc>
                <a:spcPct val="90000"/>
              </a:lnSpc>
              <a:spcBef>
                <a:spcPts val="100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When communicating over a network, data must be processed down through the layers at the sender and up again through the layers at the receiver.</a:t>
            </a:r>
            <a:endParaRPr/>
          </a:p>
        </p:txBody>
      </p:sp>
      <p:pic>
        <p:nvPicPr>
          <p:cNvPr id="4367" name="Google Shape;4367;p37"/>
          <p:cNvPicPr preferRelativeResize="0"/>
          <p:nvPr/>
        </p:nvPicPr>
        <p:blipFill rotWithShape="1">
          <a:blip r:embed="rId3">
            <a:alphaModFix/>
          </a:blip>
          <a:srcRect b="0" l="0" r="0" t="0"/>
          <a:stretch/>
        </p:blipFill>
        <p:spPr>
          <a:xfrm>
            <a:off x="5445457" y="771079"/>
            <a:ext cx="6155141" cy="533958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1" name="Shape 4371"/>
        <p:cNvGrpSpPr/>
        <p:nvPr/>
      </p:nvGrpSpPr>
      <p:grpSpPr>
        <a:xfrm>
          <a:off x="0" y="0"/>
          <a:ext cx="0" cy="0"/>
          <a:chOff x="0" y="0"/>
          <a:chExt cx="0" cy="0"/>
        </a:xfrm>
      </p:grpSpPr>
      <p:sp>
        <p:nvSpPr>
          <p:cNvPr id="4372" name="Google Shape;4372;p38"/>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4800"/>
              <a:buFont typeface="Play"/>
              <a:buNone/>
            </a:pPr>
            <a:r>
              <a:rPr lang="en-US"/>
              <a:t>3. Data encapsulation</a:t>
            </a:r>
            <a:endParaRPr/>
          </a:p>
        </p:txBody>
      </p:sp>
      <p:sp>
        <p:nvSpPr>
          <p:cNvPr id="4373" name="Google Shape;4373;p38"/>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p>
            <a:pPr indent="-228600" lvl="0" marL="228600" rtl="0" algn="ctr">
              <a:lnSpc>
                <a:spcPct val="90000"/>
              </a:lnSpc>
              <a:spcBef>
                <a:spcPts val="0"/>
              </a:spcBef>
              <a:spcAft>
                <a:spcPts val="0"/>
              </a:spcAft>
              <a:buClr>
                <a:schemeClr val="dk1"/>
              </a:buClr>
              <a:buSzPts val="2133"/>
              <a:buNone/>
            </a:pPr>
            <a:r>
              <a:t/>
            </a:r>
            <a:endParaRPr b="1" sz="2133"/>
          </a:p>
        </p:txBody>
      </p:sp>
      <p:sp>
        <p:nvSpPr>
          <p:cNvPr id="4374" name="Google Shape;4374;p38"/>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
        <p:nvSpPr>
          <p:cNvPr id="4375" name="Google Shape;4375;p38"/>
          <p:cNvSpPr txBox="1"/>
          <p:nvPr/>
        </p:nvSpPr>
        <p:spPr>
          <a:xfrm>
            <a:off x="629920" y="1632683"/>
            <a:ext cx="10972800" cy="4859556"/>
          </a:xfrm>
          <a:prstGeom prst="rect">
            <a:avLst/>
          </a:prstGeom>
          <a:noFill/>
          <a:ln>
            <a:noFill/>
          </a:ln>
        </p:spPr>
        <p:txBody>
          <a:bodyPr anchorCtr="0" anchor="t" bIns="121900" lIns="121900" spcFirstLastPara="1" rIns="121900" wrap="square" tIns="121900">
            <a:normAutofit/>
          </a:bodyPr>
          <a:lstStyle/>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For example:</a:t>
            </a:r>
            <a:endParaRPr/>
          </a:p>
          <a:p>
            <a:pPr indent="0" lvl="0" marL="0" marR="0" rtl="0" algn="l">
              <a:lnSpc>
                <a:spcPct val="150000"/>
              </a:lnSpc>
              <a:spcBef>
                <a:spcPts val="0"/>
              </a:spcBef>
              <a:spcAft>
                <a:spcPts val="0"/>
              </a:spcAft>
              <a:buClr>
                <a:srgbClr val="000000"/>
              </a:buClr>
              <a:buSzPts val="2133"/>
              <a:buFont typeface="Arial"/>
              <a:buNone/>
            </a:pPr>
            <a:r>
              <a:t/>
            </a:r>
            <a:endParaRPr b="0" i="0" sz="2133" u="none" cap="none" strike="noStrike">
              <a:solidFill>
                <a:srgbClr val="000000"/>
              </a:solidFill>
              <a:latin typeface="Arial"/>
              <a:ea typeface="Arial"/>
              <a:cs typeface="Arial"/>
              <a:sym typeface="Arial"/>
            </a:endParaRPr>
          </a:p>
        </p:txBody>
      </p:sp>
      <p:pic>
        <p:nvPicPr>
          <p:cNvPr id="4376" name="Google Shape;4376;p38"/>
          <p:cNvPicPr preferRelativeResize="0"/>
          <p:nvPr/>
        </p:nvPicPr>
        <p:blipFill rotWithShape="1">
          <a:blip r:embed="rId3">
            <a:alphaModFix/>
          </a:blip>
          <a:srcRect b="0" l="0" r="0" t="0"/>
          <a:stretch/>
        </p:blipFill>
        <p:spPr>
          <a:xfrm>
            <a:off x="56749" y="2560459"/>
            <a:ext cx="1334464" cy="925119"/>
          </a:xfrm>
          <a:prstGeom prst="rect">
            <a:avLst/>
          </a:prstGeom>
          <a:noFill/>
          <a:ln>
            <a:noFill/>
          </a:ln>
        </p:spPr>
      </p:pic>
      <p:pic>
        <p:nvPicPr>
          <p:cNvPr id="4377" name="Google Shape;4377;p38"/>
          <p:cNvPicPr preferRelativeResize="0"/>
          <p:nvPr/>
        </p:nvPicPr>
        <p:blipFill rotWithShape="1">
          <a:blip r:embed="rId4">
            <a:alphaModFix/>
          </a:blip>
          <a:srcRect b="0" l="0" r="0" t="0"/>
          <a:stretch/>
        </p:blipFill>
        <p:spPr>
          <a:xfrm>
            <a:off x="1751253" y="2560460"/>
            <a:ext cx="1489660" cy="1245453"/>
          </a:xfrm>
          <a:prstGeom prst="rect">
            <a:avLst/>
          </a:prstGeom>
          <a:noFill/>
          <a:ln>
            <a:noFill/>
          </a:ln>
        </p:spPr>
      </p:pic>
      <p:pic>
        <p:nvPicPr>
          <p:cNvPr id="4378" name="Google Shape;4378;p38"/>
          <p:cNvPicPr preferRelativeResize="0"/>
          <p:nvPr/>
        </p:nvPicPr>
        <p:blipFill rotWithShape="1">
          <a:blip r:embed="rId5">
            <a:alphaModFix/>
          </a:blip>
          <a:srcRect b="0" l="0" r="0" t="0"/>
          <a:stretch/>
        </p:blipFill>
        <p:spPr>
          <a:xfrm>
            <a:off x="3916879" y="2560459"/>
            <a:ext cx="1963060" cy="1866359"/>
          </a:xfrm>
          <a:prstGeom prst="rect">
            <a:avLst/>
          </a:prstGeom>
          <a:noFill/>
          <a:ln>
            <a:noFill/>
          </a:ln>
        </p:spPr>
      </p:pic>
      <p:pic>
        <p:nvPicPr>
          <p:cNvPr id="4379" name="Google Shape;4379;p38"/>
          <p:cNvPicPr preferRelativeResize="0"/>
          <p:nvPr/>
        </p:nvPicPr>
        <p:blipFill rotWithShape="1">
          <a:blip r:embed="rId6">
            <a:alphaModFix/>
          </a:blip>
          <a:srcRect b="0" l="0" r="0" t="0"/>
          <a:stretch/>
        </p:blipFill>
        <p:spPr>
          <a:xfrm>
            <a:off x="6664403" y="2543830"/>
            <a:ext cx="2306696" cy="2410135"/>
          </a:xfrm>
          <a:prstGeom prst="rect">
            <a:avLst/>
          </a:prstGeom>
          <a:noFill/>
          <a:ln>
            <a:noFill/>
          </a:ln>
        </p:spPr>
      </p:pic>
      <p:pic>
        <p:nvPicPr>
          <p:cNvPr id="4380" name="Google Shape;4380;p38"/>
          <p:cNvPicPr preferRelativeResize="0"/>
          <p:nvPr/>
        </p:nvPicPr>
        <p:blipFill rotWithShape="1">
          <a:blip r:embed="rId7">
            <a:alphaModFix/>
          </a:blip>
          <a:srcRect b="0" l="0" r="0" t="0"/>
          <a:stretch/>
        </p:blipFill>
        <p:spPr>
          <a:xfrm>
            <a:off x="9627035" y="2560459"/>
            <a:ext cx="2508216" cy="2817872"/>
          </a:xfrm>
          <a:prstGeom prst="rect">
            <a:avLst/>
          </a:prstGeom>
          <a:noFill/>
          <a:ln>
            <a:noFill/>
          </a:ln>
        </p:spPr>
      </p:pic>
      <p:cxnSp>
        <p:nvCxnSpPr>
          <p:cNvPr id="4381" name="Google Shape;4381;p38"/>
          <p:cNvCxnSpPr/>
          <p:nvPr/>
        </p:nvCxnSpPr>
        <p:spPr>
          <a:xfrm>
            <a:off x="1391214" y="2993985"/>
            <a:ext cx="360039"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4382" name="Google Shape;4382;p38"/>
          <p:cNvCxnSpPr/>
          <p:nvPr/>
        </p:nvCxnSpPr>
        <p:spPr>
          <a:xfrm>
            <a:off x="3443791" y="2993985"/>
            <a:ext cx="360039"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4383" name="Google Shape;4383;p38"/>
          <p:cNvCxnSpPr/>
          <p:nvPr/>
        </p:nvCxnSpPr>
        <p:spPr>
          <a:xfrm>
            <a:off x="6096001" y="3024852"/>
            <a:ext cx="360039" cy="0"/>
          </a:xfrm>
          <a:prstGeom prst="straightConnector1">
            <a:avLst/>
          </a:prstGeom>
          <a:noFill/>
          <a:ln cap="flat" cmpd="sng" w="28575">
            <a:solidFill>
              <a:schemeClr val="accent1"/>
            </a:solidFill>
            <a:prstDash val="solid"/>
            <a:miter lim="800000"/>
            <a:headEnd len="sm" w="sm" type="none"/>
            <a:tailEnd len="med" w="med" type="triangle"/>
          </a:ln>
        </p:spPr>
      </p:cxnSp>
      <p:cxnSp>
        <p:nvCxnSpPr>
          <p:cNvPr id="4384" name="Google Shape;4384;p38"/>
          <p:cNvCxnSpPr/>
          <p:nvPr/>
        </p:nvCxnSpPr>
        <p:spPr>
          <a:xfrm>
            <a:off x="9120851" y="3071151"/>
            <a:ext cx="360039" cy="0"/>
          </a:xfrm>
          <a:prstGeom prst="straightConnector1">
            <a:avLst/>
          </a:prstGeom>
          <a:noFill/>
          <a:ln cap="flat" cmpd="sng" w="28575">
            <a:solidFill>
              <a:schemeClr val="accent1"/>
            </a:solidFill>
            <a:prstDash val="solid"/>
            <a:miter lim="800000"/>
            <a:headEnd len="sm" w="sm"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8" name="Shape 4388"/>
        <p:cNvGrpSpPr/>
        <p:nvPr/>
      </p:nvGrpSpPr>
      <p:grpSpPr>
        <a:xfrm>
          <a:off x="0" y="0"/>
          <a:ext cx="0" cy="0"/>
          <a:chOff x="0" y="0"/>
          <a:chExt cx="0" cy="0"/>
        </a:xfrm>
      </p:grpSpPr>
      <p:sp>
        <p:nvSpPr>
          <p:cNvPr id="4389" name="Google Shape;4389;p39"/>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4800"/>
              <a:buFont typeface="Play"/>
              <a:buNone/>
            </a:pPr>
            <a:r>
              <a:rPr lang="en-US"/>
              <a:t>4. Internet Protocol</a:t>
            </a:r>
            <a:endParaRPr/>
          </a:p>
        </p:txBody>
      </p:sp>
      <p:sp>
        <p:nvSpPr>
          <p:cNvPr id="4390" name="Google Shape;4390;p39"/>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p>
            <a:pPr indent="-228600" lvl="0" marL="228600" rtl="0" algn="ctr">
              <a:lnSpc>
                <a:spcPct val="90000"/>
              </a:lnSpc>
              <a:spcBef>
                <a:spcPts val="0"/>
              </a:spcBef>
              <a:spcAft>
                <a:spcPts val="0"/>
              </a:spcAft>
              <a:buClr>
                <a:schemeClr val="dk1"/>
              </a:buClr>
              <a:buSzPts val="2133"/>
              <a:buNone/>
            </a:pPr>
            <a:r>
              <a:t/>
            </a:r>
            <a:endParaRPr b="1" sz="2133"/>
          </a:p>
        </p:txBody>
      </p:sp>
      <p:sp>
        <p:nvSpPr>
          <p:cNvPr id="4391" name="Google Shape;4391;p39"/>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
        <p:nvSpPr>
          <p:cNvPr id="4392" name="Google Shape;4392;p39"/>
          <p:cNvSpPr txBox="1"/>
          <p:nvPr/>
        </p:nvSpPr>
        <p:spPr>
          <a:xfrm>
            <a:off x="629920" y="1632683"/>
            <a:ext cx="10972800" cy="4859556"/>
          </a:xfrm>
          <a:prstGeom prst="rect">
            <a:avLst/>
          </a:prstGeom>
          <a:noFill/>
          <a:ln>
            <a:noFill/>
          </a:ln>
        </p:spPr>
        <p:txBody>
          <a:bodyPr anchorCtr="0" anchor="t" bIns="121900" lIns="121900" spcFirstLastPara="1" rIns="121900" wrap="square" tIns="121900">
            <a:normAutofit/>
          </a:bodyPr>
          <a:lstStyle/>
          <a:p>
            <a:pPr indent="-304792" lvl="0" marL="304792"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One protocol is overwhelmingly common.</a:t>
            </a:r>
            <a:endParaRPr/>
          </a:p>
          <a:p>
            <a:pPr indent="-304792" lvl="0" marL="304792"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It comes in two versions—IPv4 and IPv6</a:t>
            </a:r>
            <a:endParaRPr/>
          </a:p>
          <a:p>
            <a:pPr indent="-304792" lvl="0" marL="304792"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IPv4: </a:t>
            </a:r>
            <a:endParaRPr/>
          </a:p>
          <a:p>
            <a:pPr indent="-298442" lvl="0" marL="609585" marR="0" rtl="0" algn="l">
              <a:lnSpc>
                <a:spcPct val="150000"/>
              </a:lnSpc>
              <a:spcBef>
                <a:spcPts val="0"/>
              </a:spcBef>
              <a:spcAft>
                <a:spcPts val="0"/>
              </a:spcAft>
              <a:buClr>
                <a:srgbClr val="000000"/>
              </a:buClr>
              <a:buSzPts val="2133"/>
              <a:buFont typeface="Arial"/>
              <a:buChar char="•"/>
            </a:pPr>
            <a:r>
              <a:rPr b="0" i="0" lang="en-US" sz="2133" u="none" cap="none" strike="noStrike">
                <a:solidFill>
                  <a:srgbClr val="000000"/>
                </a:solidFill>
                <a:latin typeface="Arial"/>
                <a:ea typeface="Arial"/>
                <a:cs typeface="Arial"/>
                <a:sym typeface="Arial"/>
              </a:rPr>
              <a:t>IPv4 is completely ubiquitous and deployed everywhere.</a:t>
            </a:r>
            <a:endParaRPr/>
          </a:p>
          <a:p>
            <a:pPr indent="-298442" lvl="0" marL="609585" marR="0" rtl="0" algn="l">
              <a:lnSpc>
                <a:spcPct val="150000"/>
              </a:lnSpc>
              <a:spcBef>
                <a:spcPts val="0"/>
              </a:spcBef>
              <a:spcAft>
                <a:spcPts val="0"/>
              </a:spcAft>
              <a:buClr>
                <a:srgbClr val="000000"/>
              </a:buClr>
              <a:buSzPts val="2133"/>
              <a:buFont typeface="Arial"/>
              <a:buChar char="•"/>
            </a:pPr>
            <a:r>
              <a:rPr b="0" i="0" lang="en-US" sz="2133" u="none" cap="none" strike="noStrike">
                <a:solidFill>
                  <a:srgbClr val="000000"/>
                </a:solidFill>
                <a:latin typeface="Arial"/>
                <a:ea typeface="Arial"/>
                <a:cs typeface="Arial"/>
                <a:sym typeface="Arial"/>
              </a:rPr>
              <a:t>IPv4 uses 32-bit addresses, which limits it to addressing no more than 2</a:t>
            </a:r>
            <a:r>
              <a:rPr b="0" baseline="30000" i="0" lang="en-US" sz="2133" u="none" cap="none" strike="noStrike">
                <a:solidFill>
                  <a:srgbClr val="000000"/>
                </a:solidFill>
                <a:latin typeface="Arial"/>
                <a:ea typeface="Arial"/>
                <a:cs typeface="Arial"/>
                <a:sym typeface="Arial"/>
              </a:rPr>
              <a:t>32</a:t>
            </a:r>
            <a:r>
              <a:rPr b="0" i="0" lang="en-US" sz="2133" u="none" cap="none" strike="noStrike">
                <a:solidFill>
                  <a:srgbClr val="000000"/>
                </a:solidFill>
                <a:latin typeface="Arial"/>
                <a:ea typeface="Arial"/>
                <a:cs typeface="Arial"/>
                <a:sym typeface="Arial"/>
              </a:rPr>
              <a:t> or 4,294,967,296 systems.</a:t>
            </a:r>
            <a:endParaRPr/>
          </a:p>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IPv6: </a:t>
            </a:r>
            <a:endParaRPr/>
          </a:p>
          <a:p>
            <a:pPr indent="-298442" lvl="0" marL="609585" marR="0" rtl="0" algn="l">
              <a:lnSpc>
                <a:spcPct val="150000"/>
              </a:lnSpc>
              <a:spcBef>
                <a:spcPts val="0"/>
              </a:spcBef>
              <a:spcAft>
                <a:spcPts val="0"/>
              </a:spcAft>
              <a:buClr>
                <a:srgbClr val="000000"/>
              </a:buClr>
              <a:buSzPts val="2133"/>
              <a:buFont typeface="Arial"/>
              <a:buChar char="•"/>
            </a:pPr>
            <a:r>
              <a:rPr b="0" i="0" lang="en-US" sz="2133" u="none" cap="none" strike="noStrike">
                <a:solidFill>
                  <a:srgbClr val="000000"/>
                </a:solidFill>
                <a:latin typeface="Arial"/>
                <a:ea typeface="Arial"/>
                <a:cs typeface="Arial"/>
                <a:sym typeface="Arial"/>
              </a:rPr>
              <a:t>IPv6 was designed to replace IPv4 </a:t>
            </a:r>
            <a:endParaRPr/>
          </a:p>
          <a:p>
            <a:pPr indent="-298442" lvl="0" marL="609585" marR="0" rtl="0" algn="l">
              <a:lnSpc>
                <a:spcPct val="150000"/>
              </a:lnSpc>
              <a:spcBef>
                <a:spcPts val="0"/>
              </a:spcBef>
              <a:spcAft>
                <a:spcPts val="0"/>
              </a:spcAft>
              <a:buClr>
                <a:srgbClr val="000000"/>
              </a:buClr>
              <a:buSzPts val="2133"/>
              <a:buFont typeface="Arial"/>
              <a:buChar char="•"/>
            </a:pPr>
            <a:r>
              <a:rPr b="0" i="0" lang="en-US" sz="2133" u="none" cap="none" strike="noStrike">
                <a:solidFill>
                  <a:srgbClr val="000000"/>
                </a:solidFill>
                <a:latin typeface="Arial"/>
                <a:ea typeface="Arial"/>
                <a:cs typeface="Arial"/>
                <a:sym typeface="Arial"/>
              </a:rPr>
              <a:t>It uses a 128-bit address, 2</a:t>
            </a:r>
            <a:r>
              <a:rPr b="0" baseline="30000" i="0" lang="en-US" sz="2133" u="none" cap="none" strike="noStrike">
                <a:solidFill>
                  <a:srgbClr val="000000"/>
                </a:solidFill>
                <a:latin typeface="Arial"/>
                <a:ea typeface="Arial"/>
                <a:cs typeface="Arial"/>
                <a:sym typeface="Arial"/>
              </a:rPr>
              <a:t>128</a:t>
            </a:r>
            <a:r>
              <a:rPr b="0" i="0" lang="en-US" sz="2133" u="none" cap="none" strike="noStrike">
                <a:solidFill>
                  <a:srgbClr val="000000"/>
                </a:solidFill>
                <a:latin typeface="Arial"/>
                <a:ea typeface="Arial"/>
                <a:cs typeface="Arial"/>
                <a:sym typeface="Arial"/>
              </a:rPr>
              <a:t> ≈ 3.4 x 10</a:t>
            </a:r>
            <a:r>
              <a:rPr b="0" baseline="30000" i="0" lang="en-US" sz="2133" u="none" cap="none" strike="noStrike">
                <a:solidFill>
                  <a:srgbClr val="000000"/>
                </a:solidFill>
                <a:latin typeface="Arial"/>
                <a:ea typeface="Arial"/>
                <a:cs typeface="Arial"/>
                <a:sym typeface="Arial"/>
              </a:rPr>
              <a:t>38</a:t>
            </a:r>
            <a:r>
              <a:rPr b="0" i="0" lang="en-US" sz="2133" u="none" cap="none" strike="noStrike">
                <a:solidFill>
                  <a:srgbClr val="000000"/>
                </a:solidFill>
                <a:latin typeface="Arial"/>
                <a:ea typeface="Arial"/>
                <a:cs typeface="Arial"/>
                <a:sym typeface="Arial"/>
              </a:rPr>
              <a:t> addresses.</a:t>
            </a:r>
            <a:endParaRPr b="0" i="0" sz="2133"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6" name="Shape 4396"/>
        <p:cNvGrpSpPr/>
        <p:nvPr/>
      </p:nvGrpSpPr>
      <p:grpSpPr>
        <a:xfrm>
          <a:off x="0" y="0"/>
          <a:ext cx="0" cy="0"/>
          <a:chOff x="0" y="0"/>
          <a:chExt cx="0" cy="0"/>
        </a:xfrm>
      </p:grpSpPr>
      <p:sp>
        <p:nvSpPr>
          <p:cNvPr id="4397" name="Google Shape;4397;p40"/>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4800"/>
              <a:buFont typeface="Play"/>
              <a:buNone/>
            </a:pPr>
            <a:r>
              <a:rPr lang="en-US"/>
              <a:t>6. Domain names</a:t>
            </a:r>
            <a:endParaRPr/>
          </a:p>
        </p:txBody>
      </p:sp>
      <p:sp>
        <p:nvSpPr>
          <p:cNvPr id="4398" name="Google Shape;4398;p40"/>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p>
            <a:pPr indent="-228600" lvl="0" marL="228600" rtl="0" algn="ctr">
              <a:lnSpc>
                <a:spcPct val="90000"/>
              </a:lnSpc>
              <a:spcBef>
                <a:spcPts val="0"/>
              </a:spcBef>
              <a:spcAft>
                <a:spcPts val="0"/>
              </a:spcAft>
              <a:buClr>
                <a:schemeClr val="dk1"/>
              </a:buClr>
              <a:buSzPts val="2133"/>
              <a:buNone/>
            </a:pPr>
            <a:r>
              <a:t/>
            </a:r>
            <a:endParaRPr b="1" sz="2133"/>
          </a:p>
        </p:txBody>
      </p:sp>
      <p:sp>
        <p:nvSpPr>
          <p:cNvPr id="4399" name="Google Shape;4399;p40"/>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
        <p:nvSpPr>
          <p:cNvPr id="4400" name="Google Shape;4400;p40"/>
          <p:cNvSpPr txBox="1"/>
          <p:nvPr/>
        </p:nvSpPr>
        <p:spPr>
          <a:xfrm>
            <a:off x="629920" y="1632683"/>
            <a:ext cx="10972800" cy="4859556"/>
          </a:xfrm>
          <a:prstGeom prst="rect">
            <a:avLst/>
          </a:prstGeom>
          <a:noFill/>
          <a:ln>
            <a:noFill/>
          </a:ln>
        </p:spPr>
        <p:txBody>
          <a:bodyPr anchorCtr="0" anchor="t" bIns="121900" lIns="121900" spcFirstLastPara="1" rIns="121900" wrap="square" tIns="121900">
            <a:normAutofit/>
          </a:bodyPr>
          <a:lstStyle/>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The Internet Protocol can only route packets to an IP address.</a:t>
            </a:r>
            <a:endParaRPr/>
          </a:p>
          <a:p>
            <a:pPr indent="-175697" lvl="0" marL="311143" marR="0" rtl="0" algn="l">
              <a:lnSpc>
                <a:spcPct val="150000"/>
              </a:lnSpc>
              <a:spcBef>
                <a:spcPts val="0"/>
              </a:spcBef>
              <a:spcAft>
                <a:spcPts val="0"/>
              </a:spcAft>
              <a:buClr>
                <a:srgbClr val="000000"/>
              </a:buClr>
              <a:buSzPts val="2133"/>
              <a:buFont typeface="Noto Sans Symbols"/>
              <a:buNone/>
            </a:pPr>
            <a:r>
              <a:t/>
            </a:r>
            <a:endParaRPr b="0" i="0" sz="2133" u="none" cap="none" strike="noStrike">
              <a:solidFill>
                <a:srgbClr val="000000"/>
              </a:solidFill>
              <a:latin typeface="Arial"/>
              <a:ea typeface="Arial"/>
              <a:cs typeface="Arial"/>
              <a:sym typeface="Arial"/>
            </a:endParaRPr>
          </a:p>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If you try to connect to a website, your system must </a:t>
            </a:r>
            <a:r>
              <a:rPr b="1" i="0" lang="en-US" sz="2133" u="none" cap="none" strike="noStrike">
                <a:solidFill>
                  <a:srgbClr val="000000"/>
                </a:solidFill>
                <a:latin typeface="Arial"/>
                <a:ea typeface="Arial"/>
                <a:cs typeface="Arial"/>
                <a:sym typeface="Arial"/>
              </a:rPr>
              <a:t>first resolve that domain name</a:t>
            </a:r>
            <a:r>
              <a:rPr b="0" i="0" lang="en-US" sz="2133" u="none" cap="none" strike="noStrike">
                <a:solidFill>
                  <a:srgbClr val="000000"/>
                </a:solidFill>
                <a:latin typeface="Arial"/>
                <a:ea typeface="Arial"/>
                <a:cs typeface="Arial"/>
                <a:sym typeface="Arial"/>
              </a:rPr>
              <a:t> </a:t>
            </a:r>
            <a:r>
              <a:rPr b="1" i="0" lang="en-US" sz="2133" u="none" cap="none" strike="noStrike">
                <a:solidFill>
                  <a:srgbClr val="000000"/>
                </a:solidFill>
                <a:latin typeface="Arial"/>
                <a:ea typeface="Arial"/>
                <a:cs typeface="Arial"/>
                <a:sym typeface="Arial"/>
              </a:rPr>
              <a:t>into an IP address </a:t>
            </a:r>
            <a:r>
              <a:rPr b="0" i="0" lang="en-US" sz="2133" u="none" cap="none" strike="noStrike">
                <a:solidFill>
                  <a:srgbClr val="000000"/>
                </a:solidFill>
                <a:latin typeface="Arial"/>
                <a:ea typeface="Arial"/>
                <a:cs typeface="Arial"/>
                <a:sym typeface="Arial"/>
              </a:rPr>
              <a:t>for the server that hosts that website.</a:t>
            </a:r>
            <a:endParaRPr/>
          </a:p>
          <a:p>
            <a:pPr indent="-175697" lvl="0" marL="311143" marR="0" rtl="0" algn="l">
              <a:lnSpc>
                <a:spcPct val="150000"/>
              </a:lnSpc>
              <a:spcBef>
                <a:spcPts val="0"/>
              </a:spcBef>
              <a:spcAft>
                <a:spcPts val="0"/>
              </a:spcAft>
              <a:buClr>
                <a:srgbClr val="000000"/>
              </a:buClr>
              <a:buSzPts val="2133"/>
              <a:buFont typeface="Noto Sans Symbols"/>
              <a:buNone/>
            </a:pPr>
            <a:r>
              <a:t/>
            </a:r>
            <a:endParaRPr b="0" i="0" sz="2133" u="none" cap="none" strike="noStrike">
              <a:solidFill>
                <a:srgbClr val="000000"/>
              </a:solidFill>
              <a:latin typeface="Arial"/>
              <a:ea typeface="Arial"/>
              <a:cs typeface="Arial"/>
              <a:sym typeface="Arial"/>
            </a:endParaRPr>
          </a:p>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This is done by connecting to a </a:t>
            </a:r>
            <a:r>
              <a:rPr b="1" i="0" lang="en-US" sz="2133" u="none" cap="none" strike="noStrike">
                <a:solidFill>
                  <a:srgbClr val="000000"/>
                </a:solidFill>
                <a:latin typeface="Arial"/>
                <a:ea typeface="Arial"/>
                <a:cs typeface="Arial"/>
                <a:sym typeface="Arial"/>
              </a:rPr>
              <a:t>Domain Name System </a:t>
            </a:r>
            <a:r>
              <a:rPr b="0" i="0" lang="en-US" sz="2133" u="none" cap="none" strike="noStrike">
                <a:solidFill>
                  <a:srgbClr val="000000"/>
                </a:solidFill>
                <a:latin typeface="Arial"/>
                <a:ea typeface="Arial"/>
                <a:cs typeface="Arial"/>
                <a:sym typeface="Arial"/>
              </a:rPr>
              <a:t>(DNS) server. The IP address for a domain name server is usually assigned by your ISP.</a:t>
            </a:r>
            <a:endParaRPr b="0" i="0" sz="2133"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4" name="Shape 4404"/>
        <p:cNvGrpSpPr/>
        <p:nvPr/>
      </p:nvGrpSpPr>
      <p:grpSpPr>
        <a:xfrm>
          <a:off x="0" y="0"/>
          <a:ext cx="0" cy="0"/>
          <a:chOff x="0" y="0"/>
          <a:chExt cx="0" cy="0"/>
        </a:xfrm>
      </p:grpSpPr>
      <p:sp>
        <p:nvSpPr>
          <p:cNvPr id="4405" name="Google Shape;4405;p41"/>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4800"/>
              <a:buFont typeface="Play"/>
              <a:buNone/>
            </a:pPr>
            <a:r>
              <a:rPr lang="en-US"/>
              <a:t>6. Domain names</a:t>
            </a:r>
            <a:endParaRPr/>
          </a:p>
        </p:txBody>
      </p:sp>
      <p:sp>
        <p:nvSpPr>
          <p:cNvPr id="4406" name="Google Shape;4406;p41"/>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p>
            <a:pPr indent="-228600" lvl="0" marL="228600" rtl="0" algn="ctr">
              <a:lnSpc>
                <a:spcPct val="90000"/>
              </a:lnSpc>
              <a:spcBef>
                <a:spcPts val="0"/>
              </a:spcBef>
              <a:spcAft>
                <a:spcPts val="0"/>
              </a:spcAft>
              <a:buClr>
                <a:schemeClr val="dk1"/>
              </a:buClr>
              <a:buSzPts val="2133"/>
              <a:buNone/>
            </a:pPr>
            <a:r>
              <a:t/>
            </a:r>
            <a:endParaRPr b="1" sz="2133"/>
          </a:p>
        </p:txBody>
      </p:sp>
      <p:sp>
        <p:nvSpPr>
          <p:cNvPr id="4407" name="Google Shape;4407;p41"/>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
        <p:nvSpPr>
          <p:cNvPr id="4408" name="Google Shape;4408;p41"/>
          <p:cNvSpPr txBox="1"/>
          <p:nvPr/>
        </p:nvSpPr>
        <p:spPr>
          <a:xfrm>
            <a:off x="629920" y="1632683"/>
            <a:ext cx="10972800" cy="4859556"/>
          </a:xfrm>
          <a:prstGeom prst="rect">
            <a:avLst/>
          </a:prstGeom>
          <a:noFill/>
          <a:ln>
            <a:noFill/>
          </a:ln>
        </p:spPr>
        <p:txBody>
          <a:bodyPr anchorCtr="0" anchor="t" bIns="121900" lIns="121900" spcFirstLastPara="1" rIns="121900" wrap="square" tIns="121900">
            <a:normAutofit/>
          </a:bodyPr>
          <a:lstStyle/>
          <a:p>
            <a:pPr indent="0" lvl="0" marL="0" marR="0" rtl="0" algn="ctr">
              <a:lnSpc>
                <a:spcPct val="150000"/>
              </a:lnSpc>
              <a:spcBef>
                <a:spcPts val="0"/>
              </a:spcBef>
              <a:spcAft>
                <a:spcPts val="0"/>
              </a:spcAft>
              <a:buClr>
                <a:srgbClr val="000000"/>
              </a:buClr>
              <a:buSzPts val="2133"/>
              <a:buFont typeface="Arial"/>
              <a:buNone/>
            </a:pPr>
            <a:r>
              <a:rPr b="0" i="0" lang="en-US" sz="2133" u="none" cap="none" strike="noStrike">
                <a:solidFill>
                  <a:srgbClr val="000000"/>
                </a:solidFill>
                <a:latin typeface="Arial"/>
                <a:ea typeface="Arial"/>
                <a:cs typeface="Arial"/>
                <a:sym typeface="Arial"/>
              </a:rPr>
              <a:t>Free and public DNS servers</a:t>
            </a:r>
            <a:endParaRPr b="0" i="0" sz="2133" u="none" cap="none" strike="noStrike">
              <a:solidFill>
                <a:srgbClr val="000000"/>
              </a:solidFill>
              <a:latin typeface="Arial"/>
              <a:ea typeface="Arial"/>
              <a:cs typeface="Arial"/>
              <a:sym typeface="Arial"/>
            </a:endParaRPr>
          </a:p>
        </p:txBody>
      </p:sp>
      <p:graphicFrame>
        <p:nvGraphicFramePr>
          <p:cNvPr id="4409" name="Google Shape;4409;p41"/>
          <p:cNvGraphicFramePr/>
          <p:nvPr/>
        </p:nvGraphicFramePr>
        <p:xfrm>
          <a:off x="1724990" y="2283228"/>
          <a:ext cx="3000000" cy="3000000"/>
        </p:xfrm>
        <a:graphic>
          <a:graphicData uri="http://schemas.openxmlformats.org/drawingml/2006/table">
            <a:tbl>
              <a:tblPr>
                <a:noFill/>
                <a:tableStyleId>{B3F8E8D8-6D51-4AE9-BB1D-0D156FF65F80}</a:tableStyleId>
              </a:tblPr>
              <a:tblGrid>
                <a:gridCol w="2927550"/>
                <a:gridCol w="2517275"/>
                <a:gridCol w="3337825"/>
              </a:tblGrid>
              <a:tr h="494450">
                <a:tc>
                  <a:txBody>
                    <a:bodyPr/>
                    <a:lstStyle/>
                    <a:p>
                      <a:pPr indent="0" lvl="0" marL="0" marR="0" rtl="0" algn="l">
                        <a:spcBef>
                          <a:spcPts val="0"/>
                        </a:spcBef>
                        <a:spcAft>
                          <a:spcPts val="0"/>
                        </a:spcAft>
                        <a:buNone/>
                      </a:pPr>
                      <a:r>
                        <a:rPr b="1" lang="en-US" sz="2100" u="none" cap="none" strike="noStrike"/>
                        <a:t>DNS Provider</a:t>
                      </a:r>
                      <a:endParaRPr/>
                    </a:p>
                  </a:txBody>
                  <a:tcPr marT="60950" marB="60950" marR="121925" marL="121925" anchor="ctr"/>
                </a:tc>
                <a:tc>
                  <a:txBody>
                    <a:bodyPr/>
                    <a:lstStyle/>
                    <a:p>
                      <a:pPr indent="0" lvl="0" marL="0" marR="0" rtl="0" algn="l">
                        <a:spcBef>
                          <a:spcPts val="0"/>
                        </a:spcBef>
                        <a:spcAft>
                          <a:spcPts val="0"/>
                        </a:spcAft>
                        <a:buNone/>
                      </a:pPr>
                      <a:r>
                        <a:rPr b="1" lang="en-US" sz="2100"/>
                        <a:t>IPv4 Addresses</a:t>
                      </a:r>
                      <a:endParaRPr/>
                    </a:p>
                  </a:txBody>
                  <a:tcPr marT="60950" marB="60950" marR="121925" marL="121925" anchor="ctr"/>
                </a:tc>
                <a:tc>
                  <a:txBody>
                    <a:bodyPr/>
                    <a:lstStyle/>
                    <a:p>
                      <a:pPr indent="0" lvl="0" marL="0" marR="0" rtl="0" algn="l">
                        <a:spcBef>
                          <a:spcPts val="0"/>
                        </a:spcBef>
                        <a:spcAft>
                          <a:spcPts val="0"/>
                        </a:spcAft>
                        <a:buNone/>
                      </a:pPr>
                      <a:r>
                        <a:rPr b="1" lang="en-US" sz="2100"/>
                        <a:t>IPv6 Addresses</a:t>
                      </a:r>
                      <a:endParaRPr/>
                    </a:p>
                  </a:txBody>
                  <a:tcPr marT="60950" marB="60950" marR="121925" marL="121925" anchor="ctr"/>
                </a:tc>
              </a:tr>
              <a:tr h="494450">
                <a:tc rowSpan="2">
                  <a:txBody>
                    <a:bodyPr/>
                    <a:lstStyle/>
                    <a:p>
                      <a:pPr indent="0" lvl="0" marL="0" marR="0" rtl="0" algn="l">
                        <a:spcBef>
                          <a:spcPts val="0"/>
                        </a:spcBef>
                        <a:spcAft>
                          <a:spcPts val="0"/>
                        </a:spcAft>
                        <a:buNone/>
                      </a:pPr>
                      <a:r>
                        <a:rPr lang="en-US" sz="2100"/>
                        <a:t>Cloudflare 1.1.1.1</a:t>
                      </a:r>
                      <a:endParaRPr/>
                    </a:p>
                  </a:txBody>
                  <a:tcPr marT="60950" marB="60950" marR="121925" marL="121925" anchor="ctr"/>
                </a:tc>
                <a:tc>
                  <a:txBody>
                    <a:bodyPr/>
                    <a:lstStyle/>
                    <a:p>
                      <a:pPr indent="0" lvl="0" marL="0" marR="0" rtl="0" algn="l">
                        <a:spcBef>
                          <a:spcPts val="0"/>
                        </a:spcBef>
                        <a:spcAft>
                          <a:spcPts val="0"/>
                        </a:spcAft>
                        <a:buNone/>
                      </a:pPr>
                      <a:r>
                        <a:rPr lang="en-US" sz="2100"/>
                        <a:t>1.1.1.1</a:t>
                      </a:r>
                      <a:endParaRPr/>
                    </a:p>
                  </a:txBody>
                  <a:tcPr marT="60950" marB="60950" marR="121925" marL="121925" anchor="ctr"/>
                </a:tc>
                <a:tc>
                  <a:txBody>
                    <a:bodyPr/>
                    <a:lstStyle/>
                    <a:p>
                      <a:pPr indent="0" lvl="0" marL="0" marR="0" rtl="0" algn="l">
                        <a:spcBef>
                          <a:spcPts val="0"/>
                        </a:spcBef>
                        <a:spcAft>
                          <a:spcPts val="0"/>
                        </a:spcAft>
                        <a:buNone/>
                      </a:pPr>
                      <a:r>
                        <a:rPr lang="en-US" sz="2100"/>
                        <a:t>2606:4700:4700::1111</a:t>
                      </a:r>
                      <a:endParaRPr/>
                    </a:p>
                  </a:txBody>
                  <a:tcPr marT="60950" marB="60950" marR="121925" marL="121925" anchor="ctr"/>
                </a:tc>
              </a:tr>
              <a:tr h="494450">
                <a:tc vMerge="1"/>
                <a:tc>
                  <a:txBody>
                    <a:bodyPr/>
                    <a:lstStyle/>
                    <a:p>
                      <a:pPr indent="0" lvl="0" marL="0" marR="0" rtl="0" algn="l">
                        <a:spcBef>
                          <a:spcPts val="0"/>
                        </a:spcBef>
                        <a:spcAft>
                          <a:spcPts val="0"/>
                        </a:spcAft>
                        <a:buNone/>
                      </a:pPr>
                      <a:r>
                        <a:rPr lang="en-US" sz="2100"/>
                        <a:t>1.0.0.1</a:t>
                      </a:r>
                      <a:endParaRPr/>
                    </a:p>
                  </a:txBody>
                  <a:tcPr marT="60950" marB="60950" marR="121925" marL="121925" anchor="ctr"/>
                </a:tc>
                <a:tc>
                  <a:txBody>
                    <a:bodyPr/>
                    <a:lstStyle/>
                    <a:p>
                      <a:pPr indent="0" lvl="0" marL="0" marR="0" rtl="0" algn="l">
                        <a:spcBef>
                          <a:spcPts val="0"/>
                        </a:spcBef>
                        <a:spcAft>
                          <a:spcPts val="0"/>
                        </a:spcAft>
                        <a:buNone/>
                      </a:pPr>
                      <a:r>
                        <a:rPr lang="en-US" sz="2100"/>
                        <a:t>2606:4700:4700::1001</a:t>
                      </a:r>
                      <a:endParaRPr/>
                    </a:p>
                  </a:txBody>
                  <a:tcPr marT="60950" marB="60950" marR="121925" marL="121925" anchor="ctr"/>
                </a:tc>
              </a:tr>
              <a:tr h="494450">
                <a:tc rowSpan="2">
                  <a:txBody>
                    <a:bodyPr/>
                    <a:lstStyle/>
                    <a:p>
                      <a:pPr indent="0" lvl="0" marL="0" marR="0" rtl="0" algn="l">
                        <a:spcBef>
                          <a:spcPts val="0"/>
                        </a:spcBef>
                        <a:spcAft>
                          <a:spcPts val="0"/>
                        </a:spcAft>
                        <a:buNone/>
                      </a:pPr>
                      <a:r>
                        <a:rPr lang="en-US" sz="2100"/>
                        <a:t>FreeDNS</a:t>
                      </a:r>
                      <a:endParaRPr/>
                    </a:p>
                  </a:txBody>
                  <a:tcPr marT="60950" marB="60950" marR="121925" marL="121925" anchor="ctr"/>
                </a:tc>
                <a:tc>
                  <a:txBody>
                    <a:bodyPr/>
                    <a:lstStyle/>
                    <a:p>
                      <a:pPr indent="0" lvl="0" marL="0" marR="0" rtl="0" algn="l">
                        <a:spcBef>
                          <a:spcPts val="0"/>
                        </a:spcBef>
                        <a:spcAft>
                          <a:spcPts val="0"/>
                        </a:spcAft>
                        <a:buNone/>
                      </a:pPr>
                      <a:r>
                        <a:rPr lang="en-US" sz="2100"/>
                        <a:t>37.235.1.174</a:t>
                      </a:r>
                      <a:endParaRPr/>
                    </a:p>
                  </a:txBody>
                  <a:tcPr marT="60950" marB="60950" marR="121925" marL="121925" anchor="ctr"/>
                </a:tc>
                <a:tc>
                  <a:txBody>
                    <a:bodyPr/>
                    <a:lstStyle/>
                    <a:p>
                      <a:pPr indent="0" lvl="0" marL="0" marR="0" rtl="0" algn="l">
                        <a:spcBef>
                          <a:spcPts val="0"/>
                        </a:spcBef>
                        <a:spcAft>
                          <a:spcPts val="0"/>
                        </a:spcAft>
                        <a:buNone/>
                      </a:pPr>
                      <a:r>
                        <a:t/>
                      </a:r>
                      <a:endParaRPr sz="2100"/>
                    </a:p>
                  </a:txBody>
                  <a:tcPr marT="60950" marB="60950" marR="121925" marL="121925" anchor="ctr"/>
                </a:tc>
              </a:tr>
              <a:tr h="494450">
                <a:tc vMerge="1"/>
                <a:tc>
                  <a:txBody>
                    <a:bodyPr/>
                    <a:lstStyle/>
                    <a:p>
                      <a:pPr indent="0" lvl="0" marL="0" marR="0" rtl="0" algn="l">
                        <a:spcBef>
                          <a:spcPts val="0"/>
                        </a:spcBef>
                        <a:spcAft>
                          <a:spcPts val="0"/>
                        </a:spcAft>
                        <a:buNone/>
                      </a:pPr>
                      <a:r>
                        <a:rPr lang="en-US" sz="2100"/>
                        <a:t>37.235.1.177</a:t>
                      </a:r>
                      <a:endParaRPr/>
                    </a:p>
                  </a:txBody>
                  <a:tcPr marT="60950" marB="60950" marR="121925" marL="121925" anchor="ctr"/>
                </a:tc>
                <a:tc>
                  <a:txBody>
                    <a:bodyPr/>
                    <a:lstStyle/>
                    <a:p>
                      <a:pPr indent="0" lvl="0" marL="0" marR="0" rtl="0" algn="l">
                        <a:spcBef>
                          <a:spcPts val="0"/>
                        </a:spcBef>
                        <a:spcAft>
                          <a:spcPts val="0"/>
                        </a:spcAft>
                        <a:buNone/>
                      </a:pPr>
                      <a:r>
                        <a:t/>
                      </a:r>
                      <a:endParaRPr sz="2100"/>
                    </a:p>
                  </a:txBody>
                  <a:tcPr marT="60950" marB="60950" marR="121925" marL="121925" anchor="ctr"/>
                </a:tc>
              </a:tr>
              <a:tr h="494450">
                <a:tc rowSpan="2">
                  <a:txBody>
                    <a:bodyPr/>
                    <a:lstStyle/>
                    <a:p>
                      <a:pPr indent="0" lvl="0" marL="0" marR="0" rtl="0" algn="l">
                        <a:spcBef>
                          <a:spcPts val="0"/>
                        </a:spcBef>
                        <a:spcAft>
                          <a:spcPts val="0"/>
                        </a:spcAft>
                        <a:buNone/>
                      </a:pPr>
                      <a:r>
                        <a:rPr lang="en-US" sz="2100"/>
                        <a:t>Google Public DNS</a:t>
                      </a:r>
                      <a:endParaRPr/>
                    </a:p>
                  </a:txBody>
                  <a:tcPr marT="60950" marB="60950" marR="121925" marL="121925" anchor="ctr"/>
                </a:tc>
                <a:tc>
                  <a:txBody>
                    <a:bodyPr/>
                    <a:lstStyle/>
                    <a:p>
                      <a:pPr indent="0" lvl="0" marL="0" marR="0" rtl="0" algn="l">
                        <a:spcBef>
                          <a:spcPts val="0"/>
                        </a:spcBef>
                        <a:spcAft>
                          <a:spcPts val="0"/>
                        </a:spcAft>
                        <a:buNone/>
                      </a:pPr>
                      <a:r>
                        <a:rPr lang="en-US" sz="2100"/>
                        <a:t>8.8.8.8</a:t>
                      </a:r>
                      <a:endParaRPr/>
                    </a:p>
                  </a:txBody>
                  <a:tcPr marT="60950" marB="60950" marR="121925" marL="121925" anchor="ctr"/>
                </a:tc>
                <a:tc>
                  <a:txBody>
                    <a:bodyPr/>
                    <a:lstStyle/>
                    <a:p>
                      <a:pPr indent="0" lvl="0" marL="0" marR="0" rtl="0" algn="l">
                        <a:spcBef>
                          <a:spcPts val="0"/>
                        </a:spcBef>
                        <a:spcAft>
                          <a:spcPts val="0"/>
                        </a:spcAft>
                        <a:buNone/>
                      </a:pPr>
                      <a:r>
                        <a:rPr lang="en-US" sz="2100"/>
                        <a:t>2001:4860:4860::8888</a:t>
                      </a:r>
                      <a:endParaRPr/>
                    </a:p>
                  </a:txBody>
                  <a:tcPr marT="60950" marB="60950" marR="121925" marL="121925" anchor="ctr"/>
                </a:tc>
              </a:tr>
              <a:tr h="494450">
                <a:tc vMerge="1"/>
                <a:tc>
                  <a:txBody>
                    <a:bodyPr/>
                    <a:lstStyle/>
                    <a:p>
                      <a:pPr indent="0" lvl="0" marL="0" marR="0" rtl="0" algn="l">
                        <a:spcBef>
                          <a:spcPts val="0"/>
                        </a:spcBef>
                        <a:spcAft>
                          <a:spcPts val="0"/>
                        </a:spcAft>
                        <a:buNone/>
                      </a:pPr>
                      <a:r>
                        <a:rPr lang="en-US" sz="2100"/>
                        <a:t>8.8.4.4</a:t>
                      </a:r>
                      <a:endParaRPr/>
                    </a:p>
                  </a:txBody>
                  <a:tcPr marT="60950" marB="60950" marR="121925" marL="121925" anchor="ctr"/>
                </a:tc>
                <a:tc>
                  <a:txBody>
                    <a:bodyPr/>
                    <a:lstStyle/>
                    <a:p>
                      <a:pPr indent="0" lvl="0" marL="0" marR="0" rtl="0" algn="l">
                        <a:spcBef>
                          <a:spcPts val="0"/>
                        </a:spcBef>
                        <a:spcAft>
                          <a:spcPts val="0"/>
                        </a:spcAft>
                        <a:buNone/>
                      </a:pPr>
                      <a:r>
                        <a:rPr lang="en-US" sz="2100"/>
                        <a:t>2001:4860:4860::8844</a:t>
                      </a:r>
                      <a:endParaRPr/>
                    </a:p>
                  </a:txBody>
                  <a:tcPr marT="60950" marB="60950" marR="121925" marL="121925" anchor="ctr"/>
                </a:tc>
              </a:tr>
              <a:tr h="494450">
                <a:tc rowSpan="2">
                  <a:txBody>
                    <a:bodyPr/>
                    <a:lstStyle/>
                    <a:p>
                      <a:pPr indent="0" lvl="0" marL="0" marR="0" rtl="0" algn="l">
                        <a:spcBef>
                          <a:spcPts val="0"/>
                        </a:spcBef>
                        <a:spcAft>
                          <a:spcPts val="0"/>
                        </a:spcAft>
                        <a:buNone/>
                      </a:pPr>
                      <a:r>
                        <a:rPr lang="en-US" sz="2100"/>
                        <a:t>OpenDNS</a:t>
                      </a:r>
                      <a:endParaRPr/>
                    </a:p>
                  </a:txBody>
                  <a:tcPr marT="60950" marB="60950" marR="121925" marL="121925" anchor="ctr"/>
                </a:tc>
                <a:tc>
                  <a:txBody>
                    <a:bodyPr/>
                    <a:lstStyle/>
                    <a:p>
                      <a:pPr indent="0" lvl="0" marL="0" marR="0" rtl="0" algn="l">
                        <a:spcBef>
                          <a:spcPts val="0"/>
                        </a:spcBef>
                        <a:spcAft>
                          <a:spcPts val="0"/>
                        </a:spcAft>
                        <a:buNone/>
                      </a:pPr>
                      <a:r>
                        <a:rPr lang="en-US" sz="2100"/>
                        <a:t>208.67.222.222</a:t>
                      </a:r>
                      <a:endParaRPr/>
                    </a:p>
                  </a:txBody>
                  <a:tcPr marT="60950" marB="60950" marR="121925" marL="121925" anchor="ctr"/>
                </a:tc>
                <a:tc>
                  <a:txBody>
                    <a:bodyPr/>
                    <a:lstStyle/>
                    <a:p>
                      <a:pPr indent="0" lvl="0" marL="0" marR="0" rtl="0" algn="l">
                        <a:spcBef>
                          <a:spcPts val="0"/>
                        </a:spcBef>
                        <a:spcAft>
                          <a:spcPts val="0"/>
                        </a:spcAft>
                        <a:buNone/>
                      </a:pPr>
                      <a:r>
                        <a:rPr lang="en-US" sz="2100"/>
                        <a:t>2620:0:ccc::2</a:t>
                      </a:r>
                      <a:endParaRPr/>
                    </a:p>
                  </a:txBody>
                  <a:tcPr marT="60950" marB="60950" marR="121925" marL="121925" anchor="ctr"/>
                </a:tc>
              </a:tr>
              <a:tr h="494450">
                <a:tc vMerge="1"/>
                <a:tc>
                  <a:txBody>
                    <a:bodyPr/>
                    <a:lstStyle/>
                    <a:p>
                      <a:pPr indent="0" lvl="0" marL="0" marR="0" rtl="0" algn="l">
                        <a:spcBef>
                          <a:spcPts val="0"/>
                        </a:spcBef>
                        <a:spcAft>
                          <a:spcPts val="0"/>
                        </a:spcAft>
                        <a:buNone/>
                      </a:pPr>
                      <a:r>
                        <a:rPr lang="en-US" sz="2100"/>
                        <a:t>208.67.220.220</a:t>
                      </a:r>
                      <a:endParaRPr/>
                    </a:p>
                  </a:txBody>
                  <a:tcPr marT="60950" marB="60950" marR="121925" marL="121925" anchor="ctr"/>
                </a:tc>
                <a:tc>
                  <a:txBody>
                    <a:bodyPr/>
                    <a:lstStyle/>
                    <a:p>
                      <a:pPr indent="0" lvl="0" marL="0" marR="0" rtl="0" algn="l">
                        <a:spcBef>
                          <a:spcPts val="0"/>
                        </a:spcBef>
                        <a:spcAft>
                          <a:spcPts val="0"/>
                        </a:spcAft>
                        <a:buNone/>
                      </a:pPr>
                      <a:r>
                        <a:rPr lang="en-US" sz="2100"/>
                        <a:t>2620:0:ccd::2</a:t>
                      </a:r>
                      <a:endParaRPr/>
                    </a:p>
                  </a:txBody>
                  <a:tcPr marT="60950" marB="60950" marR="121925" marL="121925" anchor="ct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3" name="Shape 4413"/>
        <p:cNvGrpSpPr/>
        <p:nvPr/>
      </p:nvGrpSpPr>
      <p:grpSpPr>
        <a:xfrm>
          <a:off x="0" y="0"/>
          <a:ext cx="0" cy="0"/>
          <a:chOff x="0" y="0"/>
          <a:chExt cx="0" cy="0"/>
        </a:xfrm>
      </p:grpSpPr>
      <p:sp>
        <p:nvSpPr>
          <p:cNvPr id="4414" name="Google Shape;4414;p42"/>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4800"/>
              <a:buFont typeface="Play"/>
              <a:buNone/>
            </a:pPr>
            <a:r>
              <a:rPr lang="en-US"/>
              <a:t>8. Local networks and address translation</a:t>
            </a:r>
            <a:endParaRPr/>
          </a:p>
        </p:txBody>
      </p:sp>
      <p:sp>
        <p:nvSpPr>
          <p:cNvPr id="4415" name="Google Shape;4415;p42"/>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p>
            <a:pPr indent="-228600" lvl="0" marL="228600" rtl="0" algn="ctr">
              <a:lnSpc>
                <a:spcPct val="90000"/>
              </a:lnSpc>
              <a:spcBef>
                <a:spcPts val="0"/>
              </a:spcBef>
              <a:spcAft>
                <a:spcPts val="0"/>
              </a:spcAft>
              <a:buClr>
                <a:schemeClr val="dk1"/>
              </a:buClr>
              <a:buSzPts val="2133"/>
              <a:buNone/>
            </a:pPr>
            <a:r>
              <a:t/>
            </a:r>
            <a:endParaRPr b="1" sz="2133"/>
          </a:p>
        </p:txBody>
      </p:sp>
      <p:sp>
        <p:nvSpPr>
          <p:cNvPr id="4416" name="Google Shape;4416;p42"/>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
        <p:nvSpPr>
          <p:cNvPr id="4417" name="Google Shape;4417;p42"/>
          <p:cNvSpPr txBox="1"/>
          <p:nvPr/>
        </p:nvSpPr>
        <p:spPr>
          <a:xfrm>
            <a:off x="629920" y="1632683"/>
            <a:ext cx="11257280" cy="4859556"/>
          </a:xfrm>
          <a:prstGeom prst="rect">
            <a:avLst/>
          </a:prstGeom>
          <a:noFill/>
          <a:ln>
            <a:noFill/>
          </a:ln>
        </p:spPr>
        <p:txBody>
          <a:bodyPr anchorCtr="0" anchor="t" bIns="121900" lIns="121900" spcFirstLastPara="1" rIns="121900" wrap="square" tIns="121900">
            <a:normAutofit/>
          </a:bodyPr>
          <a:lstStyle/>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It’s common for households and organizations to have small </a:t>
            </a:r>
            <a:r>
              <a:rPr b="1" i="0" lang="en-US" sz="2133" u="none" cap="none" strike="noStrike">
                <a:solidFill>
                  <a:srgbClr val="000000"/>
                </a:solidFill>
                <a:latin typeface="Arial"/>
                <a:ea typeface="Arial"/>
                <a:cs typeface="Arial"/>
                <a:sym typeface="Arial"/>
              </a:rPr>
              <a:t>Local Area Networks </a:t>
            </a:r>
            <a:r>
              <a:rPr b="0" i="0" lang="en-US" sz="2133" u="none" cap="none" strike="noStrike">
                <a:solidFill>
                  <a:srgbClr val="000000"/>
                </a:solidFill>
                <a:latin typeface="Arial"/>
                <a:ea typeface="Arial"/>
                <a:cs typeface="Arial"/>
                <a:sym typeface="Arial"/>
              </a:rPr>
              <a:t>(LANs). There are IPv4 addresses ranges reserved for use in these small local networks.</a:t>
            </a:r>
            <a:endParaRPr/>
          </a:p>
          <a:p>
            <a:pPr indent="-298442" lvl="0" marL="609585" marR="0" rtl="0" algn="l">
              <a:lnSpc>
                <a:spcPct val="150000"/>
              </a:lnSpc>
              <a:spcBef>
                <a:spcPts val="0"/>
              </a:spcBef>
              <a:spcAft>
                <a:spcPts val="0"/>
              </a:spcAft>
              <a:buClr>
                <a:srgbClr val="000000"/>
              </a:buClr>
              <a:buSzPts val="2133"/>
              <a:buFont typeface="Arial"/>
              <a:buChar char="•"/>
            </a:pPr>
            <a:r>
              <a:rPr b="0" i="0" lang="en-US" sz="2133" u="none" cap="none" strike="noStrike">
                <a:solidFill>
                  <a:srgbClr val="000000"/>
                </a:solidFill>
                <a:latin typeface="Arial"/>
                <a:ea typeface="Arial"/>
                <a:cs typeface="Arial"/>
                <a:sym typeface="Arial"/>
              </a:rPr>
              <a:t>10.0.0.0 to 10.255.255.255</a:t>
            </a:r>
            <a:endParaRPr/>
          </a:p>
          <a:p>
            <a:pPr indent="-298442" lvl="0" marL="609585" marR="0" rtl="0" algn="l">
              <a:lnSpc>
                <a:spcPct val="150000"/>
              </a:lnSpc>
              <a:spcBef>
                <a:spcPts val="0"/>
              </a:spcBef>
              <a:spcAft>
                <a:spcPts val="0"/>
              </a:spcAft>
              <a:buClr>
                <a:srgbClr val="000000"/>
              </a:buClr>
              <a:buSzPts val="2133"/>
              <a:buFont typeface="Arial"/>
              <a:buChar char="•"/>
            </a:pPr>
            <a:r>
              <a:rPr b="0" i="0" lang="en-US" sz="2133" u="none" cap="none" strike="noStrike">
                <a:solidFill>
                  <a:srgbClr val="000000"/>
                </a:solidFill>
                <a:latin typeface="Arial"/>
                <a:ea typeface="Arial"/>
                <a:cs typeface="Arial"/>
                <a:sym typeface="Arial"/>
              </a:rPr>
              <a:t>172.16.0.0 to 172.31.255.255</a:t>
            </a:r>
            <a:endParaRPr/>
          </a:p>
          <a:p>
            <a:pPr indent="-298442" lvl="0" marL="609585" marR="0" rtl="0" algn="l">
              <a:lnSpc>
                <a:spcPct val="150000"/>
              </a:lnSpc>
              <a:spcBef>
                <a:spcPts val="0"/>
              </a:spcBef>
              <a:spcAft>
                <a:spcPts val="0"/>
              </a:spcAft>
              <a:buClr>
                <a:srgbClr val="000000"/>
              </a:buClr>
              <a:buSzPts val="2133"/>
              <a:buFont typeface="Arial"/>
              <a:buChar char="•"/>
            </a:pPr>
            <a:r>
              <a:rPr b="0" i="0" lang="en-US" sz="2133" u="none" cap="none" strike="noStrike">
                <a:solidFill>
                  <a:srgbClr val="000000"/>
                </a:solidFill>
                <a:latin typeface="Arial"/>
                <a:ea typeface="Arial"/>
                <a:cs typeface="Arial"/>
                <a:sym typeface="Arial"/>
              </a:rPr>
              <a:t>192.168.0.0 to 192.168.255.255</a:t>
            </a:r>
            <a:endParaRPr/>
          </a:p>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The devices on the same LAN can directly address one another by their local address.</a:t>
            </a:r>
            <a:endParaRPr b="0" i="0" sz="2133"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1" name="Shape 4421"/>
        <p:cNvGrpSpPr/>
        <p:nvPr/>
      </p:nvGrpSpPr>
      <p:grpSpPr>
        <a:xfrm>
          <a:off x="0" y="0"/>
          <a:ext cx="0" cy="0"/>
          <a:chOff x="0" y="0"/>
          <a:chExt cx="0" cy="0"/>
        </a:xfrm>
      </p:grpSpPr>
      <p:sp>
        <p:nvSpPr>
          <p:cNvPr id="4422" name="Google Shape;4422;p43"/>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4800"/>
              <a:buFont typeface="Play"/>
              <a:buNone/>
            </a:pPr>
            <a:r>
              <a:rPr lang="en-US"/>
              <a:t>8. Local networks and address translation</a:t>
            </a:r>
            <a:endParaRPr/>
          </a:p>
        </p:txBody>
      </p:sp>
      <p:sp>
        <p:nvSpPr>
          <p:cNvPr id="4423" name="Google Shape;4423;p43"/>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p>
            <a:pPr indent="-228600" lvl="0" marL="228600" rtl="0" algn="ctr">
              <a:lnSpc>
                <a:spcPct val="90000"/>
              </a:lnSpc>
              <a:spcBef>
                <a:spcPts val="0"/>
              </a:spcBef>
              <a:spcAft>
                <a:spcPts val="0"/>
              </a:spcAft>
              <a:buClr>
                <a:schemeClr val="dk1"/>
              </a:buClr>
              <a:buSzPts val="2133"/>
              <a:buNone/>
            </a:pPr>
            <a:r>
              <a:t/>
            </a:r>
            <a:endParaRPr b="1" sz="2133"/>
          </a:p>
        </p:txBody>
      </p:sp>
      <p:sp>
        <p:nvSpPr>
          <p:cNvPr id="4424" name="Google Shape;4424;p43"/>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
        <p:nvSpPr>
          <p:cNvPr id="4425" name="Google Shape;4425;p43"/>
          <p:cNvSpPr txBox="1"/>
          <p:nvPr/>
        </p:nvSpPr>
        <p:spPr>
          <a:xfrm>
            <a:off x="629920" y="1632683"/>
            <a:ext cx="10972800" cy="4859556"/>
          </a:xfrm>
          <a:prstGeom prst="rect">
            <a:avLst/>
          </a:prstGeom>
          <a:noFill/>
          <a:ln>
            <a:noFill/>
          </a:ln>
        </p:spPr>
        <p:txBody>
          <a:bodyPr anchorCtr="0" anchor="t" bIns="121900" lIns="121900" spcFirstLastPara="1" rIns="121900" wrap="square" tIns="121900">
            <a:normAutofit/>
          </a:bodyPr>
          <a:lstStyle/>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Any traffic communicated to the internet must undergo address translation (</a:t>
            </a:r>
            <a:r>
              <a:rPr b="1" i="0" lang="en-US" sz="2133" u="none" cap="none" strike="noStrike">
                <a:solidFill>
                  <a:srgbClr val="000000"/>
                </a:solidFill>
                <a:latin typeface="Arial"/>
                <a:ea typeface="Arial"/>
                <a:cs typeface="Arial"/>
                <a:sym typeface="Arial"/>
              </a:rPr>
              <a:t>Network Address Translation</a:t>
            </a:r>
            <a:r>
              <a:rPr b="0" i="0" lang="en-US" sz="2133" u="none" cap="none" strike="noStrike">
                <a:solidFill>
                  <a:srgbClr val="000000"/>
                </a:solidFill>
                <a:latin typeface="Arial"/>
                <a:ea typeface="Arial"/>
                <a:cs typeface="Arial"/>
                <a:sym typeface="Arial"/>
              </a:rPr>
              <a:t> (NAT)) by the router. The router does this by modifying the source IP address from the original private LAN IP address to its public internet IP address.</a:t>
            </a:r>
            <a:endParaRPr b="0" i="0" sz="2133" u="none" cap="none" strike="noStrike">
              <a:solidFill>
                <a:srgbClr val="000000"/>
              </a:solidFill>
              <a:latin typeface="Arial"/>
              <a:ea typeface="Arial"/>
              <a:cs typeface="Arial"/>
              <a:sym typeface="Arial"/>
            </a:endParaRPr>
          </a:p>
        </p:txBody>
      </p:sp>
      <p:pic>
        <p:nvPicPr>
          <p:cNvPr id="4426" name="Google Shape;4426;p43"/>
          <p:cNvPicPr preferRelativeResize="0"/>
          <p:nvPr/>
        </p:nvPicPr>
        <p:blipFill rotWithShape="1">
          <a:blip r:embed="rId3">
            <a:alphaModFix/>
          </a:blip>
          <a:srcRect b="0" l="0" r="0" t="0"/>
          <a:stretch/>
        </p:blipFill>
        <p:spPr>
          <a:xfrm>
            <a:off x="1765993" y="3737047"/>
            <a:ext cx="8700655" cy="297654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0" name="Shape 4430"/>
        <p:cNvGrpSpPr/>
        <p:nvPr/>
      </p:nvGrpSpPr>
      <p:grpSpPr>
        <a:xfrm>
          <a:off x="0" y="0"/>
          <a:ext cx="0" cy="0"/>
          <a:chOff x="0" y="0"/>
          <a:chExt cx="0" cy="0"/>
        </a:xfrm>
      </p:grpSpPr>
      <p:sp>
        <p:nvSpPr>
          <p:cNvPr id="4431" name="Google Shape;4431;p44"/>
          <p:cNvSpPr txBox="1"/>
          <p:nvPr>
            <p:ph type="title"/>
          </p:nvPr>
        </p:nvSpPr>
        <p:spPr>
          <a:xfrm>
            <a:off x="-8113" y="171095"/>
            <a:ext cx="12192000" cy="730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4800"/>
              <a:buFont typeface="Play"/>
              <a:buNone/>
            </a:pPr>
            <a:r>
              <a:rPr lang="en-US"/>
              <a:t>9. Multicast, broadcast, and anycast</a:t>
            </a:r>
            <a:endParaRPr/>
          </a:p>
        </p:txBody>
      </p:sp>
      <p:sp>
        <p:nvSpPr>
          <p:cNvPr id="4432" name="Google Shape;4432;p44"/>
          <p:cNvSpPr txBox="1"/>
          <p:nvPr>
            <p:ph idx="1" type="subTitle"/>
          </p:nvPr>
        </p:nvSpPr>
        <p:spPr>
          <a:xfrm>
            <a:off x="8887" y="901883"/>
            <a:ext cx="12192000" cy="331600"/>
          </a:xfrm>
          <a:prstGeom prst="rect">
            <a:avLst/>
          </a:prstGeom>
          <a:noFill/>
          <a:ln>
            <a:noFill/>
          </a:ln>
        </p:spPr>
        <p:txBody>
          <a:bodyPr anchorCtr="0" anchor="ctr" bIns="91425" lIns="91425" spcFirstLastPara="1" rIns="91425" wrap="square" tIns="91425">
            <a:noAutofit/>
          </a:bodyPr>
          <a:lstStyle/>
          <a:p>
            <a:pPr indent="-228600" lvl="0" marL="228600" rtl="0" algn="ctr">
              <a:lnSpc>
                <a:spcPct val="90000"/>
              </a:lnSpc>
              <a:spcBef>
                <a:spcPts val="0"/>
              </a:spcBef>
              <a:spcAft>
                <a:spcPts val="0"/>
              </a:spcAft>
              <a:buClr>
                <a:schemeClr val="dk1"/>
              </a:buClr>
              <a:buSzPts val="2133"/>
              <a:buNone/>
            </a:pPr>
            <a:r>
              <a:t/>
            </a:r>
            <a:endParaRPr b="1" sz="2133"/>
          </a:p>
        </p:txBody>
      </p:sp>
      <p:sp>
        <p:nvSpPr>
          <p:cNvPr id="4433" name="Google Shape;4433;p44"/>
          <p:cNvSpPr txBox="1"/>
          <p:nvPr>
            <p:ph idx="12" type="sldNum"/>
          </p:nvPr>
        </p:nvSpPr>
        <p:spPr>
          <a:xfrm>
            <a:off x="8518292" y="6371168"/>
            <a:ext cx="3657600" cy="48683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7F7F7F"/>
                </a:solidFill>
                <a:latin typeface="Arial"/>
                <a:ea typeface="Arial"/>
                <a:cs typeface="Arial"/>
                <a:sym typeface="Arial"/>
              </a:rPr>
              <a:t>‹#›</a:t>
            </a:fld>
            <a:endParaRPr>
              <a:solidFill>
                <a:srgbClr val="7F7F7F"/>
              </a:solidFill>
              <a:latin typeface="Arial"/>
              <a:ea typeface="Arial"/>
              <a:cs typeface="Arial"/>
              <a:sym typeface="Arial"/>
            </a:endParaRPr>
          </a:p>
        </p:txBody>
      </p:sp>
      <p:sp>
        <p:nvSpPr>
          <p:cNvPr id="4434" name="Google Shape;4434;p44"/>
          <p:cNvSpPr txBox="1"/>
          <p:nvPr/>
        </p:nvSpPr>
        <p:spPr>
          <a:xfrm>
            <a:off x="629920" y="1632683"/>
            <a:ext cx="10972800" cy="4859556"/>
          </a:xfrm>
          <a:prstGeom prst="rect">
            <a:avLst/>
          </a:prstGeom>
          <a:noFill/>
          <a:ln>
            <a:noFill/>
          </a:ln>
        </p:spPr>
        <p:txBody>
          <a:bodyPr anchorCtr="0" anchor="t" bIns="121900" lIns="121900" spcFirstLastPara="1" rIns="121900" wrap="square" tIns="121900">
            <a:normAutofit/>
          </a:bodyPr>
          <a:lstStyle/>
          <a:p>
            <a:pPr indent="-311143" lvl="0" marL="311143" marR="0" rtl="0" algn="l">
              <a:lnSpc>
                <a:spcPct val="150000"/>
              </a:lnSpc>
              <a:spcBef>
                <a:spcPts val="0"/>
              </a:spcBef>
              <a:spcAft>
                <a:spcPts val="0"/>
              </a:spcAft>
              <a:buClr>
                <a:srgbClr val="000000"/>
              </a:buClr>
              <a:buSzPts val="2133"/>
              <a:buFont typeface="Noto Sans Symbols"/>
              <a:buChar char="▪"/>
            </a:pPr>
            <a:r>
              <a:rPr b="0" i="0" lang="en-US" sz="2133" u="none" cap="none" strike="noStrike">
                <a:solidFill>
                  <a:srgbClr val="000000"/>
                </a:solidFill>
                <a:latin typeface="Arial"/>
                <a:ea typeface="Arial"/>
                <a:cs typeface="Arial"/>
                <a:sym typeface="Arial"/>
              </a:rPr>
              <a:t>When a packet is routed from one sender to one receiver, it uses </a:t>
            </a:r>
            <a:r>
              <a:rPr b="1" i="0" lang="en-US" sz="2133" u="none" cap="none" strike="noStrike">
                <a:solidFill>
                  <a:srgbClr val="000000"/>
                </a:solidFill>
                <a:latin typeface="Arial"/>
                <a:ea typeface="Arial"/>
                <a:cs typeface="Arial"/>
                <a:sym typeface="Arial"/>
              </a:rPr>
              <a:t>unicast</a:t>
            </a:r>
            <a:r>
              <a:rPr b="0" i="0" lang="en-US" sz="2133" u="none" cap="none" strike="noStrike">
                <a:solidFill>
                  <a:srgbClr val="000000"/>
                </a:solidFill>
                <a:latin typeface="Arial"/>
                <a:ea typeface="Arial"/>
                <a:cs typeface="Arial"/>
                <a:sym typeface="Arial"/>
              </a:rPr>
              <a:t> addressing. </a:t>
            </a:r>
            <a:endParaRPr/>
          </a:p>
          <a:p>
            <a:pPr indent="-311143" lvl="0" marL="311143" marR="0" rtl="0" algn="l">
              <a:lnSpc>
                <a:spcPct val="150000"/>
              </a:lnSpc>
              <a:spcBef>
                <a:spcPts val="0"/>
              </a:spcBef>
              <a:spcAft>
                <a:spcPts val="0"/>
              </a:spcAft>
              <a:buClr>
                <a:srgbClr val="000000"/>
              </a:buClr>
              <a:buSzPts val="2133"/>
              <a:buFont typeface="Noto Sans Symbols"/>
              <a:buChar char="▪"/>
            </a:pPr>
            <a:r>
              <a:rPr b="1" i="0" lang="en-US" sz="2133" u="none" cap="none" strike="noStrike">
                <a:solidFill>
                  <a:srgbClr val="000000"/>
                </a:solidFill>
                <a:latin typeface="Arial"/>
                <a:ea typeface="Arial"/>
                <a:cs typeface="Arial"/>
                <a:sym typeface="Arial"/>
              </a:rPr>
              <a:t>Broadcast</a:t>
            </a:r>
            <a:r>
              <a:rPr b="0" i="0" lang="en-US" sz="2133" u="none" cap="none" strike="noStrike">
                <a:solidFill>
                  <a:srgbClr val="000000"/>
                </a:solidFill>
                <a:latin typeface="Arial"/>
                <a:ea typeface="Arial"/>
                <a:cs typeface="Arial"/>
                <a:sym typeface="Arial"/>
              </a:rPr>
              <a:t> addressing allows </a:t>
            </a:r>
            <a:r>
              <a:rPr b="1" i="0" lang="en-US" sz="2133" u="none" cap="none" strike="noStrike">
                <a:solidFill>
                  <a:srgbClr val="000000"/>
                </a:solidFill>
                <a:latin typeface="Arial"/>
                <a:ea typeface="Arial"/>
                <a:cs typeface="Arial"/>
                <a:sym typeface="Arial"/>
              </a:rPr>
              <a:t>a single sender </a:t>
            </a:r>
            <a:r>
              <a:rPr b="0" i="0" lang="en-US" sz="2133" u="none" cap="none" strike="noStrike">
                <a:solidFill>
                  <a:srgbClr val="000000"/>
                </a:solidFill>
                <a:latin typeface="Arial"/>
                <a:ea typeface="Arial"/>
                <a:cs typeface="Arial"/>
                <a:sym typeface="Arial"/>
              </a:rPr>
              <a:t>to address a packet to </a:t>
            </a:r>
            <a:r>
              <a:rPr b="1" i="0" lang="en-US" sz="2133" u="none" cap="none" strike="noStrike">
                <a:solidFill>
                  <a:srgbClr val="000000"/>
                </a:solidFill>
                <a:latin typeface="Arial"/>
                <a:ea typeface="Arial"/>
                <a:cs typeface="Arial"/>
                <a:sym typeface="Arial"/>
              </a:rPr>
              <a:t>all recipients </a:t>
            </a:r>
            <a:r>
              <a:rPr b="0" i="0" lang="en-US" sz="2133" u="none" cap="none" strike="noStrike">
                <a:solidFill>
                  <a:srgbClr val="000000"/>
                </a:solidFill>
                <a:latin typeface="Arial"/>
                <a:ea typeface="Arial"/>
                <a:cs typeface="Arial"/>
                <a:sym typeface="Arial"/>
              </a:rPr>
              <a:t>simultaneously. </a:t>
            </a:r>
            <a:endParaRPr/>
          </a:p>
          <a:p>
            <a:pPr indent="-311143" lvl="0" marL="311143" marR="0" rtl="0" algn="l">
              <a:lnSpc>
                <a:spcPct val="150000"/>
              </a:lnSpc>
              <a:spcBef>
                <a:spcPts val="0"/>
              </a:spcBef>
              <a:spcAft>
                <a:spcPts val="0"/>
              </a:spcAft>
              <a:buClr>
                <a:srgbClr val="000000"/>
              </a:buClr>
              <a:buSzPts val="2133"/>
              <a:buFont typeface="Noto Sans Symbols"/>
              <a:buChar char="▪"/>
            </a:pPr>
            <a:r>
              <a:rPr b="1" i="0" lang="en-US" sz="2133" u="none" cap="none" strike="noStrike">
                <a:solidFill>
                  <a:srgbClr val="000000"/>
                </a:solidFill>
                <a:latin typeface="Arial"/>
                <a:ea typeface="Arial"/>
                <a:cs typeface="Arial"/>
                <a:sym typeface="Arial"/>
              </a:rPr>
              <a:t>Multicast</a:t>
            </a:r>
            <a:r>
              <a:rPr b="0" i="0" lang="en-US" sz="2133" u="none" cap="none" strike="noStrike">
                <a:solidFill>
                  <a:srgbClr val="000000"/>
                </a:solidFill>
                <a:latin typeface="Arial"/>
                <a:ea typeface="Arial"/>
                <a:cs typeface="Arial"/>
                <a:sym typeface="Arial"/>
              </a:rPr>
              <a:t> is a one-to-many communication. Multicast involves some group management. </a:t>
            </a:r>
            <a:endParaRPr/>
          </a:p>
          <a:p>
            <a:pPr indent="-311143" lvl="0" marL="311143" marR="0" rtl="0" algn="l">
              <a:lnSpc>
                <a:spcPct val="150000"/>
              </a:lnSpc>
              <a:spcBef>
                <a:spcPts val="0"/>
              </a:spcBef>
              <a:spcAft>
                <a:spcPts val="0"/>
              </a:spcAft>
              <a:buClr>
                <a:srgbClr val="000000"/>
              </a:buClr>
              <a:buSzPts val="2133"/>
              <a:buFont typeface="Noto Sans Symbols"/>
              <a:buChar char="▪"/>
            </a:pPr>
            <a:r>
              <a:rPr b="1" i="0" lang="en-US" sz="2133" u="none" cap="none" strike="noStrike">
                <a:solidFill>
                  <a:srgbClr val="000000"/>
                </a:solidFill>
                <a:latin typeface="Arial"/>
                <a:ea typeface="Arial"/>
                <a:cs typeface="Arial"/>
                <a:sym typeface="Arial"/>
              </a:rPr>
              <a:t>Anycast</a:t>
            </a:r>
            <a:r>
              <a:rPr b="0" i="0" lang="en-US" sz="2133" u="none" cap="none" strike="noStrike">
                <a:solidFill>
                  <a:srgbClr val="000000"/>
                </a:solidFill>
                <a:latin typeface="Arial"/>
                <a:ea typeface="Arial"/>
                <a:cs typeface="Arial"/>
                <a:sym typeface="Arial"/>
              </a:rPr>
              <a:t> addressed packets are used to deliver a message to one recipient when you don’t care who that recipient is. </a:t>
            </a:r>
            <a:endParaRPr b="0" i="0" sz="2133"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9" name="Shape 4439"/>
        <p:cNvGrpSpPr/>
        <p:nvPr/>
      </p:nvGrpSpPr>
      <p:grpSpPr>
        <a:xfrm>
          <a:off x="0" y="0"/>
          <a:ext cx="0" cy="0"/>
          <a:chOff x="0" y="0"/>
          <a:chExt cx="0" cy="0"/>
        </a:xfrm>
      </p:grpSpPr>
      <p:grpSp>
        <p:nvGrpSpPr>
          <p:cNvPr id="4440" name="Google Shape;4440;p45"/>
          <p:cNvGrpSpPr/>
          <p:nvPr/>
        </p:nvGrpSpPr>
        <p:grpSpPr>
          <a:xfrm>
            <a:off x="464981" y="2052861"/>
            <a:ext cx="10432006" cy="2708042"/>
            <a:chOff x="464981" y="1753061"/>
            <a:chExt cx="10432006" cy="2708042"/>
          </a:xfrm>
        </p:grpSpPr>
        <p:sp>
          <p:nvSpPr>
            <p:cNvPr id="4441" name="Google Shape;4441;p45"/>
            <p:cNvSpPr/>
            <p:nvPr/>
          </p:nvSpPr>
          <p:spPr>
            <a:xfrm>
              <a:off x="464981" y="4061418"/>
              <a:ext cx="10421481" cy="399685"/>
            </a:xfrm>
            <a:prstGeom prst="rect">
              <a:avLst/>
            </a:pr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42" name="Google Shape;4442;p45"/>
            <p:cNvSpPr/>
            <p:nvPr/>
          </p:nvSpPr>
          <p:spPr>
            <a:xfrm>
              <a:off x="475506" y="3495132"/>
              <a:ext cx="10421481" cy="399685"/>
            </a:xfrm>
            <a:prstGeom prst="rect">
              <a:avLst/>
            </a:pr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43" name="Google Shape;4443;p45"/>
            <p:cNvSpPr/>
            <p:nvPr/>
          </p:nvSpPr>
          <p:spPr>
            <a:xfrm>
              <a:off x="470508" y="2945434"/>
              <a:ext cx="10421481" cy="399685"/>
            </a:xfrm>
            <a:prstGeom prst="rect">
              <a:avLst/>
            </a:pr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44" name="Google Shape;4444;p45"/>
            <p:cNvSpPr/>
            <p:nvPr/>
          </p:nvSpPr>
          <p:spPr>
            <a:xfrm>
              <a:off x="471525" y="2357714"/>
              <a:ext cx="10421481" cy="399685"/>
            </a:xfrm>
            <a:prstGeom prst="rect">
              <a:avLst/>
            </a:pr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45" name="Google Shape;4445;p45"/>
            <p:cNvSpPr/>
            <p:nvPr/>
          </p:nvSpPr>
          <p:spPr>
            <a:xfrm>
              <a:off x="464982" y="1753061"/>
              <a:ext cx="10421481" cy="399685"/>
            </a:xfrm>
            <a:prstGeom prst="rect">
              <a:avLst/>
            </a:pr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4446" name="Google Shape;4446;p45"/>
          <p:cNvGrpSpPr/>
          <p:nvPr/>
        </p:nvGrpSpPr>
        <p:grpSpPr>
          <a:xfrm>
            <a:off x="7572969" y="1945699"/>
            <a:ext cx="2929467" cy="2895601"/>
            <a:chOff x="1574800" y="1788319"/>
            <a:chExt cx="2929467" cy="2895601"/>
          </a:xfrm>
        </p:grpSpPr>
        <p:sp>
          <p:nvSpPr>
            <p:cNvPr id="4447" name="Google Shape;4447;p45"/>
            <p:cNvSpPr/>
            <p:nvPr/>
          </p:nvSpPr>
          <p:spPr>
            <a:xfrm>
              <a:off x="1591733" y="1788319"/>
              <a:ext cx="2794000" cy="2895601"/>
            </a:xfrm>
            <a:prstGeom prst="rect">
              <a:avLst/>
            </a:prstGeom>
            <a:solidFill>
              <a:schemeClr val="accent1"/>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448" name="Google Shape;4448;p45"/>
            <p:cNvCxnSpPr/>
            <p:nvPr/>
          </p:nvCxnSpPr>
          <p:spPr>
            <a:xfrm>
              <a:off x="1574800" y="2421466"/>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4449" name="Google Shape;4449;p45"/>
            <p:cNvCxnSpPr/>
            <p:nvPr/>
          </p:nvCxnSpPr>
          <p:spPr>
            <a:xfrm>
              <a:off x="1574800" y="3009694"/>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4450" name="Google Shape;4450;p45"/>
            <p:cNvCxnSpPr/>
            <p:nvPr/>
          </p:nvCxnSpPr>
          <p:spPr>
            <a:xfrm>
              <a:off x="1574800" y="3581400"/>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4451" name="Google Shape;4451;p45"/>
            <p:cNvCxnSpPr/>
            <p:nvPr/>
          </p:nvCxnSpPr>
          <p:spPr>
            <a:xfrm>
              <a:off x="1574800" y="4115129"/>
              <a:ext cx="2929467" cy="0"/>
            </a:xfrm>
            <a:prstGeom prst="straightConnector1">
              <a:avLst/>
            </a:prstGeom>
            <a:noFill/>
            <a:ln cap="flat" cmpd="sng" w="25400">
              <a:solidFill>
                <a:schemeClr val="lt1"/>
              </a:solidFill>
              <a:prstDash val="solid"/>
              <a:miter lim="800000"/>
              <a:headEnd len="sm" w="sm" type="none"/>
              <a:tailEnd len="sm" w="sm" type="none"/>
            </a:ln>
          </p:spPr>
        </p:cxnSp>
      </p:grpSp>
      <p:sp>
        <p:nvSpPr>
          <p:cNvPr id="4452" name="Google Shape;4452;p45"/>
          <p:cNvSpPr/>
          <p:nvPr/>
        </p:nvSpPr>
        <p:spPr>
          <a:xfrm>
            <a:off x="965209" y="1935719"/>
            <a:ext cx="2794000" cy="2895601"/>
          </a:xfrm>
          <a:prstGeom prst="rect">
            <a:avLst/>
          </a:prstGeom>
          <a:solidFill>
            <a:schemeClr val="accent1"/>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53" name="Google Shape;4453;p45"/>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400"/>
              <a:t>Example: organization of air </a:t>
            </a:r>
            <a:r>
              <a:rPr lang="en-US"/>
              <a:t>t</a:t>
            </a:r>
            <a:r>
              <a:rPr lang="en-US" sz="4400"/>
              <a:t>ravel</a:t>
            </a:r>
            <a:endParaRPr/>
          </a:p>
        </p:txBody>
      </p:sp>
      <p:sp>
        <p:nvSpPr>
          <p:cNvPr id="4454" name="Google Shape;4454;p45"/>
          <p:cNvSpPr txBox="1"/>
          <p:nvPr/>
        </p:nvSpPr>
        <p:spPr>
          <a:xfrm>
            <a:off x="1110119" y="1935719"/>
            <a:ext cx="2616935" cy="2847831"/>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ticket (purchase)</a:t>
            </a:r>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baggage (check)</a:t>
            </a:r>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gates (load)</a:t>
            </a:r>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runway takeoff</a:t>
            </a:r>
            <a:endParaRPr/>
          </a:p>
          <a:p>
            <a:pPr indent="0" lvl="0" marL="0" marR="0" rtl="0" algn="l">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airplane routing</a:t>
            </a:r>
            <a:endParaRPr b="0" i="0" sz="2000" u="none" cap="none" strike="noStrike">
              <a:solidFill>
                <a:srgbClr val="FFFFFF"/>
              </a:solidFill>
              <a:latin typeface="Calibri"/>
              <a:ea typeface="Calibri"/>
              <a:cs typeface="Calibri"/>
              <a:sym typeface="Calibri"/>
            </a:endParaRPr>
          </a:p>
        </p:txBody>
      </p:sp>
      <p:sp>
        <p:nvSpPr>
          <p:cNvPr id="4455" name="Google Shape;4455;p45"/>
          <p:cNvSpPr txBox="1"/>
          <p:nvPr/>
        </p:nvSpPr>
        <p:spPr>
          <a:xfrm>
            <a:off x="7623765" y="1942018"/>
            <a:ext cx="2625654" cy="2847831"/>
          </a:xfrm>
          <a:prstGeom prst="rect">
            <a:avLst/>
          </a:prstGeom>
          <a:noFill/>
          <a:ln>
            <a:noFill/>
          </a:ln>
        </p:spPr>
        <p:txBody>
          <a:bodyPr anchorCtr="0" anchor="t" bIns="45700" lIns="91425" spcFirstLastPara="1" rIns="91425" wrap="square" tIns="45700">
            <a:spAutoFit/>
          </a:bodyPr>
          <a:lstStyle/>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ticket (complain)</a:t>
            </a:r>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baggage (claim)</a:t>
            </a:r>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gates (unload)</a:t>
            </a:r>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runway landing</a:t>
            </a:r>
            <a:endParaRPr/>
          </a:p>
          <a:p>
            <a:pPr indent="0" lvl="0" marL="0" marR="0" rtl="0" algn="r">
              <a:lnSpc>
                <a:spcPct val="13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airplane routing</a:t>
            </a:r>
            <a:endParaRPr/>
          </a:p>
        </p:txBody>
      </p:sp>
      <p:cxnSp>
        <p:nvCxnSpPr>
          <p:cNvPr id="4456" name="Google Shape;4456;p45"/>
          <p:cNvCxnSpPr/>
          <p:nvPr/>
        </p:nvCxnSpPr>
        <p:spPr>
          <a:xfrm>
            <a:off x="948276" y="2568866"/>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4457" name="Google Shape;4457;p45"/>
          <p:cNvCxnSpPr/>
          <p:nvPr/>
        </p:nvCxnSpPr>
        <p:spPr>
          <a:xfrm>
            <a:off x="948276" y="3157094"/>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4458" name="Google Shape;4458;p45"/>
          <p:cNvCxnSpPr/>
          <p:nvPr/>
        </p:nvCxnSpPr>
        <p:spPr>
          <a:xfrm>
            <a:off x="948276" y="3728800"/>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4459" name="Google Shape;4459;p45"/>
          <p:cNvCxnSpPr/>
          <p:nvPr/>
        </p:nvCxnSpPr>
        <p:spPr>
          <a:xfrm>
            <a:off x="948276" y="4262529"/>
            <a:ext cx="2929467" cy="0"/>
          </a:xfrm>
          <a:prstGeom prst="straightConnector1">
            <a:avLst/>
          </a:prstGeom>
          <a:noFill/>
          <a:ln cap="flat" cmpd="sng" w="25400">
            <a:solidFill>
              <a:schemeClr val="lt1"/>
            </a:solidFill>
            <a:prstDash val="solid"/>
            <a:miter lim="800000"/>
            <a:headEnd len="sm" w="sm" type="none"/>
            <a:tailEnd len="sm" w="sm" type="none"/>
          </a:ln>
        </p:spPr>
      </p:cxnSp>
      <p:sp>
        <p:nvSpPr>
          <p:cNvPr id="4460" name="Google Shape;4460;p45"/>
          <p:cNvSpPr/>
          <p:nvPr/>
        </p:nvSpPr>
        <p:spPr>
          <a:xfrm>
            <a:off x="4260623" y="4272051"/>
            <a:ext cx="2794000" cy="568791"/>
          </a:xfrm>
          <a:prstGeom prst="rect">
            <a:avLst/>
          </a:prstGeom>
          <a:solidFill>
            <a:schemeClr val="accent1"/>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61" name="Google Shape;4461;p45"/>
          <p:cNvSpPr txBox="1"/>
          <p:nvPr/>
        </p:nvSpPr>
        <p:spPr>
          <a:xfrm>
            <a:off x="4453486" y="4300858"/>
            <a:ext cx="25112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800"/>
              <a:buFont typeface="Calibri"/>
              <a:buNone/>
            </a:pPr>
            <a:r>
              <a:rPr b="0" i="0" lang="en-US" sz="2800" u="none" cap="none" strike="noStrike">
                <a:solidFill>
                  <a:srgbClr val="FFFFFF"/>
                </a:solidFill>
                <a:latin typeface="Calibri"/>
                <a:ea typeface="Calibri"/>
                <a:cs typeface="Calibri"/>
                <a:sym typeface="Calibri"/>
              </a:rPr>
              <a:t>airplane routing</a:t>
            </a:r>
            <a:endParaRPr/>
          </a:p>
        </p:txBody>
      </p:sp>
      <p:grpSp>
        <p:nvGrpSpPr>
          <p:cNvPr id="4462" name="Google Shape;4462;p45"/>
          <p:cNvGrpSpPr/>
          <p:nvPr/>
        </p:nvGrpSpPr>
        <p:grpSpPr>
          <a:xfrm>
            <a:off x="3948545" y="1999560"/>
            <a:ext cx="3522823" cy="2811596"/>
            <a:chOff x="3948545" y="1699760"/>
            <a:chExt cx="3522823" cy="2811596"/>
          </a:xfrm>
        </p:grpSpPr>
        <p:sp>
          <p:nvSpPr>
            <p:cNvPr id="4463" name="Google Shape;4463;p45"/>
            <p:cNvSpPr txBox="1"/>
            <p:nvPr/>
          </p:nvSpPr>
          <p:spPr>
            <a:xfrm>
              <a:off x="4400060" y="1699760"/>
              <a:ext cx="250741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ticketing service</a:t>
              </a:r>
              <a:endParaRPr/>
            </a:p>
          </p:txBody>
        </p:sp>
        <p:sp>
          <p:nvSpPr>
            <p:cNvPr id="4464" name="Google Shape;4464;p45"/>
            <p:cNvSpPr txBox="1"/>
            <p:nvPr/>
          </p:nvSpPr>
          <p:spPr>
            <a:xfrm>
              <a:off x="4384331" y="2292643"/>
              <a:ext cx="254210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baggage service</a:t>
              </a:r>
              <a:endParaRPr/>
            </a:p>
          </p:txBody>
        </p:sp>
        <p:sp>
          <p:nvSpPr>
            <p:cNvPr id="4465" name="Google Shape;4465;p45"/>
            <p:cNvSpPr txBox="1"/>
            <p:nvPr/>
          </p:nvSpPr>
          <p:spPr>
            <a:xfrm>
              <a:off x="4686266" y="2872078"/>
              <a:ext cx="192110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gate service</a:t>
              </a:r>
              <a:endParaRPr/>
            </a:p>
          </p:txBody>
        </p:sp>
        <p:sp>
          <p:nvSpPr>
            <p:cNvPr id="4466" name="Google Shape;4466;p45"/>
            <p:cNvSpPr txBox="1"/>
            <p:nvPr/>
          </p:nvSpPr>
          <p:spPr>
            <a:xfrm>
              <a:off x="4485939" y="3451513"/>
              <a:ext cx="23542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runway service</a:t>
              </a:r>
              <a:endParaRPr/>
            </a:p>
          </p:txBody>
        </p:sp>
        <p:grpSp>
          <p:nvGrpSpPr>
            <p:cNvPr id="4467" name="Google Shape;4467;p45"/>
            <p:cNvGrpSpPr/>
            <p:nvPr/>
          </p:nvGrpSpPr>
          <p:grpSpPr>
            <a:xfrm>
              <a:off x="3948545" y="3988136"/>
              <a:ext cx="3522823" cy="523220"/>
              <a:chOff x="3976681" y="3974068"/>
              <a:chExt cx="3522823" cy="523220"/>
            </a:xfrm>
          </p:grpSpPr>
          <p:sp>
            <p:nvSpPr>
              <p:cNvPr id="4468" name="Google Shape;4468;p45"/>
              <p:cNvSpPr/>
              <p:nvPr/>
            </p:nvSpPr>
            <p:spPr>
              <a:xfrm>
                <a:off x="3976681" y="4046279"/>
                <a:ext cx="3522823" cy="402622"/>
              </a:xfrm>
              <a:prstGeom prst="rect">
                <a:avLst/>
              </a:prstGeom>
              <a:solidFill>
                <a:srgbClr val="43AF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469" name="Google Shape;4469;p45"/>
              <p:cNvSpPr txBox="1"/>
              <p:nvPr/>
            </p:nvSpPr>
            <p:spPr>
              <a:xfrm>
                <a:off x="4506558" y="3974068"/>
                <a:ext cx="232730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1" lang="en-US" sz="2800" u="none" cap="none" strike="noStrike">
                    <a:solidFill>
                      <a:srgbClr val="000000"/>
                    </a:solidFill>
                    <a:latin typeface="Calibri"/>
                    <a:ea typeface="Calibri"/>
                    <a:cs typeface="Calibri"/>
                    <a:sym typeface="Calibri"/>
                  </a:rPr>
                  <a:t>routing service</a:t>
                </a:r>
                <a:endParaRPr/>
              </a:p>
            </p:txBody>
          </p:sp>
        </p:grpSp>
      </p:grpSp>
      <p:sp>
        <p:nvSpPr>
          <p:cNvPr id="4470" name="Google Shape;4470;p45"/>
          <p:cNvSpPr txBox="1"/>
          <p:nvPr/>
        </p:nvSpPr>
        <p:spPr>
          <a:xfrm>
            <a:off x="2393447" y="5094287"/>
            <a:ext cx="7613650" cy="176371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layers:</a:t>
            </a:r>
            <a:r>
              <a:rPr b="0" i="0" lang="en-US" sz="3200" u="none" cap="none" strike="noStrike">
                <a:solidFill>
                  <a:srgbClr val="FF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each layer implements a service</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via its own internal-layer actions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relying on services provided by layer below</a:t>
            </a:r>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471" name="Google Shape;4471;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Arial"/>
                <a:ea typeface="Arial"/>
                <a:cs typeface="Arial"/>
                <a:sym typeface="Arial"/>
              </a:rPr>
              <a:t>Introduction: 1-</a:t>
            </a:r>
            <a:fld id="{00000000-1234-1234-1234-123412341234}" type="slidenum">
              <a:rPr lang="en-US" sz="1100">
                <a:solidFill>
                  <a:srgbClr val="7F7F7F"/>
                </a:solidFill>
                <a:latin typeface="Arial"/>
                <a:ea typeface="Arial"/>
                <a:cs typeface="Arial"/>
                <a:sym typeface="Arial"/>
              </a:rPr>
              <a:t>‹#›</a:t>
            </a:fld>
            <a:endParaRPr sz="1100">
              <a:solidFill>
                <a:srgbClr val="7F7F7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0"/>
                                        </p:tgtEl>
                                        <p:attrNameLst>
                                          <p:attrName>style.visibility</p:attrName>
                                        </p:attrNameLst>
                                      </p:cBhvr>
                                      <p:to>
                                        <p:strVal val="visible"/>
                                      </p:to>
                                    </p:set>
                                    <p:animEffect filter="fade" transition="in">
                                      <p:cBhvr>
                                        <p:cTn dur="1000"/>
                                        <p:tgtEl>
                                          <p:spTgt spid="4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2"/>
                                        </p:tgtEl>
                                        <p:attrNameLst>
                                          <p:attrName>style.visibility</p:attrName>
                                        </p:attrNameLst>
                                      </p:cBhvr>
                                      <p:to>
                                        <p:strVal val="visible"/>
                                      </p:to>
                                    </p:set>
                                    <p:animEffect filter="fade" transition="in">
                                      <p:cBhvr>
                                        <p:cTn dur="1000"/>
                                        <p:tgtEl>
                                          <p:spTgt spid="44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2024-12-28T14:25:40Z</dcterms:created>
  <dc:creator>Ly Vu</dc:creator>
</cp:coreProperties>
</file>